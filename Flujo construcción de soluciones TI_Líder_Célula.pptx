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79" r:id="rId5"/>
  </p:sldMasterIdLst>
  <p:notesMasterIdLst>
    <p:notesMasterId r:id="rId40"/>
  </p:notesMasterIdLst>
  <p:sldIdLst>
    <p:sldId id="6509" r:id="rId6"/>
    <p:sldId id="2147483551" r:id="rId7"/>
    <p:sldId id="2147483556" r:id="rId8"/>
    <p:sldId id="6511" r:id="rId9"/>
    <p:sldId id="2147483557" r:id="rId10"/>
    <p:sldId id="2147483517" r:id="rId11"/>
    <p:sldId id="2147483518" r:id="rId12"/>
    <p:sldId id="2147483526" r:id="rId13"/>
    <p:sldId id="2147483527" r:id="rId14"/>
    <p:sldId id="2147483528" r:id="rId15"/>
    <p:sldId id="2147483529" r:id="rId16"/>
    <p:sldId id="2147483547" r:id="rId17"/>
    <p:sldId id="2147483555" r:id="rId18"/>
    <p:sldId id="2147483543" r:id="rId19"/>
    <p:sldId id="2147483532" r:id="rId20"/>
    <p:sldId id="2147483533" r:id="rId21"/>
    <p:sldId id="2147483535" r:id="rId22"/>
    <p:sldId id="2147483536" r:id="rId23"/>
    <p:sldId id="2147483534" r:id="rId24"/>
    <p:sldId id="2147483537" r:id="rId25"/>
    <p:sldId id="2147483554" r:id="rId26"/>
    <p:sldId id="2147483516" r:id="rId27"/>
    <p:sldId id="2147483545" r:id="rId28"/>
    <p:sldId id="2147483553" r:id="rId29"/>
    <p:sldId id="2147483544" r:id="rId30"/>
    <p:sldId id="2147483541" r:id="rId31"/>
    <p:sldId id="2147483540" r:id="rId32"/>
    <p:sldId id="2147483542" r:id="rId33"/>
    <p:sldId id="2147483524" r:id="rId34"/>
    <p:sldId id="327" r:id="rId35"/>
    <p:sldId id="289" r:id="rId36"/>
    <p:sldId id="2147483523" r:id="rId37"/>
    <p:sldId id="2147483548" r:id="rId38"/>
    <p:sldId id="2147483552" r:id="rId39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63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F33121E-B1AD-8ED8-F4F7-860CD4E1672B}" name="Juan Camilo Restrepo Velez" initials="JR" userId="S::arqjuanres.25@tuya.com.co::81b8ffb2-b038-4489-81e8-aeee3562686b" providerId="AD"/>
  <p188:author id="{B9F79833-69D8-103B-600C-406B61CCA089}" name="John Jairo Carmona Arango" initials="JC" userId="S::John.25@tuya.com.co::a73f33f5-d2da-497a-ac16-cc32164a9e0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8F8"/>
    <a:srgbClr val="1B2A5E"/>
    <a:srgbClr val="F5F5F5"/>
    <a:srgbClr val="FFC000"/>
    <a:srgbClr val="F6F6F6"/>
    <a:srgbClr val="0A1E3F"/>
    <a:srgbClr val="2E5FA3"/>
    <a:srgbClr val="00C9FF"/>
    <a:srgbClr val="0E9594"/>
    <a:srgbClr val="FCD5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21" dt="2026-09-16T15:08:04.427"/>
    <p1510:client id="{3CDBB851-4ED1-46D7-B0C4-6B3320557CEE}" v="26" dt="2026-09-16T15:11:22.763"/>
    <p1510:client id="{6588B155-9E9B-643A-D34F-159D635F1727}" v="172" dt="2026-09-16T13:30:57.044"/>
    <p1510:client id="{886BC716-B0B2-4B52-B321-537B9395627D}" v="419" dt="2026-09-16T14:31:23.224"/>
    <p1510:client id="{A54345E7-6E41-821F-AE9C-1E2120F59D6F}" v="177" dt="2026-09-16T14:30:50.264"/>
    <p1510:client id="{DE935B78-5C35-5698-5187-0BD63C018A5D}" v="54" dt="2026-09-16T14:12:46.060"/>
    <p1510:client id="{E63E24AB-E703-4F0D-B6E4-8168D7705902}" v="12" dt="2026-09-16T13:51:36.368"/>
    <p1510:client id="{FD15ACEC-A495-0DE7-84AF-C8B4C626ED7E}" v="147" dt="2026-09-15T21:25:25.6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>
        <p:guide orient="horz" pos="2160"/>
        <p:guide pos="386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viewProps" Target="viewProps.xml"/><Relationship Id="rId47" Type="http://schemas.microsoft.com/office/2018/10/relationships/authors" Target="author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notesMaster" Target="notesMasters/notesMaster1.xml"/><Relationship Id="rId45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theme" Target="theme/theme1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microsoft.com/office/2015/10/relationships/revisionInfo" Target="revisionInfo.xml"/><Relationship Id="rId20" Type="http://schemas.openxmlformats.org/officeDocument/2006/relationships/slide" Target="slides/slide15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an Manuel Arias Mejia" userId="S::arq.jmam55@tuya.com.co::3bff69a6-70cb-463c-acb6-ff95d080928e" providerId="AD" clId="Web-{00000000-0000-0000-0000-000000000000}"/>
    <pc:docChg chg="modSld">
      <pc:chgData name="Juan Manuel Arias Mejia" userId="S::arq.jmam55@tuya.com.co::3bff69a6-70cb-463c-acb6-ff95d080928e" providerId="AD" clId="Web-{00000000-0000-0000-0000-000000000000}" dt="2026-09-16T15:08:04.427" v="288" actId="1076"/>
      <pc:docMkLst>
        <pc:docMk/>
      </pc:docMkLst>
      <pc:sldChg chg="modSp modNotes">
        <pc:chgData name="Juan Manuel Arias Mejia" userId="S::arq.jmam55@tuya.com.co::3bff69a6-70cb-463c-acb6-ff95d080928e" providerId="AD" clId="Web-{00000000-0000-0000-0000-000000000000}" dt="2026-09-16T15:00:12.811" v="276" actId="20577"/>
        <pc:sldMkLst>
          <pc:docMk/>
          <pc:sldMk cId="0" sldId="2147483518"/>
        </pc:sldMkLst>
        <pc:spChg chg="mod">
          <ac:chgData name="Juan Manuel Arias Mejia" userId="S::arq.jmam55@tuya.com.co::3bff69a6-70cb-463c-acb6-ff95d080928e" providerId="AD" clId="Web-{00000000-0000-0000-0000-000000000000}" dt="2026-09-16T15:00:12.811" v="276" actId="20577"/>
          <ac:spMkLst>
            <pc:docMk/>
            <pc:sldMk cId="0" sldId="2147483518"/>
            <ac:spMk id="11" creationId="{21998327-414A-21FB-7986-99103F7F0A08}"/>
          </ac:spMkLst>
        </pc:spChg>
      </pc:sldChg>
      <pc:sldChg chg="modSp modNotes">
        <pc:chgData name="Juan Manuel Arias Mejia" userId="S::arq.jmam55@tuya.com.co::3bff69a6-70cb-463c-acb6-ff95d080928e" providerId="AD" clId="Web-{00000000-0000-0000-0000-000000000000}" dt="2026-09-16T15:08:04.427" v="288" actId="1076"/>
        <pc:sldMkLst>
          <pc:docMk/>
          <pc:sldMk cId="3880460902" sldId="2147483526"/>
        </pc:sldMkLst>
        <pc:spChg chg="mod">
          <ac:chgData name="Juan Manuel Arias Mejia" userId="S::arq.jmam55@tuya.com.co::3bff69a6-70cb-463c-acb6-ff95d080928e" providerId="AD" clId="Web-{00000000-0000-0000-0000-000000000000}" dt="2026-09-16T15:08:04.427" v="288" actId="1076"/>
          <ac:spMkLst>
            <pc:docMk/>
            <pc:sldMk cId="3880460902" sldId="2147483526"/>
            <ac:spMk id="6" creationId="{54ED63CA-0E1A-7ACF-DAC7-39F52A15F6DE}"/>
          </ac:spMkLst>
        </pc:spChg>
        <pc:spChg chg="mod">
          <ac:chgData name="Juan Manuel Arias Mejia" userId="S::arq.jmam55@tuya.com.co::3bff69a6-70cb-463c-acb6-ff95d080928e" providerId="AD" clId="Web-{00000000-0000-0000-0000-000000000000}" dt="2026-09-16T15:00:22.578" v="286" actId="20577"/>
          <ac:spMkLst>
            <pc:docMk/>
            <pc:sldMk cId="3880460902" sldId="2147483526"/>
            <ac:spMk id="8" creationId="{FBB7A386-77E7-4076-0239-315DB4C20A2F}"/>
          </ac:spMkLst>
        </pc:spChg>
      </pc:sldChg>
    </pc:docChg>
  </pc:docChgLst>
  <pc:docChgLst>
    <pc:chgData name="Brayan Stiven Franco Taborda" userId="S::stivenf8@tuya.com.co::ae13fd0e-6a8d-460a-ac35-7b951280f89a" providerId="AD" clId="Web-{DE935B78-5C35-5698-5187-0BD63C018A5D}"/>
    <pc:docChg chg="modSld">
      <pc:chgData name="Brayan Stiven Franco Taborda" userId="S::stivenf8@tuya.com.co::ae13fd0e-6a8d-460a-ac35-7b951280f89a" providerId="AD" clId="Web-{DE935B78-5C35-5698-5187-0BD63C018A5D}" dt="2026-09-16T14:12:46.060" v="10" actId="14100"/>
      <pc:docMkLst>
        <pc:docMk/>
      </pc:docMkLst>
      <pc:sldChg chg="modSp">
        <pc:chgData name="Brayan Stiven Franco Taborda" userId="S::stivenf8@tuya.com.co::ae13fd0e-6a8d-460a-ac35-7b951280f89a" providerId="AD" clId="Web-{DE935B78-5C35-5698-5187-0BD63C018A5D}" dt="2026-09-16T14:12:46.060" v="10" actId="14100"/>
        <pc:sldMkLst>
          <pc:docMk/>
          <pc:sldMk cId="2725055587" sldId="2147483528"/>
        </pc:sldMkLst>
        <pc:spChg chg="mod">
          <ac:chgData name="Brayan Stiven Franco Taborda" userId="S::stivenf8@tuya.com.co::ae13fd0e-6a8d-460a-ac35-7b951280f89a" providerId="AD" clId="Web-{DE935B78-5C35-5698-5187-0BD63C018A5D}" dt="2026-09-16T14:12:46.060" v="10" actId="14100"/>
          <ac:spMkLst>
            <pc:docMk/>
            <pc:sldMk cId="2725055587" sldId="2147483528"/>
            <ac:spMk id="4" creationId="{BB4BD477-D626-CB2A-5707-C1EDC3D8246D}"/>
          </ac:spMkLst>
        </pc:spChg>
        <pc:spChg chg="mod">
          <ac:chgData name="Brayan Stiven Franco Taborda" userId="S::stivenf8@tuya.com.co::ae13fd0e-6a8d-460a-ac35-7b951280f89a" providerId="AD" clId="Web-{DE935B78-5C35-5698-5187-0BD63C018A5D}" dt="2026-09-16T14:12:43.357" v="9" actId="14100"/>
          <ac:spMkLst>
            <pc:docMk/>
            <pc:sldMk cId="2725055587" sldId="2147483528"/>
            <ac:spMk id="14" creationId="{0BB7781F-41C2-095E-B9FD-43F027779C9D}"/>
          </ac:spMkLst>
        </pc:spChg>
      </pc:sldChg>
      <pc:sldChg chg="modSp">
        <pc:chgData name="Brayan Stiven Franco Taborda" userId="S::stivenf8@tuya.com.co::ae13fd0e-6a8d-460a-ac35-7b951280f89a" providerId="AD" clId="Web-{DE935B78-5C35-5698-5187-0BD63C018A5D}" dt="2026-09-16T14:09:26.453" v="7"/>
        <pc:sldMkLst>
          <pc:docMk/>
          <pc:sldMk cId="3214257343" sldId="2147483551"/>
        </pc:sldMkLst>
        <pc:graphicFrameChg chg="mod modGraphic">
          <ac:chgData name="Brayan Stiven Franco Taborda" userId="S::stivenf8@tuya.com.co::ae13fd0e-6a8d-460a-ac35-7b951280f89a" providerId="AD" clId="Web-{DE935B78-5C35-5698-5187-0BD63C018A5D}" dt="2026-09-16T14:09:26.453" v="7"/>
          <ac:graphicFrameMkLst>
            <pc:docMk/>
            <pc:sldMk cId="3214257343" sldId="2147483551"/>
            <ac:graphicFrameMk id="4" creationId="{6925D013-4859-4F55-49D5-985135D3012F}"/>
          </ac:graphicFrameMkLst>
        </pc:graphicFrameChg>
      </pc:sldChg>
    </pc:docChg>
  </pc:docChgLst>
  <pc:docChgLst>
    <pc:chgData name="John Jairo Carmona Arango" userId="a73f33f5-d2da-497a-ac16-cc32164a9e00" providerId="ADAL" clId="{508001E0-99CB-4B57-8C4C-543160D8E399}"/>
    <pc:docChg chg="undo custSel addSld delSld modSld sldOrd">
      <pc:chgData name="John Jairo Carmona Arango" userId="a73f33f5-d2da-497a-ac16-cc32164a9e00" providerId="ADAL" clId="{508001E0-99CB-4B57-8C4C-543160D8E399}" dt="2026-09-16T14:31:23.223" v="384" actId="20577"/>
      <pc:docMkLst>
        <pc:docMk/>
      </pc:docMkLst>
      <pc:sldChg chg="mod modShow">
        <pc:chgData name="John Jairo Carmona Arango" userId="a73f33f5-d2da-497a-ac16-cc32164a9e00" providerId="ADAL" clId="{508001E0-99CB-4B57-8C4C-543160D8E399}" dt="2026-09-16T14:01:35.150" v="114" actId="729"/>
        <pc:sldMkLst>
          <pc:docMk/>
          <pc:sldMk cId="0" sldId="289"/>
        </pc:sldMkLst>
      </pc:sldChg>
      <pc:sldChg chg="mod modShow">
        <pc:chgData name="John Jairo Carmona Arango" userId="a73f33f5-d2da-497a-ac16-cc32164a9e00" providerId="ADAL" clId="{508001E0-99CB-4B57-8C4C-543160D8E399}" dt="2026-09-16T14:01:35.150" v="114" actId="729"/>
        <pc:sldMkLst>
          <pc:docMk/>
          <pc:sldMk cId="981990686" sldId="327"/>
        </pc:sldMkLst>
      </pc:sldChg>
      <pc:sldChg chg="modSp mod">
        <pc:chgData name="John Jairo Carmona Arango" userId="a73f33f5-d2da-497a-ac16-cc32164a9e00" providerId="ADAL" clId="{508001E0-99CB-4B57-8C4C-543160D8E399}" dt="2026-09-16T14:31:23.223" v="384" actId="20577"/>
        <pc:sldMkLst>
          <pc:docMk/>
          <pc:sldMk cId="1931519228" sldId="6511"/>
        </pc:sldMkLst>
        <pc:spChg chg="mod">
          <ac:chgData name="John Jairo Carmona Arango" userId="a73f33f5-d2da-497a-ac16-cc32164a9e00" providerId="ADAL" clId="{508001E0-99CB-4B57-8C4C-543160D8E399}" dt="2026-09-16T14:31:16.047" v="359" actId="20577"/>
          <ac:spMkLst>
            <pc:docMk/>
            <pc:sldMk cId="1931519228" sldId="6511"/>
            <ac:spMk id="78" creationId="{078DF516-A779-3409-1F24-AA55BDC60F53}"/>
          </ac:spMkLst>
        </pc:spChg>
        <pc:spChg chg="mod">
          <ac:chgData name="John Jairo Carmona Arango" userId="a73f33f5-d2da-497a-ac16-cc32164a9e00" providerId="ADAL" clId="{508001E0-99CB-4B57-8C4C-543160D8E399}" dt="2026-09-16T14:31:23.223" v="384" actId="20577"/>
          <ac:spMkLst>
            <pc:docMk/>
            <pc:sldMk cId="1931519228" sldId="6511"/>
            <ac:spMk id="81" creationId="{0803C02A-E4F5-D037-CBB7-025DC1C77F6C}"/>
          </ac:spMkLst>
        </pc:spChg>
      </pc:sldChg>
      <pc:sldChg chg="ord">
        <pc:chgData name="John Jairo Carmona Arango" userId="a73f33f5-d2da-497a-ac16-cc32164a9e00" providerId="ADAL" clId="{508001E0-99CB-4B57-8C4C-543160D8E399}" dt="2026-09-16T14:12:54.890" v="165"/>
        <pc:sldMkLst>
          <pc:docMk/>
          <pc:sldMk cId="3027304031" sldId="2147483516"/>
        </pc:sldMkLst>
      </pc:sldChg>
      <pc:sldChg chg="modSp mod modShow">
        <pc:chgData name="John Jairo Carmona Arango" userId="a73f33f5-d2da-497a-ac16-cc32164a9e00" providerId="ADAL" clId="{508001E0-99CB-4B57-8C4C-543160D8E399}" dt="2026-09-16T14:29:36.178" v="336" actId="1076"/>
        <pc:sldMkLst>
          <pc:docMk/>
          <pc:sldMk cId="2170593130" sldId="2147483517"/>
        </pc:sldMkLst>
        <pc:spChg chg="mod">
          <ac:chgData name="John Jairo Carmona Arango" userId="a73f33f5-d2da-497a-ac16-cc32164a9e00" providerId="ADAL" clId="{508001E0-99CB-4B57-8C4C-543160D8E399}" dt="2026-09-16T13:51:51.439" v="7" actId="1076"/>
          <ac:spMkLst>
            <pc:docMk/>
            <pc:sldMk cId="2170593130" sldId="2147483517"/>
            <ac:spMk id="27" creationId="{AC19DAD5-CAEB-DE06-A4A5-F80445AAC617}"/>
          </ac:spMkLst>
        </pc:spChg>
        <pc:spChg chg="mod">
          <ac:chgData name="John Jairo Carmona Arango" userId="a73f33f5-d2da-497a-ac16-cc32164a9e00" providerId="ADAL" clId="{508001E0-99CB-4B57-8C4C-543160D8E399}" dt="2026-09-16T14:29:36.178" v="336" actId="1076"/>
          <ac:spMkLst>
            <pc:docMk/>
            <pc:sldMk cId="2170593130" sldId="2147483517"/>
            <ac:spMk id="36" creationId="{DF5EAA83-7A88-CD63-2915-92CE35F546EE}"/>
          </ac:spMkLst>
        </pc:spChg>
      </pc:sldChg>
      <pc:sldChg chg="modSp del mod">
        <pc:chgData name="John Jairo Carmona Arango" userId="a73f33f5-d2da-497a-ac16-cc32164a9e00" providerId="ADAL" clId="{508001E0-99CB-4B57-8C4C-543160D8E399}" dt="2026-09-16T14:13:36.195" v="175" actId="47"/>
        <pc:sldMkLst>
          <pc:docMk/>
          <pc:sldMk cId="0" sldId="2147483520"/>
        </pc:sldMkLst>
        <pc:spChg chg="mod">
          <ac:chgData name="John Jairo Carmona Arango" userId="a73f33f5-d2da-497a-ac16-cc32164a9e00" providerId="ADAL" clId="{508001E0-99CB-4B57-8C4C-543160D8E399}" dt="2026-09-16T14:13:33.342" v="174" actId="20577"/>
          <ac:spMkLst>
            <pc:docMk/>
            <pc:sldMk cId="0" sldId="2147483520"/>
            <ac:spMk id="3" creationId="{00000000-0000-0000-0000-000000000000}"/>
          </ac:spMkLst>
        </pc:spChg>
      </pc:sldChg>
      <pc:sldChg chg="mod modShow">
        <pc:chgData name="John Jairo Carmona Arango" userId="a73f33f5-d2da-497a-ac16-cc32164a9e00" providerId="ADAL" clId="{508001E0-99CB-4B57-8C4C-543160D8E399}" dt="2026-09-16T14:01:35.150" v="114" actId="729"/>
        <pc:sldMkLst>
          <pc:docMk/>
          <pc:sldMk cId="2755473965" sldId="2147483523"/>
        </pc:sldMkLst>
      </pc:sldChg>
      <pc:sldChg chg="mod modShow">
        <pc:chgData name="John Jairo Carmona Arango" userId="a73f33f5-d2da-497a-ac16-cc32164a9e00" providerId="ADAL" clId="{508001E0-99CB-4B57-8C4C-543160D8E399}" dt="2026-09-16T14:01:35.150" v="114" actId="729"/>
        <pc:sldMkLst>
          <pc:docMk/>
          <pc:sldMk cId="4210291074" sldId="2147483524"/>
        </pc:sldMkLst>
      </pc:sldChg>
      <pc:sldChg chg="mod modShow">
        <pc:chgData name="John Jairo Carmona Arango" userId="a73f33f5-d2da-497a-ac16-cc32164a9e00" providerId="ADAL" clId="{508001E0-99CB-4B57-8C4C-543160D8E399}" dt="2026-09-16T14:01:35.150" v="114" actId="729"/>
        <pc:sldMkLst>
          <pc:docMk/>
          <pc:sldMk cId="4133869391" sldId="2147483540"/>
        </pc:sldMkLst>
      </pc:sldChg>
      <pc:sldChg chg="mod modShow">
        <pc:chgData name="John Jairo Carmona Arango" userId="a73f33f5-d2da-497a-ac16-cc32164a9e00" providerId="ADAL" clId="{508001E0-99CB-4B57-8C4C-543160D8E399}" dt="2026-09-16T14:01:35.150" v="114" actId="729"/>
        <pc:sldMkLst>
          <pc:docMk/>
          <pc:sldMk cId="1213563752" sldId="2147483541"/>
        </pc:sldMkLst>
      </pc:sldChg>
      <pc:sldChg chg="mod modShow">
        <pc:chgData name="John Jairo Carmona Arango" userId="a73f33f5-d2da-497a-ac16-cc32164a9e00" providerId="ADAL" clId="{508001E0-99CB-4B57-8C4C-543160D8E399}" dt="2026-09-16T14:01:35.150" v="114" actId="729"/>
        <pc:sldMkLst>
          <pc:docMk/>
          <pc:sldMk cId="1006221772" sldId="2147483542"/>
        </pc:sldMkLst>
      </pc:sldChg>
      <pc:sldChg chg="mod modShow">
        <pc:chgData name="John Jairo Carmona Arango" userId="a73f33f5-d2da-497a-ac16-cc32164a9e00" providerId="ADAL" clId="{508001E0-99CB-4B57-8C4C-543160D8E399}" dt="2026-09-16T14:01:35.150" v="114" actId="729"/>
        <pc:sldMkLst>
          <pc:docMk/>
          <pc:sldMk cId="4160926846" sldId="2147483544"/>
        </pc:sldMkLst>
      </pc:sldChg>
      <pc:sldChg chg="mod modShow">
        <pc:chgData name="John Jairo Carmona Arango" userId="a73f33f5-d2da-497a-ac16-cc32164a9e00" providerId="ADAL" clId="{508001E0-99CB-4B57-8C4C-543160D8E399}" dt="2026-09-16T14:01:35.150" v="114" actId="729"/>
        <pc:sldMkLst>
          <pc:docMk/>
          <pc:sldMk cId="1198483352" sldId="2147483545"/>
        </pc:sldMkLst>
      </pc:sldChg>
      <pc:sldChg chg="addSp delSp modSp mod">
        <pc:chgData name="John Jairo Carmona Arango" userId="a73f33f5-d2da-497a-ac16-cc32164a9e00" providerId="ADAL" clId="{508001E0-99CB-4B57-8C4C-543160D8E399}" dt="2026-09-16T14:22:47.049" v="325"/>
        <pc:sldMkLst>
          <pc:docMk/>
          <pc:sldMk cId="3214257343" sldId="2147483551"/>
        </pc:sldMkLst>
        <pc:graphicFrameChg chg="add del mod modGraphic">
          <ac:chgData name="John Jairo Carmona Arango" userId="a73f33f5-d2da-497a-ac16-cc32164a9e00" providerId="ADAL" clId="{508001E0-99CB-4B57-8C4C-543160D8E399}" dt="2026-09-16T14:22:47.049" v="325"/>
          <ac:graphicFrameMkLst>
            <pc:docMk/>
            <pc:sldMk cId="3214257343" sldId="2147483551"/>
            <ac:graphicFrameMk id="4" creationId="{6925D013-4859-4F55-49D5-985135D3012F}"/>
          </ac:graphicFrameMkLst>
        </pc:graphicFrameChg>
      </pc:sldChg>
      <pc:sldChg chg="ord">
        <pc:chgData name="John Jairo Carmona Arango" userId="a73f33f5-d2da-497a-ac16-cc32164a9e00" providerId="ADAL" clId="{508001E0-99CB-4B57-8C4C-543160D8E399}" dt="2026-09-16T14:28:52.677" v="327"/>
        <pc:sldMkLst>
          <pc:docMk/>
          <pc:sldMk cId="752103383" sldId="2147483553"/>
        </pc:sldMkLst>
      </pc:sldChg>
      <pc:sldChg chg="add">
        <pc:chgData name="John Jairo Carmona Arango" userId="a73f33f5-d2da-497a-ac16-cc32164a9e00" providerId="ADAL" clId="{508001E0-99CB-4B57-8C4C-543160D8E399}" dt="2026-09-16T14:13:18.753" v="168" actId="2890"/>
        <pc:sldMkLst>
          <pc:docMk/>
          <pc:sldMk cId="3411357789" sldId="2147483556"/>
        </pc:sldMkLst>
      </pc:sldChg>
      <pc:sldChg chg="add del setBg">
        <pc:chgData name="John Jairo Carmona Arango" userId="a73f33f5-d2da-497a-ac16-cc32164a9e00" providerId="ADAL" clId="{508001E0-99CB-4B57-8C4C-543160D8E399}" dt="2026-09-16T14:13:16.388" v="167"/>
        <pc:sldMkLst>
          <pc:docMk/>
          <pc:sldMk cId="3523234168" sldId="2147483556"/>
        </pc:sldMkLst>
      </pc:sldChg>
      <pc:sldChg chg="delSp add mod ord">
        <pc:chgData name="John Jairo Carmona Arango" userId="a73f33f5-d2da-497a-ac16-cc32164a9e00" providerId="ADAL" clId="{508001E0-99CB-4B57-8C4C-543160D8E399}" dt="2026-09-16T14:29:20.320" v="332"/>
        <pc:sldMkLst>
          <pc:docMk/>
          <pc:sldMk cId="224535338" sldId="2147483557"/>
        </pc:sldMkLst>
        <pc:picChg chg="del">
          <ac:chgData name="John Jairo Carmona Arango" userId="a73f33f5-d2da-497a-ac16-cc32164a9e00" providerId="ADAL" clId="{508001E0-99CB-4B57-8C4C-543160D8E399}" dt="2026-09-16T14:29:15.460" v="329" actId="478"/>
          <ac:picMkLst>
            <pc:docMk/>
            <pc:sldMk cId="224535338" sldId="2147483557"/>
            <ac:picMk id="16" creationId="{96B4688A-F517-C586-93DB-7CE24A5C8CA8}"/>
          </ac:picMkLst>
        </pc:picChg>
        <pc:picChg chg="del">
          <ac:chgData name="John Jairo Carmona Arango" userId="a73f33f5-d2da-497a-ac16-cc32164a9e00" providerId="ADAL" clId="{508001E0-99CB-4B57-8C4C-543160D8E399}" dt="2026-09-16T14:29:15.460" v="329" actId="478"/>
          <ac:picMkLst>
            <pc:docMk/>
            <pc:sldMk cId="224535338" sldId="2147483557"/>
            <ac:picMk id="99" creationId="{E6B7A16A-88B4-EDCD-088A-D855D7795B8C}"/>
          </ac:picMkLst>
        </pc:picChg>
        <pc:picChg chg="del">
          <ac:chgData name="John Jairo Carmona Arango" userId="a73f33f5-d2da-497a-ac16-cc32164a9e00" providerId="ADAL" clId="{508001E0-99CB-4B57-8C4C-543160D8E399}" dt="2026-09-16T14:29:15.460" v="329" actId="478"/>
          <ac:picMkLst>
            <pc:docMk/>
            <pc:sldMk cId="224535338" sldId="2147483557"/>
            <ac:picMk id="101" creationId="{8632297E-AF03-0151-80A4-94F78D0C5976}"/>
          </ac:picMkLst>
        </pc:picChg>
        <pc:picChg chg="del">
          <ac:chgData name="John Jairo Carmona Arango" userId="a73f33f5-d2da-497a-ac16-cc32164a9e00" providerId="ADAL" clId="{508001E0-99CB-4B57-8C4C-543160D8E399}" dt="2026-09-16T14:29:15.460" v="329" actId="478"/>
          <ac:picMkLst>
            <pc:docMk/>
            <pc:sldMk cId="224535338" sldId="2147483557"/>
            <ac:picMk id="102" creationId="{5FE590BF-5FFF-9EE3-26AC-C04D9233E6E0}"/>
          </ac:picMkLst>
        </pc:picChg>
        <pc:picChg chg="del">
          <ac:chgData name="John Jairo Carmona Arango" userId="a73f33f5-d2da-497a-ac16-cc32164a9e00" providerId="ADAL" clId="{508001E0-99CB-4B57-8C4C-543160D8E399}" dt="2026-09-16T14:29:15.460" v="329" actId="478"/>
          <ac:picMkLst>
            <pc:docMk/>
            <pc:sldMk cId="224535338" sldId="2147483557"/>
            <ac:picMk id="103" creationId="{ED44E2B4-F2F9-7B3B-B455-644DC98D3AA7}"/>
          </ac:picMkLst>
        </pc:picChg>
        <pc:picChg chg="del">
          <ac:chgData name="John Jairo Carmona Arango" userId="a73f33f5-d2da-497a-ac16-cc32164a9e00" providerId="ADAL" clId="{508001E0-99CB-4B57-8C4C-543160D8E399}" dt="2026-09-16T14:29:17.895" v="330" actId="478"/>
          <ac:picMkLst>
            <pc:docMk/>
            <pc:sldMk cId="224535338" sldId="2147483557"/>
            <ac:picMk id="108" creationId="{2C638917-E7CC-6C2A-818B-7C68D8961FBC}"/>
          </ac:picMkLst>
        </pc:picChg>
      </pc:sldChg>
    </pc:docChg>
  </pc:docChgLst>
  <pc:docChgLst>
    <pc:chgData name="Melissa Restrepo Mejia" userId="461c5418-91ce-47d9-91d2-87444c54a02c" providerId="ADAL" clId="{6F03EAC1-7FE7-41F9-B0D7-0EDE53D6570B}"/>
    <pc:docChg chg="custSel modSld">
      <pc:chgData name="Melissa Restrepo Mejia" userId="461c5418-91ce-47d9-91d2-87444c54a02c" providerId="ADAL" clId="{6F03EAC1-7FE7-41F9-B0D7-0EDE53D6570B}" dt="2026-09-16T15:11:22.763" v="23" actId="1076"/>
      <pc:docMkLst>
        <pc:docMk/>
      </pc:docMkLst>
      <pc:sldChg chg="delSp modSp mod">
        <pc:chgData name="Melissa Restrepo Mejia" userId="461c5418-91ce-47d9-91d2-87444c54a02c" providerId="ADAL" clId="{6F03EAC1-7FE7-41F9-B0D7-0EDE53D6570B}" dt="2026-09-16T15:11:22.763" v="23" actId="1076"/>
        <pc:sldMkLst>
          <pc:docMk/>
          <pc:sldMk cId="0" sldId="2147483518"/>
        </pc:sldMkLst>
        <pc:spChg chg="del">
          <ac:chgData name="Melissa Restrepo Mejia" userId="461c5418-91ce-47d9-91d2-87444c54a02c" providerId="ADAL" clId="{6F03EAC1-7FE7-41F9-B0D7-0EDE53D6570B}" dt="2026-09-16T15:10:37.234" v="0" actId="478"/>
          <ac:spMkLst>
            <pc:docMk/>
            <pc:sldMk cId="0" sldId="2147483518"/>
            <ac:spMk id="6" creationId="{00000000-0000-0000-0000-000000000000}"/>
          </ac:spMkLst>
        </pc:spChg>
        <pc:spChg chg="mod">
          <ac:chgData name="Melissa Restrepo Mejia" userId="461c5418-91ce-47d9-91d2-87444c54a02c" providerId="ADAL" clId="{6F03EAC1-7FE7-41F9-B0D7-0EDE53D6570B}" dt="2026-09-16T15:11:22.763" v="23" actId="1076"/>
          <ac:spMkLst>
            <pc:docMk/>
            <pc:sldMk cId="0" sldId="2147483518"/>
            <ac:spMk id="7" creationId="{00000000-0000-0000-0000-000000000000}"/>
          </ac:spMkLst>
        </pc:spChg>
      </pc:sldChg>
    </pc:docChg>
  </pc:docChgLst>
  <pc:docChgLst>
    <pc:chgData name="Ana Catalina Castano Mejia" userId="S::ana.cata.0415@tuya.com.co::16b5c04f-230a-4cbf-b8c6-b89968189158" providerId="AD" clId="Web-{A54345E7-6E41-821F-AE9C-1E2120F59D6F}"/>
    <pc:docChg chg="modSld">
      <pc:chgData name="Ana Catalina Castano Mejia" userId="S::ana.cata.0415@tuya.com.co::16b5c04f-230a-4cbf-b8c6-b89968189158" providerId="AD" clId="Web-{A54345E7-6E41-821F-AE9C-1E2120F59D6F}" dt="2026-09-16T14:30:50.264" v="87" actId="1076"/>
      <pc:docMkLst>
        <pc:docMk/>
      </pc:docMkLst>
      <pc:sldChg chg="delSp modSp">
        <pc:chgData name="Ana Catalina Castano Mejia" userId="S::ana.cata.0415@tuya.com.co::16b5c04f-230a-4cbf-b8c6-b89968189158" providerId="AD" clId="Web-{A54345E7-6E41-821F-AE9C-1E2120F59D6F}" dt="2026-09-16T14:30:50.264" v="87" actId="1076"/>
        <pc:sldMkLst>
          <pc:docMk/>
          <pc:sldMk cId="1603952159" sldId="2147483534"/>
        </pc:sldMkLst>
        <pc:spChg chg="mod">
          <ac:chgData name="Ana Catalina Castano Mejia" userId="S::ana.cata.0415@tuya.com.co::16b5c04f-230a-4cbf-b8c6-b89968189158" providerId="AD" clId="Web-{A54345E7-6E41-821F-AE9C-1E2120F59D6F}" dt="2026-09-16T14:30:24.389" v="83" actId="20577"/>
          <ac:spMkLst>
            <pc:docMk/>
            <pc:sldMk cId="1603952159" sldId="2147483534"/>
            <ac:spMk id="23" creationId="{44438903-DE39-E97B-B451-32861E1DABC1}"/>
          </ac:spMkLst>
        </pc:spChg>
        <pc:spChg chg="mod">
          <ac:chgData name="Ana Catalina Castano Mejia" userId="S::ana.cata.0415@tuya.com.co::16b5c04f-230a-4cbf-b8c6-b89968189158" providerId="AD" clId="Web-{A54345E7-6E41-821F-AE9C-1E2120F59D6F}" dt="2026-09-16T14:30:50.264" v="87" actId="1076"/>
          <ac:spMkLst>
            <pc:docMk/>
            <pc:sldMk cId="1603952159" sldId="2147483534"/>
            <ac:spMk id="29" creationId="{238D1ECC-8B58-EDC8-7602-7A9F57CA736D}"/>
          </ac:spMkLst>
        </pc:spChg>
        <pc:spChg chg="del mod">
          <ac:chgData name="Ana Catalina Castano Mejia" userId="S::ana.cata.0415@tuya.com.co::16b5c04f-230a-4cbf-b8c6-b89968189158" providerId="AD" clId="Web-{A54345E7-6E41-821F-AE9C-1E2120F59D6F}" dt="2026-09-16T14:30:38.811" v="86"/>
          <ac:spMkLst>
            <pc:docMk/>
            <pc:sldMk cId="1603952159" sldId="2147483534"/>
            <ac:spMk id="32" creationId="{568351E3-BDB3-2A6A-03EA-54ADDA24702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1AAEB4-9E86-4335-8D9D-53C7EF1299F2}" type="datetimeFigureOut">
              <a:rPr lang="es-ES" smtClean="0"/>
              <a:t>16/09/2026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145AAC-2AC0-4847-BC39-8E27C469D47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203752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193108-DEAF-D1AB-DEDF-E7A35EC31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4A1C85-E5C3-8AFC-2F18-A170C97D9B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056E07-5942-455E-4027-37D9B27EB0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52ADEC-EC6A-4C43-01E6-81CF01608C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456919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624200-2FE2-1856-54AF-F408BB0C2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08A03A-3307-DAD0-30B7-EA6ADC0AF0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779AB6-2051-E85C-787E-0A209F21C4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E386C6-B1EB-1FC4-CA0B-9CBACFB640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35778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9BCEE1-B278-2398-D2DE-885641FC4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118407F-E7D1-9231-DF87-A40FFBF64A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D425B8A-1281-939B-8E8F-D72A9BBDA5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/>
              <a:t>Ingenieros de Calidad: por Negocio</a:t>
            </a:r>
          </a:p>
          <a:p>
            <a:endParaRPr lang="es-CO"/>
          </a:p>
          <a:p>
            <a:r>
              <a:rPr lang="es-CO"/>
              <a:t>En los que son Front los separaría en subgrupos: por conocimiento del negocio, porque esto da conocimiento de código, producto, aplicaciones, esto hace </a:t>
            </a:r>
            <a:r>
              <a:rPr lang="es-CO" err="1"/>
              <a:t>ue</a:t>
            </a:r>
            <a:r>
              <a:rPr lang="es-CO"/>
              <a:t> las curva de aprendizaje sea más rápida. </a:t>
            </a:r>
          </a:p>
          <a:p>
            <a:endParaRPr lang="es-CO"/>
          </a:p>
          <a:p>
            <a:endParaRPr lang="es-CO"/>
          </a:p>
          <a:p>
            <a:endParaRPr lang="es-CO"/>
          </a:p>
          <a:p>
            <a:r>
              <a:rPr lang="es-CO"/>
              <a:t>Claridad y </a:t>
            </a:r>
            <a:r>
              <a:rPr lang="es-CO" err="1"/>
              <a:t>expertise</a:t>
            </a:r>
            <a:r>
              <a:rPr lang="es-CO"/>
              <a:t> / especialidad. </a:t>
            </a:r>
          </a:p>
          <a:p>
            <a:r>
              <a:rPr lang="es-CO"/>
              <a:t>Felipe: involucrarlo desde su piloto de rol PO e incluir en general los </a:t>
            </a:r>
            <a:r>
              <a:rPr lang="es-CO" err="1"/>
              <a:t>POs</a:t>
            </a:r>
            <a:r>
              <a:rPr lang="es-CO"/>
              <a:t> (la idea es estar embebidos en el negocio). Qué pasa cuando se toma una capacidad de TI y se lleva al negocio, cómo lleva este sus buenas prácticas). </a:t>
            </a:r>
          </a:p>
          <a:p>
            <a:r>
              <a:rPr lang="es-CO"/>
              <a:t>Automatización: IA incluido. Hacerle doble clic. (Línea de </a:t>
            </a:r>
            <a:r>
              <a:rPr lang="es-CO" err="1"/>
              <a:t>expertise</a:t>
            </a:r>
            <a:r>
              <a:rPr lang="es-CO"/>
              <a:t> en este tema). 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97EB163-BBEE-4296-A627-5A2E849EAE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27A26C-78BD-44D2-A8BE-EF8541143508}" type="slidenum">
              <a:rPr kumimoji="0" lang="es-C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469500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7DCA7E-295A-5E2F-68E9-820D49F40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DA9580C-8F71-7E01-01CB-9ACFFEC573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90B85F7-04E9-C619-A960-8F68E8327D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 algn="l" defTabSz="1219170">
              <a:buFont typeface="Symbol" panose="05050102010706020507" pitchFamily="18" charset="2"/>
              <a:buChar char="Þ"/>
            </a:pPr>
            <a:r>
              <a:rPr lang="es-419" sz="1200" b="0" noProof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Lico  + Mencionar   Deuda Técnica ( la resuelve en su proceso de desarrollo) </a:t>
            </a:r>
          </a:p>
          <a:p>
            <a:pPr marL="171450" indent="-171450" algn="l" defTabSz="1219170">
              <a:buFont typeface="Symbol" panose="05050102010706020507" pitchFamily="18" charset="2"/>
              <a:buChar char="Þ"/>
            </a:pPr>
            <a:r>
              <a:rPr lang="es-419" sz="1200" b="0" noProof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Medición de Deuda técnica desarrollo  – Tablero de deuda técnica  por equipo </a:t>
            </a:r>
          </a:p>
          <a:p>
            <a:pPr marL="171450" indent="-171450" algn="l" defTabSz="1219170">
              <a:buFont typeface="Symbol" panose="05050102010706020507" pitchFamily="18" charset="2"/>
              <a:buChar char="Þ"/>
            </a:pPr>
            <a:r>
              <a:rPr lang="es-419" sz="1200" b="0" noProof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Regulatorios-Obsolescencia –por el desarrollo ( puntual   en  el proceso de desarrollo)</a:t>
            </a:r>
          </a:p>
          <a:p>
            <a:pPr marL="171450" indent="-171450" algn="l" defTabSz="1219170">
              <a:buFont typeface="Symbol" panose="05050102010706020507" pitchFamily="18" charset="2"/>
              <a:buChar char="Þ"/>
            </a:pPr>
            <a:endParaRPr lang="es-419" sz="1200" b="0" noProof="0">
              <a:solidFill>
                <a:srgbClr val="FF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171450" indent="-171450" algn="l" defTabSz="1219170">
              <a:buFont typeface="Symbol" panose="05050102010706020507" pitchFamily="18" charset="2"/>
              <a:buChar char="Þ"/>
            </a:pPr>
            <a:r>
              <a:rPr lang="es-419" sz="1200" b="1" i="1" noProof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Que es la deuda técnica- por que es importante y no es del Líder Técnico </a:t>
            </a:r>
          </a:p>
          <a:p>
            <a:pPr defTabSz="1219170"/>
            <a:r>
              <a:rPr lang="es-419" sz="1200" b="1" noProof="0">
                <a:solidFill>
                  <a:srgbClr val="1B2A5E"/>
                </a:solidFill>
                <a:highlight>
                  <a:srgbClr val="FFFF00"/>
                </a:highligh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=&gt; Requisitos no Funcionales:</a:t>
            </a:r>
          </a:p>
          <a:p>
            <a:pPr marL="628650" lvl="1" indent="-171450" defTabSz="1219170">
              <a:buFont typeface="Arial" panose="020B0604020202020204" pitchFamily="34" charset="0"/>
              <a:buChar char="•"/>
            </a:pPr>
            <a:r>
              <a:rPr lang="es-419" sz="1200" b="1" noProof="0">
                <a:solidFill>
                  <a:srgbClr val="1B2A5E"/>
                </a:solidFill>
                <a:highlight>
                  <a:srgbClr val="FFFF00"/>
                </a:highligh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Disponibilidad</a:t>
            </a:r>
          </a:p>
          <a:p>
            <a:pPr marL="628650" lvl="1" indent="-171450" defTabSz="1219170">
              <a:buFont typeface="Arial" panose="020B0604020202020204" pitchFamily="34" charset="0"/>
              <a:buChar char="•"/>
            </a:pPr>
            <a:r>
              <a:rPr lang="es-419" sz="1200" b="1">
                <a:solidFill>
                  <a:srgbClr val="1B2A5E"/>
                </a:solidFill>
                <a:highlight>
                  <a:srgbClr val="FFFF00"/>
                </a:highligh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Capacidad</a:t>
            </a:r>
          </a:p>
          <a:p>
            <a:pPr marL="628650" lvl="1" indent="-171450" defTabSz="1219170">
              <a:buFont typeface="Arial" panose="020B0604020202020204" pitchFamily="34" charset="0"/>
              <a:buChar char="•"/>
            </a:pPr>
            <a:r>
              <a:rPr lang="es-419" sz="1200" b="1">
                <a:solidFill>
                  <a:srgbClr val="1B2A5E"/>
                </a:solidFill>
                <a:highlight>
                  <a:srgbClr val="FFFF00"/>
                </a:highligh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Continuidad</a:t>
            </a:r>
          </a:p>
          <a:p>
            <a:pPr marL="628650" lvl="1" indent="-171450" defTabSz="1219170">
              <a:buFont typeface="Arial" panose="020B0604020202020204" pitchFamily="34" charset="0"/>
              <a:buChar char="•"/>
            </a:pPr>
            <a:r>
              <a:rPr lang="es-419" sz="1200" b="1">
                <a:solidFill>
                  <a:srgbClr val="1B2A5E"/>
                </a:solidFill>
                <a:highlight>
                  <a:srgbClr val="FFFF00"/>
                </a:highligh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Debe tener  presente</a:t>
            </a:r>
            <a:endParaRPr lang="es-CO">
              <a:highlight>
                <a:srgbClr val="FFFF00"/>
              </a:highlight>
            </a:endParaRPr>
          </a:p>
          <a:p>
            <a:pPr marL="171450" indent="-171450" algn="l" defTabSz="1219170">
              <a:buFont typeface="Symbol" panose="05050102010706020507" pitchFamily="18" charset="2"/>
              <a:buChar char="Þ"/>
            </a:pPr>
            <a:endParaRPr lang="es-419" sz="1200" b="1" i="1" noProof="0">
              <a:solidFill>
                <a:srgbClr val="FF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ctr" defTabSz="1219170"/>
            <a:endParaRPr lang="es-419" sz="1200" noProof="0">
              <a:solidFill>
                <a:srgbClr val="FF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ctr" defTabSz="1219170"/>
            <a:endParaRPr lang="es-419" sz="1200" noProof="0">
              <a:solidFill>
                <a:srgbClr val="FF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ctr" defTabSz="1219170"/>
            <a:r>
              <a:rPr lang="es-419" sz="1200" noProof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Ciber Inteligencia: </a:t>
            </a:r>
            <a:r>
              <a:rPr lang="es-419" sz="1200" noProof="0" err="1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Scaneo</a:t>
            </a:r>
            <a:r>
              <a:rPr lang="es-419" sz="1200" noProof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de código</a:t>
            </a:r>
          </a:p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419" sz="1200" noProof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DAST: </a:t>
            </a:r>
            <a:r>
              <a:rPr lang="es-419" sz="1200" noProof="0" err="1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Scaneo</a:t>
            </a:r>
            <a:r>
              <a:rPr lang="es-419" sz="1200" noProof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comportamiento</a:t>
            </a:r>
          </a:p>
          <a:p>
            <a:pPr algn="ctr" defTabSz="1219170"/>
            <a:endParaRPr lang="es-419" sz="1200" noProof="0">
              <a:solidFill>
                <a:srgbClr val="FF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72AC6DA-F23C-6370-91F2-2B8A6A7C10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145AAC-2AC0-4847-BC39-8E27C469D474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039651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 algn="l" defTabSz="1219170">
              <a:buFont typeface="Symbol" panose="05050102010706020507" pitchFamily="18" charset="2"/>
              <a:buChar char="Þ"/>
            </a:pPr>
            <a:r>
              <a:rPr lang="es-419" sz="1200" b="0" noProof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Lico  + Mencionar   Deuda Técnica ( la resuelve en su proceso de desarrollo) </a:t>
            </a:r>
          </a:p>
          <a:p>
            <a:pPr marL="171450" indent="-171450" algn="l" defTabSz="1219170">
              <a:buFont typeface="Symbol" panose="05050102010706020507" pitchFamily="18" charset="2"/>
              <a:buChar char="Þ"/>
            </a:pPr>
            <a:r>
              <a:rPr lang="es-419" sz="1200" b="0" noProof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Medición de Deuda técnica desarrollo  – Tablero de deuda técnica  por equipo </a:t>
            </a:r>
          </a:p>
          <a:p>
            <a:pPr marL="171450" indent="-171450" algn="l" defTabSz="1219170">
              <a:buFont typeface="Symbol" panose="05050102010706020507" pitchFamily="18" charset="2"/>
              <a:buChar char="Þ"/>
            </a:pPr>
            <a:r>
              <a:rPr lang="es-419" sz="1200" b="0" noProof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Regulatorios-Obsolescencia –por el desarrollo ( puntual   en  el proceso de desarrollo)</a:t>
            </a:r>
          </a:p>
          <a:p>
            <a:pPr marL="171450" indent="-171450" algn="l" defTabSz="1219170">
              <a:buFont typeface="Symbol" panose="05050102010706020507" pitchFamily="18" charset="2"/>
              <a:buChar char="Þ"/>
            </a:pPr>
            <a:endParaRPr lang="es-419" sz="1200" b="0" noProof="0">
              <a:solidFill>
                <a:srgbClr val="FF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171450" indent="-171450" algn="l" defTabSz="1219170">
              <a:buFont typeface="Symbol" panose="05050102010706020507" pitchFamily="18" charset="2"/>
              <a:buChar char="Þ"/>
            </a:pPr>
            <a:r>
              <a:rPr lang="es-419" sz="1200" b="1" i="1" noProof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Que es la deuda técnica- por que es importante y no es del Líder Técnico </a:t>
            </a:r>
          </a:p>
          <a:p>
            <a:pPr defTabSz="1219170"/>
            <a:r>
              <a:rPr lang="es-419" sz="1200" b="1" noProof="0">
                <a:solidFill>
                  <a:srgbClr val="1B2A5E"/>
                </a:solidFill>
                <a:highlight>
                  <a:srgbClr val="FFFF00"/>
                </a:highligh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=&gt; Requisitos no Funcionales:</a:t>
            </a:r>
          </a:p>
          <a:p>
            <a:pPr marL="628650" lvl="1" indent="-171450" defTabSz="1219170">
              <a:buFont typeface="Arial" panose="020B0604020202020204" pitchFamily="34" charset="0"/>
              <a:buChar char="•"/>
            </a:pPr>
            <a:r>
              <a:rPr lang="es-419" sz="1200" b="1" noProof="0">
                <a:solidFill>
                  <a:srgbClr val="1B2A5E"/>
                </a:solidFill>
                <a:highlight>
                  <a:srgbClr val="FFFF00"/>
                </a:highligh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Disponibilidad</a:t>
            </a:r>
          </a:p>
          <a:p>
            <a:pPr marL="628650" lvl="1" indent="-171450" defTabSz="1219170">
              <a:buFont typeface="Arial" panose="020B0604020202020204" pitchFamily="34" charset="0"/>
              <a:buChar char="•"/>
            </a:pPr>
            <a:r>
              <a:rPr lang="es-419" sz="1200" b="1">
                <a:solidFill>
                  <a:srgbClr val="1B2A5E"/>
                </a:solidFill>
                <a:highlight>
                  <a:srgbClr val="FFFF00"/>
                </a:highligh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Capacidad</a:t>
            </a:r>
          </a:p>
          <a:p>
            <a:pPr marL="628650" lvl="1" indent="-171450" defTabSz="1219170">
              <a:buFont typeface="Arial" panose="020B0604020202020204" pitchFamily="34" charset="0"/>
              <a:buChar char="•"/>
            </a:pPr>
            <a:r>
              <a:rPr lang="es-419" sz="1200" b="1">
                <a:solidFill>
                  <a:srgbClr val="1B2A5E"/>
                </a:solidFill>
                <a:highlight>
                  <a:srgbClr val="FFFF00"/>
                </a:highligh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Continuidad</a:t>
            </a:r>
          </a:p>
          <a:p>
            <a:pPr marL="628650" lvl="1" indent="-171450" defTabSz="1219170">
              <a:buFont typeface="Arial" panose="020B0604020202020204" pitchFamily="34" charset="0"/>
              <a:buChar char="•"/>
            </a:pPr>
            <a:r>
              <a:rPr lang="es-419" sz="1200" b="1">
                <a:solidFill>
                  <a:srgbClr val="1B2A5E"/>
                </a:solidFill>
                <a:highlight>
                  <a:srgbClr val="FFFF00"/>
                </a:highligh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Debe tener  presente</a:t>
            </a:r>
            <a:endParaRPr lang="es-CO">
              <a:highlight>
                <a:srgbClr val="FFFF00"/>
              </a:highlight>
            </a:endParaRPr>
          </a:p>
          <a:p>
            <a:pPr marL="171450" indent="-171450" algn="l" defTabSz="1219170">
              <a:buFont typeface="Symbol" panose="05050102010706020507" pitchFamily="18" charset="2"/>
              <a:buChar char="Þ"/>
            </a:pPr>
            <a:endParaRPr lang="es-419" sz="1200" b="1" i="1" noProof="0">
              <a:solidFill>
                <a:srgbClr val="FF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ctr" defTabSz="1219170"/>
            <a:endParaRPr lang="es-419" sz="1200" noProof="0">
              <a:solidFill>
                <a:srgbClr val="FF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ctr" defTabSz="1219170"/>
            <a:endParaRPr lang="es-419" sz="1200" noProof="0">
              <a:solidFill>
                <a:srgbClr val="FF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ctr" defTabSz="1219170"/>
            <a:r>
              <a:rPr lang="es-419" sz="1200" noProof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Ciber Inteligencia: </a:t>
            </a:r>
            <a:r>
              <a:rPr lang="es-419" sz="1200" noProof="0" err="1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Scaneo</a:t>
            </a:r>
            <a:r>
              <a:rPr lang="es-419" sz="1200" noProof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de código</a:t>
            </a:r>
          </a:p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419" sz="1200" noProof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DAST: </a:t>
            </a:r>
            <a:r>
              <a:rPr lang="es-419" sz="1200" noProof="0" err="1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Scaneo</a:t>
            </a:r>
            <a:r>
              <a:rPr lang="es-419" sz="1200" noProof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comportamiento</a:t>
            </a:r>
          </a:p>
          <a:p>
            <a:pPr algn="ctr" defTabSz="1219170"/>
            <a:endParaRPr lang="es-419" sz="1200" noProof="0">
              <a:solidFill>
                <a:srgbClr val="FF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145AAC-2AC0-4847-BC39-8E27C469D474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815518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1219170"/>
            <a:r>
              <a:rPr lang="en-US">
                <a:solidFill>
                  <a:srgbClr val="000000"/>
                </a:solidFill>
                <a:latin typeface="Aptos" panose="02110004020202020204"/>
                <a:ea typeface="Roboto"/>
                <a:cs typeface="Roboto" panose="02000000000000000000" pitchFamily="2" charset="0"/>
              </a:rPr>
              <a:t>DOR:</a:t>
            </a:r>
            <a:br>
              <a:rPr lang="en-US">
                <a:latin typeface="Aptos" panose="02110004020202020204"/>
                <a:ea typeface="Roboto"/>
                <a:cs typeface="Roboto" panose="02000000000000000000" pitchFamily="2" charset="0"/>
              </a:rPr>
            </a:br>
            <a:endParaRPr lang="en-US" sz="1200" noProof="0">
              <a:solidFill>
                <a:srgbClr val="000000"/>
              </a:solidFill>
              <a:latin typeface="Aptos" panose="02110004020202020204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285750" indent="-285750" defTabSz="1219170">
              <a:buFont typeface="Calibri"/>
              <a:buChar char="-"/>
            </a:pPr>
            <a:r>
              <a:rPr lang="en-US" err="1">
                <a:ea typeface="Roboto"/>
              </a:rPr>
              <a:t>Quién</a:t>
            </a:r>
            <a:r>
              <a:rPr lang="en-US">
                <a:ea typeface="Roboto"/>
              </a:rPr>
              <a:t> </a:t>
            </a:r>
            <a:r>
              <a:rPr lang="en-US" err="1">
                <a:ea typeface="Roboto"/>
              </a:rPr>
              <a:t>debe</a:t>
            </a:r>
            <a:r>
              <a:rPr lang="en-US">
                <a:ea typeface="Roboto"/>
              </a:rPr>
              <a:t> mover el DOR es el </a:t>
            </a:r>
            <a:r>
              <a:rPr lang="en-US" err="1">
                <a:ea typeface="Roboto"/>
              </a:rPr>
              <a:t>líder</a:t>
            </a:r>
            <a:r>
              <a:rPr lang="en-US">
                <a:ea typeface="Roboto"/>
              </a:rPr>
              <a:t> de </a:t>
            </a:r>
            <a:r>
              <a:rPr lang="en-US" err="1">
                <a:ea typeface="Roboto"/>
              </a:rPr>
              <a:t>negocio</a:t>
            </a:r>
            <a:r>
              <a:rPr lang="en-US">
                <a:ea typeface="Roboto"/>
              </a:rPr>
              <a:t>: </a:t>
            </a:r>
            <a:r>
              <a:rPr lang="en-US" err="1">
                <a:ea typeface="Roboto"/>
              </a:rPr>
              <a:t>Conoce</a:t>
            </a:r>
            <a:r>
              <a:rPr lang="en-US">
                <a:ea typeface="Roboto"/>
              </a:rPr>
              <a:t> la </a:t>
            </a:r>
            <a:r>
              <a:rPr lang="en-US" err="1">
                <a:ea typeface="Roboto"/>
              </a:rPr>
              <a:t>incitiva</a:t>
            </a:r>
            <a:r>
              <a:rPr lang="en-US">
                <a:ea typeface="Roboto"/>
              </a:rPr>
              <a:t>, el </a:t>
            </a:r>
            <a:r>
              <a:rPr lang="en-US" err="1">
                <a:ea typeface="Roboto"/>
              </a:rPr>
              <a:t>alcance</a:t>
            </a:r>
            <a:r>
              <a:rPr lang="en-US">
                <a:ea typeface="Roboto"/>
              </a:rPr>
              <a:t>, </a:t>
            </a:r>
            <a:r>
              <a:rPr lang="en-US" err="1">
                <a:ea typeface="Roboto"/>
              </a:rPr>
              <a:t>conoce</a:t>
            </a:r>
            <a:r>
              <a:rPr lang="en-US">
                <a:ea typeface="Roboto"/>
              </a:rPr>
              <a:t> </a:t>
            </a:r>
            <a:r>
              <a:rPr lang="en-US" err="1">
                <a:ea typeface="Roboto"/>
              </a:rPr>
              <a:t>dependencia</a:t>
            </a:r>
            <a:r>
              <a:rPr lang="en-US">
                <a:ea typeface="Roboto"/>
              </a:rPr>
              <a:t>.</a:t>
            </a:r>
          </a:p>
          <a:p>
            <a:pPr defTabSz="1219170"/>
            <a:r>
              <a:rPr lang="en-US">
                <a:ea typeface="Roboto"/>
              </a:rPr>
              <a:t>En </a:t>
            </a:r>
            <a:r>
              <a:rPr lang="en-US" err="1">
                <a:ea typeface="Roboto"/>
              </a:rPr>
              <a:t>que</a:t>
            </a:r>
            <a:r>
              <a:rPr lang="en-US">
                <a:ea typeface="Roboto"/>
              </a:rPr>
              <a:t> </a:t>
            </a:r>
            <a:r>
              <a:rPr lang="en-US" err="1">
                <a:ea typeface="Roboto"/>
              </a:rPr>
              <a:t>momento</a:t>
            </a:r>
            <a:r>
              <a:rPr lang="en-US">
                <a:ea typeface="Roboto"/>
              </a:rPr>
              <a:t>:</a:t>
            </a:r>
          </a:p>
          <a:p>
            <a:pPr marL="285750" indent="-285750" defTabSz="1219170">
              <a:buFont typeface="Calibri"/>
              <a:buChar char="-"/>
            </a:pPr>
            <a:r>
              <a:rPr lang="en-US">
                <a:ea typeface="Roboto"/>
              </a:rPr>
              <a:t>Se </a:t>
            </a:r>
            <a:r>
              <a:rPr lang="en-US" err="1">
                <a:ea typeface="Roboto"/>
              </a:rPr>
              <a:t>prioriza</a:t>
            </a:r>
            <a:r>
              <a:rPr lang="en-US">
                <a:ea typeface="Roboto"/>
              </a:rPr>
              <a:t> la </a:t>
            </a:r>
            <a:r>
              <a:rPr lang="en-US" err="1">
                <a:ea typeface="Roboto"/>
              </a:rPr>
              <a:t>habilitadora</a:t>
            </a:r>
            <a:r>
              <a:rPr lang="en-US">
                <a:ea typeface="Roboto"/>
              </a:rPr>
              <a:t> y </a:t>
            </a:r>
            <a:r>
              <a:rPr lang="en-US" err="1">
                <a:ea typeface="Roboto"/>
              </a:rPr>
              <a:t>pasa</a:t>
            </a:r>
            <a:r>
              <a:rPr lang="en-US">
                <a:ea typeface="Roboto"/>
              </a:rPr>
              <a:t> </a:t>
            </a:r>
            <a:r>
              <a:rPr lang="en-US" err="1">
                <a:ea typeface="Roboto"/>
              </a:rPr>
              <a:t>refinamiento</a:t>
            </a:r>
            <a:r>
              <a:rPr lang="en-US">
                <a:ea typeface="Roboto"/>
              </a:rPr>
              <a:t> con </a:t>
            </a:r>
            <a:r>
              <a:rPr lang="en-US" err="1">
                <a:ea typeface="Roboto"/>
              </a:rPr>
              <a:t>lideres</a:t>
            </a:r>
            <a:r>
              <a:rPr lang="en-US">
                <a:ea typeface="Roboto"/>
              </a:rPr>
              <a:t> </a:t>
            </a:r>
            <a:r>
              <a:rPr lang="en-US" err="1">
                <a:ea typeface="Roboto"/>
              </a:rPr>
              <a:t>técnicos</a:t>
            </a:r>
            <a:r>
              <a:rPr lang="en-US">
                <a:ea typeface="Roboto"/>
              </a:rPr>
              <a:t>.</a:t>
            </a:r>
          </a:p>
          <a:p>
            <a:pPr marL="285750" indent="-285750" defTabSz="1219170">
              <a:buFont typeface="Calibri"/>
              <a:buChar char="-"/>
            </a:pPr>
            <a:r>
              <a:rPr lang="en-US" err="1">
                <a:ea typeface="Roboto"/>
              </a:rPr>
              <a:t>Entendimiento</a:t>
            </a:r>
            <a:r>
              <a:rPr lang="en-US">
                <a:ea typeface="Roboto"/>
              </a:rPr>
              <a:t>:  </a:t>
            </a:r>
            <a:r>
              <a:rPr lang="en-US" err="1">
                <a:ea typeface="Roboto"/>
              </a:rPr>
              <a:t>Lidera</a:t>
            </a:r>
            <a:r>
              <a:rPr lang="en-US">
                <a:ea typeface="Roboto"/>
              </a:rPr>
              <a:t> </a:t>
            </a:r>
            <a:r>
              <a:rPr lang="en-US" err="1">
                <a:ea typeface="Roboto"/>
              </a:rPr>
              <a:t>especialista</a:t>
            </a:r>
          </a:p>
          <a:p>
            <a:pPr marL="285750" indent="-285750" defTabSz="1219170">
              <a:buFont typeface="Calibri"/>
              <a:buChar char="-"/>
            </a:pPr>
            <a:r>
              <a:rPr lang="en-US" err="1">
                <a:ea typeface="Roboto"/>
              </a:rPr>
              <a:t>Arquitectura</a:t>
            </a:r>
            <a:r>
              <a:rPr lang="en-US">
                <a:ea typeface="Roboto"/>
              </a:rPr>
              <a:t>: </a:t>
            </a:r>
            <a:r>
              <a:rPr lang="en-US" err="1">
                <a:ea typeface="Roboto"/>
              </a:rPr>
              <a:t>Lidera</a:t>
            </a:r>
            <a:r>
              <a:rPr lang="en-US">
                <a:ea typeface="Roboto"/>
              </a:rPr>
              <a:t> el </a:t>
            </a:r>
            <a:r>
              <a:rPr lang="en-US" err="1">
                <a:ea typeface="Roboto"/>
              </a:rPr>
              <a:t>arquitecto</a:t>
            </a:r>
            <a:endParaRPr lang="en-US" err="1"/>
          </a:p>
          <a:p>
            <a:pPr defTabSz="1219170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0E7158-3EFA-F629-ACCB-9EC07EC96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0951B2-913E-1CF1-AAA6-B58F5B7C1F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7206FD-F1A2-0E44-B529-56F56160EA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4CCF37-69F4-8DB4-6899-5C30D69B88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7583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72026-D5B3-714D-2BC8-A6A075DA1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F1B781-D78C-B947-3FC8-092C834D71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4E216A-E3F5-77F2-E1E9-608847CE94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Juan Manuel Patiño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E8884C-D22A-C168-D044-58ADFE1060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2106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88F00E-875B-C4C8-050E-A65A70E5D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BDE299-E9BA-30DD-2377-267AC2BC8D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7DC2D9-4085-3F13-D5F5-5F79336940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Olga Cristina Mejia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650759-8885-9B5A-98ED-63FAB820CF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8792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F6BBF-7A40-029A-32D4-8E899F07A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98D8E0-9D77-7C98-BE83-F0EB93F094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4EEEEC-034A-51A2-B84B-622AABD4D3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Ana Catalina Castaño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070799-7DDB-5FE0-F5AA-D26D842B8E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000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FA659-11CF-8DB1-D946-229F4436B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4F90A7-D51A-27EC-45DD-7B663122E3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23EA3F-F7EA-1A6F-4D85-F513CF6DAB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Camilo Ocampo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6A82F2-3C1B-F3B1-9766-104D11286C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6212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EB3219-549F-99BE-8EF4-B3FFF75C5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DC5D81-A220-B8FD-70B7-5DF24CAD55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667EBC-C152-6CB3-8802-872A72A6E3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Camilo Ocampo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2E9A9E-72AC-8B77-1ABB-5D47744EA5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1792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F091A3-7221-7940-E732-5AA8741BE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5BC71A-4C7A-DDE1-28ED-DD77C371A6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B5259A-665B-B28B-7000-CFAC262769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Sora- DOR  </a:t>
            </a:r>
            <a:r>
              <a:rPr lang="en-US" b="1" err="1"/>
              <a:t>Integracion</a:t>
            </a:r>
            <a:r>
              <a:rPr lang="en-US" b="1"/>
              <a:t>- Gustavo Carvajal </a:t>
            </a:r>
          </a:p>
          <a:p>
            <a:endParaRPr lang="en-US" b="1"/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E8605F-FB2E-646D-55B3-3697508D50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2830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3553AA-0EF3-767A-854E-445C84383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A7D86A-CFB3-18A4-7EA1-AEC477A28F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B225E0-CEB4-933B-7CF3-B6C0A8561D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Estiben Licona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41757B-1CC9-D164-CDC7-3DC621AC6E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6112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F80BD5-A522-DF69-01F5-A609C6E4E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744802-A65B-6D3B-A75B-44AB398902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96310A-21C4-640F-557A-E0F2FF338C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Jorge Ivan Gomez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902616-D437-0911-1122-12A1B30A01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04725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4198B8-F851-CF97-FF2B-35EF15D73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BC5622-6CE5-D808-D352-45526B2904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555DCF-8080-4D08-C455-18B0DEB819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Daniela Calle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8CD010-C2AF-0B89-3CB1-E0C51E162E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33989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F1737E-EDC6-14AF-51F0-1DFBEA505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2A8FFA-1570-AC3D-191A-49C8E0A61C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1B0682-8A73-1BCE-5E4F-4FAAFCCFB7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Juan Manuel Patiño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80B62F-F282-AD59-1F09-9D55FC40D3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16679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1B0A4-A4B1-FDA1-7B72-5981B30E5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BF4898-2790-EFD3-B9F2-B2260A94C6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5A61E2-3410-F80A-C6A2-B0ED779039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Lorena Ospina –Ana  Catalina 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4D792F-EFF5-CEDF-1055-0D6D9C720B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77662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0B3D5-E317-DC25-2C6A-9D2533DC1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7A2909-9464-C647-5DB5-C0358A5C69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E58F1A-72C5-BF4B-E3D4-33E92166D0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Lorena Ospina - Cata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B8B1A5-6CBB-71F9-7CE1-43153EF2B0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10810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27F704-138B-FE67-F9AE-7E72FFA91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1FDAF38-2EBE-DB08-D73E-7A8D56C4CA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EA4F859-CCFB-6F7E-C0E2-F56CBEC1D1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/>
              <a:t>Ingenieros de Calidad: por Negocio</a:t>
            </a:r>
          </a:p>
          <a:p>
            <a:endParaRPr lang="es-CO"/>
          </a:p>
          <a:p>
            <a:r>
              <a:rPr lang="es-CO"/>
              <a:t>En los que son Front los separaría en subgrupos: por conocimiento del negocio, porque esto da conocimiento de código, producto, aplicaciones, esto hace </a:t>
            </a:r>
            <a:r>
              <a:rPr lang="es-CO" err="1"/>
              <a:t>ue</a:t>
            </a:r>
            <a:r>
              <a:rPr lang="es-CO"/>
              <a:t> las curva de aprendizaje sea más rápida. </a:t>
            </a:r>
          </a:p>
          <a:p>
            <a:endParaRPr lang="es-CO"/>
          </a:p>
          <a:p>
            <a:endParaRPr lang="es-CO"/>
          </a:p>
          <a:p>
            <a:endParaRPr lang="es-CO"/>
          </a:p>
          <a:p>
            <a:r>
              <a:rPr lang="es-CO"/>
              <a:t>Claridad y </a:t>
            </a:r>
            <a:r>
              <a:rPr lang="es-CO" err="1"/>
              <a:t>expertise</a:t>
            </a:r>
            <a:r>
              <a:rPr lang="es-CO"/>
              <a:t> / especialidad. </a:t>
            </a:r>
          </a:p>
          <a:p>
            <a:r>
              <a:rPr lang="es-CO"/>
              <a:t>Felipe: involucrarlo desde su piloto de rol PO e incluir en general los </a:t>
            </a:r>
            <a:r>
              <a:rPr lang="es-CO" err="1"/>
              <a:t>POs</a:t>
            </a:r>
            <a:r>
              <a:rPr lang="es-CO"/>
              <a:t> (la idea es estar embebidos en el negocio). Qué pasa cuando se toma una capacidad de TI y se lleva al negocio, cómo lleva este sus buenas prácticas). </a:t>
            </a:r>
          </a:p>
          <a:p>
            <a:r>
              <a:rPr lang="es-CO"/>
              <a:t>Automatización: IA incluido. Hacerle doble clic. (Línea de </a:t>
            </a:r>
            <a:r>
              <a:rPr lang="es-CO" err="1"/>
              <a:t>expertise</a:t>
            </a:r>
            <a:r>
              <a:rPr lang="es-CO"/>
              <a:t> en este tema). 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8D8E1B5-9146-6334-DC9E-157C118034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27A26C-78BD-44D2-A8BE-EF8541143508}" type="slidenum">
              <a:rPr kumimoji="0" lang="es-C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953821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B4F4E6-5B39-C88F-896E-5E71EE14B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3445AE2-203F-058C-B93B-6C0605D85D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BDD95FE-D40F-585D-BDFC-2FA3D2850B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/>
              <a:t>Ingenieros de Calidad: por Negocio</a:t>
            </a:r>
          </a:p>
          <a:p>
            <a:endParaRPr lang="es-CO"/>
          </a:p>
          <a:p>
            <a:r>
              <a:rPr lang="es-CO"/>
              <a:t>En los que son Front los separaría en subgrupos: por conocimiento del negocio, porque esto da conocimiento de código, producto, aplicaciones, esto hace </a:t>
            </a:r>
            <a:r>
              <a:rPr lang="es-CO" err="1"/>
              <a:t>ue</a:t>
            </a:r>
            <a:r>
              <a:rPr lang="es-CO"/>
              <a:t> las curva de aprendizaje sea más rápida. </a:t>
            </a:r>
          </a:p>
          <a:p>
            <a:endParaRPr lang="es-CO"/>
          </a:p>
          <a:p>
            <a:endParaRPr lang="es-CO"/>
          </a:p>
          <a:p>
            <a:endParaRPr lang="es-CO"/>
          </a:p>
          <a:p>
            <a:r>
              <a:rPr lang="es-CO"/>
              <a:t>Claridad y </a:t>
            </a:r>
            <a:r>
              <a:rPr lang="es-CO" err="1"/>
              <a:t>expertise</a:t>
            </a:r>
            <a:r>
              <a:rPr lang="es-CO"/>
              <a:t> / especialidad. </a:t>
            </a:r>
          </a:p>
          <a:p>
            <a:r>
              <a:rPr lang="es-CO"/>
              <a:t>Felipe: involucrarlo desde su piloto de rol PO e incluir en general los </a:t>
            </a:r>
            <a:r>
              <a:rPr lang="es-CO" err="1"/>
              <a:t>POs</a:t>
            </a:r>
            <a:r>
              <a:rPr lang="es-CO"/>
              <a:t> (la idea es estar embebidos en el negocio). Qué pasa cuando se toma una capacidad de TI y se lleva al negocio, cómo lleva este sus buenas prácticas). </a:t>
            </a:r>
          </a:p>
          <a:p>
            <a:r>
              <a:rPr lang="es-CO"/>
              <a:t>Automatización: IA incluido. Hacerle doble clic. (Línea de </a:t>
            </a:r>
            <a:r>
              <a:rPr lang="es-CO" err="1"/>
              <a:t>expertise</a:t>
            </a:r>
            <a:r>
              <a:rPr lang="es-CO"/>
              <a:t> en este tema). 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45F2D02-AF7C-0AC9-DCBA-9F05EF26DF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27A26C-78BD-44D2-A8BE-EF8541143508}" type="slidenum">
              <a:rPr kumimoji="0" lang="es-C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9492657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4DC7A-1E48-B922-C479-B140BF422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A4C154F-5761-E12B-EEF8-CA34A26128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21E9913-AD54-C424-FBDE-0B222AA494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/>
              <a:t>Ingenieros de Calidad: por Negocio</a:t>
            </a:r>
          </a:p>
          <a:p>
            <a:endParaRPr lang="es-CO"/>
          </a:p>
          <a:p>
            <a:r>
              <a:rPr lang="es-CO"/>
              <a:t>En los que son Front los separaría en subgrupos: por conocimiento del negocio, porque esto da conocimiento de código, producto, aplicaciones, esto hace </a:t>
            </a:r>
            <a:r>
              <a:rPr lang="es-CO" err="1"/>
              <a:t>ue</a:t>
            </a:r>
            <a:r>
              <a:rPr lang="es-CO"/>
              <a:t> las curva de aprendizaje sea más rápida. </a:t>
            </a:r>
          </a:p>
          <a:p>
            <a:endParaRPr lang="es-CO"/>
          </a:p>
          <a:p>
            <a:endParaRPr lang="es-CO"/>
          </a:p>
          <a:p>
            <a:endParaRPr lang="es-CO"/>
          </a:p>
          <a:p>
            <a:r>
              <a:rPr lang="es-CO"/>
              <a:t>Claridad y </a:t>
            </a:r>
            <a:r>
              <a:rPr lang="es-CO" err="1"/>
              <a:t>expertise</a:t>
            </a:r>
            <a:r>
              <a:rPr lang="es-CO"/>
              <a:t> / especialidad. </a:t>
            </a:r>
          </a:p>
          <a:p>
            <a:r>
              <a:rPr lang="es-CO"/>
              <a:t>Felipe: involucrarlo desde su piloto de rol PO e incluir en general los </a:t>
            </a:r>
            <a:r>
              <a:rPr lang="es-CO" err="1"/>
              <a:t>POs</a:t>
            </a:r>
            <a:r>
              <a:rPr lang="es-CO"/>
              <a:t> (la idea es estar embebidos en el negocio). Qué pasa cuando se toma una capacidad de TI y se lleva al negocio, cómo lleva este sus buenas prácticas). </a:t>
            </a:r>
          </a:p>
          <a:p>
            <a:r>
              <a:rPr lang="es-CO"/>
              <a:t>Automatización: IA incluido. Hacerle doble clic. (Línea de </a:t>
            </a:r>
            <a:r>
              <a:rPr lang="es-CO" err="1"/>
              <a:t>expertise</a:t>
            </a:r>
            <a:r>
              <a:rPr lang="es-CO"/>
              <a:t> en este tema). 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1195575-0DF6-063D-853A-B3058698A7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27A26C-78BD-44D2-A8BE-EF8541143508}" type="slidenum">
              <a:rPr kumimoji="0" lang="es-C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0408040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415A8-9674-E843-0EEE-BF71C8F77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3E6D39-FA1E-D862-5C08-27C424FA8B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FB600E-6033-BC43-FFB2-AF60523E2C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C9F158-20BD-0ED7-5C0B-0214E886BC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0209282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560304-61BD-A0C1-416A-6D9E52C07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A91641-08AC-8CA9-C614-73A702A03C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9A0357-04FE-AF09-1C74-C721F54749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EDE6FB-E973-5925-0CB2-7BECE32C36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588342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C4BEF-D272-3B08-B5AE-E4DBF9DF0C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026A3E4-9F6B-A270-C094-723ED4B742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8C16873-6F48-E418-D4CD-3B5F2A70F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5DE73-597B-4440-982D-103611075058}" type="datetimeFigureOut">
              <a:rPr lang="es-ES" smtClean="0"/>
              <a:t>16/09/2026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0DC7ADF-D240-B3F8-ADF5-1839705B7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A33C293-C810-6D33-8670-1FE9D9C97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9EC15-11E5-4A08-A6DF-54D4239C493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328263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523F3B-43A4-5B30-26AF-80989ADAB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198F4CB-A337-C06E-6C29-84B8E4EC3B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683B9E3-F324-F075-71AF-85D1ED32F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5DE73-597B-4440-982D-103611075058}" type="datetimeFigureOut">
              <a:rPr lang="es-ES" smtClean="0"/>
              <a:t>16/09/2026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27E6BA4-348C-2BD6-E1D2-35A9DC82E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CDD610C-F14E-619E-BC5C-6E0812CBB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9EC15-11E5-4A08-A6DF-54D4239C493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908418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11DA97-5358-729B-B799-217CC9BF7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AC43AD2-46E9-68E7-53A9-AD2C3708C9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A3A18CC-B8A2-1BDD-40E6-FEC9181CC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5DE73-597B-4440-982D-103611075058}" type="datetimeFigureOut">
              <a:rPr lang="es-ES" smtClean="0"/>
              <a:t>16/09/2026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29AF63-7E6A-E17B-694A-F083D5695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C06AACE-33AF-7ACF-AEDD-750429842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9EC15-11E5-4A08-A6DF-54D4239C493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93820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4A3223-2FFC-4655-2F06-C3D8B259B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3027071-D6B6-A824-DE77-FF3C976C70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67B5BF9-044A-8ADB-5826-6B5A4FF129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1A9EA8-1CFF-22EB-947F-CF653E71C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5DE73-597B-4440-982D-103611075058}" type="datetimeFigureOut">
              <a:rPr lang="es-ES" smtClean="0"/>
              <a:t>16/09/2026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B7EFE63-4CC5-3D53-4554-253B73EE7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234EB01-D334-8EA1-7B5C-7720CFB3D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9EC15-11E5-4A08-A6DF-54D4239C493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67477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37AED4-8C09-638B-9FFB-5B5A106B8C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2F53222-2D6B-85EE-537D-16D0ACFD15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30FD539-D633-9379-FC9D-99BE9CFD19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3D35A1A-1816-EDE1-0A29-1D9E071CF3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AA430DD-DC81-2F0E-7CA2-40E364BD98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5C781F4-A156-0662-58E2-D527889C3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5DE73-597B-4440-982D-103611075058}" type="datetimeFigureOut">
              <a:rPr lang="es-ES" smtClean="0"/>
              <a:t>16/09/2026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55244AD-78C8-D84C-E395-08B8E72B8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C540457-55AD-E93C-87ED-DA387CC32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9EC15-11E5-4A08-A6DF-54D4239C493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56792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318619-9679-0493-C852-CC244B78F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553A3C1-BA69-BD5C-3DA3-928EB5E69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5DE73-597B-4440-982D-103611075058}" type="datetimeFigureOut">
              <a:rPr lang="es-ES" smtClean="0"/>
              <a:t>16/09/2026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E8F55BF-CD9F-66A4-F56B-C76738BBA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7C3F1C3-F976-331C-0869-E9D96140D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9EC15-11E5-4A08-A6DF-54D4239C493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678143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B1B80C6-78DA-E5C3-87EC-755E821E7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5DE73-597B-4440-982D-103611075058}" type="datetimeFigureOut">
              <a:rPr lang="es-ES" smtClean="0"/>
              <a:t>16/09/2026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8B24C0D-2B5A-02BA-198F-86B87881A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4F27C36-B1E6-4ABB-91C6-BAD9B2162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9EC15-11E5-4A08-A6DF-54D4239C493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234291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E9B75C-612A-5C75-56C1-F3CB27809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C4462B3-86EB-B0FC-BEBD-4D33DB7E8C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4060E6B-FC72-84CB-77DA-C9EA1B2997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1B9AA40-3234-1EB6-9354-42A3CF02C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5DE73-597B-4440-982D-103611075058}" type="datetimeFigureOut">
              <a:rPr lang="es-ES" smtClean="0"/>
              <a:t>16/09/2026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AB3F5DC-62FA-8C29-E7D9-9D3275210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9B7728A-164C-6899-DE10-E76863500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9EC15-11E5-4A08-A6DF-54D4239C493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434127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7B8409-E9F2-AC0A-F312-8B35331FB1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CB312AB-AFC1-8C1D-A3FE-F4CA1CDBBA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2A4E1DA-9384-600D-A15A-F17079AE70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C41C131-E403-2087-98C0-DCE581D78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5DE73-597B-4440-982D-103611075058}" type="datetimeFigureOut">
              <a:rPr lang="es-ES" smtClean="0"/>
              <a:t>16/09/2026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FACBCB3-A327-F84B-6A28-6E96AC381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97236C8-4604-B6CA-78BE-0A2BE8980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9EC15-11E5-4A08-A6DF-54D4239C493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19515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3BE2A6-0931-12D9-B63D-FFFCA2A63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ECFCC34-1263-66D6-7AA7-B556C10D1E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1C3869B-B280-C384-CB20-CAD34D08D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5DE73-597B-4440-982D-103611075058}" type="datetimeFigureOut">
              <a:rPr lang="es-ES" smtClean="0"/>
              <a:t>16/09/2026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AAAEA0B-8F7E-5D9E-35D2-3641BEE1C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22E1B91-503E-3C8A-8A37-99ACA5AB2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9EC15-11E5-4A08-A6DF-54D4239C493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662533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4CF4F20-CFC6-6164-3A3F-B6A4CA26BE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0EB58D8-AF00-4DFC-65BD-A847781934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D7AA3FE-6F0B-9608-E555-475A410D8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5DE73-597B-4440-982D-103611075058}" type="datetimeFigureOut">
              <a:rPr lang="es-ES" smtClean="0"/>
              <a:t>16/09/2026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61A79A6-0030-28A8-663F-1535D8C04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7CC9FB4-F127-AECE-74DC-07E4BE61B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9EC15-11E5-4A08-A6DF-54D4239C493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218189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79483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6D982708-A86C-8799-EE01-C47174E1D4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6000"/>
          </a:blip>
          <a:srcRect t="1092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A5B081AA-F506-D5F7-6C19-74D030055D9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18480" t="44485" r="25641" b="26254"/>
          <a:stretch>
            <a:fillRect/>
          </a:stretch>
        </p:blipFill>
        <p:spPr>
          <a:xfrm>
            <a:off x="0" y="0"/>
            <a:ext cx="12192000" cy="6863301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FAEBD577-9205-BDFE-C636-29BEEEDF379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l="14776" t="15336" r="12807" b="18147"/>
          <a:stretch>
            <a:fillRect/>
          </a:stretch>
        </p:blipFill>
        <p:spPr>
          <a:xfrm>
            <a:off x="11051475" y="147478"/>
            <a:ext cx="1062484" cy="848213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1F1CB64A-ACAF-1C5B-2AA0-37DFE0A1A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F9A73D1-C504-9BEC-51D0-A802D1D18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9EE2E-CF09-43FC-840E-50DB8BD7F7E7}" type="datetimeFigureOut">
              <a:rPr lang="es-419" smtClean="0"/>
              <a:t>16/9/2026</a:t>
            </a:fld>
            <a:endParaRPr lang="es-419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5C9175C-E860-16FA-9E7A-DB272B7F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2B9E705-7E0D-1643-0BEF-2383A5D90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C5065-544E-41C0-B313-9F8D9466A2D8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786918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62276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LIGHT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411480" y="6419088"/>
            <a:ext cx="11365992" cy="0"/>
          </a:xfrm>
          <a:prstGeom prst="line">
            <a:avLst/>
          </a:prstGeom>
          <a:noFill/>
          <a:ln w="7620">
            <a:solidFill>
              <a:srgbClr val="DCE3F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9672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481A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3226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ARK">
    <p:bg>
      <p:bgPr>
        <a:solidFill>
          <a:srgbClr val="0713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411480" y="6419088"/>
            <a:ext cx="11365992" cy="0"/>
          </a:xfrm>
          <a:prstGeom prst="line">
            <a:avLst/>
          </a:prstGeom>
          <a:noFill/>
          <a:ln w="7620">
            <a:solidFill>
              <a:srgbClr val="20316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9672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481A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276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9B26220-8DBD-8A61-4FBE-FED89AF54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5500E8E-0B70-9CA0-7A6B-E982571FBF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0B02C65-2D5D-9B8C-F7BF-07ED745AB6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E5DE73-597B-4440-982D-103611075058}" type="datetimeFigureOut">
              <a:rPr lang="es-ES" smtClean="0"/>
              <a:t>16/09/2026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DF9C805-3632-AB7F-7889-EBE47943FE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4A100C4-24E7-B66F-1AEF-72C8943A3A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89EC15-11E5-4A08-A6DF-54D4239C4937}" type="slidenum">
              <a:rPr lang="es-ES" smtClean="0"/>
              <a:t>‹Nº›</a:t>
            </a:fld>
            <a:endParaRPr lang="es-ES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EEF7FFD-4406-4C77-807A-BBCB2622BDC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280162" y="6489700"/>
            <a:ext cx="11657013" cy="3048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E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Este documento es propiedad de Tuya S.A. Su contenido es confidencial y está protegido por las políticas de seguridad de la compañía. El uso indebido, reproducción o divulgación no autorizada está estrictamente prohibido.</a:t>
            </a:r>
          </a:p>
        </p:txBody>
      </p:sp>
    </p:spTree>
    <p:extLst>
      <p:ext uri="{BB962C8B-B14F-4D97-AF65-F5344CB8AC3E}">
        <p14:creationId xmlns:p14="http://schemas.microsoft.com/office/powerpoint/2010/main" val="3510399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5DE2AA5B-2614-6407-706F-647DDC448CC6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280162" y="6489700"/>
            <a:ext cx="11657013" cy="3048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E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Este documento es propiedad de Tuya S.A. Su contenido es confidencial y está protegido por las políticas de seguridad de la compañía. El uso indebido, reproducción o divulgación no autorizada está estrictamente prohibido.</a:t>
            </a:r>
          </a:p>
        </p:txBody>
      </p:sp>
    </p:spTree>
    <p:extLst>
      <p:ext uri="{BB962C8B-B14F-4D97-AF65-F5344CB8AC3E}">
        <p14:creationId xmlns:p14="http://schemas.microsoft.com/office/powerpoint/2010/main" val="3307003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</p:sldLayoutIdLst>
  <p:hf sldNum="0" hdr="0" ftr="0" dt="0"/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0.png"/><Relationship Id="rId11" Type="http://schemas.openxmlformats.org/officeDocument/2006/relationships/image" Target="../media/image6.pn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8.png"/><Relationship Id="rId10" Type="http://schemas.openxmlformats.org/officeDocument/2006/relationships/image" Target="../media/image14.sv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8.png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8.png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8.png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7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5.png"/><Relationship Id="rId5" Type="http://schemas.openxmlformats.org/officeDocument/2006/relationships/image" Target="../media/image20.png"/><Relationship Id="rId10" Type="http://schemas.openxmlformats.org/officeDocument/2006/relationships/image" Target="../media/image18.png"/><Relationship Id="rId4" Type="http://schemas.openxmlformats.org/officeDocument/2006/relationships/image" Target="../media/image19.png"/><Relationship Id="rId9" Type="http://schemas.openxmlformats.org/officeDocument/2006/relationships/image" Target="../media/image21.sv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6.png"/><Relationship Id="rId3" Type="http://schemas.openxmlformats.org/officeDocument/2006/relationships/image" Target="../media/image6.png"/><Relationship Id="rId7" Type="http://schemas.openxmlformats.org/officeDocument/2006/relationships/image" Target="../media/image15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7.png"/><Relationship Id="rId11" Type="http://schemas.openxmlformats.org/officeDocument/2006/relationships/image" Target="../media/image24.png"/><Relationship Id="rId5" Type="http://schemas.openxmlformats.org/officeDocument/2006/relationships/image" Target="../media/image19.png"/><Relationship Id="rId1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20.png"/><Relationship Id="rId9" Type="http://schemas.openxmlformats.org/officeDocument/2006/relationships/image" Target="../media/image22.png"/><Relationship Id="rId14" Type="http://schemas.openxmlformats.org/officeDocument/2006/relationships/image" Target="../media/image21.sv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6.png"/><Relationship Id="rId3" Type="http://schemas.openxmlformats.org/officeDocument/2006/relationships/image" Target="../media/image6.png"/><Relationship Id="rId7" Type="http://schemas.openxmlformats.org/officeDocument/2006/relationships/image" Target="../media/image15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7.png"/><Relationship Id="rId11" Type="http://schemas.openxmlformats.org/officeDocument/2006/relationships/image" Target="../media/image24.png"/><Relationship Id="rId5" Type="http://schemas.openxmlformats.org/officeDocument/2006/relationships/image" Target="../media/image19.png"/><Relationship Id="rId1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20.png"/><Relationship Id="rId9" Type="http://schemas.openxmlformats.org/officeDocument/2006/relationships/image" Target="../media/image22.png"/><Relationship Id="rId14" Type="http://schemas.openxmlformats.org/officeDocument/2006/relationships/image" Target="../media/image21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1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21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9.svg"/><Relationship Id="rId5" Type="http://schemas.openxmlformats.org/officeDocument/2006/relationships/image" Target="../media/image28.svg"/><Relationship Id="rId4" Type="http://schemas.openxmlformats.org/officeDocument/2006/relationships/image" Target="../media/image27.sv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9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8.svg"/><Relationship Id="rId5" Type="http://schemas.openxmlformats.org/officeDocument/2006/relationships/image" Target="../media/image27.svg"/><Relationship Id="rId4" Type="http://schemas.openxmlformats.org/officeDocument/2006/relationships/image" Target="../media/image30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8.png"/><Relationship Id="rId5" Type="http://schemas.openxmlformats.org/officeDocument/2006/relationships/image" Target="../media/image21.svg"/><Relationship Id="rId4" Type="http://schemas.openxmlformats.org/officeDocument/2006/relationships/image" Target="../media/image29.sv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34.png"/><Relationship Id="rId5" Type="http://schemas.openxmlformats.org/officeDocument/2006/relationships/image" Target="../media/image21.svg"/><Relationship Id="rId4" Type="http://schemas.openxmlformats.org/officeDocument/2006/relationships/image" Target="../media/image33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forms.cloud.microsoft/Pages/ResponsePage.aspx?id=H0z4zMv4n0-bVVLr9CaWNlEM7k0g7vdGr0fN0aqHZzhUOU5HNVpNWFFXSVhVV0dGM085Nlo3MjhINCQlQCNjPTEu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E3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A22CB1-5BC3-B865-8B5A-0E9DAA2E4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25C5ED6-E265-CA9C-9CB5-C0D4E2F53879}"/>
              </a:ext>
            </a:extLst>
          </p:cNvPr>
          <p:cNvSpPr/>
          <p:nvPr/>
        </p:nvSpPr>
        <p:spPr>
          <a:xfrm>
            <a:off x="11338560" y="6400800"/>
            <a:ext cx="73152" cy="73152"/>
          </a:xfrm>
          <a:prstGeom prst="ellipse">
            <a:avLst/>
          </a:prstGeom>
          <a:solidFill>
            <a:srgbClr val="00C9FF">
              <a:alpha val="6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419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B16233B-6D06-85A5-D1DC-D790B9563EA0}"/>
              </a:ext>
            </a:extLst>
          </p:cNvPr>
          <p:cNvSpPr/>
          <p:nvPr/>
        </p:nvSpPr>
        <p:spPr>
          <a:xfrm>
            <a:off x="11704320" y="6400800"/>
            <a:ext cx="73152" cy="73152"/>
          </a:xfrm>
          <a:prstGeom prst="ellipse">
            <a:avLst/>
          </a:prstGeom>
          <a:solidFill>
            <a:srgbClr val="00C9FF">
              <a:alpha val="6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419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08B623A-AA89-C49E-6C53-D8FDE5CD8BD6}"/>
              </a:ext>
            </a:extLst>
          </p:cNvPr>
          <p:cNvSpPr/>
          <p:nvPr/>
        </p:nvSpPr>
        <p:spPr>
          <a:xfrm>
            <a:off x="11338560" y="6126480"/>
            <a:ext cx="73152" cy="73152"/>
          </a:xfrm>
          <a:prstGeom prst="ellipse">
            <a:avLst/>
          </a:prstGeom>
          <a:solidFill>
            <a:srgbClr val="00C9FF">
              <a:alpha val="6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419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B5CAE31-F88C-104B-B622-4F12E3838093}"/>
              </a:ext>
            </a:extLst>
          </p:cNvPr>
          <p:cNvSpPr/>
          <p:nvPr/>
        </p:nvSpPr>
        <p:spPr>
          <a:xfrm>
            <a:off x="11704320" y="6126480"/>
            <a:ext cx="73152" cy="73152"/>
          </a:xfrm>
          <a:prstGeom prst="ellipse">
            <a:avLst/>
          </a:prstGeom>
          <a:solidFill>
            <a:srgbClr val="00C9FF">
              <a:alpha val="6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419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5E6783E3-37BA-8B37-F699-E0593EFB0AF7}"/>
              </a:ext>
            </a:extLst>
          </p:cNvPr>
          <p:cNvSpPr/>
          <p:nvPr/>
        </p:nvSpPr>
        <p:spPr>
          <a:xfrm>
            <a:off x="10972800" y="6400800"/>
            <a:ext cx="73152" cy="73152"/>
          </a:xfrm>
          <a:prstGeom prst="ellipse">
            <a:avLst/>
          </a:prstGeom>
          <a:solidFill>
            <a:srgbClr val="00C9FF">
              <a:alpha val="6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419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412535A4-7D7F-33BC-91A4-36CC3E51F6F9}"/>
              </a:ext>
            </a:extLst>
          </p:cNvPr>
          <p:cNvSpPr/>
          <p:nvPr/>
        </p:nvSpPr>
        <p:spPr>
          <a:xfrm>
            <a:off x="10972800" y="6126480"/>
            <a:ext cx="73152" cy="73152"/>
          </a:xfrm>
          <a:prstGeom prst="ellipse">
            <a:avLst/>
          </a:prstGeom>
          <a:solidFill>
            <a:srgbClr val="00C9FF">
              <a:alpha val="6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419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934B9B32-5076-552A-1B85-7C8A6A547E6A}"/>
              </a:ext>
            </a:extLst>
          </p:cNvPr>
          <p:cNvSpPr/>
          <p:nvPr/>
        </p:nvSpPr>
        <p:spPr>
          <a:xfrm>
            <a:off x="11338560" y="5852160"/>
            <a:ext cx="73152" cy="73152"/>
          </a:xfrm>
          <a:prstGeom prst="ellipse">
            <a:avLst/>
          </a:prstGeom>
          <a:solidFill>
            <a:srgbClr val="00C9FF">
              <a:alpha val="6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419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A33427C8-9ED3-A207-E475-16E745A279C2}"/>
              </a:ext>
            </a:extLst>
          </p:cNvPr>
          <p:cNvSpPr/>
          <p:nvPr/>
        </p:nvSpPr>
        <p:spPr>
          <a:xfrm>
            <a:off x="11704320" y="5852160"/>
            <a:ext cx="73152" cy="73152"/>
          </a:xfrm>
          <a:prstGeom prst="ellipse">
            <a:avLst/>
          </a:prstGeom>
          <a:solidFill>
            <a:srgbClr val="00C9FF">
              <a:alpha val="6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419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256665C0-0863-260F-A070-CF32152D4D61}"/>
              </a:ext>
            </a:extLst>
          </p:cNvPr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C9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419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D697CD2-3A93-CAAC-17EA-72A83CE313BD}"/>
              </a:ext>
            </a:extLst>
          </p:cNvPr>
          <p:cNvSpPr/>
          <p:nvPr/>
        </p:nvSpPr>
        <p:spPr>
          <a:xfrm>
            <a:off x="640080" y="182880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es-419" sz="6000" b="1">
                <a:solidFill>
                  <a:srgbClr val="FFFFFF"/>
                </a:solidFill>
                <a:latin typeface="Roboto"/>
                <a:ea typeface="Roboto"/>
                <a:cs typeface="Calibri"/>
              </a:rPr>
              <a:t>Líder de Célula</a:t>
            </a:r>
            <a:endParaRPr lang="en-US">
              <a:cs typeface="+mn-cs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0A71A23C-D9D5-417A-33BF-399672D02FCE}"/>
              </a:ext>
            </a:extLst>
          </p:cNvPr>
          <p:cNvSpPr/>
          <p:nvPr/>
        </p:nvSpPr>
        <p:spPr>
          <a:xfrm>
            <a:off x="744980" y="3224089"/>
            <a:ext cx="9921240" cy="673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3600" i="0" u="none" strike="noStrike" kern="1200" cap="none" spc="0" normalizeH="0" baseline="0" noProof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rPr>
              <a:t>Trazabilidad del valor, del </a:t>
            </a:r>
            <a:r>
              <a:rPr kumimoji="0" lang="es-419" sz="3600" i="0" u="none" strike="noStrike" kern="1200" cap="none" spc="0" normalizeH="0" baseline="0" noProof="0" err="1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rPr>
              <a:t>Okr</a:t>
            </a:r>
            <a:r>
              <a:rPr kumimoji="0" lang="es-419" sz="3600" i="0" u="none" strike="noStrike" kern="1200" cap="none" spc="0" normalizeH="0" baseline="0" noProof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rPr>
              <a:t> a Producción. </a:t>
            </a: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BE0C370D-FC70-9213-F842-28C74FD9CD13}"/>
              </a:ext>
            </a:extLst>
          </p:cNvPr>
          <p:cNvSpPr/>
          <p:nvPr/>
        </p:nvSpPr>
        <p:spPr>
          <a:xfrm>
            <a:off x="744980" y="3898045"/>
            <a:ext cx="4093720" cy="0"/>
          </a:xfrm>
          <a:prstGeom prst="line">
            <a:avLst/>
          </a:prstGeom>
          <a:noFill/>
          <a:ln w="25400">
            <a:solidFill>
              <a:srgbClr val="00C9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419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pic>
        <p:nvPicPr>
          <p:cNvPr id="29" name="Imagen 28">
            <a:extLst>
              <a:ext uri="{FF2B5EF4-FFF2-40B4-BE49-F238E27FC236}">
                <a16:creationId xmlns:a16="http://schemas.microsoft.com/office/drawing/2014/main" id="{CAAA5073-112D-AE9F-4175-96F22AB9CB4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83784"/>
          <a:stretch>
            <a:fillRect/>
          </a:stretch>
        </p:blipFill>
        <p:spPr>
          <a:xfrm>
            <a:off x="10811410" y="135339"/>
            <a:ext cx="1200604" cy="797349"/>
          </a:xfrm>
          <a:prstGeom prst="rect">
            <a:avLst/>
          </a:prstGeom>
        </p:spPr>
      </p:pic>
      <p:sp>
        <p:nvSpPr>
          <p:cNvPr id="15" name="Text 11">
            <a:extLst>
              <a:ext uri="{FF2B5EF4-FFF2-40B4-BE49-F238E27FC236}">
                <a16:creationId xmlns:a16="http://schemas.microsoft.com/office/drawing/2014/main" id="{6B269462-162E-49DC-A50C-5F7F63DD0523}"/>
              </a:ext>
            </a:extLst>
          </p:cNvPr>
          <p:cNvSpPr/>
          <p:nvPr/>
        </p:nvSpPr>
        <p:spPr>
          <a:xfrm>
            <a:off x="744980" y="3898045"/>
            <a:ext cx="4328160" cy="673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2000" i="0" u="none" strike="noStrike" kern="1200" cap="none" spc="0" normalizeH="0" baseline="0" noProof="0">
                <a:ln>
                  <a:noFill/>
                </a:ln>
                <a:solidFill>
                  <a:srgbClr val="00C9FF"/>
                </a:solidFill>
                <a:effectLst/>
                <a:uLnTx/>
                <a:uFillTx/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rPr>
              <a:t>Ciclo de constru</a:t>
            </a:r>
            <a:r>
              <a:rPr lang="es-419" sz="2000" err="1">
                <a:solidFill>
                  <a:srgbClr val="00C9FF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rPr>
              <a:t>cción</a:t>
            </a:r>
            <a:r>
              <a:rPr lang="es-419" sz="2000">
                <a:solidFill>
                  <a:srgbClr val="00C9FF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rPr>
              <a:t> de soluciones en TI</a:t>
            </a:r>
            <a:endParaRPr kumimoji="0" lang="es-419" sz="2000" i="0" u="none" strike="noStrike" kern="1200" cap="none" spc="0" normalizeH="0" baseline="0" noProof="0">
              <a:ln>
                <a:noFill/>
              </a:ln>
              <a:solidFill>
                <a:srgbClr val="00C9FF"/>
              </a:solidFill>
              <a:effectLst/>
              <a:uLnTx/>
              <a:uFillTx/>
              <a:latin typeface="Roboto Condensed Light" panose="02000000000000000000" pitchFamily="2" charset="0"/>
              <a:ea typeface="Roboto Condensed Light" panose="02000000000000000000" pitchFamily="2" charset="0"/>
              <a:cs typeface="Roboto Condensed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04782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6925D013-4859-4F55-49D5-985135D301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1782966"/>
              </p:ext>
            </p:extLst>
          </p:nvPr>
        </p:nvGraphicFramePr>
        <p:xfrm>
          <a:off x="1069849" y="514350"/>
          <a:ext cx="9226973" cy="4845154"/>
        </p:xfrm>
        <a:graphic>
          <a:graphicData uri="http://schemas.openxmlformats.org/drawingml/2006/table">
            <a:tbl>
              <a:tblPr/>
              <a:tblGrid>
                <a:gridCol w="3944761">
                  <a:extLst>
                    <a:ext uri="{9D8B030D-6E8A-4147-A177-3AD203B41FA5}">
                      <a16:colId xmlns:a16="http://schemas.microsoft.com/office/drawing/2014/main" val="3905070979"/>
                    </a:ext>
                  </a:extLst>
                </a:gridCol>
                <a:gridCol w="768096">
                  <a:extLst>
                    <a:ext uri="{9D8B030D-6E8A-4147-A177-3AD203B41FA5}">
                      <a16:colId xmlns:a16="http://schemas.microsoft.com/office/drawing/2014/main" val="1619324083"/>
                    </a:ext>
                  </a:extLst>
                </a:gridCol>
                <a:gridCol w="793678">
                  <a:extLst>
                    <a:ext uri="{9D8B030D-6E8A-4147-A177-3AD203B41FA5}">
                      <a16:colId xmlns:a16="http://schemas.microsoft.com/office/drawing/2014/main" val="4242866578"/>
                    </a:ext>
                  </a:extLst>
                </a:gridCol>
                <a:gridCol w="861928">
                  <a:extLst>
                    <a:ext uri="{9D8B030D-6E8A-4147-A177-3AD203B41FA5}">
                      <a16:colId xmlns:a16="http://schemas.microsoft.com/office/drawing/2014/main" val="519516491"/>
                    </a:ext>
                  </a:extLst>
                </a:gridCol>
                <a:gridCol w="2858510">
                  <a:extLst>
                    <a:ext uri="{9D8B030D-6E8A-4147-A177-3AD203B41FA5}">
                      <a16:colId xmlns:a16="http://schemas.microsoft.com/office/drawing/2014/main" val="372331054"/>
                    </a:ext>
                  </a:extLst>
                </a:gridCol>
              </a:tblGrid>
              <a:tr h="27029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Objetivo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Inicio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Fin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Tiempo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Responsable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3873319"/>
                  </a:ext>
                </a:extLst>
              </a:tr>
              <a:tr h="27029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Seremos exitosos Si + agenda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8:30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Sara – Alejo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6394089"/>
                  </a:ext>
                </a:extLst>
              </a:tr>
              <a:tr h="27029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Flujo del Proceso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Estiben Licona 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1261049"/>
                  </a:ext>
                </a:extLst>
              </a:tr>
              <a:tr h="27029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Análisis y DoR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Juan Manuel Maslina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958854"/>
                  </a:ext>
                </a:extLst>
              </a:tr>
              <a:tr h="27029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Diseño de Arquitectura (Con y sin)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Juan Manuel Maslina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0780584"/>
                  </a:ext>
                </a:extLst>
              </a:tr>
              <a:tr h="27029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Diseño de seguridad (Con y sin)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Carlos Rodas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3738831"/>
                  </a:ext>
                </a:extLst>
              </a:tr>
              <a:tr h="27029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Implementación - Diseño y DevOps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Sara/Stiven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0471487"/>
                  </a:ext>
                </a:extLst>
              </a:tr>
              <a:tr h="27029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Implementación - Operación de TI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Ana Catalina Castaño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5925487"/>
                  </a:ext>
                </a:extLst>
              </a:tr>
              <a:tr h="27029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Implementación - Protección de identidad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Alejo Molina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7810500"/>
                  </a:ext>
                </a:extLst>
              </a:tr>
              <a:tr h="270292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Implementación - Infraestructura de Seguridad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Alejo Molina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1971212"/>
                  </a:ext>
                </a:extLst>
              </a:tr>
              <a:tr h="27029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Implementación - Integración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Gustavo Carvajal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1917789"/>
                  </a:ext>
                </a:extLst>
              </a:tr>
              <a:tr h="27029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Desarrollo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Estiben Licona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5419070"/>
                  </a:ext>
                </a:extLst>
              </a:tr>
              <a:tr h="27029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Pruebas Funcionales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Jorge Gomez (Virtual)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6014609"/>
                  </a:ext>
                </a:extLst>
              </a:tr>
              <a:tr h="27029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Pruebas Performance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Daniela Calle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5736540"/>
                  </a:ext>
                </a:extLst>
              </a:tr>
              <a:tr h="27029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Pruebas Seguridad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Carlos Rodas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5615861"/>
                  </a:ext>
                </a:extLst>
              </a:tr>
              <a:tr h="7642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Paso a producción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Lorena Ospina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8525762"/>
                  </a:ext>
                </a:extLst>
              </a:tr>
              <a:tr h="27029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Estabilización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Lorena Ospina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6468626"/>
                  </a:ext>
                </a:extLst>
              </a:tr>
              <a:tr h="27029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Cierre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John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06204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4257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5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1A8EE4-1238-4092-0A07-E315BD1C7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13D42A87-C061-0512-A0B9-C0B6D526FF55}"/>
              </a:ext>
            </a:extLst>
          </p:cNvPr>
          <p:cNvSpPr/>
          <p:nvPr/>
        </p:nvSpPr>
        <p:spPr>
          <a:xfrm>
            <a:off x="853440" y="458350"/>
            <a:ext cx="10485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3733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Agenda</a:t>
            </a:r>
            <a:endParaRPr kumimoji="0" lang="es-419" sz="373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CDCF9A8-147F-E38A-A2BF-624A6BAC1EAF}"/>
              </a:ext>
            </a:extLst>
          </p:cNvPr>
          <p:cNvSpPr>
            <a:spLocks noChangeAspect="1"/>
          </p:cNvSpPr>
          <p:nvPr/>
        </p:nvSpPr>
        <p:spPr>
          <a:xfrm>
            <a:off x="3234242" y="1480538"/>
            <a:ext cx="972000" cy="10461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7200" b="1" i="0" u="none" strike="noStrike" kern="1200" cap="none" spc="0" normalizeH="0" baseline="0" noProof="0">
                <a:ln w="19050">
                  <a:solidFill>
                    <a:srgbClr val="FFC000"/>
                  </a:solidFill>
                </a:ln>
                <a:noFill/>
                <a:effectLst/>
                <a:uLnTx/>
                <a:uFillTx/>
                <a:latin typeface="Roboto" pitchFamily="2" charset="0"/>
                <a:ea typeface="Roboto" pitchFamily="2" charset="0"/>
                <a:cs typeface="Calibri" pitchFamily="34" charset="-120"/>
              </a:rPr>
              <a:t>1</a:t>
            </a:r>
            <a:endParaRPr kumimoji="0" lang="es-419" sz="7200" b="0" i="0" u="none" strike="noStrike" kern="1200" cap="none" spc="0" normalizeH="0" baseline="0" noProof="0">
              <a:ln w="19050">
                <a:solidFill>
                  <a:srgbClr val="FFC000"/>
                </a:solidFill>
              </a:ln>
              <a:noFill/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A2261B1-BF3A-4049-BFFB-D4D9FF8E7366}"/>
              </a:ext>
            </a:extLst>
          </p:cNvPr>
          <p:cNvSpPr/>
          <p:nvPr/>
        </p:nvSpPr>
        <p:spPr>
          <a:xfrm>
            <a:off x="4206241" y="2775458"/>
            <a:ext cx="5727031" cy="697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419" sz="2000" b="1" noProof="0">
                <a:solidFill>
                  <a:srgbClr val="FFFFFF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Conozcamos el flujo/ciclo de construcción de soluciones con TI.</a:t>
            </a:r>
            <a:endParaRPr kumimoji="0" lang="es-419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9BC779C9-C3BE-6901-9508-29DE47F105B8}"/>
              </a:ext>
            </a:extLst>
          </p:cNvPr>
          <p:cNvSpPr/>
          <p:nvPr/>
        </p:nvSpPr>
        <p:spPr>
          <a:xfrm>
            <a:off x="4206242" y="3979799"/>
            <a:ext cx="667765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419" sz="2000" b="1">
                <a:solidFill>
                  <a:srgbClr val="FFFFFF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Estructura y uso de  Azure DevOps</a:t>
            </a:r>
            <a:endParaRPr kumimoji="0" lang="es-419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57C0D15B-F379-C8B0-9529-A08EF4ADA36C}"/>
              </a:ext>
            </a:extLst>
          </p:cNvPr>
          <p:cNvSpPr/>
          <p:nvPr/>
        </p:nvSpPr>
        <p:spPr>
          <a:xfrm>
            <a:off x="4206242" y="1764697"/>
            <a:ext cx="359022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419" sz="2000" b="1">
                <a:solidFill>
                  <a:srgbClr val="FFFFFF"/>
                </a:solidFill>
                <a:latin typeface="Roboto"/>
                <a:ea typeface="Roboto"/>
                <a:cs typeface="Calibri"/>
              </a:rPr>
              <a:t>Contexto</a:t>
            </a:r>
            <a:endParaRPr lang="es-419" sz="20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Calibri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6D6219A2-0A46-23A1-ED8A-47376B692374}"/>
              </a:ext>
            </a:extLst>
          </p:cNvPr>
          <p:cNvSpPr/>
          <p:nvPr/>
        </p:nvSpPr>
        <p:spPr>
          <a:xfrm>
            <a:off x="4206242" y="5174234"/>
            <a:ext cx="548639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40">
              <a:defRPr/>
            </a:pPr>
            <a:r>
              <a:rPr lang="es-419" sz="2000" b="1">
                <a:solidFill>
                  <a:srgbClr val="FFFFFF"/>
                </a:solidFill>
                <a:latin typeface="Roboto"/>
                <a:ea typeface="Roboto"/>
                <a:cs typeface="Calibri"/>
              </a:rPr>
              <a:t>Métricas de </a:t>
            </a:r>
            <a:r>
              <a:rPr lang="es-419" sz="2000" b="1" err="1">
                <a:solidFill>
                  <a:srgbClr val="FFFFFF"/>
                </a:solidFill>
                <a:latin typeface="Roboto"/>
                <a:ea typeface="Roboto"/>
                <a:cs typeface="Calibri"/>
              </a:rPr>
              <a:t>Delivery</a:t>
            </a:r>
            <a:endParaRPr lang="es-419" sz="20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Calibri"/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3809FBBF-6D54-C32F-65FB-6145DFDED594}"/>
              </a:ext>
            </a:extLst>
          </p:cNvPr>
          <p:cNvSpPr>
            <a:spLocks noChangeAspect="1"/>
          </p:cNvSpPr>
          <p:nvPr/>
        </p:nvSpPr>
        <p:spPr>
          <a:xfrm>
            <a:off x="3234242" y="2593753"/>
            <a:ext cx="972000" cy="10461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419" sz="7200" b="1">
                <a:ln w="19050">
                  <a:solidFill>
                    <a:srgbClr val="FFC000"/>
                  </a:solidFill>
                </a:ln>
                <a:noFill/>
                <a:latin typeface="Roboto" pitchFamily="2" charset="0"/>
                <a:ea typeface="Roboto" pitchFamily="2" charset="0"/>
                <a:cs typeface="Calibri" pitchFamily="34" charset="-120"/>
              </a:rPr>
              <a:t>2</a:t>
            </a:r>
            <a:endParaRPr kumimoji="0" lang="es-419" sz="7200" b="0" i="0" u="none" strike="noStrike" kern="1200" cap="none" spc="0" normalizeH="0" baseline="0" noProof="0">
              <a:ln w="19050">
                <a:solidFill>
                  <a:srgbClr val="FFC000"/>
                </a:solidFill>
              </a:ln>
              <a:noFill/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6791317F-505E-EB1A-7D28-68AE8ACFC6E5}"/>
              </a:ext>
            </a:extLst>
          </p:cNvPr>
          <p:cNvSpPr>
            <a:spLocks noChangeAspect="1"/>
          </p:cNvSpPr>
          <p:nvPr/>
        </p:nvSpPr>
        <p:spPr>
          <a:xfrm>
            <a:off x="3234242" y="3706968"/>
            <a:ext cx="972000" cy="10461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419" sz="7200" b="1">
                <a:ln w="19050">
                  <a:solidFill>
                    <a:srgbClr val="FFC000"/>
                  </a:solidFill>
                </a:ln>
                <a:noFill/>
                <a:latin typeface="Roboto" pitchFamily="2" charset="0"/>
                <a:ea typeface="Roboto" pitchFamily="2" charset="0"/>
                <a:cs typeface="Calibri" pitchFamily="34" charset="-120"/>
              </a:rPr>
              <a:t>3</a:t>
            </a:r>
            <a:endParaRPr kumimoji="0" lang="es-419" sz="7200" b="0" i="0" u="none" strike="noStrike" kern="1200" cap="none" spc="0" normalizeH="0" baseline="0" noProof="0">
              <a:ln w="19050">
                <a:solidFill>
                  <a:srgbClr val="FFC000"/>
                </a:solidFill>
              </a:ln>
              <a:noFill/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F9137165-7C14-687C-7984-10DFEFC00015}"/>
              </a:ext>
            </a:extLst>
          </p:cNvPr>
          <p:cNvSpPr>
            <a:spLocks noChangeAspect="1"/>
          </p:cNvSpPr>
          <p:nvPr/>
        </p:nvSpPr>
        <p:spPr>
          <a:xfrm>
            <a:off x="3234242" y="4820183"/>
            <a:ext cx="972000" cy="10461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419" sz="7200" b="1">
                <a:ln w="19050">
                  <a:solidFill>
                    <a:srgbClr val="FFC000"/>
                  </a:solidFill>
                </a:ln>
                <a:noFill/>
                <a:latin typeface="Roboto" pitchFamily="2" charset="0"/>
                <a:ea typeface="Roboto" pitchFamily="2" charset="0"/>
                <a:cs typeface="Calibri" pitchFamily="34" charset="-120"/>
              </a:rPr>
              <a:t>4</a:t>
            </a:r>
            <a:endParaRPr kumimoji="0" lang="es-419" sz="7200" b="0" i="0" u="none" strike="noStrike" kern="1200" cap="none" spc="0" normalizeH="0" baseline="0" noProof="0">
              <a:ln w="19050">
                <a:solidFill>
                  <a:srgbClr val="FFC000"/>
                </a:solidFill>
              </a:ln>
              <a:noFill/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83E0E153-568F-1645-DA27-3B994EF2B5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83784"/>
          <a:stretch>
            <a:fillRect/>
          </a:stretch>
        </p:blipFill>
        <p:spPr>
          <a:xfrm>
            <a:off x="10811410" y="135339"/>
            <a:ext cx="1200604" cy="797349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C04E03D6-38CD-5F38-D317-2B756109595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7661" b="18499"/>
          <a:stretch>
            <a:fillRect/>
          </a:stretch>
        </p:blipFill>
        <p:spPr>
          <a:xfrm>
            <a:off x="0" y="3568709"/>
            <a:ext cx="3318093" cy="3289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3577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4F8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D265D0-E45A-986C-5EC6-7D07236F9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>
            <a:extLst>
              <a:ext uri="{FF2B5EF4-FFF2-40B4-BE49-F238E27FC236}">
                <a16:creationId xmlns:a16="http://schemas.microsoft.com/office/drawing/2014/main" id="{AE79B02C-99B3-3DC1-5EA3-38BB358C9D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5157" y="196371"/>
            <a:ext cx="868630" cy="580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 10">
            <a:extLst>
              <a:ext uri="{FF2B5EF4-FFF2-40B4-BE49-F238E27FC236}">
                <a16:creationId xmlns:a16="http://schemas.microsoft.com/office/drawing/2014/main" id="{2FBED6AD-5819-9779-4FA9-2DE12937BB9F}"/>
              </a:ext>
            </a:extLst>
          </p:cNvPr>
          <p:cNvSpPr/>
          <p:nvPr/>
        </p:nvSpPr>
        <p:spPr>
          <a:xfrm>
            <a:off x="664725" y="364152"/>
            <a:ext cx="9107805" cy="935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es-419" sz="4800" b="1">
                <a:solidFill>
                  <a:srgbClr val="1E2761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Esta sesión es</a:t>
            </a:r>
            <a:r>
              <a:rPr lang="es-419" sz="4800" b="1" noProof="0">
                <a:solidFill>
                  <a:srgbClr val="1E2761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 exitosa si:</a:t>
            </a:r>
          </a:p>
        </p:txBody>
      </p:sp>
      <p:sp>
        <p:nvSpPr>
          <p:cNvPr id="78" name="CuadroTexto 77">
            <a:extLst>
              <a:ext uri="{FF2B5EF4-FFF2-40B4-BE49-F238E27FC236}">
                <a16:creationId xmlns:a16="http://schemas.microsoft.com/office/drawing/2014/main" id="{078DF516-A779-3409-1F24-AA55BDC60F53}"/>
              </a:ext>
            </a:extLst>
          </p:cNvPr>
          <p:cNvSpPr txBox="1"/>
          <p:nvPr/>
        </p:nvSpPr>
        <p:spPr>
          <a:xfrm>
            <a:off x="1111221" y="1663974"/>
            <a:ext cx="10927941" cy="30585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fontAlgn="t">
              <a:lnSpc>
                <a:spcPts val="1500"/>
              </a:lnSpc>
              <a:buNone/>
            </a:pPr>
            <a:r>
              <a:rPr lang="es-419" noProof="0">
                <a:latin typeface="Roboto" pitchFamily="2" charset="0"/>
                <a:ea typeface="Roboto" pitchFamily="2" charset="0"/>
              </a:rPr>
              <a:t>Valor con velocidad</a:t>
            </a:r>
            <a:endParaRPr lang="es-419" b="0" i="0" noProof="0">
              <a:effectLst/>
              <a:latin typeface="Roboto" pitchFamily="2" charset="0"/>
              <a:ea typeface="Roboto" pitchFamily="2" charset="0"/>
            </a:endParaRPr>
          </a:p>
        </p:txBody>
      </p:sp>
      <p:sp>
        <p:nvSpPr>
          <p:cNvPr id="81" name="CuadroTexto 80">
            <a:extLst>
              <a:ext uri="{FF2B5EF4-FFF2-40B4-BE49-F238E27FC236}">
                <a16:creationId xmlns:a16="http://schemas.microsoft.com/office/drawing/2014/main" id="{0803C02A-E4F5-D037-CBB7-025DC1C77F6C}"/>
              </a:ext>
            </a:extLst>
          </p:cNvPr>
          <p:cNvSpPr txBox="1"/>
          <p:nvPr/>
        </p:nvSpPr>
        <p:spPr>
          <a:xfrm>
            <a:off x="1621801" y="2365633"/>
            <a:ext cx="10156459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fontAlgn="t"/>
            <a:r>
              <a:rPr lang="es-419">
                <a:latin typeface="Roboto" pitchFamily="2" charset="0"/>
                <a:ea typeface="Roboto" pitchFamily="2" charset="0"/>
              </a:rPr>
              <a:t>Comprendemos </a:t>
            </a:r>
            <a:endParaRPr lang="es-419" noProof="0">
              <a:latin typeface="Roboto" pitchFamily="2" charset="0"/>
              <a:ea typeface="Roboto" pitchFamily="2" charset="0"/>
            </a:endParaRPr>
          </a:p>
        </p:txBody>
      </p:sp>
      <p:sp>
        <p:nvSpPr>
          <p:cNvPr id="90" name="CuadroTexto 89">
            <a:extLst>
              <a:ext uri="{FF2B5EF4-FFF2-40B4-BE49-F238E27FC236}">
                <a16:creationId xmlns:a16="http://schemas.microsoft.com/office/drawing/2014/main" id="{F1DEA91F-9CB1-B43C-A668-CF2387020F71}"/>
              </a:ext>
            </a:extLst>
          </p:cNvPr>
          <p:cNvSpPr txBox="1"/>
          <p:nvPr/>
        </p:nvSpPr>
        <p:spPr>
          <a:xfrm>
            <a:off x="2009203" y="3198181"/>
            <a:ext cx="6096000" cy="30585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fontAlgn="t">
              <a:lnSpc>
                <a:spcPts val="1500"/>
              </a:lnSpc>
              <a:buNone/>
            </a:pPr>
            <a:r>
              <a:rPr lang="es-419" i="0" noProof="0">
                <a:effectLst/>
                <a:latin typeface="Roboto" pitchFamily="2" charset="0"/>
                <a:ea typeface="Roboto" pitchFamily="2" charset="0"/>
              </a:rPr>
              <a:t>Identificamos las </a:t>
            </a:r>
            <a:r>
              <a:rPr lang="es-419" b="1" i="0" noProof="0">
                <a:effectLst/>
                <a:latin typeface="Roboto" pitchFamily="2" charset="0"/>
                <a:ea typeface="Roboto" pitchFamily="2" charset="0"/>
              </a:rPr>
              <a:t>Métricas claves </a:t>
            </a:r>
            <a:r>
              <a:rPr lang="es-419" b="0" i="0" noProof="0">
                <a:effectLst/>
                <a:latin typeface="Roboto" pitchFamily="2" charset="0"/>
                <a:ea typeface="Roboto" pitchFamily="2" charset="0"/>
              </a:rPr>
              <a:t>del flujo de trabajo. </a:t>
            </a:r>
          </a:p>
        </p:txBody>
      </p:sp>
      <p:sp>
        <p:nvSpPr>
          <p:cNvPr id="98" name="Shape 0">
            <a:extLst>
              <a:ext uri="{FF2B5EF4-FFF2-40B4-BE49-F238E27FC236}">
                <a16:creationId xmlns:a16="http://schemas.microsoft.com/office/drawing/2014/main" id="{AEBD2E24-4B4A-248B-1B38-0CE3CCD782FB}"/>
              </a:ext>
            </a:extLst>
          </p:cNvPr>
          <p:cNvSpPr/>
          <p:nvPr/>
        </p:nvSpPr>
        <p:spPr>
          <a:xfrm>
            <a:off x="3690010" y="3863768"/>
            <a:ext cx="7405147" cy="2488965"/>
          </a:xfrm>
          <a:prstGeom prst="roundRect">
            <a:avLst>
              <a:gd name="adj" fmla="val 4000"/>
            </a:avLst>
          </a:prstGeom>
          <a:solidFill>
            <a:srgbClr val="EEF4FC"/>
          </a:solidFill>
          <a:ln w="9525">
            <a:solidFill>
              <a:srgbClr val="C9D8F0"/>
            </a:solidFill>
            <a:prstDash val="solid"/>
          </a:ln>
        </p:spPr>
        <p:txBody>
          <a:bodyPr/>
          <a:lstStyle/>
          <a:p>
            <a:endParaRPr lang="es-419" noProof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9" name="Text 1">
            <a:extLst>
              <a:ext uri="{FF2B5EF4-FFF2-40B4-BE49-F238E27FC236}">
                <a16:creationId xmlns:a16="http://schemas.microsoft.com/office/drawing/2014/main" id="{BB7D5C02-999B-36E8-E1BF-9C577508B73C}"/>
              </a:ext>
            </a:extLst>
          </p:cNvPr>
          <p:cNvSpPr/>
          <p:nvPr/>
        </p:nvSpPr>
        <p:spPr>
          <a:xfrm>
            <a:off x="1163076" y="4428066"/>
            <a:ext cx="2112107" cy="1360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s-419" sz="2400" b="1" noProof="0">
                <a:solidFill>
                  <a:srgbClr val="0E9594"/>
                </a:solidFill>
                <a:latin typeface="Roboto Bk" pitchFamily="2" charset="0"/>
                <a:ea typeface="Roboto Bk" pitchFamily="2" charset="0"/>
                <a:cs typeface="Roboto Condensed" panose="02000000000000000000" pitchFamily="2" charset="0"/>
              </a:rPr>
              <a:t>¿Cuáles son los beneficios?</a:t>
            </a:r>
          </a:p>
        </p:txBody>
      </p:sp>
      <p:sp>
        <p:nvSpPr>
          <p:cNvPr id="101" name="Text 3">
            <a:extLst>
              <a:ext uri="{FF2B5EF4-FFF2-40B4-BE49-F238E27FC236}">
                <a16:creationId xmlns:a16="http://schemas.microsoft.com/office/drawing/2014/main" id="{9B0EB76B-7A80-307A-666F-C8DFABDA32B8}"/>
              </a:ext>
            </a:extLst>
          </p:cNvPr>
          <p:cNvSpPr/>
          <p:nvPr/>
        </p:nvSpPr>
        <p:spPr>
          <a:xfrm>
            <a:off x="4072444" y="4321332"/>
            <a:ext cx="2880000" cy="612000"/>
          </a:xfrm>
          <a:prstGeom prst="roundRect">
            <a:avLst/>
          </a:prstGeom>
          <a:solidFill>
            <a:schemeClr val="bg1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algn="ctr"/>
            <a:r>
              <a:rPr lang="es-419" sz="1600" noProof="0">
                <a:solidFill>
                  <a:schemeClr val="tx2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Identificar </a:t>
            </a:r>
            <a:r>
              <a:rPr lang="es-419" sz="1600" b="1" noProof="0">
                <a:solidFill>
                  <a:schemeClr val="tx2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oportunidades de mejora </a:t>
            </a:r>
            <a:r>
              <a:rPr lang="es-419" sz="1600" noProof="0">
                <a:solidFill>
                  <a:schemeClr val="tx2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continua en el proceso</a:t>
            </a:r>
          </a:p>
        </p:txBody>
      </p:sp>
      <p:sp>
        <p:nvSpPr>
          <p:cNvPr id="121" name="CuadroTexto 120">
            <a:extLst>
              <a:ext uri="{FF2B5EF4-FFF2-40B4-BE49-F238E27FC236}">
                <a16:creationId xmlns:a16="http://schemas.microsoft.com/office/drawing/2014/main" id="{F2758D62-D6C4-64DD-082D-9ED9491B51D7}"/>
              </a:ext>
            </a:extLst>
          </p:cNvPr>
          <p:cNvSpPr txBox="1"/>
          <p:nvPr/>
        </p:nvSpPr>
        <p:spPr>
          <a:xfrm rot="10800000" flipV="1">
            <a:off x="4072445" y="5369587"/>
            <a:ext cx="2880000" cy="646986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 fontAlgn="t"/>
            <a:r>
              <a:rPr lang="es-419" sz="1600" b="1" noProof="0">
                <a:solidFill>
                  <a:schemeClr val="tx2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Tomar decisiones basadas en datos </a:t>
            </a:r>
            <a:r>
              <a:rPr lang="es-419" sz="1600" noProof="0">
                <a:solidFill>
                  <a:schemeClr val="tx2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y trazabilidad. </a:t>
            </a:r>
          </a:p>
        </p:txBody>
      </p:sp>
      <p:sp>
        <p:nvSpPr>
          <p:cNvPr id="122" name="CuadroTexto 121">
            <a:extLst>
              <a:ext uri="{FF2B5EF4-FFF2-40B4-BE49-F238E27FC236}">
                <a16:creationId xmlns:a16="http://schemas.microsoft.com/office/drawing/2014/main" id="{D0C16C1E-21D0-C666-D575-A5A80612A719}"/>
              </a:ext>
            </a:extLst>
          </p:cNvPr>
          <p:cNvSpPr txBox="1"/>
          <p:nvPr/>
        </p:nvSpPr>
        <p:spPr>
          <a:xfrm rot="10800000" flipV="1">
            <a:off x="7839248" y="4303839"/>
            <a:ext cx="2880000" cy="646986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s-419" sz="1600" b="1" noProof="0">
                <a:solidFill>
                  <a:schemeClr val="tx2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Fortalecer la capacidad de entrega </a:t>
            </a:r>
            <a:r>
              <a:rPr lang="es-419" sz="1600" noProof="0">
                <a:solidFill>
                  <a:schemeClr val="tx2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de los equipos</a:t>
            </a:r>
          </a:p>
        </p:txBody>
      </p:sp>
      <p:sp>
        <p:nvSpPr>
          <p:cNvPr id="123" name="CuadroTexto 122">
            <a:extLst>
              <a:ext uri="{FF2B5EF4-FFF2-40B4-BE49-F238E27FC236}">
                <a16:creationId xmlns:a16="http://schemas.microsoft.com/office/drawing/2014/main" id="{D95B4B89-911B-FAC1-39B7-9E2F8AE50F43}"/>
              </a:ext>
            </a:extLst>
          </p:cNvPr>
          <p:cNvSpPr txBox="1"/>
          <p:nvPr/>
        </p:nvSpPr>
        <p:spPr>
          <a:xfrm rot="10800000" flipV="1">
            <a:off x="7839248" y="5369587"/>
            <a:ext cx="2880000" cy="646986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 fontAlgn="t"/>
            <a:r>
              <a:rPr lang="es-419" sz="1600" b="1" noProof="0">
                <a:solidFill>
                  <a:schemeClr val="tx2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Acelerar la generación de valor </a:t>
            </a:r>
            <a:r>
              <a:rPr lang="es-419" sz="1600" noProof="0">
                <a:solidFill>
                  <a:schemeClr val="tx2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para clientes y negocio.</a:t>
            </a:r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895603DD-9175-F020-88E1-D481F92A196F}"/>
              </a:ext>
            </a:extLst>
          </p:cNvPr>
          <p:cNvSpPr>
            <a:spLocks noChangeAspect="1"/>
          </p:cNvSpPr>
          <p:nvPr/>
        </p:nvSpPr>
        <p:spPr>
          <a:xfrm>
            <a:off x="626828" y="1596565"/>
            <a:ext cx="396000" cy="39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4800" b="1" i="0" u="none" strike="noStrike" kern="1200" cap="none" spc="0" normalizeH="0" baseline="0" noProof="0">
                <a:ln w="19050">
                  <a:solidFill>
                    <a:srgbClr val="C00000"/>
                  </a:solidFill>
                </a:ln>
                <a:noFill/>
                <a:effectLst/>
                <a:uLnTx/>
                <a:uFillTx/>
                <a:latin typeface="Roboto" pitchFamily="2" charset="0"/>
                <a:ea typeface="Roboto" pitchFamily="2" charset="0"/>
                <a:cs typeface="Calibri" pitchFamily="34" charset="-120"/>
              </a:rPr>
              <a:t>1</a:t>
            </a:r>
            <a:endParaRPr kumimoji="0" lang="es-419" sz="4800" b="0" i="0" u="none" strike="noStrike" kern="1200" cap="none" spc="0" normalizeH="0" baseline="0" noProof="0">
              <a:ln w="19050">
                <a:solidFill>
                  <a:srgbClr val="C00000"/>
                </a:solidFill>
              </a:ln>
              <a:noFill/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2D2CB7FD-3CC3-4355-60BE-07BD6AF056FB}"/>
              </a:ext>
            </a:extLst>
          </p:cNvPr>
          <p:cNvSpPr>
            <a:spLocks noChangeAspect="1"/>
          </p:cNvSpPr>
          <p:nvPr/>
        </p:nvSpPr>
        <p:spPr>
          <a:xfrm>
            <a:off x="1022828" y="2352300"/>
            <a:ext cx="396000" cy="39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4800" b="1" i="0" u="none" strike="noStrike" kern="1200" cap="none" spc="0" normalizeH="0" baseline="0" noProof="0">
                <a:ln w="19050">
                  <a:solidFill>
                    <a:srgbClr val="C00000"/>
                  </a:solidFill>
                </a:ln>
                <a:noFill/>
                <a:effectLst/>
                <a:uLnTx/>
                <a:uFillTx/>
                <a:latin typeface="Roboto" pitchFamily="2" charset="0"/>
                <a:ea typeface="Roboto" pitchFamily="2" charset="0"/>
                <a:cs typeface="Calibri" pitchFamily="34" charset="-120"/>
              </a:rPr>
              <a:t>2</a:t>
            </a:r>
            <a:endParaRPr kumimoji="0" lang="es-419" sz="4800" b="0" i="0" u="none" strike="noStrike" kern="1200" cap="none" spc="0" normalizeH="0" baseline="0" noProof="0">
              <a:ln w="19050">
                <a:solidFill>
                  <a:srgbClr val="C00000"/>
                </a:solidFill>
              </a:ln>
              <a:noFill/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CA8A7916-71B0-D181-8BE5-F5ABA0D2A1EA}"/>
              </a:ext>
            </a:extLst>
          </p:cNvPr>
          <p:cNvSpPr>
            <a:spLocks noChangeAspect="1"/>
          </p:cNvSpPr>
          <p:nvPr/>
        </p:nvSpPr>
        <p:spPr>
          <a:xfrm>
            <a:off x="1423801" y="3108034"/>
            <a:ext cx="396000" cy="39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4800" b="1" i="0" u="none" strike="noStrike" kern="1200" cap="none" spc="0" normalizeH="0" baseline="0" noProof="0">
                <a:ln w="19050">
                  <a:solidFill>
                    <a:srgbClr val="C00000"/>
                  </a:solidFill>
                </a:ln>
                <a:noFill/>
                <a:effectLst/>
                <a:uLnTx/>
                <a:uFillTx/>
                <a:latin typeface="Roboto" pitchFamily="2" charset="0"/>
                <a:ea typeface="Roboto" pitchFamily="2" charset="0"/>
                <a:cs typeface="Calibri" pitchFamily="34" charset="-120"/>
              </a:rPr>
              <a:t>3</a:t>
            </a:r>
            <a:endParaRPr kumimoji="0" lang="es-419" sz="4800" b="0" i="0" u="none" strike="noStrike" kern="1200" cap="none" spc="0" normalizeH="0" baseline="0" noProof="0">
              <a:ln w="19050">
                <a:solidFill>
                  <a:srgbClr val="C00000"/>
                </a:solidFill>
              </a:ln>
              <a:noFill/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315192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2A069-CBC8-51FB-A69B-89F992DE9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Shape 2">
            <a:extLst>
              <a:ext uri="{FF2B5EF4-FFF2-40B4-BE49-F238E27FC236}">
                <a16:creationId xmlns:a16="http://schemas.microsoft.com/office/drawing/2014/main" id="{6490C055-64C7-4D5B-2145-239850DFC4CD}"/>
              </a:ext>
            </a:extLst>
          </p:cNvPr>
          <p:cNvSpPr/>
          <p:nvPr/>
        </p:nvSpPr>
        <p:spPr>
          <a:xfrm>
            <a:off x="842100" y="6359829"/>
            <a:ext cx="10496989" cy="126802"/>
          </a:xfrm>
          <a:prstGeom prst="roundRect">
            <a:avLst>
              <a:gd name="adj" fmla="val 50000"/>
            </a:avLst>
          </a:prstGeom>
          <a:solidFill>
            <a:srgbClr val="DCE8F8"/>
          </a:solidFill>
          <a:ln/>
        </p:spPr>
        <p:txBody>
          <a:bodyPr anchor="ctr"/>
          <a:lstStyle/>
          <a:p>
            <a:pPr algn="ctr"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97" name="Shape 36">
            <a:extLst>
              <a:ext uri="{FF2B5EF4-FFF2-40B4-BE49-F238E27FC236}">
                <a16:creationId xmlns:a16="http://schemas.microsoft.com/office/drawing/2014/main" id="{CBA525A4-2FDE-7559-C893-6EBBD21EA723}"/>
              </a:ext>
            </a:extLst>
          </p:cNvPr>
          <p:cNvSpPr>
            <a:spLocks noChangeAspect="1"/>
          </p:cNvSpPr>
          <p:nvPr/>
        </p:nvSpPr>
        <p:spPr>
          <a:xfrm>
            <a:off x="5953315" y="1294599"/>
            <a:ext cx="5519568" cy="4829175"/>
          </a:xfrm>
          <a:prstGeom prst="roundRect">
            <a:avLst>
              <a:gd name="adj" fmla="val 4217"/>
            </a:avLst>
          </a:prstGeom>
          <a:solidFill>
            <a:srgbClr val="FFFFFF"/>
          </a:solidFill>
          <a:ln w="33020">
            <a:solidFill>
              <a:srgbClr val="1B2A5E"/>
            </a:solidFill>
            <a:prstDash val="solid"/>
          </a:ln>
          <a:effectLst>
            <a:outerShdw blurRad="63500" dist="12700" dir="5400000" algn="bl" rotWithShape="0">
              <a:srgbClr val="1B2A5E">
                <a:alpha val="18000"/>
              </a:srgbClr>
            </a:outerShdw>
          </a:effectLst>
        </p:spPr>
        <p:txBody>
          <a:bodyPr anchor="ctr"/>
          <a:lstStyle/>
          <a:p>
            <a:pPr algn="ctr" defTabSz="1219170"/>
            <a:endParaRPr lang="es-419" sz="2000" b="1" noProof="0">
              <a:solidFill>
                <a:srgbClr val="1B2A5E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EB1BBF22-12A1-3E58-2D6A-8C02C0D402F3}"/>
              </a:ext>
            </a:extLst>
          </p:cNvPr>
          <p:cNvSpPr/>
          <p:nvPr/>
        </p:nvSpPr>
        <p:spPr>
          <a:xfrm>
            <a:off x="164031" y="255462"/>
            <a:ext cx="7541208" cy="5816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>
              <a:defRPr/>
            </a:pPr>
            <a:r>
              <a:rPr lang="es-419" sz="3600" b="1" noProof="0">
                <a:solidFill>
                  <a:srgbClr val="1E2761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Flujo construcción de soluciones TI </a:t>
            </a:r>
            <a:endParaRPr lang="es-419" sz="3600" noProof="0">
              <a:solidFill>
                <a:prstClr val="black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E6CA8F63-777F-DC14-46FB-72D74C855542}"/>
              </a:ext>
            </a:extLst>
          </p:cNvPr>
          <p:cNvSpPr/>
          <p:nvPr/>
        </p:nvSpPr>
        <p:spPr>
          <a:xfrm>
            <a:off x="869304" y="3528294"/>
            <a:ext cx="10496989" cy="126802"/>
          </a:xfrm>
          <a:prstGeom prst="roundRect">
            <a:avLst>
              <a:gd name="adj" fmla="val 50000"/>
            </a:avLst>
          </a:prstGeom>
          <a:solidFill>
            <a:srgbClr val="DCE8F8"/>
          </a:solidFill>
          <a:ln/>
        </p:spPr>
        <p:txBody>
          <a:bodyPr/>
          <a:lstStyle/>
          <a:p>
            <a:pPr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7B3B89ED-4E34-A3A2-3305-793680C1036F}"/>
              </a:ext>
            </a:extLst>
          </p:cNvPr>
          <p:cNvSpPr/>
          <p:nvPr/>
        </p:nvSpPr>
        <p:spPr>
          <a:xfrm flipV="1">
            <a:off x="909457" y="3591048"/>
            <a:ext cx="10416681" cy="4202"/>
          </a:xfrm>
          <a:prstGeom prst="line">
            <a:avLst/>
          </a:prstGeom>
          <a:noFill/>
          <a:ln w="30480">
            <a:solidFill>
              <a:srgbClr val="2E5FA3"/>
            </a:solidFill>
            <a:prstDash val="solid"/>
            <a:tailEnd type="triangle"/>
          </a:ln>
        </p:spPr>
        <p:txBody>
          <a:bodyPr/>
          <a:lstStyle/>
          <a:p>
            <a:pPr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D002E5E5-04C6-2321-8F83-A4C80E5DEEAE}"/>
              </a:ext>
            </a:extLst>
          </p:cNvPr>
          <p:cNvSpPr/>
          <p:nvPr/>
        </p:nvSpPr>
        <p:spPr>
          <a:xfrm>
            <a:off x="41944" y="3402329"/>
            <a:ext cx="875159" cy="3955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s-419" sz="747" b="1" kern="0" spc="67" noProof="0">
                <a:solidFill>
                  <a:srgbClr val="5B6B8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NECESIDAD</a:t>
            </a:r>
            <a:endParaRPr lang="es-419" sz="747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ctr" defTabSz="1219170"/>
            <a:r>
              <a:rPr lang="es-419" sz="747" b="1" kern="0" spc="67" noProof="0">
                <a:solidFill>
                  <a:srgbClr val="5B6B8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DEL NEGOCIO</a:t>
            </a:r>
            <a:endParaRPr lang="es-419" sz="747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50FF6FB8-C1C7-BC67-2989-35E4CB8A6B0E}"/>
              </a:ext>
            </a:extLst>
          </p:cNvPr>
          <p:cNvSpPr/>
          <p:nvPr/>
        </p:nvSpPr>
        <p:spPr>
          <a:xfrm>
            <a:off x="11400703" y="3394429"/>
            <a:ext cx="850552" cy="4187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s-419" sz="773" b="1" kern="0" spc="67" noProof="0">
                <a:solidFill>
                  <a:srgbClr val="0B6B6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VALOR</a:t>
            </a:r>
            <a:endParaRPr lang="es-419" sz="773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ctr" defTabSz="1219170"/>
            <a:r>
              <a:rPr lang="es-419" sz="773" b="1" kern="0" spc="67" noProof="0">
                <a:solidFill>
                  <a:srgbClr val="0B6B6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ENTREGADO</a:t>
            </a:r>
            <a:endParaRPr lang="es-419" sz="773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EBAAEDA0-A14E-D097-3BA9-2850DE65858E}"/>
              </a:ext>
            </a:extLst>
          </p:cNvPr>
          <p:cNvSpPr/>
          <p:nvPr/>
        </p:nvSpPr>
        <p:spPr>
          <a:xfrm>
            <a:off x="1468839" y="2945231"/>
            <a:ext cx="0" cy="360000"/>
          </a:xfrm>
          <a:prstGeom prst="line">
            <a:avLst/>
          </a:prstGeom>
          <a:noFill/>
          <a:ln w="17780">
            <a:solidFill>
              <a:srgbClr val="B8CCE9"/>
            </a:solidFill>
            <a:prstDash val="dash"/>
          </a:ln>
        </p:spPr>
        <p:txBody>
          <a:bodyPr/>
          <a:lstStyle/>
          <a:p>
            <a:pPr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C25DCDA4-88C6-52C6-783D-BC7414E0C9FE}"/>
              </a:ext>
            </a:extLst>
          </p:cNvPr>
          <p:cNvSpPr>
            <a:spLocks noChangeAspect="1"/>
          </p:cNvSpPr>
          <p:nvPr/>
        </p:nvSpPr>
        <p:spPr>
          <a:xfrm>
            <a:off x="1270839" y="3402329"/>
            <a:ext cx="396000" cy="395521"/>
          </a:xfrm>
          <a:prstGeom prst="ellipse">
            <a:avLst/>
          </a:prstGeom>
          <a:solidFill>
            <a:srgbClr val="FFFFFF"/>
          </a:solidFill>
          <a:ln w="33020">
            <a:solidFill>
              <a:srgbClr val="0E9594"/>
            </a:solidFill>
            <a:prstDash val="solid"/>
          </a:ln>
          <a:effectLst>
            <a:outerShdw blurRad="63500" dist="12700" dir="5400000" algn="bl" rotWithShape="0">
              <a:srgbClr val="1B2A5E">
                <a:alpha val="18000"/>
              </a:srgbClr>
            </a:outerShdw>
          </a:effectLst>
        </p:spPr>
        <p:txBody>
          <a:bodyPr anchor="ctr"/>
          <a:lstStyle/>
          <a:p>
            <a:pPr algn="ctr" defTabSz="1219170"/>
            <a:r>
              <a:rPr lang="es-419" b="1" noProof="0">
                <a:solidFill>
                  <a:srgbClr val="0E9594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1</a:t>
            </a:r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A7C50251-AB85-74F7-6C3B-C096364B2B8B}"/>
              </a:ext>
            </a:extLst>
          </p:cNvPr>
          <p:cNvSpPr>
            <a:spLocks noChangeAspect="1"/>
          </p:cNvSpPr>
          <p:nvPr/>
        </p:nvSpPr>
        <p:spPr>
          <a:xfrm>
            <a:off x="838839" y="1567658"/>
            <a:ext cx="1260000" cy="12600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DE6F4"/>
            </a:solidFill>
            <a:prstDash val="solid"/>
          </a:ln>
          <a:effectLst>
            <a:outerShdw blurRad="88900" dist="25400" dir="5400000" algn="bl" rotWithShape="0">
              <a:srgbClr val="1B2A5E">
                <a:alpha val="13000"/>
              </a:srgbClr>
            </a:outerShdw>
          </a:effectLst>
        </p:spPr>
        <p:txBody>
          <a:bodyPr/>
          <a:lstStyle/>
          <a:p>
            <a:pPr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DB0CACEC-C8B7-B4C2-22D4-84BA43651ECB}"/>
              </a:ext>
            </a:extLst>
          </p:cNvPr>
          <p:cNvSpPr/>
          <p:nvPr/>
        </p:nvSpPr>
        <p:spPr>
          <a:xfrm>
            <a:off x="1233220" y="1683613"/>
            <a:ext cx="471239" cy="488585"/>
          </a:xfrm>
          <a:prstGeom prst="ellipse">
            <a:avLst/>
          </a:prstGeom>
          <a:solidFill>
            <a:srgbClr val="0E9594"/>
          </a:solidFill>
          <a:ln/>
        </p:spPr>
        <p:txBody>
          <a:bodyPr/>
          <a:lstStyle/>
          <a:p>
            <a:pPr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14" name="Image 0" descr="preencoded.png">
            <a:extLst>
              <a:ext uri="{FF2B5EF4-FFF2-40B4-BE49-F238E27FC236}">
                <a16:creationId xmlns:a16="http://schemas.microsoft.com/office/drawing/2014/main" id="{D437DB1E-B69C-FA6F-4DC6-90741DE837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9810" y="1794126"/>
            <a:ext cx="258059" cy="267558"/>
          </a:xfrm>
          <a:prstGeom prst="rect">
            <a:avLst/>
          </a:prstGeom>
        </p:spPr>
      </p:pic>
      <p:sp>
        <p:nvSpPr>
          <p:cNvPr id="15" name="Text 11">
            <a:extLst>
              <a:ext uri="{FF2B5EF4-FFF2-40B4-BE49-F238E27FC236}">
                <a16:creationId xmlns:a16="http://schemas.microsoft.com/office/drawing/2014/main" id="{98D15C40-4A33-33C1-5CA5-B403A2A77DB2}"/>
              </a:ext>
            </a:extLst>
          </p:cNvPr>
          <p:cNvSpPr/>
          <p:nvPr/>
        </p:nvSpPr>
        <p:spPr>
          <a:xfrm>
            <a:off x="838839" y="2282671"/>
            <a:ext cx="1260000" cy="442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s-419" sz="1200" b="1" noProof="0">
                <a:solidFill>
                  <a:srgbClr val="1B2A5E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Análisis</a:t>
            </a:r>
            <a:endParaRPr lang="es-419" sz="12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ctr" defTabSz="1219170"/>
            <a:r>
              <a:rPr lang="es-419" sz="1200" b="1" noProof="0">
                <a:solidFill>
                  <a:srgbClr val="1B2A5E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y DOR</a:t>
            </a:r>
            <a:endParaRPr lang="es-419" sz="12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30555EC4-C371-673A-026D-E9697F5507FB}"/>
              </a:ext>
            </a:extLst>
          </p:cNvPr>
          <p:cNvSpPr/>
          <p:nvPr/>
        </p:nvSpPr>
        <p:spPr>
          <a:xfrm>
            <a:off x="921865" y="4018395"/>
            <a:ext cx="1093948" cy="61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1219170"/>
            <a:r>
              <a:rPr lang="es-419" sz="907" noProof="0">
                <a:solidFill>
                  <a:srgbClr val="5B6B8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Líder Célula</a:t>
            </a:r>
          </a:p>
          <a:p>
            <a:pPr algn="ctr" defTabSz="1219170"/>
            <a:r>
              <a:rPr lang="es-419" sz="907" noProof="0">
                <a:solidFill>
                  <a:srgbClr val="5B6B8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Analista Negocio</a:t>
            </a:r>
          </a:p>
          <a:p>
            <a:pPr algn="ctr" defTabSz="1219170"/>
            <a:r>
              <a:rPr lang="es-419" sz="907" noProof="0">
                <a:solidFill>
                  <a:srgbClr val="5B6B8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Líder TI</a:t>
            </a:r>
          </a:p>
          <a:p>
            <a:pPr algn="ctr" defTabSz="1219170"/>
            <a:r>
              <a:rPr lang="es-419" sz="907" noProof="0">
                <a:solidFill>
                  <a:srgbClr val="5B6B8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Riesgos</a:t>
            </a:r>
            <a:endParaRPr lang="es-419" sz="8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9" name="Shape 15">
            <a:extLst>
              <a:ext uri="{FF2B5EF4-FFF2-40B4-BE49-F238E27FC236}">
                <a16:creationId xmlns:a16="http://schemas.microsoft.com/office/drawing/2014/main" id="{1485B85C-9714-4EE6-12A4-427269497D27}"/>
              </a:ext>
            </a:extLst>
          </p:cNvPr>
          <p:cNvSpPr/>
          <p:nvPr/>
        </p:nvSpPr>
        <p:spPr>
          <a:xfrm>
            <a:off x="2625261" y="3953984"/>
            <a:ext cx="0" cy="360000"/>
          </a:xfrm>
          <a:prstGeom prst="line">
            <a:avLst/>
          </a:prstGeom>
          <a:noFill/>
          <a:ln w="17780">
            <a:solidFill>
              <a:srgbClr val="B8CCE9"/>
            </a:solidFill>
            <a:prstDash val="dash"/>
          </a:ln>
        </p:spPr>
        <p:txBody>
          <a:bodyPr/>
          <a:lstStyle/>
          <a:p>
            <a:pPr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0" name="Shape 16">
            <a:extLst>
              <a:ext uri="{FF2B5EF4-FFF2-40B4-BE49-F238E27FC236}">
                <a16:creationId xmlns:a16="http://schemas.microsoft.com/office/drawing/2014/main" id="{E0CF3D66-BF3C-BC77-EE56-DF5F49F2F886}"/>
              </a:ext>
            </a:extLst>
          </p:cNvPr>
          <p:cNvSpPr>
            <a:spLocks noChangeAspect="1"/>
          </p:cNvSpPr>
          <p:nvPr/>
        </p:nvSpPr>
        <p:spPr>
          <a:xfrm>
            <a:off x="2427261" y="3402329"/>
            <a:ext cx="396000" cy="395521"/>
          </a:xfrm>
          <a:prstGeom prst="ellipse">
            <a:avLst/>
          </a:prstGeom>
          <a:solidFill>
            <a:srgbClr val="FFFFFF"/>
          </a:solidFill>
          <a:ln w="33020">
            <a:solidFill>
              <a:srgbClr val="0E9594"/>
            </a:solidFill>
            <a:prstDash val="solid"/>
          </a:ln>
          <a:effectLst>
            <a:outerShdw blurRad="63500" dist="12700" dir="5400000" algn="bl" rotWithShape="0">
              <a:srgbClr val="1B2A5E">
                <a:alpha val="18000"/>
              </a:srgbClr>
            </a:outerShdw>
          </a:effectLst>
        </p:spPr>
        <p:txBody>
          <a:bodyPr anchor="ctr"/>
          <a:lstStyle/>
          <a:p>
            <a:pPr algn="ctr" defTabSz="1219170"/>
            <a:r>
              <a:rPr lang="es-419" b="1" noProof="0">
                <a:solidFill>
                  <a:srgbClr val="0E9594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</a:t>
            </a:r>
          </a:p>
        </p:txBody>
      </p:sp>
      <p:sp>
        <p:nvSpPr>
          <p:cNvPr id="22" name="Shape 18">
            <a:extLst>
              <a:ext uri="{FF2B5EF4-FFF2-40B4-BE49-F238E27FC236}">
                <a16:creationId xmlns:a16="http://schemas.microsoft.com/office/drawing/2014/main" id="{91B9C5CD-E2A8-5CF5-E0A6-306F059CFE9C}"/>
              </a:ext>
            </a:extLst>
          </p:cNvPr>
          <p:cNvSpPr>
            <a:spLocks noChangeAspect="1"/>
          </p:cNvSpPr>
          <p:nvPr/>
        </p:nvSpPr>
        <p:spPr>
          <a:xfrm>
            <a:off x="1995261" y="4359510"/>
            <a:ext cx="1260000" cy="12600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DE6F4"/>
            </a:solidFill>
            <a:prstDash val="solid"/>
          </a:ln>
          <a:effectLst>
            <a:outerShdw blurRad="88900" dist="25400" dir="5400000" algn="bl" rotWithShape="0">
              <a:srgbClr val="1B2A5E">
                <a:alpha val="13000"/>
              </a:srgbClr>
            </a:outerShdw>
          </a:effectLst>
        </p:spPr>
        <p:txBody>
          <a:bodyPr/>
          <a:lstStyle/>
          <a:p>
            <a:pPr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3" name="Shape 19">
            <a:extLst>
              <a:ext uri="{FF2B5EF4-FFF2-40B4-BE49-F238E27FC236}">
                <a16:creationId xmlns:a16="http://schemas.microsoft.com/office/drawing/2014/main" id="{0C926209-ACC2-33FE-00C3-0726941EAA58}"/>
              </a:ext>
            </a:extLst>
          </p:cNvPr>
          <p:cNvSpPr/>
          <p:nvPr/>
        </p:nvSpPr>
        <p:spPr>
          <a:xfrm>
            <a:off x="2389642" y="4443358"/>
            <a:ext cx="471239" cy="488585"/>
          </a:xfrm>
          <a:prstGeom prst="ellipse">
            <a:avLst/>
          </a:prstGeom>
          <a:solidFill>
            <a:srgbClr val="0E9594"/>
          </a:solidFill>
          <a:ln/>
        </p:spPr>
        <p:txBody>
          <a:bodyPr/>
          <a:lstStyle/>
          <a:p>
            <a:pPr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24" name="Image 1" descr="preencoded.png">
            <a:extLst>
              <a:ext uri="{FF2B5EF4-FFF2-40B4-BE49-F238E27FC236}">
                <a16:creationId xmlns:a16="http://schemas.microsoft.com/office/drawing/2014/main" id="{D5539766-5E54-DB8A-5B7B-123CAC57CB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6232" y="4553871"/>
            <a:ext cx="258059" cy="267558"/>
          </a:xfrm>
          <a:prstGeom prst="rect">
            <a:avLst/>
          </a:prstGeom>
        </p:spPr>
      </p:pic>
      <p:sp>
        <p:nvSpPr>
          <p:cNvPr id="25" name="Text 20">
            <a:extLst>
              <a:ext uri="{FF2B5EF4-FFF2-40B4-BE49-F238E27FC236}">
                <a16:creationId xmlns:a16="http://schemas.microsoft.com/office/drawing/2014/main" id="{E8F5D55F-2360-665C-A6CC-22959E4788BC}"/>
              </a:ext>
            </a:extLst>
          </p:cNvPr>
          <p:cNvSpPr/>
          <p:nvPr/>
        </p:nvSpPr>
        <p:spPr>
          <a:xfrm>
            <a:off x="1995261" y="5084111"/>
            <a:ext cx="1260000" cy="442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s-419" sz="1200" b="1" noProof="0">
                <a:solidFill>
                  <a:srgbClr val="1B2A5E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Diseño de Arquitectura</a:t>
            </a:r>
            <a:endParaRPr lang="es-419" sz="12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8" name="Text 23">
            <a:extLst>
              <a:ext uri="{FF2B5EF4-FFF2-40B4-BE49-F238E27FC236}">
                <a16:creationId xmlns:a16="http://schemas.microsoft.com/office/drawing/2014/main" id="{E96A6BFD-B88D-22AE-AAE2-EB4470EA3C09}"/>
              </a:ext>
            </a:extLst>
          </p:cNvPr>
          <p:cNvSpPr/>
          <p:nvPr/>
        </p:nvSpPr>
        <p:spPr>
          <a:xfrm>
            <a:off x="2114753" y="2945599"/>
            <a:ext cx="1021017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defTabSz="1219170"/>
            <a:r>
              <a:rPr lang="es-419" sz="907" noProof="0">
                <a:solidFill>
                  <a:srgbClr val="5B6B8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Arquitecto</a:t>
            </a:r>
            <a:endParaRPr lang="es-419" sz="8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9" name="Shape 24">
            <a:extLst>
              <a:ext uri="{FF2B5EF4-FFF2-40B4-BE49-F238E27FC236}">
                <a16:creationId xmlns:a16="http://schemas.microsoft.com/office/drawing/2014/main" id="{122320D4-EA95-7E00-473E-884B2803945A}"/>
              </a:ext>
            </a:extLst>
          </p:cNvPr>
          <p:cNvSpPr/>
          <p:nvPr/>
        </p:nvSpPr>
        <p:spPr>
          <a:xfrm>
            <a:off x="3977312" y="2945231"/>
            <a:ext cx="0" cy="360000"/>
          </a:xfrm>
          <a:prstGeom prst="line">
            <a:avLst/>
          </a:prstGeom>
          <a:noFill/>
          <a:ln w="17780">
            <a:solidFill>
              <a:srgbClr val="B8CCE9"/>
            </a:solidFill>
            <a:prstDash val="dash"/>
          </a:ln>
        </p:spPr>
        <p:txBody>
          <a:bodyPr/>
          <a:lstStyle/>
          <a:p>
            <a:pPr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0" name="Shape 25">
            <a:extLst>
              <a:ext uri="{FF2B5EF4-FFF2-40B4-BE49-F238E27FC236}">
                <a16:creationId xmlns:a16="http://schemas.microsoft.com/office/drawing/2014/main" id="{08D96D96-C4B9-DC0E-69A0-5E5B82CAEBE7}"/>
              </a:ext>
            </a:extLst>
          </p:cNvPr>
          <p:cNvSpPr>
            <a:spLocks noChangeAspect="1"/>
          </p:cNvSpPr>
          <p:nvPr/>
        </p:nvSpPr>
        <p:spPr>
          <a:xfrm>
            <a:off x="3689312" y="3312089"/>
            <a:ext cx="576000" cy="576000"/>
          </a:xfrm>
          <a:prstGeom prst="ellipse">
            <a:avLst/>
          </a:prstGeom>
          <a:solidFill>
            <a:srgbClr val="FFFFFF"/>
          </a:solidFill>
          <a:ln w="33020">
            <a:solidFill>
              <a:srgbClr val="0E9594"/>
            </a:solidFill>
            <a:prstDash val="solid"/>
          </a:ln>
          <a:effectLst>
            <a:outerShdw blurRad="63500" dist="12700" dir="5400000" algn="bl" rotWithShape="0">
              <a:srgbClr val="1B2A5E">
                <a:alpha val="18000"/>
              </a:srgbClr>
            </a:outerShdw>
          </a:effectLst>
        </p:spPr>
        <p:txBody>
          <a:bodyPr anchor="ctr"/>
          <a:lstStyle/>
          <a:p>
            <a:pPr algn="ctr" defTabSz="1219170"/>
            <a:r>
              <a:rPr lang="es-419" b="1" noProof="0">
                <a:solidFill>
                  <a:srgbClr val="0E9594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3</a:t>
            </a:r>
          </a:p>
        </p:txBody>
      </p:sp>
      <p:sp>
        <p:nvSpPr>
          <p:cNvPr id="32" name="Shape 27">
            <a:extLst>
              <a:ext uri="{FF2B5EF4-FFF2-40B4-BE49-F238E27FC236}">
                <a16:creationId xmlns:a16="http://schemas.microsoft.com/office/drawing/2014/main" id="{0A72E7E4-80E9-888F-6D2C-B1A81299B092}"/>
              </a:ext>
            </a:extLst>
          </p:cNvPr>
          <p:cNvSpPr>
            <a:spLocks noChangeAspect="1"/>
          </p:cNvSpPr>
          <p:nvPr/>
        </p:nvSpPr>
        <p:spPr>
          <a:xfrm>
            <a:off x="3347312" y="1567658"/>
            <a:ext cx="1260000" cy="12600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DE6F4"/>
            </a:solidFill>
            <a:prstDash val="solid"/>
          </a:ln>
          <a:effectLst>
            <a:outerShdw blurRad="88900" dist="25400" dir="5400000" algn="bl" rotWithShape="0">
              <a:srgbClr val="1B2A5E">
                <a:alpha val="13000"/>
              </a:srgbClr>
            </a:outerShdw>
          </a:effectLst>
        </p:spPr>
        <p:txBody>
          <a:bodyPr/>
          <a:lstStyle/>
          <a:p>
            <a:pPr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3" name="Shape 28">
            <a:extLst>
              <a:ext uri="{FF2B5EF4-FFF2-40B4-BE49-F238E27FC236}">
                <a16:creationId xmlns:a16="http://schemas.microsoft.com/office/drawing/2014/main" id="{7732A048-89C5-5A6A-0174-3A48923F9917}"/>
              </a:ext>
            </a:extLst>
          </p:cNvPr>
          <p:cNvSpPr/>
          <p:nvPr/>
        </p:nvSpPr>
        <p:spPr>
          <a:xfrm>
            <a:off x="3741693" y="1683613"/>
            <a:ext cx="471239" cy="488585"/>
          </a:xfrm>
          <a:prstGeom prst="ellipse">
            <a:avLst/>
          </a:prstGeom>
          <a:solidFill>
            <a:srgbClr val="0E9594"/>
          </a:solidFill>
          <a:ln/>
        </p:spPr>
        <p:txBody>
          <a:bodyPr/>
          <a:lstStyle/>
          <a:p>
            <a:pPr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34" name="Image 2" descr="preencoded.png">
            <a:extLst>
              <a:ext uri="{FF2B5EF4-FFF2-40B4-BE49-F238E27FC236}">
                <a16:creationId xmlns:a16="http://schemas.microsoft.com/office/drawing/2014/main" id="{4E9B113C-F760-D5E3-C082-D5F23CC5AC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8283" y="1794126"/>
            <a:ext cx="258059" cy="267558"/>
          </a:xfrm>
          <a:prstGeom prst="rect">
            <a:avLst/>
          </a:prstGeom>
        </p:spPr>
      </p:pic>
      <p:sp>
        <p:nvSpPr>
          <p:cNvPr id="35" name="Text 29">
            <a:extLst>
              <a:ext uri="{FF2B5EF4-FFF2-40B4-BE49-F238E27FC236}">
                <a16:creationId xmlns:a16="http://schemas.microsoft.com/office/drawing/2014/main" id="{B9C77E96-2EC0-84D3-F9C1-5A5542C66D7B}"/>
              </a:ext>
            </a:extLst>
          </p:cNvPr>
          <p:cNvSpPr/>
          <p:nvPr/>
        </p:nvSpPr>
        <p:spPr>
          <a:xfrm>
            <a:off x="3347312" y="2282671"/>
            <a:ext cx="1260000" cy="442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s-419" sz="1200" b="1" noProof="0">
                <a:solidFill>
                  <a:srgbClr val="1B2A5E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Diseño de seguridad</a:t>
            </a:r>
            <a:endParaRPr lang="es-419" sz="12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0" name="Text 34">
            <a:extLst>
              <a:ext uri="{FF2B5EF4-FFF2-40B4-BE49-F238E27FC236}">
                <a16:creationId xmlns:a16="http://schemas.microsoft.com/office/drawing/2014/main" id="{0CFBBAEF-8E2A-86D2-62E9-5CDEA1C7EEDE}"/>
              </a:ext>
            </a:extLst>
          </p:cNvPr>
          <p:cNvSpPr/>
          <p:nvPr/>
        </p:nvSpPr>
        <p:spPr>
          <a:xfrm>
            <a:off x="3236794" y="4018395"/>
            <a:ext cx="1481037" cy="61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1219170"/>
            <a:r>
              <a:rPr lang="es-419" sz="907" noProof="0">
                <a:solidFill>
                  <a:srgbClr val="5B6B8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Equipo de Seguridad</a:t>
            </a:r>
            <a:endParaRPr lang="es-419" sz="8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1" name="Shape 35">
            <a:extLst>
              <a:ext uri="{FF2B5EF4-FFF2-40B4-BE49-F238E27FC236}">
                <a16:creationId xmlns:a16="http://schemas.microsoft.com/office/drawing/2014/main" id="{BC537092-3CD3-A5BA-3F85-63BF2705E169}"/>
              </a:ext>
            </a:extLst>
          </p:cNvPr>
          <p:cNvSpPr/>
          <p:nvPr/>
        </p:nvSpPr>
        <p:spPr>
          <a:xfrm>
            <a:off x="6650560" y="2945231"/>
            <a:ext cx="0" cy="360000"/>
          </a:xfrm>
          <a:prstGeom prst="line">
            <a:avLst/>
          </a:prstGeom>
          <a:noFill/>
          <a:ln w="17780">
            <a:solidFill>
              <a:srgbClr val="B8CCE9"/>
            </a:solidFill>
            <a:prstDash val="dash"/>
          </a:ln>
        </p:spPr>
        <p:txBody>
          <a:bodyPr/>
          <a:lstStyle/>
          <a:p>
            <a:pPr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2" name="Shape 36">
            <a:extLst>
              <a:ext uri="{FF2B5EF4-FFF2-40B4-BE49-F238E27FC236}">
                <a16:creationId xmlns:a16="http://schemas.microsoft.com/office/drawing/2014/main" id="{2C2607C8-2522-47CA-ED48-49E7015C7E06}"/>
              </a:ext>
            </a:extLst>
          </p:cNvPr>
          <p:cNvSpPr>
            <a:spLocks noChangeAspect="1"/>
          </p:cNvSpPr>
          <p:nvPr/>
        </p:nvSpPr>
        <p:spPr>
          <a:xfrm>
            <a:off x="6362560" y="3312089"/>
            <a:ext cx="576000" cy="576000"/>
          </a:xfrm>
          <a:prstGeom prst="ellipse">
            <a:avLst/>
          </a:prstGeom>
          <a:solidFill>
            <a:srgbClr val="FFFFFF"/>
          </a:solidFill>
          <a:ln w="33020">
            <a:solidFill>
              <a:srgbClr val="1B2A5E"/>
            </a:solidFill>
            <a:prstDash val="solid"/>
          </a:ln>
          <a:effectLst>
            <a:outerShdw blurRad="63500" dist="12700" dir="5400000" algn="bl" rotWithShape="0">
              <a:srgbClr val="1B2A5E">
                <a:alpha val="18000"/>
              </a:srgbClr>
            </a:outerShdw>
          </a:effectLst>
        </p:spPr>
        <p:txBody>
          <a:bodyPr anchor="ctr"/>
          <a:lstStyle/>
          <a:p>
            <a:pPr algn="ctr" defTabSz="1219170"/>
            <a:r>
              <a:rPr lang="es-419" sz="2000" b="1" noProof="0">
                <a:solidFill>
                  <a:srgbClr val="1B2A5E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5</a:t>
            </a:r>
          </a:p>
        </p:txBody>
      </p:sp>
      <p:sp>
        <p:nvSpPr>
          <p:cNvPr id="44" name="Shape 38">
            <a:extLst>
              <a:ext uri="{FF2B5EF4-FFF2-40B4-BE49-F238E27FC236}">
                <a16:creationId xmlns:a16="http://schemas.microsoft.com/office/drawing/2014/main" id="{7590D276-A1FA-8E39-6095-9661759FE067}"/>
              </a:ext>
            </a:extLst>
          </p:cNvPr>
          <p:cNvSpPr>
            <a:spLocks noChangeAspect="1"/>
          </p:cNvSpPr>
          <p:nvPr/>
        </p:nvSpPr>
        <p:spPr>
          <a:xfrm>
            <a:off x="6020560" y="1567658"/>
            <a:ext cx="1260000" cy="12600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DE6F4"/>
            </a:solidFill>
            <a:prstDash val="solid"/>
          </a:ln>
          <a:effectLst>
            <a:outerShdw blurRad="88900" dist="25400" dir="5400000" algn="bl" rotWithShape="0">
              <a:srgbClr val="1B2A5E">
                <a:alpha val="13000"/>
              </a:srgbClr>
            </a:outerShdw>
          </a:effectLst>
        </p:spPr>
        <p:txBody>
          <a:bodyPr/>
          <a:lstStyle/>
          <a:p>
            <a:pPr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5" name="Shape 39">
            <a:extLst>
              <a:ext uri="{FF2B5EF4-FFF2-40B4-BE49-F238E27FC236}">
                <a16:creationId xmlns:a16="http://schemas.microsoft.com/office/drawing/2014/main" id="{ECE54489-ED00-89C4-505A-99F2FD0BDC54}"/>
              </a:ext>
            </a:extLst>
          </p:cNvPr>
          <p:cNvSpPr/>
          <p:nvPr/>
        </p:nvSpPr>
        <p:spPr>
          <a:xfrm>
            <a:off x="6414941" y="1683613"/>
            <a:ext cx="471239" cy="488585"/>
          </a:xfrm>
          <a:prstGeom prst="ellipse">
            <a:avLst/>
          </a:prstGeom>
          <a:solidFill>
            <a:srgbClr val="1B2A5E"/>
          </a:solidFill>
          <a:ln/>
        </p:spPr>
        <p:txBody>
          <a:bodyPr/>
          <a:lstStyle/>
          <a:p>
            <a:pPr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46" name="Image 3" descr="preencoded.png">
            <a:extLst>
              <a:ext uri="{FF2B5EF4-FFF2-40B4-BE49-F238E27FC236}">
                <a16:creationId xmlns:a16="http://schemas.microsoft.com/office/drawing/2014/main" id="{4AB98178-6D12-519B-42CA-70C12C2D56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1531" y="1794126"/>
            <a:ext cx="258059" cy="267558"/>
          </a:xfrm>
          <a:prstGeom prst="rect">
            <a:avLst/>
          </a:prstGeom>
        </p:spPr>
      </p:pic>
      <p:sp>
        <p:nvSpPr>
          <p:cNvPr id="47" name="Text 40">
            <a:extLst>
              <a:ext uri="{FF2B5EF4-FFF2-40B4-BE49-F238E27FC236}">
                <a16:creationId xmlns:a16="http://schemas.microsoft.com/office/drawing/2014/main" id="{7C974132-9523-CE08-339C-6E17D6B9FBF0}"/>
              </a:ext>
            </a:extLst>
          </p:cNvPr>
          <p:cNvSpPr/>
          <p:nvPr/>
        </p:nvSpPr>
        <p:spPr>
          <a:xfrm>
            <a:off x="6020560" y="2282671"/>
            <a:ext cx="1260000" cy="442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s-419" sz="1200" b="1" noProof="0">
                <a:solidFill>
                  <a:srgbClr val="1B2A5E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Desarrollo</a:t>
            </a:r>
            <a:endParaRPr lang="es-419" sz="12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2" name="Text 45">
            <a:extLst>
              <a:ext uri="{FF2B5EF4-FFF2-40B4-BE49-F238E27FC236}">
                <a16:creationId xmlns:a16="http://schemas.microsoft.com/office/drawing/2014/main" id="{80F6C02D-B8D7-54E5-F8E1-FF7001624C74}"/>
              </a:ext>
            </a:extLst>
          </p:cNvPr>
          <p:cNvSpPr/>
          <p:nvPr/>
        </p:nvSpPr>
        <p:spPr>
          <a:xfrm>
            <a:off x="5910042" y="4018395"/>
            <a:ext cx="1481037" cy="61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1219170"/>
            <a:r>
              <a:rPr lang="es-419" sz="907" noProof="0">
                <a:solidFill>
                  <a:srgbClr val="5B6B8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Desarrolladores · </a:t>
            </a:r>
            <a:r>
              <a:rPr lang="es-419" sz="907" noProof="0" err="1">
                <a:solidFill>
                  <a:srgbClr val="5B6B8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QA</a:t>
            </a:r>
            <a:endParaRPr lang="es-419" sz="8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3" name="Shape 46">
            <a:extLst>
              <a:ext uri="{FF2B5EF4-FFF2-40B4-BE49-F238E27FC236}">
                <a16:creationId xmlns:a16="http://schemas.microsoft.com/office/drawing/2014/main" id="{A550FECC-3B9D-F4CA-897D-6BB3882775FA}"/>
              </a:ext>
            </a:extLst>
          </p:cNvPr>
          <p:cNvSpPr/>
          <p:nvPr/>
        </p:nvSpPr>
        <p:spPr>
          <a:xfrm>
            <a:off x="7993239" y="3953984"/>
            <a:ext cx="0" cy="360000"/>
          </a:xfrm>
          <a:prstGeom prst="line">
            <a:avLst/>
          </a:prstGeom>
          <a:noFill/>
          <a:ln w="17780">
            <a:solidFill>
              <a:srgbClr val="B8CCE9"/>
            </a:solidFill>
            <a:prstDash val="dash"/>
          </a:ln>
        </p:spPr>
        <p:txBody>
          <a:bodyPr/>
          <a:lstStyle/>
          <a:p>
            <a:pPr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4" name="Shape 47">
            <a:extLst>
              <a:ext uri="{FF2B5EF4-FFF2-40B4-BE49-F238E27FC236}">
                <a16:creationId xmlns:a16="http://schemas.microsoft.com/office/drawing/2014/main" id="{585D2F41-16CA-B496-E6C7-E6C066B83787}"/>
              </a:ext>
            </a:extLst>
          </p:cNvPr>
          <p:cNvSpPr>
            <a:spLocks noChangeAspect="1"/>
          </p:cNvSpPr>
          <p:nvPr/>
        </p:nvSpPr>
        <p:spPr>
          <a:xfrm>
            <a:off x="7705239" y="3312089"/>
            <a:ext cx="576000" cy="576000"/>
          </a:xfrm>
          <a:prstGeom prst="ellipse">
            <a:avLst/>
          </a:prstGeom>
          <a:solidFill>
            <a:srgbClr val="FFFFFF"/>
          </a:solidFill>
          <a:ln w="33020">
            <a:solidFill>
              <a:srgbClr val="1B2A5E"/>
            </a:solidFill>
            <a:prstDash val="solid"/>
          </a:ln>
          <a:effectLst>
            <a:outerShdw blurRad="63500" dist="12700" dir="5400000" algn="bl" rotWithShape="0">
              <a:srgbClr val="1B2A5E">
                <a:alpha val="18000"/>
              </a:srgbClr>
            </a:outerShdw>
          </a:effectLst>
        </p:spPr>
        <p:txBody>
          <a:bodyPr anchor="ctr"/>
          <a:lstStyle/>
          <a:p>
            <a:pPr algn="ctr" defTabSz="1219170"/>
            <a:r>
              <a:rPr lang="es-419" sz="2000" b="1" noProof="0">
                <a:solidFill>
                  <a:srgbClr val="1B2A5E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6</a:t>
            </a:r>
          </a:p>
        </p:txBody>
      </p:sp>
      <p:sp>
        <p:nvSpPr>
          <p:cNvPr id="56" name="Shape 49">
            <a:extLst>
              <a:ext uri="{FF2B5EF4-FFF2-40B4-BE49-F238E27FC236}">
                <a16:creationId xmlns:a16="http://schemas.microsoft.com/office/drawing/2014/main" id="{54479CCD-1762-F21C-BFE4-A46004291423}"/>
              </a:ext>
            </a:extLst>
          </p:cNvPr>
          <p:cNvSpPr>
            <a:spLocks noChangeAspect="1"/>
          </p:cNvSpPr>
          <p:nvPr/>
        </p:nvSpPr>
        <p:spPr>
          <a:xfrm>
            <a:off x="7363239" y="4359510"/>
            <a:ext cx="1260000" cy="12600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DE6F4"/>
            </a:solidFill>
            <a:prstDash val="solid"/>
          </a:ln>
          <a:effectLst>
            <a:outerShdw blurRad="88900" dist="25400" dir="5400000" algn="bl" rotWithShape="0">
              <a:srgbClr val="1B2A5E">
                <a:alpha val="13000"/>
              </a:srgbClr>
            </a:outerShdw>
          </a:effectLst>
        </p:spPr>
        <p:txBody>
          <a:bodyPr/>
          <a:lstStyle/>
          <a:p>
            <a:pPr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7" name="Shape 50">
            <a:extLst>
              <a:ext uri="{FF2B5EF4-FFF2-40B4-BE49-F238E27FC236}">
                <a16:creationId xmlns:a16="http://schemas.microsoft.com/office/drawing/2014/main" id="{7AEA7F6D-D9AF-A83E-D857-D92432022A98}"/>
              </a:ext>
            </a:extLst>
          </p:cNvPr>
          <p:cNvSpPr/>
          <p:nvPr/>
        </p:nvSpPr>
        <p:spPr>
          <a:xfrm>
            <a:off x="7757620" y="4443358"/>
            <a:ext cx="471239" cy="488585"/>
          </a:xfrm>
          <a:prstGeom prst="ellipse">
            <a:avLst/>
          </a:prstGeom>
          <a:solidFill>
            <a:srgbClr val="1B2A5E"/>
          </a:solidFill>
          <a:ln/>
        </p:spPr>
        <p:txBody>
          <a:bodyPr/>
          <a:lstStyle/>
          <a:p>
            <a:pPr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58" name="Image 4" descr="preencoded.png">
            <a:extLst>
              <a:ext uri="{FF2B5EF4-FFF2-40B4-BE49-F238E27FC236}">
                <a16:creationId xmlns:a16="http://schemas.microsoft.com/office/drawing/2014/main" id="{3A7539C4-FB82-1D3A-9537-EF663F6926C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64210" y="4553871"/>
            <a:ext cx="258059" cy="267558"/>
          </a:xfrm>
          <a:prstGeom prst="rect">
            <a:avLst/>
          </a:prstGeom>
        </p:spPr>
      </p:pic>
      <p:sp>
        <p:nvSpPr>
          <p:cNvPr id="59" name="Text 51">
            <a:extLst>
              <a:ext uri="{FF2B5EF4-FFF2-40B4-BE49-F238E27FC236}">
                <a16:creationId xmlns:a16="http://schemas.microsoft.com/office/drawing/2014/main" id="{AFC8E59D-8509-14B9-A972-C5E9CE89B754}"/>
              </a:ext>
            </a:extLst>
          </p:cNvPr>
          <p:cNvSpPr/>
          <p:nvPr/>
        </p:nvSpPr>
        <p:spPr>
          <a:xfrm>
            <a:off x="7363239" y="4826936"/>
            <a:ext cx="1260000" cy="442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s-419" sz="1200" b="1" noProof="0">
                <a:solidFill>
                  <a:srgbClr val="1B2A5E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Pruebas</a:t>
            </a:r>
            <a:endParaRPr lang="es-419" sz="12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2" name="Text 54">
            <a:extLst>
              <a:ext uri="{FF2B5EF4-FFF2-40B4-BE49-F238E27FC236}">
                <a16:creationId xmlns:a16="http://schemas.microsoft.com/office/drawing/2014/main" id="{6DE767B5-A51B-048A-B4E3-365A7B1D0E03}"/>
              </a:ext>
            </a:extLst>
          </p:cNvPr>
          <p:cNvSpPr/>
          <p:nvPr/>
        </p:nvSpPr>
        <p:spPr>
          <a:xfrm>
            <a:off x="7467596" y="2945599"/>
            <a:ext cx="1068857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defTabSz="1219170"/>
            <a:r>
              <a:rPr lang="es-419" sz="907" noProof="0">
                <a:solidFill>
                  <a:srgbClr val="5B6B8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
Aseguramiento de calidad</a:t>
            </a:r>
          </a:p>
        </p:txBody>
      </p:sp>
      <p:sp>
        <p:nvSpPr>
          <p:cNvPr id="63" name="Shape 55">
            <a:extLst>
              <a:ext uri="{FF2B5EF4-FFF2-40B4-BE49-F238E27FC236}">
                <a16:creationId xmlns:a16="http://schemas.microsoft.com/office/drawing/2014/main" id="{F710282A-5370-6D48-FBDA-31165D19F10B}"/>
              </a:ext>
            </a:extLst>
          </p:cNvPr>
          <p:cNvSpPr/>
          <p:nvPr/>
        </p:nvSpPr>
        <p:spPr>
          <a:xfrm>
            <a:off x="9339937" y="2945231"/>
            <a:ext cx="0" cy="360000"/>
          </a:xfrm>
          <a:prstGeom prst="line">
            <a:avLst/>
          </a:prstGeom>
          <a:noFill/>
          <a:ln w="17780">
            <a:solidFill>
              <a:srgbClr val="B8CCE9"/>
            </a:solidFill>
            <a:prstDash val="dash"/>
          </a:ln>
        </p:spPr>
        <p:txBody>
          <a:bodyPr/>
          <a:lstStyle/>
          <a:p>
            <a:pPr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4" name="Shape 56">
            <a:extLst>
              <a:ext uri="{FF2B5EF4-FFF2-40B4-BE49-F238E27FC236}">
                <a16:creationId xmlns:a16="http://schemas.microsoft.com/office/drawing/2014/main" id="{18C494B3-44F3-A1D5-27A6-96BB975A43DD}"/>
              </a:ext>
            </a:extLst>
          </p:cNvPr>
          <p:cNvSpPr>
            <a:spLocks noChangeAspect="1"/>
          </p:cNvSpPr>
          <p:nvPr/>
        </p:nvSpPr>
        <p:spPr>
          <a:xfrm>
            <a:off x="9051937" y="3312089"/>
            <a:ext cx="576000" cy="576000"/>
          </a:xfrm>
          <a:prstGeom prst="ellipse">
            <a:avLst/>
          </a:prstGeom>
          <a:solidFill>
            <a:srgbClr val="FFFFFF"/>
          </a:solidFill>
          <a:ln w="33020">
            <a:solidFill>
              <a:srgbClr val="1B2A5E"/>
            </a:solidFill>
            <a:prstDash val="solid"/>
          </a:ln>
          <a:effectLst>
            <a:outerShdw blurRad="63500" dist="12700" dir="5400000" algn="bl" rotWithShape="0">
              <a:srgbClr val="1B2A5E">
                <a:alpha val="18000"/>
              </a:srgbClr>
            </a:outerShdw>
          </a:effectLst>
        </p:spPr>
        <p:txBody>
          <a:bodyPr anchor="ctr"/>
          <a:lstStyle/>
          <a:p>
            <a:pPr algn="ctr" defTabSz="1219170"/>
            <a:r>
              <a:rPr lang="es-419" sz="2000" b="1" noProof="0">
                <a:solidFill>
                  <a:srgbClr val="1B2A5E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7</a:t>
            </a:r>
          </a:p>
        </p:txBody>
      </p:sp>
      <p:sp>
        <p:nvSpPr>
          <p:cNvPr id="66" name="Shape 58">
            <a:extLst>
              <a:ext uri="{FF2B5EF4-FFF2-40B4-BE49-F238E27FC236}">
                <a16:creationId xmlns:a16="http://schemas.microsoft.com/office/drawing/2014/main" id="{2434F4AA-F60B-E81B-B975-92DE3A85DAA7}"/>
              </a:ext>
            </a:extLst>
          </p:cNvPr>
          <p:cNvSpPr>
            <a:spLocks noChangeAspect="1"/>
          </p:cNvSpPr>
          <p:nvPr/>
        </p:nvSpPr>
        <p:spPr>
          <a:xfrm>
            <a:off x="8709937" y="1567658"/>
            <a:ext cx="1260000" cy="12600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DE6F4"/>
            </a:solidFill>
            <a:prstDash val="solid"/>
          </a:ln>
          <a:effectLst>
            <a:outerShdw blurRad="88900" dist="25400" dir="5400000" algn="bl" rotWithShape="0">
              <a:srgbClr val="1B2A5E">
                <a:alpha val="13000"/>
              </a:srgbClr>
            </a:outerShdw>
          </a:effectLst>
        </p:spPr>
        <p:txBody>
          <a:bodyPr/>
          <a:lstStyle/>
          <a:p>
            <a:pPr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7" name="Shape 59">
            <a:extLst>
              <a:ext uri="{FF2B5EF4-FFF2-40B4-BE49-F238E27FC236}">
                <a16:creationId xmlns:a16="http://schemas.microsoft.com/office/drawing/2014/main" id="{B5C3F8F9-91DF-8F60-5731-66BC2CE5C80A}"/>
              </a:ext>
            </a:extLst>
          </p:cNvPr>
          <p:cNvSpPr/>
          <p:nvPr/>
        </p:nvSpPr>
        <p:spPr>
          <a:xfrm>
            <a:off x="9104318" y="1683613"/>
            <a:ext cx="471239" cy="488585"/>
          </a:xfrm>
          <a:prstGeom prst="ellipse">
            <a:avLst/>
          </a:prstGeom>
          <a:solidFill>
            <a:srgbClr val="1B2A5E"/>
          </a:solidFill>
          <a:ln/>
        </p:spPr>
        <p:txBody>
          <a:bodyPr/>
          <a:lstStyle/>
          <a:p>
            <a:pPr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68" name="Image 5" descr="preencoded.png">
            <a:extLst>
              <a:ext uri="{FF2B5EF4-FFF2-40B4-BE49-F238E27FC236}">
                <a16:creationId xmlns:a16="http://schemas.microsoft.com/office/drawing/2014/main" id="{139C5AED-9A2D-E4B0-57B8-2D4EFE4FFE8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10908" y="1794126"/>
            <a:ext cx="258059" cy="267558"/>
          </a:xfrm>
          <a:prstGeom prst="rect">
            <a:avLst/>
          </a:prstGeom>
        </p:spPr>
      </p:pic>
      <p:sp>
        <p:nvSpPr>
          <p:cNvPr id="69" name="Text 60">
            <a:extLst>
              <a:ext uri="{FF2B5EF4-FFF2-40B4-BE49-F238E27FC236}">
                <a16:creationId xmlns:a16="http://schemas.microsoft.com/office/drawing/2014/main" id="{A56335DE-84CF-68EC-C0F6-F7DEE3F931C3}"/>
              </a:ext>
            </a:extLst>
          </p:cNvPr>
          <p:cNvSpPr/>
          <p:nvPr/>
        </p:nvSpPr>
        <p:spPr>
          <a:xfrm>
            <a:off x="8709937" y="2282671"/>
            <a:ext cx="1260000" cy="442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s-419" sz="1200" b="1" noProof="0">
                <a:solidFill>
                  <a:srgbClr val="1B2A5E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Paso a</a:t>
            </a:r>
            <a:endParaRPr lang="es-419" sz="12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ctr" defTabSz="1219170"/>
            <a:r>
              <a:rPr lang="es-419" sz="1200" b="1" noProof="0">
                <a:solidFill>
                  <a:srgbClr val="1B2A5E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producción</a:t>
            </a:r>
            <a:endParaRPr lang="es-419" sz="12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74" name="Text 65">
            <a:extLst>
              <a:ext uri="{FF2B5EF4-FFF2-40B4-BE49-F238E27FC236}">
                <a16:creationId xmlns:a16="http://schemas.microsoft.com/office/drawing/2014/main" id="{44DE5B37-82F8-6CDC-9840-CBF2DA8D82BB}"/>
              </a:ext>
            </a:extLst>
          </p:cNvPr>
          <p:cNvSpPr/>
          <p:nvPr/>
        </p:nvSpPr>
        <p:spPr>
          <a:xfrm>
            <a:off x="8867744" y="4018395"/>
            <a:ext cx="944386" cy="61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1219170"/>
            <a:r>
              <a:rPr lang="es-419" sz="907" noProof="0">
                <a:solidFill>
                  <a:srgbClr val="5B6B8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Comité de cambios</a:t>
            </a:r>
            <a:endParaRPr lang="es-419" sz="8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75" name="Shape 66">
            <a:extLst>
              <a:ext uri="{FF2B5EF4-FFF2-40B4-BE49-F238E27FC236}">
                <a16:creationId xmlns:a16="http://schemas.microsoft.com/office/drawing/2014/main" id="{EA8FAC3D-9908-C4D0-B4BC-6B48D0B8DFC0}"/>
              </a:ext>
            </a:extLst>
          </p:cNvPr>
          <p:cNvSpPr/>
          <p:nvPr/>
        </p:nvSpPr>
        <p:spPr>
          <a:xfrm>
            <a:off x="10755345" y="3953984"/>
            <a:ext cx="0" cy="360000"/>
          </a:xfrm>
          <a:prstGeom prst="line">
            <a:avLst/>
          </a:prstGeom>
          <a:noFill/>
          <a:ln w="17780">
            <a:solidFill>
              <a:srgbClr val="B8CCE9"/>
            </a:solidFill>
            <a:prstDash val="dash"/>
          </a:ln>
        </p:spPr>
        <p:txBody>
          <a:bodyPr/>
          <a:lstStyle/>
          <a:p>
            <a:pPr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76" name="Shape 67">
            <a:extLst>
              <a:ext uri="{FF2B5EF4-FFF2-40B4-BE49-F238E27FC236}">
                <a16:creationId xmlns:a16="http://schemas.microsoft.com/office/drawing/2014/main" id="{63CC7B0A-1DDD-DBCC-940C-6C3DC927018F}"/>
              </a:ext>
            </a:extLst>
          </p:cNvPr>
          <p:cNvSpPr>
            <a:spLocks noChangeAspect="1"/>
          </p:cNvSpPr>
          <p:nvPr/>
        </p:nvSpPr>
        <p:spPr>
          <a:xfrm>
            <a:off x="10557345" y="3402089"/>
            <a:ext cx="396000" cy="396000"/>
          </a:xfrm>
          <a:prstGeom prst="ellipse">
            <a:avLst/>
          </a:prstGeom>
          <a:solidFill>
            <a:srgbClr val="FFFFFF"/>
          </a:solidFill>
          <a:ln w="33020">
            <a:solidFill>
              <a:srgbClr val="2E5FA3"/>
            </a:solidFill>
            <a:prstDash val="solid"/>
          </a:ln>
          <a:effectLst>
            <a:outerShdw blurRad="63500" dist="12700" dir="5400000" algn="bl" rotWithShape="0">
              <a:srgbClr val="1B2A5E">
                <a:alpha val="18000"/>
              </a:srgbClr>
            </a:outerShdw>
          </a:effectLst>
        </p:spPr>
        <p:txBody>
          <a:bodyPr anchor="ctr"/>
          <a:lstStyle/>
          <a:p>
            <a:pPr algn="ctr" defTabSz="1219170"/>
            <a:r>
              <a:rPr lang="es-419" b="1" noProof="0">
                <a:solidFill>
                  <a:srgbClr val="2E5FA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8</a:t>
            </a:r>
          </a:p>
        </p:txBody>
      </p:sp>
      <p:sp>
        <p:nvSpPr>
          <p:cNvPr id="78" name="Shape 69">
            <a:extLst>
              <a:ext uri="{FF2B5EF4-FFF2-40B4-BE49-F238E27FC236}">
                <a16:creationId xmlns:a16="http://schemas.microsoft.com/office/drawing/2014/main" id="{EF065496-8A0B-4315-AD70-B343EFECC323}"/>
              </a:ext>
            </a:extLst>
          </p:cNvPr>
          <p:cNvSpPr>
            <a:spLocks noChangeAspect="1"/>
          </p:cNvSpPr>
          <p:nvPr/>
        </p:nvSpPr>
        <p:spPr>
          <a:xfrm>
            <a:off x="10125345" y="4359510"/>
            <a:ext cx="1260000" cy="12600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DE6F4"/>
            </a:solidFill>
            <a:prstDash val="solid"/>
          </a:ln>
          <a:effectLst>
            <a:outerShdw blurRad="88900" dist="25400" dir="5400000" algn="bl" rotWithShape="0">
              <a:srgbClr val="1B2A5E">
                <a:alpha val="13000"/>
              </a:srgbClr>
            </a:outerShdw>
          </a:effectLst>
        </p:spPr>
        <p:txBody>
          <a:bodyPr/>
          <a:lstStyle/>
          <a:p>
            <a:pPr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79" name="Shape 70">
            <a:extLst>
              <a:ext uri="{FF2B5EF4-FFF2-40B4-BE49-F238E27FC236}">
                <a16:creationId xmlns:a16="http://schemas.microsoft.com/office/drawing/2014/main" id="{A950B4AF-28A6-5026-92B3-B7D0FDE6810B}"/>
              </a:ext>
            </a:extLst>
          </p:cNvPr>
          <p:cNvSpPr/>
          <p:nvPr/>
        </p:nvSpPr>
        <p:spPr>
          <a:xfrm>
            <a:off x="10519726" y="4443358"/>
            <a:ext cx="471239" cy="488585"/>
          </a:xfrm>
          <a:prstGeom prst="ellipse">
            <a:avLst/>
          </a:prstGeom>
          <a:solidFill>
            <a:srgbClr val="2E5FA3"/>
          </a:solidFill>
          <a:ln/>
        </p:spPr>
        <p:txBody>
          <a:bodyPr/>
          <a:lstStyle/>
          <a:p>
            <a:pPr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80" name="Image 6" descr="preencoded.png">
            <a:extLst>
              <a:ext uri="{FF2B5EF4-FFF2-40B4-BE49-F238E27FC236}">
                <a16:creationId xmlns:a16="http://schemas.microsoft.com/office/drawing/2014/main" id="{C38DB941-0298-F871-A333-AF135D28F60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26316" y="4553871"/>
            <a:ext cx="258059" cy="267558"/>
          </a:xfrm>
          <a:prstGeom prst="rect">
            <a:avLst/>
          </a:prstGeom>
        </p:spPr>
      </p:pic>
      <p:sp>
        <p:nvSpPr>
          <p:cNvPr id="81" name="Text 71">
            <a:extLst>
              <a:ext uri="{FF2B5EF4-FFF2-40B4-BE49-F238E27FC236}">
                <a16:creationId xmlns:a16="http://schemas.microsoft.com/office/drawing/2014/main" id="{E72663D0-9C81-4846-EB7D-A5FF650F5DD4}"/>
              </a:ext>
            </a:extLst>
          </p:cNvPr>
          <p:cNvSpPr/>
          <p:nvPr/>
        </p:nvSpPr>
        <p:spPr>
          <a:xfrm>
            <a:off x="10125345" y="5084111"/>
            <a:ext cx="1260000" cy="442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s-419" sz="1200" b="1" noProof="0">
                <a:solidFill>
                  <a:srgbClr val="1B2A5E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Estabilización</a:t>
            </a:r>
            <a:endParaRPr lang="es-419" sz="12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ctr" defTabSz="1219170"/>
            <a:r>
              <a:rPr lang="es-419" sz="1200" b="1" noProof="0">
                <a:solidFill>
                  <a:srgbClr val="1B2A5E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y entrega</a:t>
            </a:r>
            <a:endParaRPr lang="es-419" sz="12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4" name="Text 74">
            <a:extLst>
              <a:ext uri="{FF2B5EF4-FFF2-40B4-BE49-F238E27FC236}">
                <a16:creationId xmlns:a16="http://schemas.microsoft.com/office/drawing/2014/main" id="{3278C722-FFEE-F5BE-7A96-F0729FE543F6}"/>
              </a:ext>
            </a:extLst>
          </p:cNvPr>
          <p:cNvSpPr/>
          <p:nvPr/>
        </p:nvSpPr>
        <p:spPr>
          <a:xfrm>
            <a:off x="10213152" y="2945599"/>
            <a:ext cx="1055804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defTabSz="1219170"/>
            <a:r>
              <a:rPr lang="es-419" sz="907" noProof="0">
                <a:solidFill>
                  <a:srgbClr val="5B6B8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Operaciones</a:t>
            </a:r>
          </a:p>
          <a:p>
            <a:pPr algn="ctr" defTabSz="1219170"/>
            <a:r>
              <a:rPr lang="es-419" sz="907" noProof="0">
                <a:solidFill>
                  <a:srgbClr val="5B6B8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Soporte TI</a:t>
            </a:r>
            <a:endParaRPr lang="es-419" sz="8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7" name="Shape 35">
            <a:extLst>
              <a:ext uri="{FF2B5EF4-FFF2-40B4-BE49-F238E27FC236}">
                <a16:creationId xmlns:a16="http://schemas.microsoft.com/office/drawing/2014/main" id="{4B94ADB1-5A22-F0B7-BA99-8760458D3B2F}"/>
              </a:ext>
            </a:extLst>
          </p:cNvPr>
          <p:cNvSpPr/>
          <p:nvPr/>
        </p:nvSpPr>
        <p:spPr>
          <a:xfrm>
            <a:off x="5249696" y="3953984"/>
            <a:ext cx="0" cy="360000"/>
          </a:xfrm>
          <a:prstGeom prst="line">
            <a:avLst/>
          </a:prstGeom>
          <a:noFill/>
          <a:ln w="17780">
            <a:solidFill>
              <a:srgbClr val="B8CCE9"/>
            </a:solidFill>
            <a:prstDash val="dash"/>
          </a:ln>
        </p:spPr>
        <p:txBody>
          <a:bodyPr/>
          <a:lstStyle/>
          <a:p>
            <a:pPr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8" name="Shape 36">
            <a:extLst>
              <a:ext uri="{FF2B5EF4-FFF2-40B4-BE49-F238E27FC236}">
                <a16:creationId xmlns:a16="http://schemas.microsoft.com/office/drawing/2014/main" id="{FFFAA7BA-35F1-FD65-C9AF-9119F9762C41}"/>
              </a:ext>
            </a:extLst>
          </p:cNvPr>
          <p:cNvSpPr>
            <a:spLocks noChangeAspect="1"/>
          </p:cNvSpPr>
          <p:nvPr/>
        </p:nvSpPr>
        <p:spPr>
          <a:xfrm>
            <a:off x="4961696" y="3312089"/>
            <a:ext cx="576000" cy="576000"/>
          </a:xfrm>
          <a:prstGeom prst="ellipse">
            <a:avLst/>
          </a:prstGeom>
          <a:solidFill>
            <a:srgbClr val="FFFFFF"/>
          </a:solidFill>
          <a:ln w="33020">
            <a:solidFill>
              <a:srgbClr val="0E9594"/>
            </a:solidFill>
            <a:prstDash val="solid"/>
          </a:ln>
          <a:effectLst>
            <a:outerShdw blurRad="63500" dist="12700" dir="5400000" algn="bl" rotWithShape="0">
              <a:srgbClr val="1B2A5E">
                <a:alpha val="18000"/>
              </a:srgbClr>
            </a:outerShdw>
          </a:effectLst>
        </p:spPr>
        <p:txBody>
          <a:bodyPr anchor="ctr"/>
          <a:lstStyle/>
          <a:p>
            <a:pPr algn="ctr" defTabSz="1219170"/>
            <a:r>
              <a:rPr lang="es-419" b="1" noProof="0">
                <a:solidFill>
                  <a:srgbClr val="0E9594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4</a:t>
            </a:r>
          </a:p>
        </p:txBody>
      </p:sp>
      <p:sp>
        <p:nvSpPr>
          <p:cNvPr id="90" name="Shape 38">
            <a:extLst>
              <a:ext uri="{FF2B5EF4-FFF2-40B4-BE49-F238E27FC236}">
                <a16:creationId xmlns:a16="http://schemas.microsoft.com/office/drawing/2014/main" id="{ED668498-CCBF-F2BA-2540-304196AB5304}"/>
              </a:ext>
            </a:extLst>
          </p:cNvPr>
          <p:cNvSpPr>
            <a:spLocks noChangeAspect="1"/>
          </p:cNvSpPr>
          <p:nvPr/>
        </p:nvSpPr>
        <p:spPr>
          <a:xfrm>
            <a:off x="4619696" y="4359510"/>
            <a:ext cx="1260000" cy="12600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DE6F4"/>
            </a:solidFill>
            <a:prstDash val="solid"/>
          </a:ln>
          <a:effectLst>
            <a:outerShdw blurRad="88900" dist="25400" dir="5400000" algn="bl" rotWithShape="0">
              <a:srgbClr val="1B2A5E">
                <a:alpha val="13000"/>
              </a:srgbClr>
            </a:outerShdw>
          </a:effectLst>
        </p:spPr>
        <p:txBody>
          <a:bodyPr/>
          <a:lstStyle/>
          <a:p>
            <a:pPr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91" name="Shape 39">
            <a:extLst>
              <a:ext uri="{FF2B5EF4-FFF2-40B4-BE49-F238E27FC236}">
                <a16:creationId xmlns:a16="http://schemas.microsoft.com/office/drawing/2014/main" id="{2DC65CF6-83E9-86E7-2DE8-1DD16CCAE040}"/>
              </a:ext>
            </a:extLst>
          </p:cNvPr>
          <p:cNvSpPr/>
          <p:nvPr/>
        </p:nvSpPr>
        <p:spPr>
          <a:xfrm>
            <a:off x="5014077" y="4443358"/>
            <a:ext cx="471239" cy="488585"/>
          </a:xfrm>
          <a:prstGeom prst="ellipse">
            <a:avLst/>
          </a:prstGeom>
          <a:solidFill>
            <a:srgbClr val="0E9594"/>
          </a:solidFill>
          <a:ln/>
        </p:spPr>
        <p:txBody>
          <a:bodyPr/>
          <a:lstStyle/>
          <a:p>
            <a:pPr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93" name="Text 40">
            <a:extLst>
              <a:ext uri="{FF2B5EF4-FFF2-40B4-BE49-F238E27FC236}">
                <a16:creationId xmlns:a16="http://schemas.microsoft.com/office/drawing/2014/main" id="{4AC5F9C3-0D4E-2B81-B972-8247C77328C3}"/>
              </a:ext>
            </a:extLst>
          </p:cNvPr>
          <p:cNvSpPr/>
          <p:nvPr/>
        </p:nvSpPr>
        <p:spPr>
          <a:xfrm>
            <a:off x="4619696" y="5084111"/>
            <a:ext cx="1260000" cy="442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s-419" sz="1100" b="1">
                <a:solidFill>
                  <a:srgbClr val="1B2A5E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Implementación</a:t>
            </a:r>
            <a:endParaRPr lang="es-419" sz="11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94" name="Text 45">
            <a:extLst>
              <a:ext uri="{FF2B5EF4-FFF2-40B4-BE49-F238E27FC236}">
                <a16:creationId xmlns:a16="http://schemas.microsoft.com/office/drawing/2014/main" id="{2B644AA7-1821-927F-90E9-E37F4375A923}"/>
              </a:ext>
            </a:extLst>
          </p:cNvPr>
          <p:cNvSpPr/>
          <p:nvPr/>
        </p:nvSpPr>
        <p:spPr>
          <a:xfrm>
            <a:off x="4509178" y="2364158"/>
            <a:ext cx="1481037" cy="86944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defTabSz="1219170"/>
            <a:r>
              <a:rPr lang="es-419" sz="907" noProof="0">
                <a:solidFill>
                  <a:srgbClr val="5B6B8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Nube &amp; DevOps</a:t>
            </a:r>
          </a:p>
          <a:p>
            <a:pPr algn="ctr" defTabSz="1219170"/>
            <a:r>
              <a:rPr lang="es-419" sz="907" noProof="0">
                <a:solidFill>
                  <a:srgbClr val="5B6B8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Operación TI</a:t>
            </a:r>
          </a:p>
          <a:p>
            <a:pPr algn="ctr" defTabSz="1219170"/>
            <a:r>
              <a:rPr lang="es-419" sz="907" noProof="0">
                <a:solidFill>
                  <a:srgbClr val="5B6B8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Protección a la ID</a:t>
            </a:r>
          </a:p>
          <a:p>
            <a:pPr algn="ctr" defTabSz="1219170"/>
            <a:r>
              <a:rPr lang="es-419" sz="907">
                <a:solidFill>
                  <a:srgbClr val="5B6B8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Analítica</a:t>
            </a:r>
          </a:p>
          <a:p>
            <a:pPr algn="ctr" defTabSz="1219170"/>
            <a:r>
              <a:rPr lang="es-419" sz="907" noProof="0">
                <a:solidFill>
                  <a:srgbClr val="5B6B8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Integración</a:t>
            </a:r>
            <a:endParaRPr lang="es-419" sz="8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96" name="Gráfico 95" descr="Informática en la nube con relleno sólido">
            <a:extLst>
              <a:ext uri="{FF2B5EF4-FFF2-40B4-BE49-F238E27FC236}">
                <a16:creationId xmlns:a16="http://schemas.microsoft.com/office/drawing/2014/main" id="{37B789CD-8947-DE89-7605-AABE1EED64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087696" y="4525650"/>
            <a:ext cx="324000" cy="324000"/>
          </a:xfrm>
          <a:prstGeom prst="rect">
            <a:avLst/>
          </a:prstGeom>
        </p:spPr>
      </p:pic>
      <p:sp>
        <p:nvSpPr>
          <p:cNvPr id="105" name="Text 54">
            <a:extLst>
              <a:ext uri="{FF2B5EF4-FFF2-40B4-BE49-F238E27FC236}">
                <a16:creationId xmlns:a16="http://schemas.microsoft.com/office/drawing/2014/main" id="{05EB0359-07F8-E38E-A03F-875E13702882}"/>
              </a:ext>
            </a:extLst>
          </p:cNvPr>
          <p:cNvSpPr/>
          <p:nvPr/>
        </p:nvSpPr>
        <p:spPr>
          <a:xfrm>
            <a:off x="7363239" y="5118223"/>
            <a:ext cx="1260000" cy="46157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defTabSz="1219170"/>
            <a:r>
              <a:rPr lang="es-419" sz="907" noProof="0">
                <a:solidFill>
                  <a:srgbClr val="5B6B8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Funcionales</a:t>
            </a:r>
          </a:p>
          <a:p>
            <a:pPr algn="ctr" defTabSz="1219170"/>
            <a:r>
              <a:rPr lang="es-419" sz="907" noProof="0">
                <a:solidFill>
                  <a:srgbClr val="5B6B8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Performance</a:t>
            </a:r>
          </a:p>
          <a:p>
            <a:pPr algn="ctr" defTabSz="1219170"/>
            <a:r>
              <a:rPr lang="es-419" sz="907" noProof="0">
                <a:solidFill>
                  <a:srgbClr val="5B6B8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Seguridad</a:t>
            </a:r>
          </a:p>
        </p:txBody>
      </p:sp>
      <p:sp>
        <p:nvSpPr>
          <p:cNvPr id="106" name="Shape 3">
            <a:extLst>
              <a:ext uri="{FF2B5EF4-FFF2-40B4-BE49-F238E27FC236}">
                <a16:creationId xmlns:a16="http://schemas.microsoft.com/office/drawing/2014/main" id="{3F1B3C12-03AE-BA39-DC51-40952364C1A4}"/>
              </a:ext>
            </a:extLst>
          </p:cNvPr>
          <p:cNvSpPr/>
          <p:nvPr/>
        </p:nvSpPr>
        <p:spPr>
          <a:xfrm>
            <a:off x="971550" y="6419928"/>
            <a:ext cx="10229994" cy="6604"/>
          </a:xfrm>
          <a:prstGeom prst="line">
            <a:avLst/>
          </a:prstGeom>
          <a:noFill/>
          <a:ln w="30480">
            <a:solidFill>
              <a:srgbClr val="2E5FA3"/>
            </a:solidFill>
            <a:prstDash val="solid"/>
            <a:headEnd type="oval"/>
            <a:tailEnd type="oval"/>
          </a:ln>
        </p:spPr>
        <p:txBody>
          <a:bodyPr anchor="ctr"/>
          <a:lstStyle/>
          <a:p>
            <a:pPr algn="ctr"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110" name="Conector: angular 109">
            <a:extLst>
              <a:ext uri="{FF2B5EF4-FFF2-40B4-BE49-F238E27FC236}">
                <a16:creationId xmlns:a16="http://schemas.microsoft.com/office/drawing/2014/main" id="{4C27B7A0-C27E-4EE6-B780-07B3746883C2}"/>
              </a:ext>
            </a:extLst>
          </p:cNvPr>
          <p:cNvCxnSpPr>
            <a:stCxn id="7" idx="2"/>
            <a:endCxn id="107" idx="1"/>
          </p:cNvCxnSpPr>
          <p:nvPr/>
        </p:nvCxnSpPr>
        <p:spPr>
          <a:xfrm rot="16200000" flipH="1">
            <a:off x="-651878" y="4929252"/>
            <a:ext cx="2625380" cy="362576"/>
          </a:xfrm>
          <a:prstGeom prst="bentConnector2">
            <a:avLst/>
          </a:prstGeom>
          <a:ln w="12700">
            <a:solidFill>
              <a:srgbClr val="2E5FA3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Conector: angular 110">
            <a:extLst>
              <a:ext uri="{FF2B5EF4-FFF2-40B4-BE49-F238E27FC236}">
                <a16:creationId xmlns:a16="http://schemas.microsoft.com/office/drawing/2014/main" id="{DEA4514E-398B-EB21-712C-2169F034BFD5}"/>
              </a:ext>
            </a:extLst>
          </p:cNvPr>
          <p:cNvCxnSpPr>
            <a:cxnSpLocks/>
            <a:stCxn id="107" idx="3"/>
            <a:endCxn id="8" idx="2"/>
          </p:cNvCxnSpPr>
          <p:nvPr/>
        </p:nvCxnSpPr>
        <p:spPr>
          <a:xfrm flipV="1">
            <a:off x="11339089" y="3813216"/>
            <a:ext cx="486890" cy="2610014"/>
          </a:xfrm>
          <a:prstGeom prst="bentConnector2">
            <a:avLst/>
          </a:prstGeom>
          <a:ln w="12700">
            <a:solidFill>
              <a:srgbClr val="2E5FA3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3" name="Picture 2">
            <a:extLst>
              <a:ext uri="{FF2B5EF4-FFF2-40B4-BE49-F238E27FC236}">
                <a16:creationId xmlns:a16="http://schemas.microsoft.com/office/drawing/2014/main" id="{054C6CC4-4B1B-8EC5-1DAD-24393DBD9D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5157" y="196371"/>
            <a:ext cx="868630" cy="580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CuadroTexto 26">
            <a:extLst>
              <a:ext uri="{FF2B5EF4-FFF2-40B4-BE49-F238E27FC236}">
                <a16:creationId xmlns:a16="http://schemas.microsoft.com/office/drawing/2014/main" id="{AB994DF1-92D7-D380-B099-291F2C77C926}"/>
              </a:ext>
            </a:extLst>
          </p:cNvPr>
          <p:cNvSpPr txBox="1"/>
          <p:nvPr/>
        </p:nvSpPr>
        <p:spPr>
          <a:xfrm>
            <a:off x="2006123" y="2470439"/>
            <a:ext cx="141003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1000" b="1" i="1">
                <a:solidFill>
                  <a:schemeClr val="tx2">
                    <a:lumMod val="50000"/>
                  </a:schemeClr>
                </a:solidFill>
                <a:highlight>
                  <a:srgbClr val="FFFF00"/>
                </a:highlight>
                <a:latin typeface="Roboto" pitchFamily="2" charset="0"/>
                <a:ea typeface="Roboto" pitchFamily="2" charset="0"/>
                <a:cs typeface="Calibri" pitchFamily="34" charset="-120"/>
              </a:rPr>
              <a:t>Deuda Técnica</a:t>
            </a:r>
          </a:p>
          <a:p>
            <a:pPr algn="ctr"/>
            <a:r>
              <a:rPr lang="es-CO" sz="1000" b="1" i="1">
                <a:solidFill>
                  <a:schemeClr val="tx2">
                    <a:lumMod val="50000"/>
                  </a:schemeClr>
                </a:solidFill>
                <a:highlight>
                  <a:srgbClr val="FFFF00"/>
                </a:highlight>
                <a:latin typeface="Roboto" pitchFamily="2" charset="0"/>
                <a:ea typeface="Roboto" pitchFamily="2" charset="0"/>
                <a:cs typeface="Calibri" pitchFamily="34" charset="-120"/>
              </a:rPr>
              <a:t>Requisitos no funcionales </a:t>
            </a:r>
            <a:endParaRPr lang="es-CO" sz="1100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854CD71F-8CA1-9C97-320A-416179A3F66A}"/>
              </a:ext>
            </a:extLst>
          </p:cNvPr>
          <p:cNvSpPr txBox="1"/>
          <p:nvPr/>
        </p:nvSpPr>
        <p:spPr>
          <a:xfrm>
            <a:off x="6974479" y="2030153"/>
            <a:ext cx="61401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400" b="1" i="1">
                <a:solidFill>
                  <a:schemeClr val="tx2">
                    <a:lumMod val="50000"/>
                  </a:schemeClr>
                </a:solidFill>
                <a:highlight>
                  <a:srgbClr val="FFFF00"/>
                </a:highlight>
                <a:latin typeface="Roboto" pitchFamily="2" charset="0"/>
                <a:ea typeface="Roboto" pitchFamily="2" charset="0"/>
                <a:cs typeface="Calibri" pitchFamily="34" charset="-120"/>
              </a:rPr>
              <a:t>Deuda Técnica </a:t>
            </a:r>
            <a:endParaRPr lang="es-CO"/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0AEABBD1-3791-7EC7-A566-1D69728B68C4}"/>
              </a:ext>
            </a:extLst>
          </p:cNvPr>
          <p:cNvSpPr txBox="1"/>
          <p:nvPr/>
        </p:nvSpPr>
        <p:spPr>
          <a:xfrm>
            <a:off x="11185343" y="4443358"/>
            <a:ext cx="61401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400" b="1" i="1">
                <a:solidFill>
                  <a:schemeClr val="tx2">
                    <a:lumMod val="50000"/>
                  </a:schemeClr>
                </a:solidFill>
                <a:highlight>
                  <a:srgbClr val="FFFF00"/>
                </a:highlight>
                <a:latin typeface="Roboto" pitchFamily="2" charset="0"/>
                <a:ea typeface="Roboto" pitchFamily="2" charset="0"/>
                <a:cs typeface="Calibri" pitchFamily="34" charset="-120"/>
              </a:rPr>
              <a:t>Incidentes / Problemas  </a:t>
            </a:r>
            <a:endParaRPr lang="es-CO"/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02158A54-0A6B-2BDD-6784-83C8E52C274E}"/>
              </a:ext>
            </a:extLst>
          </p:cNvPr>
          <p:cNvSpPr txBox="1"/>
          <p:nvPr/>
        </p:nvSpPr>
        <p:spPr>
          <a:xfrm>
            <a:off x="10044577" y="1552079"/>
            <a:ext cx="867765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219170"/>
            <a:r>
              <a:rPr lang="es-419" sz="1200" noProof="0">
                <a:solidFill>
                  <a:srgbClr val="1B2A5E"/>
                </a:solidFill>
                <a:highlight>
                  <a:srgbClr val="FFFF00"/>
                </a:highligh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Requisitos no Funcionales:</a:t>
            </a:r>
          </a:p>
          <a:p>
            <a:pPr marL="171450" indent="-171450" defTabSz="1219170">
              <a:buFont typeface="Arial" panose="020B0604020202020204" pitchFamily="34" charset="0"/>
              <a:buChar char="•"/>
            </a:pPr>
            <a:r>
              <a:rPr lang="es-419" sz="1200" noProof="0">
                <a:solidFill>
                  <a:srgbClr val="1B2A5E"/>
                </a:solidFill>
                <a:highlight>
                  <a:srgbClr val="FFFF00"/>
                </a:highligh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Disponibilidad</a:t>
            </a:r>
          </a:p>
          <a:p>
            <a:pPr marL="171450" indent="-171450" defTabSz="1219170">
              <a:buFont typeface="Arial" panose="020B0604020202020204" pitchFamily="34" charset="0"/>
              <a:buChar char="•"/>
            </a:pPr>
            <a:r>
              <a:rPr lang="es-419" sz="1200">
                <a:solidFill>
                  <a:srgbClr val="1B2A5E"/>
                </a:solidFill>
                <a:highlight>
                  <a:srgbClr val="FFFF00"/>
                </a:highligh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Capacidad</a:t>
            </a:r>
          </a:p>
          <a:p>
            <a:pPr marL="171450" indent="-171450" defTabSz="1219170">
              <a:buFont typeface="Arial" panose="020B0604020202020204" pitchFamily="34" charset="0"/>
              <a:buChar char="•"/>
            </a:pPr>
            <a:r>
              <a:rPr lang="es-419" sz="1200">
                <a:solidFill>
                  <a:srgbClr val="1B2A5E"/>
                </a:solidFill>
                <a:highlight>
                  <a:srgbClr val="FFFF00"/>
                </a:highligh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Continuidad</a:t>
            </a:r>
          </a:p>
          <a:p>
            <a:pPr marL="171450" indent="-171450" defTabSz="1219170">
              <a:buFont typeface="Arial" panose="020B0604020202020204" pitchFamily="34" charset="0"/>
              <a:buChar char="•"/>
            </a:pPr>
            <a:r>
              <a:rPr lang="es-419" sz="1200">
                <a:solidFill>
                  <a:srgbClr val="1B2A5E"/>
                </a:solidFill>
                <a:highlight>
                  <a:srgbClr val="FFFF00"/>
                </a:highligh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Debe tener  presente</a:t>
            </a:r>
            <a:endParaRPr lang="es-CO" sz="180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245353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Shape 2">
            <a:extLst>
              <a:ext uri="{FF2B5EF4-FFF2-40B4-BE49-F238E27FC236}">
                <a16:creationId xmlns:a16="http://schemas.microsoft.com/office/drawing/2014/main" id="{BD57ABA9-099F-8DD2-D9AF-B99724B82F7E}"/>
              </a:ext>
            </a:extLst>
          </p:cNvPr>
          <p:cNvSpPr/>
          <p:nvPr/>
        </p:nvSpPr>
        <p:spPr>
          <a:xfrm>
            <a:off x="842100" y="6359829"/>
            <a:ext cx="10496989" cy="126802"/>
          </a:xfrm>
          <a:prstGeom prst="roundRect">
            <a:avLst>
              <a:gd name="adj" fmla="val 50000"/>
            </a:avLst>
          </a:prstGeom>
          <a:solidFill>
            <a:srgbClr val="DCE8F8"/>
          </a:solidFill>
          <a:ln/>
        </p:spPr>
        <p:txBody>
          <a:bodyPr anchor="ctr"/>
          <a:lstStyle/>
          <a:p>
            <a:pPr algn="ctr"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97" name="Shape 36">
            <a:extLst>
              <a:ext uri="{FF2B5EF4-FFF2-40B4-BE49-F238E27FC236}">
                <a16:creationId xmlns:a16="http://schemas.microsoft.com/office/drawing/2014/main" id="{344C4E35-DD1B-9BC1-4154-F3C3CDE84EB2}"/>
              </a:ext>
            </a:extLst>
          </p:cNvPr>
          <p:cNvSpPr>
            <a:spLocks noChangeAspect="1"/>
          </p:cNvSpPr>
          <p:nvPr/>
        </p:nvSpPr>
        <p:spPr>
          <a:xfrm>
            <a:off x="5953315" y="1294599"/>
            <a:ext cx="5519568" cy="4829175"/>
          </a:xfrm>
          <a:prstGeom prst="roundRect">
            <a:avLst>
              <a:gd name="adj" fmla="val 4217"/>
            </a:avLst>
          </a:prstGeom>
          <a:solidFill>
            <a:srgbClr val="FFFFFF"/>
          </a:solidFill>
          <a:ln w="33020">
            <a:solidFill>
              <a:srgbClr val="1B2A5E"/>
            </a:solidFill>
            <a:prstDash val="solid"/>
          </a:ln>
          <a:effectLst>
            <a:outerShdw blurRad="63500" dist="12700" dir="5400000" algn="bl" rotWithShape="0">
              <a:srgbClr val="1B2A5E">
                <a:alpha val="18000"/>
              </a:srgbClr>
            </a:outerShdw>
          </a:effectLst>
        </p:spPr>
        <p:txBody>
          <a:bodyPr anchor="ctr"/>
          <a:lstStyle/>
          <a:p>
            <a:pPr algn="ctr" defTabSz="1219170"/>
            <a:endParaRPr lang="es-419" sz="2000" b="1" noProof="0">
              <a:solidFill>
                <a:srgbClr val="1B2A5E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90B2CBFB-2F35-073F-6978-192AF7F6F5FD}"/>
              </a:ext>
            </a:extLst>
          </p:cNvPr>
          <p:cNvSpPr/>
          <p:nvPr/>
        </p:nvSpPr>
        <p:spPr>
          <a:xfrm>
            <a:off x="164031" y="255462"/>
            <a:ext cx="7541208" cy="5816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>
              <a:defRPr/>
            </a:pPr>
            <a:r>
              <a:rPr lang="es-419" sz="3600" b="1" noProof="0">
                <a:solidFill>
                  <a:srgbClr val="1E2761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Flujo construcción de soluciones TI </a:t>
            </a:r>
            <a:endParaRPr lang="es-419" sz="3600" noProof="0">
              <a:solidFill>
                <a:prstClr val="black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DD30F0DA-F036-374C-3AE8-9DF459308E06}"/>
              </a:ext>
            </a:extLst>
          </p:cNvPr>
          <p:cNvSpPr/>
          <p:nvPr/>
        </p:nvSpPr>
        <p:spPr>
          <a:xfrm>
            <a:off x="869304" y="3528294"/>
            <a:ext cx="10496989" cy="126802"/>
          </a:xfrm>
          <a:prstGeom prst="roundRect">
            <a:avLst>
              <a:gd name="adj" fmla="val 50000"/>
            </a:avLst>
          </a:prstGeom>
          <a:solidFill>
            <a:srgbClr val="DCE8F8"/>
          </a:solidFill>
          <a:ln/>
        </p:spPr>
        <p:txBody>
          <a:bodyPr/>
          <a:lstStyle/>
          <a:p>
            <a:pPr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BD0CC891-DFA8-8501-AE7E-8FEE7A7CB2A6}"/>
              </a:ext>
            </a:extLst>
          </p:cNvPr>
          <p:cNvSpPr/>
          <p:nvPr/>
        </p:nvSpPr>
        <p:spPr>
          <a:xfrm flipV="1">
            <a:off x="909457" y="3591048"/>
            <a:ext cx="10416681" cy="4202"/>
          </a:xfrm>
          <a:prstGeom prst="line">
            <a:avLst/>
          </a:prstGeom>
          <a:noFill/>
          <a:ln w="30480">
            <a:solidFill>
              <a:srgbClr val="2E5FA3"/>
            </a:solidFill>
            <a:prstDash val="solid"/>
            <a:tailEnd type="triangle"/>
          </a:ln>
        </p:spPr>
        <p:txBody>
          <a:bodyPr/>
          <a:lstStyle/>
          <a:p>
            <a:pPr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9E48314A-DBD5-0AF2-EDA1-DF5E89E7D7AB}"/>
              </a:ext>
            </a:extLst>
          </p:cNvPr>
          <p:cNvSpPr/>
          <p:nvPr/>
        </p:nvSpPr>
        <p:spPr>
          <a:xfrm>
            <a:off x="41944" y="3402329"/>
            <a:ext cx="875159" cy="3955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s-419" sz="747" b="1" kern="0" spc="67" noProof="0">
                <a:solidFill>
                  <a:srgbClr val="5B6B8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NECESIDAD</a:t>
            </a:r>
            <a:endParaRPr lang="es-419" sz="747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ctr" defTabSz="1219170"/>
            <a:r>
              <a:rPr lang="es-419" sz="747" b="1" kern="0" spc="67" noProof="0">
                <a:solidFill>
                  <a:srgbClr val="5B6B8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DEL NEGOCIO</a:t>
            </a:r>
            <a:endParaRPr lang="es-419" sz="747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6959F6C4-C3A4-6447-03E6-76424E37D630}"/>
              </a:ext>
            </a:extLst>
          </p:cNvPr>
          <p:cNvSpPr/>
          <p:nvPr/>
        </p:nvSpPr>
        <p:spPr>
          <a:xfrm>
            <a:off x="11400703" y="3394429"/>
            <a:ext cx="850552" cy="4187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s-419" sz="773" b="1" kern="0" spc="67" noProof="0">
                <a:solidFill>
                  <a:srgbClr val="0B6B6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VALOR</a:t>
            </a:r>
            <a:endParaRPr lang="es-419" sz="773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ctr" defTabSz="1219170"/>
            <a:r>
              <a:rPr lang="es-419" sz="773" b="1" kern="0" spc="67" noProof="0">
                <a:solidFill>
                  <a:srgbClr val="0B6B6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ENTREGADO</a:t>
            </a:r>
            <a:endParaRPr lang="es-419" sz="773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47B1F07D-2F75-FDE0-C778-AD68CAF9F797}"/>
              </a:ext>
            </a:extLst>
          </p:cNvPr>
          <p:cNvSpPr/>
          <p:nvPr/>
        </p:nvSpPr>
        <p:spPr>
          <a:xfrm>
            <a:off x="1468839" y="2945231"/>
            <a:ext cx="0" cy="360000"/>
          </a:xfrm>
          <a:prstGeom prst="line">
            <a:avLst/>
          </a:prstGeom>
          <a:noFill/>
          <a:ln w="17780">
            <a:solidFill>
              <a:srgbClr val="B8CCE9"/>
            </a:solidFill>
            <a:prstDash val="dash"/>
          </a:ln>
        </p:spPr>
        <p:txBody>
          <a:bodyPr/>
          <a:lstStyle/>
          <a:p>
            <a:pPr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E192D1C0-988E-914F-C878-2B60C5429EAD}"/>
              </a:ext>
            </a:extLst>
          </p:cNvPr>
          <p:cNvSpPr>
            <a:spLocks noChangeAspect="1"/>
          </p:cNvSpPr>
          <p:nvPr/>
        </p:nvSpPr>
        <p:spPr>
          <a:xfrm>
            <a:off x="1270839" y="3402329"/>
            <a:ext cx="396000" cy="395521"/>
          </a:xfrm>
          <a:prstGeom prst="ellipse">
            <a:avLst/>
          </a:prstGeom>
          <a:solidFill>
            <a:srgbClr val="FFFFFF"/>
          </a:solidFill>
          <a:ln w="33020">
            <a:solidFill>
              <a:srgbClr val="0E9594"/>
            </a:solidFill>
            <a:prstDash val="solid"/>
          </a:ln>
          <a:effectLst>
            <a:outerShdw blurRad="63500" dist="12700" dir="5400000" algn="bl" rotWithShape="0">
              <a:srgbClr val="1B2A5E">
                <a:alpha val="18000"/>
              </a:srgbClr>
            </a:outerShdw>
          </a:effectLst>
        </p:spPr>
        <p:txBody>
          <a:bodyPr anchor="ctr"/>
          <a:lstStyle/>
          <a:p>
            <a:pPr algn="ctr" defTabSz="1219170"/>
            <a:r>
              <a:rPr lang="es-419" b="1" noProof="0">
                <a:solidFill>
                  <a:srgbClr val="0E9594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1</a:t>
            </a:r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F5C881B4-4D41-97B0-976D-D2802A1B9209}"/>
              </a:ext>
            </a:extLst>
          </p:cNvPr>
          <p:cNvSpPr>
            <a:spLocks noChangeAspect="1"/>
          </p:cNvSpPr>
          <p:nvPr/>
        </p:nvSpPr>
        <p:spPr>
          <a:xfrm>
            <a:off x="838839" y="1567658"/>
            <a:ext cx="1260000" cy="12600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DE6F4"/>
            </a:solidFill>
            <a:prstDash val="solid"/>
          </a:ln>
          <a:effectLst>
            <a:outerShdw blurRad="88900" dist="25400" dir="5400000" algn="bl" rotWithShape="0">
              <a:srgbClr val="1B2A5E">
                <a:alpha val="13000"/>
              </a:srgbClr>
            </a:outerShdw>
          </a:effectLst>
        </p:spPr>
        <p:txBody>
          <a:bodyPr/>
          <a:lstStyle/>
          <a:p>
            <a:pPr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128EE10F-0CBD-DCDF-2E1B-4E152E5F5161}"/>
              </a:ext>
            </a:extLst>
          </p:cNvPr>
          <p:cNvSpPr/>
          <p:nvPr/>
        </p:nvSpPr>
        <p:spPr>
          <a:xfrm>
            <a:off x="1233220" y="1683613"/>
            <a:ext cx="471239" cy="488585"/>
          </a:xfrm>
          <a:prstGeom prst="ellipse">
            <a:avLst/>
          </a:prstGeom>
          <a:solidFill>
            <a:srgbClr val="0E9594"/>
          </a:solidFill>
          <a:ln/>
        </p:spPr>
        <p:txBody>
          <a:bodyPr/>
          <a:lstStyle/>
          <a:p>
            <a:pPr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14" name="Image 0" descr="preencoded.png">
            <a:extLst>
              <a:ext uri="{FF2B5EF4-FFF2-40B4-BE49-F238E27FC236}">
                <a16:creationId xmlns:a16="http://schemas.microsoft.com/office/drawing/2014/main" id="{CBCACCFD-3990-8106-82ED-C3186B3D17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9810" y="1794126"/>
            <a:ext cx="258059" cy="267558"/>
          </a:xfrm>
          <a:prstGeom prst="rect">
            <a:avLst/>
          </a:prstGeom>
        </p:spPr>
      </p:pic>
      <p:sp>
        <p:nvSpPr>
          <p:cNvPr id="15" name="Text 11">
            <a:extLst>
              <a:ext uri="{FF2B5EF4-FFF2-40B4-BE49-F238E27FC236}">
                <a16:creationId xmlns:a16="http://schemas.microsoft.com/office/drawing/2014/main" id="{96CC35D1-34A5-AE48-43FF-84A9F21FEBC7}"/>
              </a:ext>
            </a:extLst>
          </p:cNvPr>
          <p:cNvSpPr/>
          <p:nvPr/>
        </p:nvSpPr>
        <p:spPr>
          <a:xfrm>
            <a:off x="838839" y="2282671"/>
            <a:ext cx="1260000" cy="442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s-419" sz="1200" b="1" noProof="0">
                <a:solidFill>
                  <a:srgbClr val="1B2A5E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Análisis</a:t>
            </a:r>
            <a:endParaRPr lang="es-419" sz="12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ctr" defTabSz="1219170"/>
            <a:r>
              <a:rPr lang="es-419" sz="1200" b="1" noProof="0">
                <a:solidFill>
                  <a:srgbClr val="1B2A5E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y DOR</a:t>
            </a:r>
            <a:endParaRPr lang="es-419" sz="12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71F091E4-023C-2570-D85F-CE565E79F4DB}"/>
              </a:ext>
            </a:extLst>
          </p:cNvPr>
          <p:cNvSpPr/>
          <p:nvPr/>
        </p:nvSpPr>
        <p:spPr>
          <a:xfrm>
            <a:off x="921865" y="4018395"/>
            <a:ext cx="1093948" cy="61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1219170"/>
            <a:r>
              <a:rPr lang="es-419" sz="907" noProof="0">
                <a:solidFill>
                  <a:srgbClr val="5B6B8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Líder Célula</a:t>
            </a:r>
          </a:p>
          <a:p>
            <a:pPr algn="ctr" defTabSz="1219170"/>
            <a:r>
              <a:rPr lang="es-419" sz="907" noProof="0">
                <a:solidFill>
                  <a:srgbClr val="5B6B8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Analista Negocio</a:t>
            </a:r>
          </a:p>
          <a:p>
            <a:pPr algn="ctr" defTabSz="1219170"/>
            <a:r>
              <a:rPr lang="es-419" sz="907" noProof="0">
                <a:solidFill>
                  <a:srgbClr val="5B6B8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Líder TI</a:t>
            </a:r>
          </a:p>
          <a:p>
            <a:pPr algn="ctr" defTabSz="1219170"/>
            <a:r>
              <a:rPr lang="es-419" sz="907" noProof="0">
                <a:solidFill>
                  <a:srgbClr val="5B6B8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Riesgos</a:t>
            </a:r>
            <a:endParaRPr lang="es-419" sz="8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9" name="Shape 15">
            <a:extLst>
              <a:ext uri="{FF2B5EF4-FFF2-40B4-BE49-F238E27FC236}">
                <a16:creationId xmlns:a16="http://schemas.microsoft.com/office/drawing/2014/main" id="{F756AF1D-4FCB-8BBF-FC07-4DC0B363E220}"/>
              </a:ext>
            </a:extLst>
          </p:cNvPr>
          <p:cNvSpPr/>
          <p:nvPr/>
        </p:nvSpPr>
        <p:spPr>
          <a:xfrm>
            <a:off x="2625261" y="3953984"/>
            <a:ext cx="0" cy="360000"/>
          </a:xfrm>
          <a:prstGeom prst="line">
            <a:avLst/>
          </a:prstGeom>
          <a:noFill/>
          <a:ln w="17780">
            <a:solidFill>
              <a:srgbClr val="B8CCE9"/>
            </a:solidFill>
            <a:prstDash val="dash"/>
          </a:ln>
        </p:spPr>
        <p:txBody>
          <a:bodyPr/>
          <a:lstStyle/>
          <a:p>
            <a:pPr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0" name="Shape 16">
            <a:extLst>
              <a:ext uri="{FF2B5EF4-FFF2-40B4-BE49-F238E27FC236}">
                <a16:creationId xmlns:a16="http://schemas.microsoft.com/office/drawing/2014/main" id="{E34D664F-343D-64DC-41BB-741C40CE2361}"/>
              </a:ext>
            </a:extLst>
          </p:cNvPr>
          <p:cNvSpPr>
            <a:spLocks noChangeAspect="1"/>
          </p:cNvSpPr>
          <p:nvPr/>
        </p:nvSpPr>
        <p:spPr>
          <a:xfrm>
            <a:off x="2427261" y="3402329"/>
            <a:ext cx="396000" cy="395521"/>
          </a:xfrm>
          <a:prstGeom prst="ellipse">
            <a:avLst/>
          </a:prstGeom>
          <a:solidFill>
            <a:srgbClr val="FFFFFF"/>
          </a:solidFill>
          <a:ln w="33020">
            <a:solidFill>
              <a:srgbClr val="0E9594"/>
            </a:solidFill>
            <a:prstDash val="solid"/>
          </a:ln>
          <a:effectLst>
            <a:outerShdw blurRad="63500" dist="12700" dir="5400000" algn="bl" rotWithShape="0">
              <a:srgbClr val="1B2A5E">
                <a:alpha val="18000"/>
              </a:srgbClr>
            </a:outerShdw>
          </a:effectLst>
        </p:spPr>
        <p:txBody>
          <a:bodyPr anchor="ctr"/>
          <a:lstStyle/>
          <a:p>
            <a:pPr algn="ctr" defTabSz="1219170"/>
            <a:r>
              <a:rPr lang="es-419" b="1" noProof="0">
                <a:solidFill>
                  <a:srgbClr val="0E9594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</a:t>
            </a:r>
          </a:p>
        </p:txBody>
      </p:sp>
      <p:sp>
        <p:nvSpPr>
          <p:cNvPr id="22" name="Shape 18">
            <a:extLst>
              <a:ext uri="{FF2B5EF4-FFF2-40B4-BE49-F238E27FC236}">
                <a16:creationId xmlns:a16="http://schemas.microsoft.com/office/drawing/2014/main" id="{11A46AC3-7762-C33C-0C3E-1B86F3CAC94F}"/>
              </a:ext>
            </a:extLst>
          </p:cNvPr>
          <p:cNvSpPr>
            <a:spLocks noChangeAspect="1"/>
          </p:cNvSpPr>
          <p:nvPr/>
        </p:nvSpPr>
        <p:spPr>
          <a:xfrm>
            <a:off x="1995261" y="4359510"/>
            <a:ext cx="1260000" cy="12600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DE6F4"/>
            </a:solidFill>
            <a:prstDash val="solid"/>
          </a:ln>
          <a:effectLst>
            <a:outerShdw blurRad="88900" dist="25400" dir="5400000" algn="bl" rotWithShape="0">
              <a:srgbClr val="1B2A5E">
                <a:alpha val="13000"/>
              </a:srgbClr>
            </a:outerShdw>
          </a:effectLst>
        </p:spPr>
        <p:txBody>
          <a:bodyPr/>
          <a:lstStyle/>
          <a:p>
            <a:pPr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3" name="Shape 19">
            <a:extLst>
              <a:ext uri="{FF2B5EF4-FFF2-40B4-BE49-F238E27FC236}">
                <a16:creationId xmlns:a16="http://schemas.microsoft.com/office/drawing/2014/main" id="{F638AFD0-1D9F-2039-BD7D-FAF1E4C8D2A4}"/>
              </a:ext>
            </a:extLst>
          </p:cNvPr>
          <p:cNvSpPr/>
          <p:nvPr/>
        </p:nvSpPr>
        <p:spPr>
          <a:xfrm>
            <a:off x="2389642" y="4443358"/>
            <a:ext cx="471239" cy="488585"/>
          </a:xfrm>
          <a:prstGeom prst="ellipse">
            <a:avLst/>
          </a:prstGeom>
          <a:solidFill>
            <a:srgbClr val="0E9594"/>
          </a:solidFill>
          <a:ln/>
        </p:spPr>
        <p:txBody>
          <a:bodyPr/>
          <a:lstStyle/>
          <a:p>
            <a:pPr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24" name="Image 1" descr="preencoded.png">
            <a:extLst>
              <a:ext uri="{FF2B5EF4-FFF2-40B4-BE49-F238E27FC236}">
                <a16:creationId xmlns:a16="http://schemas.microsoft.com/office/drawing/2014/main" id="{CCD8FFEB-CD36-E9E4-3520-D48FEDC79F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6232" y="4553871"/>
            <a:ext cx="258059" cy="267558"/>
          </a:xfrm>
          <a:prstGeom prst="rect">
            <a:avLst/>
          </a:prstGeom>
        </p:spPr>
      </p:pic>
      <p:sp>
        <p:nvSpPr>
          <p:cNvPr id="25" name="Text 20">
            <a:extLst>
              <a:ext uri="{FF2B5EF4-FFF2-40B4-BE49-F238E27FC236}">
                <a16:creationId xmlns:a16="http://schemas.microsoft.com/office/drawing/2014/main" id="{20BBC55E-41F6-DE38-9984-2928BE5B6021}"/>
              </a:ext>
            </a:extLst>
          </p:cNvPr>
          <p:cNvSpPr/>
          <p:nvPr/>
        </p:nvSpPr>
        <p:spPr>
          <a:xfrm>
            <a:off x="1995261" y="5084111"/>
            <a:ext cx="1260000" cy="442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s-419" sz="1200" b="1" noProof="0">
                <a:solidFill>
                  <a:srgbClr val="1B2A5E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Diseño de Arquitectura</a:t>
            </a:r>
            <a:endParaRPr lang="es-419" sz="12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8" name="Text 23">
            <a:extLst>
              <a:ext uri="{FF2B5EF4-FFF2-40B4-BE49-F238E27FC236}">
                <a16:creationId xmlns:a16="http://schemas.microsoft.com/office/drawing/2014/main" id="{D038F3D8-F9F9-7498-0718-98C8C61B581D}"/>
              </a:ext>
            </a:extLst>
          </p:cNvPr>
          <p:cNvSpPr/>
          <p:nvPr/>
        </p:nvSpPr>
        <p:spPr>
          <a:xfrm>
            <a:off x="2114753" y="2945599"/>
            <a:ext cx="1021017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defTabSz="1219170"/>
            <a:r>
              <a:rPr lang="es-419" sz="907" noProof="0">
                <a:solidFill>
                  <a:srgbClr val="5B6B8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Arquitecto</a:t>
            </a:r>
            <a:endParaRPr lang="es-419" sz="8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9" name="Shape 24">
            <a:extLst>
              <a:ext uri="{FF2B5EF4-FFF2-40B4-BE49-F238E27FC236}">
                <a16:creationId xmlns:a16="http://schemas.microsoft.com/office/drawing/2014/main" id="{5EE61222-A427-0E19-E377-699C2A6E14C4}"/>
              </a:ext>
            </a:extLst>
          </p:cNvPr>
          <p:cNvSpPr/>
          <p:nvPr/>
        </p:nvSpPr>
        <p:spPr>
          <a:xfrm>
            <a:off x="3977312" y="2945231"/>
            <a:ext cx="0" cy="360000"/>
          </a:xfrm>
          <a:prstGeom prst="line">
            <a:avLst/>
          </a:prstGeom>
          <a:noFill/>
          <a:ln w="17780">
            <a:solidFill>
              <a:srgbClr val="B8CCE9"/>
            </a:solidFill>
            <a:prstDash val="dash"/>
          </a:ln>
        </p:spPr>
        <p:txBody>
          <a:bodyPr/>
          <a:lstStyle/>
          <a:p>
            <a:pPr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0" name="Shape 25">
            <a:extLst>
              <a:ext uri="{FF2B5EF4-FFF2-40B4-BE49-F238E27FC236}">
                <a16:creationId xmlns:a16="http://schemas.microsoft.com/office/drawing/2014/main" id="{55621F21-AE20-1482-2372-7D50DA995184}"/>
              </a:ext>
            </a:extLst>
          </p:cNvPr>
          <p:cNvSpPr>
            <a:spLocks noChangeAspect="1"/>
          </p:cNvSpPr>
          <p:nvPr/>
        </p:nvSpPr>
        <p:spPr>
          <a:xfrm>
            <a:off x="3689312" y="3312089"/>
            <a:ext cx="576000" cy="576000"/>
          </a:xfrm>
          <a:prstGeom prst="ellipse">
            <a:avLst/>
          </a:prstGeom>
          <a:solidFill>
            <a:srgbClr val="FFFFFF"/>
          </a:solidFill>
          <a:ln w="33020">
            <a:solidFill>
              <a:srgbClr val="0E9594"/>
            </a:solidFill>
            <a:prstDash val="solid"/>
          </a:ln>
          <a:effectLst>
            <a:outerShdw blurRad="63500" dist="12700" dir="5400000" algn="bl" rotWithShape="0">
              <a:srgbClr val="1B2A5E">
                <a:alpha val="18000"/>
              </a:srgbClr>
            </a:outerShdw>
          </a:effectLst>
        </p:spPr>
        <p:txBody>
          <a:bodyPr anchor="ctr"/>
          <a:lstStyle/>
          <a:p>
            <a:pPr algn="ctr" defTabSz="1219170"/>
            <a:r>
              <a:rPr lang="es-419" b="1" noProof="0">
                <a:solidFill>
                  <a:srgbClr val="0E9594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3</a:t>
            </a:r>
          </a:p>
        </p:txBody>
      </p:sp>
      <p:sp>
        <p:nvSpPr>
          <p:cNvPr id="32" name="Shape 27">
            <a:extLst>
              <a:ext uri="{FF2B5EF4-FFF2-40B4-BE49-F238E27FC236}">
                <a16:creationId xmlns:a16="http://schemas.microsoft.com/office/drawing/2014/main" id="{37D8DD95-8DD0-E487-CB45-059F372E8FFF}"/>
              </a:ext>
            </a:extLst>
          </p:cNvPr>
          <p:cNvSpPr>
            <a:spLocks noChangeAspect="1"/>
          </p:cNvSpPr>
          <p:nvPr/>
        </p:nvSpPr>
        <p:spPr>
          <a:xfrm>
            <a:off x="3347312" y="1567658"/>
            <a:ext cx="1260000" cy="12600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DE6F4"/>
            </a:solidFill>
            <a:prstDash val="solid"/>
          </a:ln>
          <a:effectLst>
            <a:outerShdw blurRad="88900" dist="25400" dir="5400000" algn="bl" rotWithShape="0">
              <a:srgbClr val="1B2A5E">
                <a:alpha val="13000"/>
              </a:srgbClr>
            </a:outerShdw>
          </a:effectLst>
        </p:spPr>
        <p:txBody>
          <a:bodyPr/>
          <a:lstStyle/>
          <a:p>
            <a:pPr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3" name="Shape 28">
            <a:extLst>
              <a:ext uri="{FF2B5EF4-FFF2-40B4-BE49-F238E27FC236}">
                <a16:creationId xmlns:a16="http://schemas.microsoft.com/office/drawing/2014/main" id="{1B7CA8D2-6DAF-E9B8-3D61-50805396F31F}"/>
              </a:ext>
            </a:extLst>
          </p:cNvPr>
          <p:cNvSpPr/>
          <p:nvPr/>
        </p:nvSpPr>
        <p:spPr>
          <a:xfrm>
            <a:off x="3741693" y="1683613"/>
            <a:ext cx="471239" cy="488585"/>
          </a:xfrm>
          <a:prstGeom prst="ellipse">
            <a:avLst/>
          </a:prstGeom>
          <a:solidFill>
            <a:srgbClr val="0E9594"/>
          </a:solidFill>
          <a:ln/>
        </p:spPr>
        <p:txBody>
          <a:bodyPr/>
          <a:lstStyle/>
          <a:p>
            <a:pPr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34" name="Image 2" descr="preencoded.png">
            <a:extLst>
              <a:ext uri="{FF2B5EF4-FFF2-40B4-BE49-F238E27FC236}">
                <a16:creationId xmlns:a16="http://schemas.microsoft.com/office/drawing/2014/main" id="{E2843CA0-F3C2-9D61-2EE5-A949F7A2DE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8283" y="1794126"/>
            <a:ext cx="258059" cy="267558"/>
          </a:xfrm>
          <a:prstGeom prst="rect">
            <a:avLst/>
          </a:prstGeom>
        </p:spPr>
      </p:pic>
      <p:sp>
        <p:nvSpPr>
          <p:cNvPr id="35" name="Text 29">
            <a:extLst>
              <a:ext uri="{FF2B5EF4-FFF2-40B4-BE49-F238E27FC236}">
                <a16:creationId xmlns:a16="http://schemas.microsoft.com/office/drawing/2014/main" id="{20375791-1D09-0365-3766-043593A296C9}"/>
              </a:ext>
            </a:extLst>
          </p:cNvPr>
          <p:cNvSpPr/>
          <p:nvPr/>
        </p:nvSpPr>
        <p:spPr>
          <a:xfrm>
            <a:off x="3347312" y="2282671"/>
            <a:ext cx="1260000" cy="442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s-419" sz="1200" b="1" noProof="0">
                <a:solidFill>
                  <a:srgbClr val="1B2A5E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Diseño de seguridad</a:t>
            </a:r>
            <a:endParaRPr lang="es-419" sz="12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0" name="Text 34">
            <a:extLst>
              <a:ext uri="{FF2B5EF4-FFF2-40B4-BE49-F238E27FC236}">
                <a16:creationId xmlns:a16="http://schemas.microsoft.com/office/drawing/2014/main" id="{88193DB8-73C7-0EE7-7BF6-12848D2692EF}"/>
              </a:ext>
            </a:extLst>
          </p:cNvPr>
          <p:cNvSpPr/>
          <p:nvPr/>
        </p:nvSpPr>
        <p:spPr>
          <a:xfrm>
            <a:off x="3236794" y="4018395"/>
            <a:ext cx="1481037" cy="61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1219170"/>
            <a:r>
              <a:rPr lang="es-419" sz="907" noProof="0">
                <a:solidFill>
                  <a:srgbClr val="5B6B8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Equipo de Seguridad</a:t>
            </a:r>
            <a:endParaRPr lang="es-419" sz="8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1" name="Shape 35">
            <a:extLst>
              <a:ext uri="{FF2B5EF4-FFF2-40B4-BE49-F238E27FC236}">
                <a16:creationId xmlns:a16="http://schemas.microsoft.com/office/drawing/2014/main" id="{A29CE126-4F70-FAD0-AB71-1F5EA4E721A6}"/>
              </a:ext>
            </a:extLst>
          </p:cNvPr>
          <p:cNvSpPr/>
          <p:nvPr/>
        </p:nvSpPr>
        <p:spPr>
          <a:xfrm>
            <a:off x="6650560" y="2945231"/>
            <a:ext cx="0" cy="360000"/>
          </a:xfrm>
          <a:prstGeom prst="line">
            <a:avLst/>
          </a:prstGeom>
          <a:noFill/>
          <a:ln w="17780">
            <a:solidFill>
              <a:srgbClr val="B8CCE9"/>
            </a:solidFill>
            <a:prstDash val="dash"/>
          </a:ln>
        </p:spPr>
        <p:txBody>
          <a:bodyPr/>
          <a:lstStyle/>
          <a:p>
            <a:pPr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2" name="Shape 36">
            <a:extLst>
              <a:ext uri="{FF2B5EF4-FFF2-40B4-BE49-F238E27FC236}">
                <a16:creationId xmlns:a16="http://schemas.microsoft.com/office/drawing/2014/main" id="{F00D60BE-45A4-3B48-7506-BA6929455FF9}"/>
              </a:ext>
            </a:extLst>
          </p:cNvPr>
          <p:cNvSpPr>
            <a:spLocks noChangeAspect="1"/>
          </p:cNvSpPr>
          <p:nvPr/>
        </p:nvSpPr>
        <p:spPr>
          <a:xfrm>
            <a:off x="6362560" y="3312089"/>
            <a:ext cx="576000" cy="576000"/>
          </a:xfrm>
          <a:prstGeom prst="ellipse">
            <a:avLst/>
          </a:prstGeom>
          <a:solidFill>
            <a:srgbClr val="FFFFFF"/>
          </a:solidFill>
          <a:ln w="33020">
            <a:solidFill>
              <a:srgbClr val="1B2A5E"/>
            </a:solidFill>
            <a:prstDash val="solid"/>
          </a:ln>
          <a:effectLst>
            <a:outerShdw blurRad="63500" dist="12700" dir="5400000" algn="bl" rotWithShape="0">
              <a:srgbClr val="1B2A5E">
                <a:alpha val="18000"/>
              </a:srgbClr>
            </a:outerShdw>
          </a:effectLst>
        </p:spPr>
        <p:txBody>
          <a:bodyPr anchor="ctr"/>
          <a:lstStyle/>
          <a:p>
            <a:pPr algn="ctr" defTabSz="1219170"/>
            <a:r>
              <a:rPr lang="es-419" sz="2000" b="1" noProof="0">
                <a:solidFill>
                  <a:srgbClr val="1B2A5E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5</a:t>
            </a:r>
          </a:p>
        </p:txBody>
      </p:sp>
      <p:sp>
        <p:nvSpPr>
          <p:cNvPr id="44" name="Shape 38">
            <a:extLst>
              <a:ext uri="{FF2B5EF4-FFF2-40B4-BE49-F238E27FC236}">
                <a16:creationId xmlns:a16="http://schemas.microsoft.com/office/drawing/2014/main" id="{30184C54-E8FF-B46F-DD0C-48857F26C9D0}"/>
              </a:ext>
            </a:extLst>
          </p:cNvPr>
          <p:cNvSpPr>
            <a:spLocks noChangeAspect="1"/>
          </p:cNvSpPr>
          <p:nvPr/>
        </p:nvSpPr>
        <p:spPr>
          <a:xfrm>
            <a:off x="6020560" y="1567658"/>
            <a:ext cx="1260000" cy="12600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DE6F4"/>
            </a:solidFill>
            <a:prstDash val="solid"/>
          </a:ln>
          <a:effectLst>
            <a:outerShdw blurRad="88900" dist="25400" dir="5400000" algn="bl" rotWithShape="0">
              <a:srgbClr val="1B2A5E">
                <a:alpha val="13000"/>
              </a:srgbClr>
            </a:outerShdw>
          </a:effectLst>
        </p:spPr>
        <p:txBody>
          <a:bodyPr/>
          <a:lstStyle/>
          <a:p>
            <a:pPr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5" name="Shape 39">
            <a:extLst>
              <a:ext uri="{FF2B5EF4-FFF2-40B4-BE49-F238E27FC236}">
                <a16:creationId xmlns:a16="http://schemas.microsoft.com/office/drawing/2014/main" id="{87E31B3C-D737-9383-FF27-DE29E13E066E}"/>
              </a:ext>
            </a:extLst>
          </p:cNvPr>
          <p:cNvSpPr/>
          <p:nvPr/>
        </p:nvSpPr>
        <p:spPr>
          <a:xfrm>
            <a:off x="6414941" y="1683613"/>
            <a:ext cx="471239" cy="488585"/>
          </a:xfrm>
          <a:prstGeom prst="ellipse">
            <a:avLst/>
          </a:prstGeom>
          <a:solidFill>
            <a:srgbClr val="1B2A5E"/>
          </a:solidFill>
          <a:ln/>
        </p:spPr>
        <p:txBody>
          <a:bodyPr/>
          <a:lstStyle/>
          <a:p>
            <a:pPr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46" name="Image 3" descr="preencoded.png">
            <a:extLst>
              <a:ext uri="{FF2B5EF4-FFF2-40B4-BE49-F238E27FC236}">
                <a16:creationId xmlns:a16="http://schemas.microsoft.com/office/drawing/2014/main" id="{D0450DC8-D89D-70A9-A39D-66B3CA2FDC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1531" y="1794126"/>
            <a:ext cx="258059" cy="267558"/>
          </a:xfrm>
          <a:prstGeom prst="rect">
            <a:avLst/>
          </a:prstGeom>
        </p:spPr>
      </p:pic>
      <p:sp>
        <p:nvSpPr>
          <p:cNvPr id="47" name="Text 40">
            <a:extLst>
              <a:ext uri="{FF2B5EF4-FFF2-40B4-BE49-F238E27FC236}">
                <a16:creationId xmlns:a16="http://schemas.microsoft.com/office/drawing/2014/main" id="{5226908F-63C7-EEDE-A8CB-7DFBCA21EDF8}"/>
              </a:ext>
            </a:extLst>
          </p:cNvPr>
          <p:cNvSpPr/>
          <p:nvPr/>
        </p:nvSpPr>
        <p:spPr>
          <a:xfrm>
            <a:off x="6020560" y="2282671"/>
            <a:ext cx="1260000" cy="442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s-419" sz="1200" b="1" noProof="0">
                <a:solidFill>
                  <a:srgbClr val="1B2A5E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Desarrollo</a:t>
            </a:r>
            <a:endParaRPr lang="es-419" sz="12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2" name="Text 45">
            <a:extLst>
              <a:ext uri="{FF2B5EF4-FFF2-40B4-BE49-F238E27FC236}">
                <a16:creationId xmlns:a16="http://schemas.microsoft.com/office/drawing/2014/main" id="{D8845260-93E6-FD0A-B69A-1CA25ED34362}"/>
              </a:ext>
            </a:extLst>
          </p:cNvPr>
          <p:cNvSpPr/>
          <p:nvPr/>
        </p:nvSpPr>
        <p:spPr>
          <a:xfrm>
            <a:off x="5910042" y="4018395"/>
            <a:ext cx="1481037" cy="61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1219170"/>
            <a:r>
              <a:rPr lang="es-419" sz="907" noProof="0">
                <a:solidFill>
                  <a:srgbClr val="5B6B8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Desarrolladores · </a:t>
            </a:r>
            <a:r>
              <a:rPr lang="es-419" sz="907" noProof="0" err="1">
                <a:solidFill>
                  <a:srgbClr val="5B6B8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QA</a:t>
            </a:r>
            <a:endParaRPr lang="es-419" sz="8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3" name="Shape 46">
            <a:extLst>
              <a:ext uri="{FF2B5EF4-FFF2-40B4-BE49-F238E27FC236}">
                <a16:creationId xmlns:a16="http://schemas.microsoft.com/office/drawing/2014/main" id="{0288808B-418D-DE00-E8E5-3F44B991AEFC}"/>
              </a:ext>
            </a:extLst>
          </p:cNvPr>
          <p:cNvSpPr/>
          <p:nvPr/>
        </p:nvSpPr>
        <p:spPr>
          <a:xfrm>
            <a:off x="7993239" y="3953984"/>
            <a:ext cx="0" cy="360000"/>
          </a:xfrm>
          <a:prstGeom prst="line">
            <a:avLst/>
          </a:prstGeom>
          <a:noFill/>
          <a:ln w="17780">
            <a:solidFill>
              <a:srgbClr val="B8CCE9"/>
            </a:solidFill>
            <a:prstDash val="dash"/>
          </a:ln>
        </p:spPr>
        <p:txBody>
          <a:bodyPr/>
          <a:lstStyle/>
          <a:p>
            <a:pPr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4" name="Shape 47">
            <a:extLst>
              <a:ext uri="{FF2B5EF4-FFF2-40B4-BE49-F238E27FC236}">
                <a16:creationId xmlns:a16="http://schemas.microsoft.com/office/drawing/2014/main" id="{E787F1A7-7A57-73E7-2230-1962B4E993DE}"/>
              </a:ext>
            </a:extLst>
          </p:cNvPr>
          <p:cNvSpPr>
            <a:spLocks noChangeAspect="1"/>
          </p:cNvSpPr>
          <p:nvPr/>
        </p:nvSpPr>
        <p:spPr>
          <a:xfrm>
            <a:off x="7705239" y="3312089"/>
            <a:ext cx="576000" cy="576000"/>
          </a:xfrm>
          <a:prstGeom prst="ellipse">
            <a:avLst/>
          </a:prstGeom>
          <a:solidFill>
            <a:srgbClr val="FFFFFF"/>
          </a:solidFill>
          <a:ln w="33020">
            <a:solidFill>
              <a:srgbClr val="1B2A5E"/>
            </a:solidFill>
            <a:prstDash val="solid"/>
          </a:ln>
          <a:effectLst>
            <a:outerShdw blurRad="63500" dist="12700" dir="5400000" algn="bl" rotWithShape="0">
              <a:srgbClr val="1B2A5E">
                <a:alpha val="18000"/>
              </a:srgbClr>
            </a:outerShdw>
          </a:effectLst>
        </p:spPr>
        <p:txBody>
          <a:bodyPr anchor="ctr"/>
          <a:lstStyle/>
          <a:p>
            <a:pPr algn="ctr" defTabSz="1219170"/>
            <a:r>
              <a:rPr lang="es-419" sz="2000" b="1" noProof="0">
                <a:solidFill>
                  <a:srgbClr val="1B2A5E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6</a:t>
            </a:r>
          </a:p>
        </p:txBody>
      </p:sp>
      <p:sp>
        <p:nvSpPr>
          <p:cNvPr id="56" name="Shape 49">
            <a:extLst>
              <a:ext uri="{FF2B5EF4-FFF2-40B4-BE49-F238E27FC236}">
                <a16:creationId xmlns:a16="http://schemas.microsoft.com/office/drawing/2014/main" id="{7CF78D1B-497B-C6FC-C1B6-DD689B0F11E2}"/>
              </a:ext>
            </a:extLst>
          </p:cNvPr>
          <p:cNvSpPr>
            <a:spLocks noChangeAspect="1"/>
          </p:cNvSpPr>
          <p:nvPr/>
        </p:nvSpPr>
        <p:spPr>
          <a:xfrm>
            <a:off x="7363239" y="4359510"/>
            <a:ext cx="1260000" cy="12600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DE6F4"/>
            </a:solidFill>
            <a:prstDash val="solid"/>
          </a:ln>
          <a:effectLst>
            <a:outerShdw blurRad="88900" dist="25400" dir="5400000" algn="bl" rotWithShape="0">
              <a:srgbClr val="1B2A5E">
                <a:alpha val="13000"/>
              </a:srgbClr>
            </a:outerShdw>
          </a:effectLst>
        </p:spPr>
        <p:txBody>
          <a:bodyPr/>
          <a:lstStyle/>
          <a:p>
            <a:pPr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7" name="Shape 50">
            <a:extLst>
              <a:ext uri="{FF2B5EF4-FFF2-40B4-BE49-F238E27FC236}">
                <a16:creationId xmlns:a16="http://schemas.microsoft.com/office/drawing/2014/main" id="{60D30CB3-3DE9-7399-5E6A-11C0B4776838}"/>
              </a:ext>
            </a:extLst>
          </p:cNvPr>
          <p:cNvSpPr/>
          <p:nvPr/>
        </p:nvSpPr>
        <p:spPr>
          <a:xfrm>
            <a:off x="7757620" y="4443358"/>
            <a:ext cx="471239" cy="488585"/>
          </a:xfrm>
          <a:prstGeom prst="ellipse">
            <a:avLst/>
          </a:prstGeom>
          <a:solidFill>
            <a:srgbClr val="1B2A5E"/>
          </a:solidFill>
          <a:ln/>
        </p:spPr>
        <p:txBody>
          <a:bodyPr/>
          <a:lstStyle/>
          <a:p>
            <a:pPr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58" name="Image 4" descr="preencoded.png">
            <a:extLst>
              <a:ext uri="{FF2B5EF4-FFF2-40B4-BE49-F238E27FC236}">
                <a16:creationId xmlns:a16="http://schemas.microsoft.com/office/drawing/2014/main" id="{B3E96102-709A-6BA2-5C93-638F31EA091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64210" y="4553871"/>
            <a:ext cx="258059" cy="267558"/>
          </a:xfrm>
          <a:prstGeom prst="rect">
            <a:avLst/>
          </a:prstGeom>
        </p:spPr>
      </p:pic>
      <p:sp>
        <p:nvSpPr>
          <p:cNvPr id="59" name="Text 51">
            <a:extLst>
              <a:ext uri="{FF2B5EF4-FFF2-40B4-BE49-F238E27FC236}">
                <a16:creationId xmlns:a16="http://schemas.microsoft.com/office/drawing/2014/main" id="{5323B271-5197-329E-BD8B-9262BFDE5F5A}"/>
              </a:ext>
            </a:extLst>
          </p:cNvPr>
          <p:cNvSpPr/>
          <p:nvPr/>
        </p:nvSpPr>
        <p:spPr>
          <a:xfrm>
            <a:off x="7363239" y="4826936"/>
            <a:ext cx="1260000" cy="442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s-419" sz="1200" b="1" noProof="0">
                <a:solidFill>
                  <a:srgbClr val="1B2A5E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Pruebas</a:t>
            </a:r>
            <a:endParaRPr lang="es-419" sz="12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2" name="Text 54">
            <a:extLst>
              <a:ext uri="{FF2B5EF4-FFF2-40B4-BE49-F238E27FC236}">
                <a16:creationId xmlns:a16="http://schemas.microsoft.com/office/drawing/2014/main" id="{B61E42D6-0F50-52E0-2459-F398E5A58FFB}"/>
              </a:ext>
            </a:extLst>
          </p:cNvPr>
          <p:cNvSpPr/>
          <p:nvPr/>
        </p:nvSpPr>
        <p:spPr>
          <a:xfrm>
            <a:off x="7467596" y="2945599"/>
            <a:ext cx="1068857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defTabSz="1219170"/>
            <a:r>
              <a:rPr lang="es-419" sz="907" noProof="0">
                <a:solidFill>
                  <a:srgbClr val="5B6B8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
Aseguramiento de calidad</a:t>
            </a:r>
          </a:p>
        </p:txBody>
      </p:sp>
      <p:sp>
        <p:nvSpPr>
          <p:cNvPr id="63" name="Shape 55">
            <a:extLst>
              <a:ext uri="{FF2B5EF4-FFF2-40B4-BE49-F238E27FC236}">
                <a16:creationId xmlns:a16="http://schemas.microsoft.com/office/drawing/2014/main" id="{4F241678-8B0E-9FAB-8218-1A686387E118}"/>
              </a:ext>
            </a:extLst>
          </p:cNvPr>
          <p:cNvSpPr/>
          <p:nvPr/>
        </p:nvSpPr>
        <p:spPr>
          <a:xfrm>
            <a:off x="9339937" y="2945231"/>
            <a:ext cx="0" cy="360000"/>
          </a:xfrm>
          <a:prstGeom prst="line">
            <a:avLst/>
          </a:prstGeom>
          <a:noFill/>
          <a:ln w="17780">
            <a:solidFill>
              <a:srgbClr val="B8CCE9"/>
            </a:solidFill>
            <a:prstDash val="dash"/>
          </a:ln>
        </p:spPr>
        <p:txBody>
          <a:bodyPr/>
          <a:lstStyle/>
          <a:p>
            <a:pPr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4" name="Shape 56">
            <a:extLst>
              <a:ext uri="{FF2B5EF4-FFF2-40B4-BE49-F238E27FC236}">
                <a16:creationId xmlns:a16="http://schemas.microsoft.com/office/drawing/2014/main" id="{4661C8F7-7BC7-570F-7E92-C5B216FFD48B}"/>
              </a:ext>
            </a:extLst>
          </p:cNvPr>
          <p:cNvSpPr>
            <a:spLocks noChangeAspect="1"/>
          </p:cNvSpPr>
          <p:nvPr/>
        </p:nvSpPr>
        <p:spPr>
          <a:xfrm>
            <a:off x="9051937" y="3312089"/>
            <a:ext cx="576000" cy="576000"/>
          </a:xfrm>
          <a:prstGeom prst="ellipse">
            <a:avLst/>
          </a:prstGeom>
          <a:solidFill>
            <a:srgbClr val="FFFFFF"/>
          </a:solidFill>
          <a:ln w="33020">
            <a:solidFill>
              <a:srgbClr val="1B2A5E"/>
            </a:solidFill>
            <a:prstDash val="solid"/>
          </a:ln>
          <a:effectLst>
            <a:outerShdw blurRad="63500" dist="12700" dir="5400000" algn="bl" rotWithShape="0">
              <a:srgbClr val="1B2A5E">
                <a:alpha val="18000"/>
              </a:srgbClr>
            </a:outerShdw>
          </a:effectLst>
        </p:spPr>
        <p:txBody>
          <a:bodyPr anchor="ctr"/>
          <a:lstStyle/>
          <a:p>
            <a:pPr algn="ctr" defTabSz="1219170"/>
            <a:r>
              <a:rPr lang="es-419" sz="2000" b="1" noProof="0">
                <a:solidFill>
                  <a:srgbClr val="1B2A5E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7</a:t>
            </a:r>
          </a:p>
        </p:txBody>
      </p:sp>
      <p:sp>
        <p:nvSpPr>
          <p:cNvPr id="66" name="Shape 58">
            <a:extLst>
              <a:ext uri="{FF2B5EF4-FFF2-40B4-BE49-F238E27FC236}">
                <a16:creationId xmlns:a16="http://schemas.microsoft.com/office/drawing/2014/main" id="{BBB3622E-FCA9-D9F3-3DDF-8FE5751BF6AE}"/>
              </a:ext>
            </a:extLst>
          </p:cNvPr>
          <p:cNvSpPr>
            <a:spLocks noChangeAspect="1"/>
          </p:cNvSpPr>
          <p:nvPr/>
        </p:nvSpPr>
        <p:spPr>
          <a:xfrm>
            <a:off x="8709937" y="1567658"/>
            <a:ext cx="1260000" cy="12600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DE6F4"/>
            </a:solidFill>
            <a:prstDash val="solid"/>
          </a:ln>
          <a:effectLst>
            <a:outerShdw blurRad="88900" dist="25400" dir="5400000" algn="bl" rotWithShape="0">
              <a:srgbClr val="1B2A5E">
                <a:alpha val="13000"/>
              </a:srgbClr>
            </a:outerShdw>
          </a:effectLst>
        </p:spPr>
        <p:txBody>
          <a:bodyPr/>
          <a:lstStyle/>
          <a:p>
            <a:pPr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7" name="Shape 59">
            <a:extLst>
              <a:ext uri="{FF2B5EF4-FFF2-40B4-BE49-F238E27FC236}">
                <a16:creationId xmlns:a16="http://schemas.microsoft.com/office/drawing/2014/main" id="{3E0FE740-EC93-BFD1-EF9C-3CE9DB83BEE5}"/>
              </a:ext>
            </a:extLst>
          </p:cNvPr>
          <p:cNvSpPr/>
          <p:nvPr/>
        </p:nvSpPr>
        <p:spPr>
          <a:xfrm>
            <a:off x="9104318" y="1683613"/>
            <a:ext cx="471239" cy="488585"/>
          </a:xfrm>
          <a:prstGeom prst="ellipse">
            <a:avLst/>
          </a:prstGeom>
          <a:solidFill>
            <a:srgbClr val="1B2A5E"/>
          </a:solidFill>
          <a:ln/>
        </p:spPr>
        <p:txBody>
          <a:bodyPr/>
          <a:lstStyle/>
          <a:p>
            <a:pPr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68" name="Image 5" descr="preencoded.png">
            <a:extLst>
              <a:ext uri="{FF2B5EF4-FFF2-40B4-BE49-F238E27FC236}">
                <a16:creationId xmlns:a16="http://schemas.microsoft.com/office/drawing/2014/main" id="{099451BE-DC4B-6090-4445-97C635F953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10908" y="1794126"/>
            <a:ext cx="258059" cy="267558"/>
          </a:xfrm>
          <a:prstGeom prst="rect">
            <a:avLst/>
          </a:prstGeom>
        </p:spPr>
      </p:pic>
      <p:sp>
        <p:nvSpPr>
          <p:cNvPr id="69" name="Text 60">
            <a:extLst>
              <a:ext uri="{FF2B5EF4-FFF2-40B4-BE49-F238E27FC236}">
                <a16:creationId xmlns:a16="http://schemas.microsoft.com/office/drawing/2014/main" id="{95CA1BC8-1FFF-EFB3-7109-FA4090116F6A}"/>
              </a:ext>
            </a:extLst>
          </p:cNvPr>
          <p:cNvSpPr/>
          <p:nvPr/>
        </p:nvSpPr>
        <p:spPr>
          <a:xfrm>
            <a:off x="8709937" y="2282671"/>
            <a:ext cx="1260000" cy="442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s-419" sz="1200" b="1" noProof="0">
                <a:solidFill>
                  <a:srgbClr val="1B2A5E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Paso a</a:t>
            </a:r>
            <a:endParaRPr lang="es-419" sz="12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ctr" defTabSz="1219170"/>
            <a:r>
              <a:rPr lang="es-419" sz="1200" b="1" noProof="0">
                <a:solidFill>
                  <a:srgbClr val="1B2A5E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producción</a:t>
            </a:r>
            <a:endParaRPr lang="es-419" sz="12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74" name="Text 65">
            <a:extLst>
              <a:ext uri="{FF2B5EF4-FFF2-40B4-BE49-F238E27FC236}">
                <a16:creationId xmlns:a16="http://schemas.microsoft.com/office/drawing/2014/main" id="{44689925-532A-0E08-76AC-6B21D9B31254}"/>
              </a:ext>
            </a:extLst>
          </p:cNvPr>
          <p:cNvSpPr/>
          <p:nvPr/>
        </p:nvSpPr>
        <p:spPr>
          <a:xfrm>
            <a:off x="8867744" y="4018395"/>
            <a:ext cx="944386" cy="61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1219170"/>
            <a:r>
              <a:rPr lang="es-419" sz="907" noProof="0">
                <a:solidFill>
                  <a:srgbClr val="5B6B8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Comité de cambios</a:t>
            </a:r>
            <a:endParaRPr lang="es-419" sz="8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75" name="Shape 66">
            <a:extLst>
              <a:ext uri="{FF2B5EF4-FFF2-40B4-BE49-F238E27FC236}">
                <a16:creationId xmlns:a16="http://schemas.microsoft.com/office/drawing/2014/main" id="{F6BD5E84-8134-9384-EC47-FAF0C50161E1}"/>
              </a:ext>
            </a:extLst>
          </p:cNvPr>
          <p:cNvSpPr/>
          <p:nvPr/>
        </p:nvSpPr>
        <p:spPr>
          <a:xfrm>
            <a:off x="10755345" y="3953984"/>
            <a:ext cx="0" cy="360000"/>
          </a:xfrm>
          <a:prstGeom prst="line">
            <a:avLst/>
          </a:prstGeom>
          <a:noFill/>
          <a:ln w="17780">
            <a:solidFill>
              <a:srgbClr val="B8CCE9"/>
            </a:solidFill>
            <a:prstDash val="dash"/>
          </a:ln>
        </p:spPr>
        <p:txBody>
          <a:bodyPr/>
          <a:lstStyle/>
          <a:p>
            <a:pPr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76" name="Shape 67">
            <a:extLst>
              <a:ext uri="{FF2B5EF4-FFF2-40B4-BE49-F238E27FC236}">
                <a16:creationId xmlns:a16="http://schemas.microsoft.com/office/drawing/2014/main" id="{76E49106-8230-73A7-6D01-109B59A4E68B}"/>
              </a:ext>
            </a:extLst>
          </p:cNvPr>
          <p:cNvSpPr>
            <a:spLocks noChangeAspect="1"/>
          </p:cNvSpPr>
          <p:nvPr/>
        </p:nvSpPr>
        <p:spPr>
          <a:xfrm>
            <a:off x="10557345" y="3402089"/>
            <a:ext cx="396000" cy="396000"/>
          </a:xfrm>
          <a:prstGeom prst="ellipse">
            <a:avLst/>
          </a:prstGeom>
          <a:solidFill>
            <a:srgbClr val="FFFFFF"/>
          </a:solidFill>
          <a:ln w="33020">
            <a:solidFill>
              <a:srgbClr val="2E5FA3"/>
            </a:solidFill>
            <a:prstDash val="solid"/>
          </a:ln>
          <a:effectLst>
            <a:outerShdw blurRad="63500" dist="12700" dir="5400000" algn="bl" rotWithShape="0">
              <a:srgbClr val="1B2A5E">
                <a:alpha val="18000"/>
              </a:srgbClr>
            </a:outerShdw>
          </a:effectLst>
        </p:spPr>
        <p:txBody>
          <a:bodyPr anchor="ctr"/>
          <a:lstStyle/>
          <a:p>
            <a:pPr algn="ctr" defTabSz="1219170"/>
            <a:r>
              <a:rPr lang="es-419" b="1" noProof="0">
                <a:solidFill>
                  <a:srgbClr val="2E5FA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8</a:t>
            </a:r>
          </a:p>
        </p:txBody>
      </p:sp>
      <p:sp>
        <p:nvSpPr>
          <p:cNvPr id="78" name="Shape 69">
            <a:extLst>
              <a:ext uri="{FF2B5EF4-FFF2-40B4-BE49-F238E27FC236}">
                <a16:creationId xmlns:a16="http://schemas.microsoft.com/office/drawing/2014/main" id="{EF4DECE2-CF6D-9A51-A6CB-516268A79279}"/>
              </a:ext>
            </a:extLst>
          </p:cNvPr>
          <p:cNvSpPr>
            <a:spLocks noChangeAspect="1"/>
          </p:cNvSpPr>
          <p:nvPr/>
        </p:nvSpPr>
        <p:spPr>
          <a:xfrm>
            <a:off x="10125345" y="4359510"/>
            <a:ext cx="1260000" cy="12600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DE6F4"/>
            </a:solidFill>
            <a:prstDash val="solid"/>
          </a:ln>
          <a:effectLst>
            <a:outerShdw blurRad="88900" dist="25400" dir="5400000" algn="bl" rotWithShape="0">
              <a:srgbClr val="1B2A5E">
                <a:alpha val="13000"/>
              </a:srgbClr>
            </a:outerShdw>
          </a:effectLst>
        </p:spPr>
        <p:txBody>
          <a:bodyPr/>
          <a:lstStyle/>
          <a:p>
            <a:pPr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79" name="Shape 70">
            <a:extLst>
              <a:ext uri="{FF2B5EF4-FFF2-40B4-BE49-F238E27FC236}">
                <a16:creationId xmlns:a16="http://schemas.microsoft.com/office/drawing/2014/main" id="{DD45A577-FCC0-DA19-318F-200EE45928FA}"/>
              </a:ext>
            </a:extLst>
          </p:cNvPr>
          <p:cNvSpPr/>
          <p:nvPr/>
        </p:nvSpPr>
        <p:spPr>
          <a:xfrm>
            <a:off x="10519726" y="4443358"/>
            <a:ext cx="471239" cy="488585"/>
          </a:xfrm>
          <a:prstGeom prst="ellipse">
            <a:avLst/>
          </a:prstGeom>
          <a:solidFill>
            <a:srgbClr val="2E5FA3"/>
          </a:solidFill>
          <a:ln/>
        </p:spPr>
        <p:txBody>
          <a:bodyPr/>
          <a:lstStyle/>
          <a:p>
            <a:pPr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80" name="Image 6" descr="preencoded.png">
            <a:extLst>
              <a:ext uri="{FF2B5EF4-FFF2-40B4-BE49-F238E27FC236}">
                <a16:creationId xmlns:a16="http://schemas.microsoft.com/office/drawing/2014/main" id="{5EDEAFC9-DADD-93E8-6DC1-6BAD6B7E60B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26316" y="4553871"/>
            <a:ext cx="258059" cy="267558"/>
          </a:xfrm>
          <a:prstGeom prst="rect">
            <a:avLst/>
          </a:prstGeom>
        </p:spPr>
      </p:pic>
      <p:sp>
        <p:nvSpPr>
          <p:cNvPr id="81" name="Text 71">
            <a:extLst>
              <a:ext uri="{FF2B5EF4-FFF2-40B4-BE49-F238E27FC236}">
                <a16:creationId xmlns:a16="http://schemas.microsoft.com/office/drawing/2014/main" id="{3E67FE61-8BD0-2947-CA55-B29394BB4F50}"/>
              </a:ext>
            </a:extLst>
          </p:cNvPr>
          <p:cNvSpPr/>
          <p:nvPr/>
        </p:nvSpPr>
        <p:spPr>
          <a:xfrm>
            <a:off x="10125345" y="5084111"/>
            <a:ext cx="1260000" cy="442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s-419" sz="1200" b="1" noProof="0">
                <a:solidFill>
                  <a:srgbClr val="1B2A5E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Estabilización</a:t>
            </a:r>
            <a:endParaRPr lang="es-419" sz="12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ctr" defTabSz="1219170"/>
            <a:r>
              <a:rPr lang="es-419" sz="1200" b="1" noProof="0">
                <a:solidFill>
                  <a:srgbClr val="1B2A5E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y entrega</a:t>
            </a:r>
            <a:endParaRPr lang="es-419" sz="12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4" name="Text 74">
            <a:extLst>
              <a:ext uri="{FF2B5EF4-FFF2-40B4-BE49-F238E27FC236}">
                <a16:creationId xmlns:a16="http://schemas.microsoft.com/office/drawing/2014/main" id="{02E0C6A5-19F2-B247-046C-E38822664000}"/>
              </a:ext>
            </a:extLst>
          </p:cNvPr>
          <p:cNvSpPr/>
          <p:nvPr/>
        </p:nvSpPr>
        <p:spPr>
          <a:xfrm>
            <a:off x="10213152" y="2945599"/>
            <a:ext cx="1055804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defTabSz="1219170"/>
            <a:r>
              <a:rPr lang="es-419" sz="907" noProof="0">
                <a:solidFill>
                  <a:srgbClr val="5B6B8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Operaciones</a:t>
            </a:r>
          </a:p>
          <a:p>
            <a:pPr algn="ctr" defTabSz="1219170"/>
            <a:r>
              <a:rPr lang="es-419" sz="907" noProof="0">
                <a:solidFill>
                  <a:srgbClr val="5B6B8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Soporte TI</a:t>
            </a:r>
            <a:endParaRPr lang="es-419" sz="8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7" name="Shape 35">
            <a:extLst>
              <a:ext uri="{FF2B5EF4-FFF2-40B4-BE49-F238E27FC236}">
                <a16:creationId xmlns:a16="http://schemas.microsoft.com/office/drawing/2014/main" id="{CB2A0677-ABBF-0B7F-3EFE-E8E96B6D3A0D}"/>
              </a:ext>
            </a:extLst>
          </p:cNvPr>
          <p:cNvSpPr/>
          <p:nvPr/>
        </p:nvSpPr>
        <p:spPr>
          <a:xfrm>
            <a:off x="5249696" y="3953984"/>
            <a:ext cx="0" cy="360000"/>
          </a:xfrm>
          <a:prstGeom prst="line">
            <a:avLst/>
          </a:prstGeom>
          <a:noFill/>
          <a:ln w="17780">
            <a:solidFill>
              <a:srgbClr val="B8CCE9"/>
            </a:solidFill>
            <a:prstDash val="dash"/>
          </a:ln>
        </p:spPr>
        <p:txBody>
          <a:bodyPr/>
          <a:lstStyle/>
          <a:p>
            <a:pPr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8" name="Shape 36">
            <a:extLst>
              <a:ext uri="{FF2B5EF4-FFF2-40B4-BE49-F238E27FC236}">
                <a16:creationId xmlns:a16="http://schemas.microsoft.com/office/drawing/2014/main" id="{2840EB6B-0994-0D76-E14C-E33FD21E31A6}"/>
              </a:ext>
            </a:extLst>
          </p:cNvPr>
          <p:cNvSpPr>
            <a:spLocks noChangeAspect="1"/>
          </p:cNvSpPr>
          <p:nvPr/>
        </p:nvSpPr>
        <p:spPr>
          <a:xfrm>
            <a:off x="4961696" y="3312089"/>
            <a:ext cx="576000" cy="576000"/>
          </a:xfrm>
          <a:prstGeom prst="ellipse">
            <a:avLst/>
          </a:prstGeom>
          <a:solidFill>
            <a:srgbClr val="FFFFFF"/>
          </a:solidFill>
          <a:ln w="33020">
            <a:solidFill>
              <a:srgbClr val="0E9594"/>
            </a:solidFill>
            <a:prstDash val="solid"/>
          </a:ln>
          <a:effectLst>
            <a:outerShdw blurRad="63500" dist="12700" dir="5400000" algn="bl" rotWithShape="0">
              <a:srgbClr val="1B2A5E">
                <a:alpha val="18000"/>
              </a:srgbClr>
            </a:outerShdw>
          </a:effectLst>
        </p:spPr>
        <p:txBody>
          <a:bodyPr anchor="ctr"/>
          <a:lstStyle/>
          <a:p>
            <a:pPr algn="ctr" defTabSz="1219170"/>
            <a:r>
              <a:rPr lang="es-419" b="1" noProof="0">
                <a:solidFill>
                  <a:srgbClr val="0E9594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4</a:t>
            </a:r>
          </a:p>
        </p:txBody>
      </p:sp>
      <p:sp>
        <p:nvSpPr>
          <p:cNvPr id="90" name="Shape 38">
            <a:extLst>
              <a:ext uri="{FF2B5EF4-FFF2-40B4-BE49-F238E27FC236}">
                <a16:creationId xmlns:a16="http://schemas.microsoft.com/office/drawing/2014/main" id="{DED88AB9-4680-F90B-1E16-1754D0DFCA1A}"/>
              </a:ext>
            </a:extLst>
          </p:cNvPr>
          <p:cNvSpPr>
            <a:spLocks noChangeAspect="1"/>
          </p:cNvSpPr>
          <p:nvPr/>
        </p:nvSpPr>
        <p:spPr>
          <a:xfrm>
            <a:off x="4619696" y="4359510"/>
            <a:ext cx="1260000" cy="12600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DE6F4"/>
            </a:solidFill>
            <a:prstDash val="solid"/>
          </a:ln>
          <a:effectLst>
            <a:outerShdw blurRad="88900" dist="25400" dir="5400000" algn="bl" rotWithShape="0">
              <a:srgbClr val="1B2A5E">
                <a:alpha val="13000"/>
              </a:srgbClr>
            </a:outerShdw>
          </a:effectLst>
        </p:spPr>
        <p:txBody>
          <a:bodyPr/>
          <a:lstStyle/>
          <a:p>
            <a:pPr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91" name="Shape 39">
            <a:extLst>
              <a:ext uri="{FF2B5EF4-FFF2-40B4-BE49-F238E27FC236}">
                <a16:creationId xmlns:a16="http://schemas.microsoft.com/office/drawing/2014/main" id="{57CB08CB-C8B2-25F9-EFF9-0C027F226FB8}"/>
              </a:ext>
            </a:extLst>
          </p:cNvPr>
          <p:cNvSpPr/>
          <p:nvPr/>
        </p:nvSpPr>
        <p:spPr>
          <a:xfrm>
            <a:off x="5014077" y="4443358"/>
            <a:ext cx="471239" cy="488585"/>
          </a:xfrm>
          <a:prstGeom prst="ellipse">
            <a:avLst/>
          </a:prstGeom>
          <a:solidFill>
            <a:srgbClr val="0E9594"/>
          </a:solidFill>
          <a:ln/>
        </p:spPr>
        <p:txBody>
          <a:bodyPr/>
          <a:lstStyle/>
          <a:p>
            <a:pPr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93" name="Text 40">
            <a:extLst>
              <a:ext uri="{FF2B5EF4-FFF2-40B4-BE49-F238E27FC236}">
                <a16:creationId xmlns:a16="http://schemas.microsoft.com/office/drawing/2014/main" id="{7C945205-D99A-62EB-9DD0-CA0FC347153D}"/>
              </a:ext>
            </a:extLst>
          </p:cNvPr>
          <p:cNvSpPr/>
          <p:nvPr/>
        </p:nvSpPr>
        <p:spPr>
          <a:xfrm>
            <a:off x="4619696" y="5084111"/>
            <a:ext cx="1260000" cy="442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s-419" sz="1100" b="1">
                <a:solidFill>
                  <a:srgbClr val="1B2A5E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Implementación</a:t>
            </a:r>
            <a:endParaRPr lang="es-419" sz="11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94" name="Text 45">
            <a:extLst>
              <a:ext uri="{FF2B5EF4-FFF2-40B4-BE49-F238E27FC236}">
                <a16:creationId xmlns:a16="http://schemas.microsoft.com/office/drawing/2014/main" id="{6D42BBCE-26F4-7780-1901-C7D7B0A33040}"/>
              </a:ext>
            </a:extLst>
          </p:cNvPr>
          <p:cNvSpPr/>
          <p:nvPr/>
        </p:nvSpPr>
        <p:spPr>
          <a:xfrm>
            <a:off x="4509178" y="2364158"/>
            <a:ext cx="1481037" cy="86944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defTabSz="1219170"/>
            <a:r>
              <a:rPr lang="es-419" sz="907" noProof="0">
                <a:solidFill>
                  <a:srgbClr val="5B6B8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Nube &amp; DevOps</a:t>
            </a:r>
          </a:p>
          <a:p>
            <a:pPr algn="ctr" defTabSz="1219170"/>
            <a:r>
              <a:rPr lang="es-419" sz="907" noProof="0">
                <a:solidFill>
                  <a:srgbClr val="5B6B8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Operación TI</a:t>
            </a:r>
          </a:p>
          <a:p>
            <a:pPr algn="ctr" defTabSz="1219170"/>
            <a:r>
              <a:rPr lang="es-419" sz="907" noProof="0">
                <a:solidFill>
                  <a:srgbClr val="5B6B8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Protección a la ID</a:t>
            </a:r>
          </a:p>
          <a:p>
            <a:pPr algn="ctr" defTabSz="1219170"/>
            <a:r>
              <a:rPr lang="es-419" sz="907">
                <a:solidFill>
                  <a:srgbClr val="5B6B8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Analítica</a:t>
            </a:r>
          </a:p>
          <a:p>
            <a:pPr algn="ctr" defTabSz="1219170"/>
            <a:r>
              <a:rPr lang="es-419" sz="907" noProof="0">
                <a:solidFill>
                  <a:srgbClr val="5B6B8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Integración</a:t>
            </a:r>
            <a:endParaRPr lang="es-419" sz="8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96" name="Gráfico 95" descr="Informática en la nube con relleno sólido">
            <a:extLst>
              <a:ext uri="{FF2B5EF4-FFF2-40B4-BE49-F238E27FC236}">
                <a16:creationId xmlns:a16="http://schemas.microsoft.com/office/drawing/2014/main" id="{F8789F2E-B487-4B54-FA3D-DE7DDC0D25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087696" y="4525650"/>
            <a:ext cx="324000" cy="324000"/>
          </a:xfrm>
          <a:prstGeom prst="rect">
            <a:avLst/>
          </a:prstGeom>
        </p:spPr>
      </p:pic>
      <p:pic>
        <p:nvPicPr>
          <p:cNvPr id="99" name="Imagen 98">
            <a:extLst>
              <a:ext uri="{FF2B5EF4-FFF2-40B4-BE49-F238E27FC236}">
                <a16:creationId xmlns:a16="http://schemas.microsoft.com/office/drawing/2014/main" id="{BB169B86-62C0-B01E-2ADD-E5836C8A4A2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11757" y="1097630"/>
            <a:ext cx="1267311" cy="339722"/>
          </a:xfrm>
          <a:prstGeom prst="rect">
            <a:avLst/>
          </a:prstGeom>
        </p:spPr>
      </p:pic>
      <p:pic>
        <p:nvPicPr>
          <p:cNvPr id="101" name="Imagen 100">
            <a:extLst>
              <a:ext uri="{FF2B5EF4-FFF2-40B4-BE49-F238E27FC236}">
                <a16:creationId xmlns:a16="http://schemas.microsoft.com/office/drawing/2014/main" id="{04D9EF0D-ED10-8541-7A90-1D0E649A58A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23836" y="5679274"/>
            <a:ext cx="1204673" cy="279102"/>
          </a:xfrm>
          <a:prstGeom prst="rect">
            <a:avLst/>
          </a:prstGeom>
        </p:spPr>
      </p:pic>
      <p:pic>
        <p:nvPicPr>
          <p:cNvPr id="102" name="Imagen 101">
            <a:extLst>
              <a:ext uri="{FF2B5EF4-FFF2-40B4-BE49-F238E27FC236}">
                <a16:creationId xmlns:a16="http://schemas.microsoft.com/office/drawing/2014/main" id="{3FD48AFC-FAFD-C4D3-51C1-68ADD338053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79327" y="1239842"/>
            <a:ext cx="1204673" cy="279102"/>
          </a:xfrm>
          <a:prstGeom prst="rect">
            <a:avLst/>
          </a:prstGeom>
        </p:spPr>
      </p:pic>
      <p:pic>
        <p:nvPicPr>
          <p:cNvPr id="103" name="Imagen 102">
            <a:extLst>
              <a:ext uri="{FF2B5EF4-FFF2-40B4-BE49-F238E27FC236}">
                <a16:creationId xmlns:a16="http://schemas.microsoft.com/office/drawing/2014/main" id="{C5AD7E6E-09E9-0AB5-079C-4A1570E005B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51607" y="5679274"/>
            <a:ext cx="1204673" cy="279102"/>
          </a:xfrm>
          <a:prstGeom prst="rect">
            <a:avLst/>
          </a:prstGeom>
        </p:spPr>
      </p:pic>
      <p:sp>
        <p:nvSpPr>
          <p:cNvPr id="105" name="Text 54">
            <a:extLst>
              <a:ext uri="{FF2B5EF4-FFF2-40B4-BE49-F238E27FC236}">
                <a16:creationId xmlns:a16="http://schemas.microsoft.com/office/drawing/2014/main" id="{02E5A0EE-431D-85DA-A2E8-A6C24226E2F8}"/>
              </a:ext>
            </a:extLst>
          </p:cNvPr>
          <p:cNvSpPr/>
          <p:nvPr/>
        </p:nvSpPr>
        <p:spPr>
          <a:xfrm>
            <a:off x="7363239" y="5118223"/>
            <a:ext cx="1260000" cy="46157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defTabSz="1219170"/>
            <a:r>
              <a:rPr lang="es-419" sz="907" noProof="0">
                <a:solidFill>
                  <a:srgbClr val="5B6B8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Funcionales</a:t>
            </a:r>
          </a:p>
          <a:p>
            <a:pPr algn="ctr" defTabSz="1219170"/>
            <a:r>
              <a:rPr lang="es-419" sz="907" noProof="0">
                <a:solidFill>
                  <a:srgbClr val="5B6B8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Performance</a:t>
            </a:r>
          </a:p>
          <a:p>
            <a:pPr algn="ctr" defTabSz="1219170"/>
            <a:r>
              <a:rPr lang="es-419" sz="907" noProof="0">
                <a:solidFill>
                  <a:srgbClr val="5B6B8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Seguridad</a:t>
            </a:r>
          </a:p>
        </p:txBody>
      </p:sp>
      <p:sp>
        <p:nvSpPr>
          <p:cNvPr id="106" name="Shape 3">
            <a:extLst>
              <a:ext uri="{FF2B5EF4-FFF2-40B4-BE49-F238E27FC236}">
                <a16:creationId xmlns:a16="http://schemas.microsoft.com/office/drawing/2014/main" id="{EC01A1C7-8750-0BC1-43CB-FC7BCC9B6491}"/>
              </a:ext>
            </a:extLst>
          </p:cNvPr>
          <p:cNvSpPr/>
          <p:nvPr/>
        </p:nvSpPr>
        <p:spPr>
          <a:xfrm>
            <a:off x="971550" y="6419928"/>
            <a:ext cx="10229994" cy="6604"/>
          </a:xfrm>
          <a:prstGeom prst="line">
            <a:avLst/>
          </a:prstGeom>
          <a:noFill/>
          <a:ln w="30480">
            <a:solidFill>
              <a:srgbClr val="2E5FA3"/>
            </a:solidFill>
            <a:prstDash val="solid"/>
            <a:headEnd type="oval"/>
            <a:tailEnd type="oval"/>
          </a:ln>
        </p:spPr>
        <p:txBody>
          <a:bodyPr anchor="ctr"/>
          <a:lstStyle/>
          <a:p>
            <a:pPr algn="ctr"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108" name="Imagen 107">
            <a:extLst>
              <a:ext uri="{FF2B5EF4-FFF2-40B4-BE49-F238E27FC236}">
                <a16:creationId xmlns:a16="http://schemas.microsoft.com/office/drawing/2014/main" id="{B90290D8-D8AB-9501-0F80-1450A8B4440C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t="18478" b="13705"/>
          <a:stretch>
            <a:fillRect/>
          </a:stretch>
        </p:blipFill>
        <p:spPr>
          <a:xfrm>
            <a:off x="5678559" y="6284632"/>
            <a:ext cx="1260001" cy="277197"/>
          </a:xfrm>
          <a:prstGeom prst="roundRect">
            <a:avLst/>
          </a:prstGeom>
        </p:spPr>
      </p:pic>
      <p:cxnSp>
        <p:nvCxnSpPr>
          <p:cNvPr id="110" name="Conector: angular 109">
            <a:extLst>
              <a:ext uri="{FF2B5EF4-FFF2-40B4-BE49-F238E27FC236}">
                <a16:creationId xmlns:a16="http://schemas.microsoft.com/office/drawing/2014/main" id="{AE735B28-BFBF-83DC-6178-A6F00B9C9C2C}"/>
              </a:ext>
            </a:extLst>
          </p:cNvPr>
          <p:cNvCxnSpPr>
            <a:stCxn id="7" idx="2"/>
            <a:endCxn id="107" idx="1"/>
          </p:cNvCxnSpPr>
          <p:nvPr/>
        </p:nvCxnSpPr>
        <p:spPr>
          <a:xfrm rot="16200000" flipH="1">
            <a:off x="-651878" y="4929252"/>
            <a:ext cx="2625380" cy="362576"/>
          </a:xfrm>
          <a:prstGeom prst="bentConnector2">
            <a:avLst/>
          </a:prstGeom>
          <a:ln w="12700">
            <a:solidFill>
              <a:srgbClr val="2E5FA3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Conector: angular 110">
            <a:extLst>
              <a:ext uri="{FF2B5EF4-FFF2-40B4-BE49-F238E27FC236}">
                <a16:creationId xmlns:a16="http://schemas.microsoft.com/office/drawing/2014/main" id="{08437D54-3169-8704-B8D2-B1EC6B1AA21C}"/>
              </a:ext>
            </a:extLst>
          </p:cNvPr>
          <p:cNvCxnSpPr>
            <a:cxnSpLocks/>
            <a:stCxn id="107" idx="3"/>
            <a:endCxn id="8" idx="2"/>
          </p:cNvCxnSpPr>
          <p:nvPr/>
        </p:nvCxnSpPr>
        <p:spPr>
          <a:xfrm flipV="1">
            <a:off x="11339089" y="3813216"/>
            <a:ext cx="486890" cy="2610014"/>
          </a:xfrm>
          <a:prstGeom prst="bentConnector2">
            <a:avLst/>
          </a:prstGeom>
          <a:ln w="12700">
            <a:solidFill>
              <a:srgbClr val="2E5FA3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3" name="Picture 2">
            <a:extLst>
              <a:ext uri="{FF2B5EF4-FFF2-40B4-BE49-F238E27FC236}">
                <a16:creationId xmlns:a16="http://schemas.microsoft.com/office/drawing/2014/main" id="{8BADCA46-EA15-882A-EF02-3C922784FE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5157" y="196371"/>
            <a:ext cx="868630" cy="580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2917154F-99E9-23D1-7865-7CCA588BA768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516329" y="5694707"/>
            <a:ext cx="971390" cy="2880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27" name="CuadroTexto 26">
            <a:extLst>
              <a:ext uri="{FF2B5EF4-FFF2-40B4-BE49-F238E27FC236}">
                <a16:creationId xmlns:a16="http://schemas.microsoft.com/office/drawing/2014/main" id="{AC19DAD5-CAEB-DE06-A4A5-F80445AAC617}"/>
              </a:ext>
            </a:extLst>
          </p:cNvPr>
          <p:cNvSpPr txBox="1"/>
          <p:nvPr/>
        </p:nvSpPr>
        <p:spPr>
          <a:xfrm>
            <a:off x="2006123" y="2470439"/>
            <a:ext cx="141003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1000" b="1" i="1">
                <a:solidFill>
                  <a:schemeClr val="tx2">
                    <a:lumMod val="50000"/>
                  </a:schemeClr>
                </a:solidFill>
                <a:highlight>
                  <a:srgbClr val="FFFF00"/>
                </a:highlight>
                <a:latin typeface="Roboto" pitchFamily="2" charset="0"/>
                <a:ea typeface="Roboto" pitchFamily="2" charset="0"/>
                <a:cs typeface="Calibri" pitchFamily="34" charset="-120"/>
              </a:rPr>
              <a:t>Deuda Técnica</a:t>
            </a:r>
          </a:p>
          <a:p>
            <a:pPr algn="ctr"/>
            <a:r>
              <a:rPr lang="es-CO" sz="1000" b="1" i="1">
                <a:solidFill>
                  <a:schemeClr val="tx2">
                    <a:lumMod val="50000"/>
                  </a:schemeClr>
                </a:solidFill>
                <a:highlight>
                  <a:srgbClr val="FFFF00"/>
                </a:highlight>
                <a:latin typeface="Roboto" pitchFamily="2" charset="0"/>
                <a:ea typeface="Roboto" pitchFamily="2" charset="0"/>
                <a:cs typeface="Calibri" pitchFamily="34" charset="-120"/>
              </a:rPr>
              <a:t>Requisitos no funcionales </a:t>
            </a:r>
            <a:endParaRPr lang="es-CO" sz="1100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DF5EAA83-7A88-CD63-2915-92CE35F546EE}"/>
              </a:ext>
            </a:extLst>
          </p:cNvPr>
          <p:cNvSpPr txBox="1"/>
          <p:nvPr/>
        </p:nvSpPr>
        <p:spPr>
          <a:xfrm>
            <a:off x="7258840" y="2557479"/>
            <a:ext cx="145805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1400" b="1" i="1">
                <a:solidFill>
                  <a:schemeClr val="tx2">
                    <a:lumMod val="50000"/>
                  </a:schemeClr>
                </a:solidFill>
                <a:highlight>
                  <a:srgbClr val="FFFF00"/>
                </a:highlight>
                <a:latin typeface="Roboto" pitchFamily="2" charset="0"/>
                <a:ea typeface="Roboto" pitchFamily="2" charset="0"/>
                <a:cs typeface="Calibri" pitchFamily="34" charset="-120"/>
              </a:rPr>
              <a:t>Deuda Técnica </a:t>
            </a:r>
            <a:endParaRPr lang="es-CO"/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F93C42E8-702F-A9E8-66AA-2E51478A36EC}"/>
              </a:ext>
            </a:extLst>
          </p:cNvPr>
          <p:cNvSpPr txBox="1"/>
          <p:nvPr/>
        </p:nvSpPr>
        <p:spPr>
          <a:xfrm>
            <a:off x="11185343" y="4443358"/>
            <a:ext cx="61401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400" b="1" i="1">
                <a:solidFill>
                  <a:schemeClr val="tx2">
                    <a:lumMod val="50000"/>
                  </a:schemeClr>
                </a:solidFill>
                <a:highlight>
                  <a:srgbClr val="FFFF00"/>
                </a:highlight>
                <a:latin typeface="Roboto" pitchFamily="2" charset="0"/>
                <a:ea typeface="Roboto" pitchFamily="2" charset="0"/>
                <a:cs typeface="Calibri" pitchFamily="34" charset="-120"/>
              </a:rPr>
              <a:t>Incidentes / Problemas  </a:t>
            </a:r>
            <a:endParaRPr lang="es-CO"/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1D090E48-8E4E-17BD-36C6-8C5ED594CB49}"/>
              </a:ext>
            </a:extLst>
          </p:cNvPr>
          <p:cNvSpPr txBox="1"/>
          <p:nvPr/>
        </p:nvSpPr>
        <p:spPr>
          <a:xfrm>
            <a:off x="10044577" y="1552079"/>
            <a:ext cx="867765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219170"/>
            <a:r>
              <a:rPr lang="es-419" sz="1200" noProof="0">
                <a:solidFill>
                  <a:srgbClr val="1B2A5E"/>
                </a:solidFill>
                <a:highlight>
                  <a:srgbClr val="FFFF00"/>
                </a:highligh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Requisitos no Funcionales:</a:t>
            </a:r>
          </a:p>
          <a:p>
            <a:pPr marL="171450" indent="-171450" defTabSz="1219170">
              <a:buFont typeface="Arial" panose="020B0604020202020204" pitchFamily="34" charset="0"/>
              <a:buChar char="•"/>
            </a:pPr>
            <a:r>
              <a:rPr lang="es-419" sz="1200" noProof="0">
                <a:solidFill>
                  <a:srgbClr val="1B2A5E"/>
                </a:solidFill>
                <a:highlight>
                  <a:srgbClr val="FFFF00"/>
                </a:highligh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Disponibilidad</a:t>
            </a:r>
          </a:p>
          <a:p>
            <a:pPr marL="171450" indent="-171450" defTabSz="1219170">
              <a:buFont typeface="Arial" panose="020B0604020202020204" pitchFamily="34" charset="0"/>
              <a:buChar char="•"/>
            </a:pPr>
            <a:r>
              <a:rPr lang="es-419" sz="1200">
                <a:solidFill>
                  <a:srgbClr val="1B2A5E"/>
                </a:solidFill>
                <a:highlight>
                  <a:srgbClr val="FFFF00"/>
                </a:highligh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Capacidad</a:t>
            </a:r>
          </a:p>
          <a:p>
            <a:pPr marL="171450" indent="-171450" defTabSz="1219170">
              <a:buFont typeface="Arial" panose="020B0604020202020204" pitchFamily="34" charset="0"/>
              <a:buChar char="•"/>
            </a:pPr>
            <a:r>
              <a:rPr lang="es-419" sz="1200">
                <a:solidFill>
                  <a:srgbClr val="1B2A5E"/>
                </a:solidFill>
                <a:highlight>
                  <a:srgbClr val="FFFF00"/>
                </a:highligh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Continuidad</a:t>
            </a:r>
          </a:p>
          <a:p>
            <a:pPr marL="171450" indent="-171450" defTabSz="1219170">
              <a:buFont typeface="Arial" panose="020B0604020202020204" pitchFamily="34" charset="0"/>
              <a:buChar char="•"/>
            </a:pPr>
            <a:r>
              <a:rPr lang="es-419" sz="1200">
                <a:solidFill>
                  <a:srgbClr val="1B2A5E"/>
                </a:solidFill>
                <a:highlight>
                  <a:srgbClr val="FFFF00"/>
                </a:highligh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Debe tener  presente</a:t>
            </a:r>
            <a:endParaRPr lang="es-CO" sz="180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1705931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>
            <a:spLocks noChangeAspect="1"/>
          </p:cNvSpPr>
          <p:nvPr/>
        </p:nvSpPr>
        <p:spPr>
          <a:xfrm>
            <a:off x="705513" y="749096"/>
            <a:ext cx="720000" cy="720000"/>
          </a:xfrm>
          <a:prstGeom prst="ellipse">
            <a:avLst/>
          </a:prstGeom>
          <a:solidFill>
            <a:srgbClr val="0E9594"/>
          </a:solidFill>
          <a:ln/>
        </p:spPr>
        <p:txBody>
          <a:bodyPr anchor="ctr"/>
          <a:lstStyle/>
          <a:p>
            <a:pPr algn="ctr"/>
            <a:r>
              <a:rPr lang="es-419" sz="3600">
                <a:solidFill>
                  <a:schemeClr val="bg1"/>
                </a:solidFill>
                <a:latin typeface="Roboto Bk" pitchFamily="2" charset="0"/>
                <a:ea typeface="Roboto Bk" pitchFamily="2" charset="0"/>
              </a:rPr>
              <a:t>1</a:t>
            </a:r>
            <a:endParaRPr lang="es-419" sz="3600" noProof="0">
              <a:solidFill>
                <a:schemeClr val="bg1"/>
              </a:solidFill>
              <a:latin typeface="Roboto Bk" pitchFamily="2" charset="0"/>
              <a:ea typeface="Roboto Bk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586696" y="658549"/>
            <a:ext cx="3580765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3733" b="1" noProof="0">
                <a:solidFill>
                  <a:srgbClr val="1B2A5E"/>
                </a:solidFill>
                <a:latin typeface="Roboto Bk" pitchFamily="2" charset="0"/>
                <a:ea typeface="Roboto Bk" pitchFamily="2" charset="0"/>
                <a:cs typeface="Cambria" pitchFamily="34" charset="-120"/>
              </a:rPr>
              <a:t>Análisis y DOR</a:t>
            </a:r>
            <a:endParaRPr lang="es-419" sz="3733" noProof="0">
              <a:latin typeface="Roboto Bk" pitchFamily="2" charset="0"/>
              <a:ea typeface="Roboto Bk" pitchFamily="2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969158" y="1657500"/>
            <a:ext cx="4815840" cy="943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/>
            <a:r>
              <a:rPr lang="es-419" sz="1400" noProof="0">
                <a:solidFill>
                  <a:schemeClr val="tx2">
                    <a:lumMod val="50000"/>
                  </a:schemeClr>
                </a:solidFill>
                <a:latin typeface="Roboto"/>
                <a:ea typeface="Roboto"/>
                <a:cs typeface="Calibri"/>
              </a:rPr>
              <a:t>El negocio plantea su necesidad y </a:t>
            </a:r>
            <a:r>
              <a:rPr lang="es-CO" sz="1400">
                <a:solidFill>
                  <a:schemeClr val="tx2">
                    <a:lumMod val="50000"/>
                  </a:schemeClr>
                </a:solidFill>
                <a:latin typeface="Roboto"/>
                <a:ea typeface="Roboto"/>
                <a:cs typeface="Calibri"/>
              </a:rPr>
              <a:t>s</a:t>
            </a:r>
            <a:r>
              <a:rPr lang="es-CO" sz="1400" noProof="0">
                <a:solidFill>
                  <a:schemeClr val="tx2">
                    <a:lumMod val="50000"/>
                  </a:schemeClr>
                </a:solidFill>
                <a:latin typeface="Roboto"/>
                <a:ea typeface="Roboto"/>
                <a:cs typeface="Calibri"/>
              </a:rPr>
              <a:t>e evalúa la iniciativa desde el punto de vista técnico para garantizar que cuenta con la información y condiciones necesarias para iniciar su desarrollo</a:t>
            </a:r>
            <a:endParaRPr lang="es-419" sz="1400" noProof="0">
              <a:solidFill>
                <a:schemeClr val="tx2">
                  <a:lumMod val="50000"/>
                </a:schemeClr>
              </a:solidFill>
              <a:latin typeface="Roboto"/>
              <a:ea typeface="Roboto"/>
              <a:cs typeface="Calibri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853286" y="2872478"/>
            <a:ext cx="4815840" cy="1724668"/>
          </a:xfrm>
          <a:prstGeom prst="roundRect">
            <a:avLst>
              <a:gd name="adj" fmla="val 3902"/>
            </a:avLst>
          </a:prstGeom>
          <a:solidFill>
            <a:srgbClr val="EEF4FC"/>
          </a:solidFill>
          <a:ln/>
        </p:spPr>
        <p:txBody>
          <a:bodyPr anchor="ctr"/>
          <a:lstStyle/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419" sz="1400" noProof="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Contexto</a:t>
            </a: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419" sz="1400" noProof="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Objetivo de la iniciativa </a:t>
            </a: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419" sz="1400" noProof="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Alcance </a:t>
            </a: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419" sz="1400" noProof="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Flujo End </a:t>
            </a:r>
            <a:r>
              <a:rPr lang="es-419" sz="1400" noProof="0" err="1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to</a:t>
            </a:r>
            <a:r>
              <a:rPr lang="es-419" sz="1400" noProof="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 End </a:t>
            </a: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419" sz="1400" noProof="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Requerimientos Funcionales</a:t>
            </a: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419" sz="1400" noProof="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Requerimientos nos funcionales </a:t>
            </a: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419" sz="1400" noProof="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Reglas de negocio </a:t>
            </a:r>
            <a:endParaRPr lang="es-419" sz="1400" noProof="0">
              <a:solidFill>
                <a:schemeClr val="tx2">
                  <a:lumMod val="50000"/>
                </a:schemeClr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069993" y="121765"/>
            <a:ext cx="4267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s-419" sz="1400" i="1" noProof="0">
              <a:solidFill>
                <a:srgbClr val="5B6B82"/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05513" y="3177540"/>
            <a:ext cx="536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600" b="1" kern="0" spc="267" noProof="0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ACTIVIDADES CLAVE</a:t>
            </a:r>
            <a:endParaRPr lang="es-419" sz="1600" noProof="0">
              <a:latin typeface="Roboto" pitchFamily="2" charset="0"/>
              <a:ea typeface="Roboto" pitchFamily="2" charset="0"/>
            </a:endParaRPr>
          </a:p>
        </p:txBody>
      </p:sp>
      <p:sp>
        <p:nvSpPr>
          <p:cNvPr id="27" name="Shape 22">
            <a:extLst>
              <a:ext uri="{FF2B5EF4-FFF2-40B4-BE49-F238E27FC236}">
                <a16:creationId xmlns:a16="http://schemas.microsoft.com/office/drawing/2014/main" id="{7166120F-CBF2-0825-09A8-D0680DCDD62E}"/>
              </a:ext>
            </a:extLst>
          </p:cNvPr>
          <p:cNvSpPr/>
          <p:nvPr/>
        </p:nvSpPr>
        <p:spPr>
          <a:xfrm>
            <a:off x="879445" y="3686574"/>
            <a:ext cx="288000" cy="288000"/>
          </a:xfrm>
          <a:prstGeom prst="ellipse">
            <a:avLst/>
          </a:prstGeom>
          <a:solidFill>
            <a:srgbClr val="0E9594"/>
          </a:solidFill>
          <a:ln w="12700">
            <a:solidFill>
              <a:srgbClr val="0E9594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1</a:t>
            </a:r>
          </a:p>
        </p:txBody>
      </p:sp>
      <p:sp>
        <p:nvSpPr>
          <p:cNvPr id="29" name="Text 24">
            <a:extLst>
              <a:ext uri="{FF2B5EF4-FFF2-40B4-BE49-F238E27FC236}">
                <a16:creationId xmlns:a16="http://schemas.microsoft.com/office/drawing/2014/main" id="{EAA762FC-231B-E43B-BE37-1DE9CF525BB8}"/>
              </a:ext>
            </a:extLst>
          </p:cNvPr>
          <p:cNvSpPr/>
          <p:nvPr/>
        </p:nvSpPr>
        <p:spPr>
          <a:xfrm>
            <a:off x="1334967" y="3638550"/>
            <a:ext cx="47350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1200" noProof="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Co – crear el DOR</a:t>
            </a:r>
            <a:endParaRPr lang="es-419" sz="1200" noProof="0">
              <a:solidFill>
                <a:schemeClr val="tx2">
                  <a:lumMod val="50000"/>
                </a:schemeClr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30" name="Shape 25">
            <a:extLst>
              <a:ext uri="{FF2B5EF4-FFF2-40B4-BE49-F238E27FC236}">
                <a16:creationId xmlns:a16="http://schemas.microsoft.com/office/drawing/2014/main" id="{9AE2B680-AF28-4FE9-D71C-E8D902010A3E}"/>
              </a:ext>
            </a:extLst>
          </p:cNvPr>
          <p:cNvSpPr/>
          <p:nvPr/>
        </p:nvSpPr>
        <p:spPr>
          <a:xfrm>
            <a:off x="879445" y="4160520"/>
            <a:ext cx="288000" cy="288000"/>
          </a:xfrm>
          <a:prstGeom prst="ellipse">
            <a:avLst/>
          </a:prstGeom>
          <a:solidFill>
            <a:srgbClr val="0E9594"/>
          </a:solidFill>
          <a:ln w="12700">
            <a:solidFill>
              <a:srgbClr val="0E9594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2</a:t>
            </a:r>
          </a:p>
        </p:txBody>
      </p:sp>
      <p:sp>
        <p:nvSpPr>
          <p:cNvPr id="32" name="Text 27">
            <a:extLst>
              <a:ext uri="{FF2B5EF4-FFF2-40B4-BE49-F238E27FC236}">
                <a16:creationId xmlns:a16="http://schemas.microsoft.com/office/drawing/2014/main" id="{7F8CAD5F-86C3-502B-F8D1-1219B8906309}"/>
              </a:ext>
            </a:extLst>
          </p:cNvPr>
          <p:cNvSpPr/>
          <p:nvPr/>
        </p:nvSpPr>
        <p:spPr>
          <a:xfrm>
            <a:off x="1334967" y="4117848"/>
            <a:ext cx="47350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1200" noProof="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Evaluar viabilidad técnica y estimar riesgos</a:t>
            </a:r>
            <a:endParaRPr lang="es-419" sz="1200" noProof="0">
              <a:solidFill>
                <a:schemeClr val="tx2">
                  <a:lumMod val="50000"/>
                </a:schemeClr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33" name="Shape 28">
            <a:extLst>
              <a:ext uri="{FF2B5EF4-FFF2-40B4-BE49-F238E27FC236}">
                <a16:creationId xmlns:a16="http://schemas.microsoft.com/office/drawing/2014/main" id="{CE0A3733-14D3-605A-41E8-E0C1598EE693}"/>
              </a:ext>
            </a:extLst>
          </p:cNvPr>
          <p:cNvSpPr/>
          <p:nvPr/>
        </p:nvSpPr>
        <p:spPr>
          <a:xfrm>
            <a:off x="879445" y="4636008"/>
            <a:ext cx="288000" cy="288000"/>
          </a:xfrm>
          <a:prstGeom prst="ellipse">
            <a:avLst/>
          </a:prstGeom>
          <a:solidFill>
            <a:srgbClr val="0E9594"/>
          </a:solidFill>
          <a:ln w="12700">
            <a:solidFill>
              <a:srgbClr val="0E9594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3</a:t>
            </a:r>
          </a:p>
        </p:txBody>
      </p:sp>
      <p:sp>
        <p:nvSpPr>
          <p:cNvPr id="35" name="Text 30">
            <a:extLst>
              <a:ext uri="{FF2B5EF4-FFF2-40B4-BE49-F238E27FC236}">
                <a16:creationId xmlns:a16="http://schemas.microsoft.com/office/drawing/2014/main" id="{B3C992DB-1E95-F89F-B361-C014833B1368}"/>
              </a:ext>
            </a:extLst>
          </p:cNvPr>
          <p:cNvSpPr/>
          <p:nvPr/>
        </p:nvSpPr>
        <p:spPr>
          <a:xfrm>
            <a:off x="1334967" y="4597146"/>
            <a:ext cx="47350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1200" noProof="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Identificar dependencias con otras plataformas y equipos</a:t>
            </a:r>
            <a:endParaRPr lang="es-419" sz="1200" noProof="0">
              <a:solidFill>
                <a:schemeClr val="tx2">
                  <a:lumMod val="50000"/>
                </a:schemeClr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36" name="Shape 31">
            <a:extLst>
              <a:ext uri="{FF2B5EF4-FFF2-40B4-BE49-F238E27FC236}">
                <a16:creationId xmlns:a16="http://schemas.microsoft.com/office/drawing/2014/main" id="{9BDA6FC7-2FB4-6870-4A88-37A7E7AD32C9}"/>
              </a:ext>
            </a:extLst>
          </p:cNvPr>
          <p:cNvSpPr/>
          <p:nvPr/>
        </p:nvSpPr>
        <p:spPr>
          <a:xfrm>
            <a:off x="879445" y="5111496"/>
            <a:ext cx="288000" cy="288000"/>
          </a:xfrm>
          <a:prstGeom prst="ellipse">
            <a:avLst/>
          </a:prstGeom>
          <a:solidFill>
            <a:srgbClr val="0E9594"/>
          </a:solidFill>
          <a:ln w="12700">
            <a:solidFill>
              <a:srgbClr val="0E9594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4</a:t>
            </a:r>
          </a:p>
        </p:txBody>
      </p:sp>
      <p:sp>
        <p:nvSpPr>
          <p:cNvPr id="38" name="Text 33">
            <a:extLst>
              <a:ext uri="{FF2B5EF4-FFF2-40B4-BE49-F238E27FC236}">
                <a16:creationId xmlns:a16="http://schemas.microsoft.com/office/drawing/2014/main" id="{1D9AAF86-B4E9-16E2-D8A7-2B469813067F}"/>
              </a:ext>
            </a:extLst>
          </p:cNvPr>
          <p:cNvSpPr/>
          <p:nvPr/>
        </p:nvSpPr>
        <p:spPr>
          <a:xfrm>
            <a:off x="1334967" y="5076444"/>
            <a:ext cx="47350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1200" noProof="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Aterrizar requerimientos del negocio a términos técnicos</a:t>
            </a:r>
            <a:endParaRPr lang="es-419" sz="1200" noProof="0">
              <a:solidFill>
                <a:schemeClr val="tx2">
                  <a:lumMod val="50000"/>
                </a:schemeClr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39" name="Shape 34">
            <a:extLst>
              <a:ext uri="{FF2B5EF4-FFF2-40B4-BE49-F238E27FC236}">
                <a16:creationId xmlns:a16="http://schemas.microsoft.com/office/drawing/2014/main" id="{5286D9D4-5E10-D30B-34B7-D06BCFD1C6B6}"/>
              </a:ext>
            </a:extLst>
          </p:cNvPr>
          <p:cNvSpPr/>
          <p:nvPr/>
        </p:nvSpPr>
        <p:spPr>
          <a:xfrm>
            <a:off x="879445" y="5586984"/>
            <a:ext cx="288000" cy="288000"/>
          </a:xfrm>
          <a:prstGeom prst="ellipse">
            <a:avLst/>
          </a:prstGeom>
          <a:solidFill>
            <a:srgbClr val="0E9594"/>
          </a:solidFill>
          <a:ln w="12700">
            <a:solidFill>
              <a:srgbClr val="0E9594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5</a:t>
            </a:r>
          </a:p>
        </p:txBody>
      </p:sp>
      <p:sp>
        <p:nvSpPr>
          <p:cNvPr id="41" name="Text 36">
            <a:extLst>
              <a:ext uri="{FF2B5EF4-FFF2-40B4-BE49-F238E27FC236}">
                <a16:creationId xmlns:a16="http://schemas.microsoft.com/office/drawing/2014/main" id="{95274A42-5AC0-FB04-E23A-6F31D9278CD5}"/>
              </a:ext>
            </a:extLst>
          </p:cNvPr>
          <p:cNvSpPr/>
          <p:nvPr/>
        </p:nvSpPr>
        <p:spPr>
          <a:xfrm>
            <a:off x="1334967" y="5555742"/>
            <a:ext cx="47350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1200" noProof="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Espacio con Arquitectura para entrega del DOR </a:t>
            </a:r>
            <a:endParaRPr lang="es-419" sz="1200" noProof="0">
              <a:solidFill>
                <a:schemeClr val="tx2">
                  <a:lumMod val="50000"/>
                </a:schemeClr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42" name="Shape 37">
            <a:extLst>
              <a:ext uri="{FF2B5EF4-FFF2-40B4-BE49-F238E27FC236}">
                <a16:creationId xmlns:a16="http://schemas.microsoft.com/office/drawing/2014/main" id="{6EE27DE0-FB6C-DD4D-3E61-5810A8B1353F}"/>
              </a:ext>
            </a:extLst>
          </p:cNvPr>
          <p:cNvSpPr/>
          <p:nvPr/>
        </p:nvSpPr>
        <p:spPr>
          <a:xfrm>
            <a:off x="879445" y="6083064"/>
            <a:ext cx="288000" cy="288000"/>
          </a:xfrm>
          <a:prstGeom prst="ellipse">
            <a:avLst/>
          </a:prstGeom>
          <a:solidFill>
            <a:srgbClr val="0E9594"/>
          </a:solidFill>
          <a:ln w="12700">
            <a:solidFill>
              <a:srgbClr val="0E9594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6</a:t>
            </a:r>
          </a:p>
        </p:txBody>
      </p:sp>
      <p:sp>
        <p:nvSpPr>
          <p:cNvPr id="44" name="Text 39">
            <a:extLst>
              <a:ext uri="{FF2B5EF4-FFF2-40B4-BE49-F238E27FC236}">
                <a16:creationId xmlns:a16="http://schemas.microsoft.com/office/drawing/2014/main" id="{62C7371F-5973-FAB5-BA6B-C7E73AFAD4F3}"/>
              </a:ext>
            </a:extLst>
          </p:cNvPr>
          <p:cNvSpPr/>
          <p:nvPr/>
        </p:nvSpPr>
        <p:spPr>
          <a:xfrm>
            <a:off x="1334967" y="6035040"/>
            <a:ext cx="47350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1200" noProof="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Formular requerimientos técnicos al proveedor si aplica (GIG, </a:t>
            </a:r>
            <a:r>
              <a:rPr lang="es-419" sz="1200" noProof="0" err="1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Inaltec</a:t>
            </a:r>
            <a:r>
              <a:rPr lang="es-419" sz="1200" noProof="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)</a:t>
            </a:r>
            <a:endParaRPr lang="es-419" sz="1200" noProof="0">
              <a:solidFill>
                <a:schemeClr val="tx2">
                  <a:lumMod val="50000"/>
                </a:schemeClr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47" name="Text 49">
            <a:extLst>
              <a:ext uri="{FF2B5EF4-FFF2-40B4-BE49-F238E27FC236}">
                <a16:creationId xmlns:a16="http://schemas.microsoft.com/office/drawing/2014/main" id="{A4B31B93-900B-21A3-0587-3C4EA8B9B623}"/>
              </a:ext>
            </a:extLst>
          </p:cNvPr>
          <p:cNvSpPr/>
          <p:nvPr/>
        </p:nvSpPr>
        <p:spPr>
          <a:xfrm>
            <a:off x="9366306" y="3188053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s-419" sz="750" noProof="0"/>
          </a:p>
        </p:txBody>
      </p:sp>
      <p:sp>
        <p:nvSpPr>
          <p:cNvPr id="48" name="Text 7">
            <a:extLst>
              <a:ext uri="{FF2B5EF4-FFF2-40B4-BE49-F238E27FC236}">
                <a16:creationId xmlns:a16="http://schemas.microsoft.com/office/drawing/2014/main" id="{2D0F0FC8-3269-9A10-74A0-AB905A05EFBD}"/>
              </a:ext>
            </a:extLst>
          </p:cNvPr>
          <p:cNvSpPr/>
          <p:nvPr/>
        </p:nvSpPr>
        <p:spPr>
          <a:xfrm>
            <a:off x="6853286" y="2340864"/>
            <a:ext cx="475045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600" b="1" kern="0" spc="267" noProof="0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ENTREGABLE: DOR de Arquitectura </a:t>
            </a:r>
            <a:endParaRPr lang="es-419" sz="1600" noProof="0">
              <a:latin typeface="Roboto" pitchFamily="2" charset="0"/>
              <a:ea typeface="Roboto" pitchFamily="2" charset="0"/>
            </a:endParaRPr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7FF92309-DE8B-822E-2778-9E9D2E191BC3}"/>
              </a:ext>
            </a:extLst>
          </p:cNvPr>
          <p:cNvSpPr txBox="1"/>
          <p:nvPr/>
        </p:nvSpPr>
        <p:spPr>
          <a:xfrm>
            <a:off x="3050381" y="3244334"/>
            <a:ext cx="61007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419" noProof="0"/>
          </a:p>
        </p:txBody>
      </p:sp>
      <p:sp>
        <p:nvSpPr>
          <p:cNvPr id="56" name="Text 11">
            <a:extLst>
              <a:ext uri="{FF2B5EF4-FFF2-40B4-BE49-F238E27FC236}">
                <a16:creationId xmlns:a16="http://schemas.microsoft.com/office/drawing/2014/main" id="{3CF10193-4F15-4DDF-D197-EB75051CC07E}"/>
              </a:ext>
            </a:extLst>
          </p:cNvPr>
          <p:cNvSpPr/>
          <p:nvPr/>
        </p:nvSpPr>
        <p:spPr>
          <a:xfrm>
            <a:off x="6862811" y="771857"/>
            <a:ext cx="44338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600" b="1" kern="0" spc="267" noProof="0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ACTORES QUE INTERVIENEN</a:t>
            </a:r>
            <a:endParaRPr lang="es-419" sz="1600" noProof="0">
              <a:latin typeface="Roboto" pitchFamily="2" charset="0"/>
              <a:ea typeface="Roboto" pitchFamily="2" charset="0"/>
            </a:endParaRPr>
          </a:p>
        </p:txBody>
      </p:sp>
      <p:sp>
        <p:nvSpPr>
          <p:cNvPr id="57" name="Shape 16">
            <a:extLst>
              <a:ext uri="{FF2B5EF4-FFF2-40B4-BE49-F238E27FC236}">
                <a16:creationId xmlns:a16="http://schemas.microsoft.com/office/drawing/2014/main" id="{E242E841-6028-FD15-5025-D45085C1C1F3}"/>
              </a:ext>
            </a:extLst>
          </p:cNvPr>
          <p:cNvSpPr/>
          <p:nvPr/>
        </p:nvSpPr>
        <p:spPr>
          <a:xfrm>
            <a:off x="6862811" y="1209160"/>
            <a:ext cx="1901952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/>
          <a:lstStyle/>
          <a:p>
            <a:pPr algn="ctr"/>
            <a:r>
              <a:rPr lang="es-419" sz="1200" b="1">
                <a:solidFill>
                  <a:srgbClr val="1B2A5E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Líder de Célula</a:t>
            </a:r>
          </a:p>
        </p:txBody>
      </p:sp>
      <p:sp>
        <p:nvSpPr>
          <p:cNvPr id="59" name="Shape 16">
            <a:extLst>
              <a:ext uri="{FF2B5EF4-FFF2-40B4-BE49-F238E27FC236}">
                <a16:creationId xmlns:a16="http://schemas.microsoft.com/office/drawing/2014/main" id="{F34349B2-C625-F518-5F91-E2EB4370E0A8}"/>
              </a:ext>
            </a:extLst>
          </p:cNvPr>
          <p:cNvSpPr/>
          <p:nvPr/>
        </p:nvSpPr>
        <p:spPr>
          <a:xfrm>
            <a:off x="8833406" y="1209160"/>
            <a:ext cx="2270377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/>
          <a:lstStyle/>
          <a:p>
            <a:pPr algn="ctr"/>
            <a:r>
              <a:rPr lang="es-419" sz="1200" b="1" noProof="0">
                <a:solidFill>
                  <a:srgbClr val="1B2A5E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Célula  - Miembros de equipo</a:t>
            </a:r>
          </a:p>
        </p:txBody>
      </p:sp>
      <p:sp>
        <p:nvSpPr>
          <p:cNvPr id="60" name="Shape 16">
            <a:extLst>
              <a:ext uri="{FF2B5EF4-FFF2-40B4-BE49-F238E27FC236}">
                <a16:creationId xmlns:a16="http://schemas.microsoft.com/office/drawing/2014/main" id="{E6F4AE94-84A9-A9C3-E0AA-30D30D805A7D}"/>
              </a:ext>
            </a:extLst>
          </p:cNvPr>
          <p:cNvSpPr/>
          <p:nvPr/>
        </p:nvSpPr>
        <p:spPr>
          <a:xfrm>
            <a:off x="6862811" y="1700822"/>
            <a:ext cx="1901952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/>
          <a:lstStyle/>
          <a:p>
            <a:pPr algn="ctr"/>
            <a:r>
              <a:rPr lang="es-419" sz="1200" b="1" noProof="0">
                <a:solidFill>
                  <a:srgbClr val="1B2A5E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Líder Técnico </a:t>
            </a:r>
          </a:p>
        </p:txBody>
      </p:sp>
      <p:pic>
        <p:nvPicPr>
          <p:cNvPr id="61" name="Picture 2">
            <a:extLst>
              <a:ext uri="{FF2B5EF4-FFF2-40B4-BE49-F238E27FC236}">
                <a16:creationId xmlns:a16="http://schemas.microsoft.com/office/drawing/2014/main" id="{22730E39-7E56-D057-EB5E-B61FAA1297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5157" y="196371"/>
            <a:ext cx="868630" cy="580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1A0D0DA2-27DD-0664-867B-B604CFE5037C}"/>
              </a:ext>
            </a:extLst>
          </p:cNvPr>
          <p:cNvSpPr/>
          <p:nvPr/>
        </p:nvSpPr>
        <p:spPr>
          <a:xfrm>
            <a:off x="8143876" y="167447"/>
            <a:ext cx="3095850" cy="5816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 algn="r">
              <a:defRPr/>
            </a:pPr>
            <a:r>
              <a:rPr lang="es-419" sz="1400" b="1" noProof="0">
                <a:solidFill>
                  <a:schemeClr val="bg1">
                    <a:lumMod val="85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Flujo construcción de soluciones TI </a:t>
            </a:r>
            <a:endParaRPr lang="es-419" sz="1400" noProof="0">
              <a:solidFill>
                <a:schemeClr val="bg1">
                  <a:lumMod val="85000"/>
                </a:schemeClr>
              </a:solidFill>
              <a:latin typeface="Roboto" pitchFamily="2" charset="0"/>
              <a:ea typeface="Roboto" pitchFamily="2" charset="0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61FB87DE-622B-1868-9C64-433DCA66821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8478" b="13705"/>
          <a:stretch>
            <a:fillRect/>
          </a:stretch>
        </p:blipFill>
        <p:spPr>
          <a:xfrm>
            <a:off x="623564" y="196371"/>
            <a:ext cx="2026919" cy="445917"/>
          </a:xfrm>
          <a:prstGeom prst="roundRect">
            <a:avLst>
              <a:gd name="adj" fmla="val 0"/>
            </a:avLst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13" name="Shape 16">
            <a:extLst>
              <a:ext uri="{FF2B5EF4-FFF2-40B4-BE49-F238E27FC236}">
                <a16:creationId xmlns:a16="http://schemas.microsoft.com/office/drawing/2014/main" id="{7585FF7C-AF3C-2E0E-E73B-A7825C5966CC}"/>
              </a:ext>
            </a:extLst>
          </p:cNvPr>
          <p:cNvSpPr/>
          <p:nvPr/>
        </p:nvSpPr>
        <p:spPr>
          <a:xfrm>
            <a:off x="8872529" y="1678290"/>
            <a:ext cx="2222627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/>
          <a:lstStyle/>
          <a:p>
            <a:pPr algn="ctr"/>
            <a:r>
              <a:rPr lang="es-419" sz="1200" b="1">
                <a:solidFill>
                  <a:srgbClr val="1B2A5E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*Arquitectura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21998327-414A-21FB-7986-99103F7F0A08}"/>
              </a:ext>
            </a:extLst>
          </p:cNvPr>
          <p:cNvSpPr txBox="1"/>
          <p:nvPr/>
        </p:nvSpPr>
        <p:spPr>
          <a:xfrm>
            <a:off x="6862811" y="4639053"/>
            <a:ext cx="4881266" cy="1384995"/>
          </a:xfrm>
          <a:prstGeom prst="rect">
            <a:avLst/>
          </a:prstGeom>
          <a:noFill/>
          <a:ln>
            <a:solidFill>
              <a:schemeClr val="accent1"/>
            </a:solidFill>
            <a:prstDash val="sysDash"/>
          </a:ln>
        </p:spPr>
        <p:txBody>
          <a:bodyPr wrap="square" lIns="91440" tIns="45720" rIns="91440" bIns="45720" anchor="t">
            <a:spAutoFit/>
          </a:bodyPr>
          <a:lstStyle/>
          <a:p>
            <a:pPr>
              <a:buNone/>
            </a:pPr>
            <a:r>
              <a:rPr lang="es-CO" sz="1400" i="1" kern="1200">
                <a:solidFill>
                  <a:schemeClr val="tx2">
                    <a:lumMod val="50000"/>
                  </a:schemeClr>
                </a:solidFill>
                <a:latin typeface="Roboto"/>
                <a:ea typeface="Roboto"/>
                <a:cs typeface="Calibri"/>
              </a:rPr>
              <a:t>La construcción del DoR la realiza el Líder de Célula asegurando que la iniciativa/historias cumplan los criterios para entrar a desarrollo. </a:t>
            </a:r>
          </a:p>
          <a:p>
            <a:pPr>
              <a:buNone/>
            </a:pPr>
            <a:r>
              <a:rPr lang="es-CO" sz="1400" i="1" kern="1200">
                <a:solidFill>
                  <a:schemeClr val="tx2">
                    <a:lumMod val="50000"/>
                  </a:schemeClr>
                </a:solidFill>
                <a:latin typeface="Roboto"/>
                <a:ea typeface="Roboto"/>
                <a:cs typeface="Calibri"/>
              </a:rPr>
              <a:t>Desarrollo y calidad aporta insumo técnico (input) y el Líder Técnico da su visto bueno (acuerdo) sobre la viabilidad técnica antes de habilitar el desarrollo. </a:t>
            </a:r>
            <a:endParaRPr lang="es-CO" sz="1400" b="1" i="1" kern="1200">
              <a:solidFill>
                <a:schemeClr val="tx2">
                  <a:lumMod val="50000"/>
                </a:schemeClr>
              </a:solidFill>
              <a:highlight>
                <a:srgbClr val="FFFF00"/>
              </a:highlight>
              <a:latin typeface="Roboto"/>
              <a:ea typeface="Roboto"/>
              <a:cs typeface="Roboto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E3B034AB-24A6-6108-5C9A-C62DAC4FFB62}"/>
              </a:ext>
            </a:extLst>
          </p:cNvPr>
          <p:cNvSpPr txBox="1"/>
          <p:nvPr/>
        </p:nvSpPr>
        <p:spPr>
          <a:xfrm>
            <a:off x="4617127" y="43566"/>
            <a:ext cx="159164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219170"/>
            <a:r>
              <a:rPr lang="es-419" sz="1200" b="1" noProof="0">
                <a:solidFill>
                  <a:srgbClr val="1B2A5E"/>
                </a:solidFill>
                <a:highlight>
                  <a:srgbClr val="FFFF00"/>
                </a:highligh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Juan  Ma + Lina</a:t>
            </a:r>
          </a:p>
          <a:p>
            <a:pPr algn="ctr" defTabSz="1219170"/>
            <a:r>
              <a:rPr lang="es-419" sz="1200" b="1">
                <a:solidFill>
                  <a:srgbClr val="1B2A5E"/>
                </a:solidFill>
                <a:highlight>
                  <a:srgbClr val="FFFF00"/>
                </a:highligh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Aleyda +  Monica</a:t>
            </a:r>
            <a:r>
              <a:rPr lang="es-419" sz="1200" b="1" noProof="0">
                <a:solidFill>
                  <a:srgbClr val="1B2A5E"/>
                </a:solidFill>
                <a:highlight>
                  <a:srgbClr val="FFFF00"/>
                </a:highligh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848344-96B4-41C9-D86C-AA15FA916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>
            <a:extLst>
              <a:ext uri="{FF2B5EF4-FFF2-40B4-BE49-F238E27FC236}">
                <a16:creationId xmlns:a16="http://schemas.microsoft.com/office/drawing/2014/main" id="{54ED63CA-0E1A-7ACF-DAC7-39F52A15F6DE}"/>
              </a:ext>
            </a:extLst>
          </p:cNvPr>
          <p:cNvSpPr/>
          <p:nvPr/>
        </p:nvSpPr>
        <p:spPr>
          <a:xfrm>
            <a:off x="705513" y="166217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600" b="1" kern="0" spc="267" noProof="0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EN QUÉ CONSISTE</a:t>
            </a:r>
            <a:endParaRPr lang="es-419" sz="1600" noProof="0">
              <a:latin typeface="Roboto" pitchFamily="2" charset="0"/>
              <a:ea typeface="Roboto" pitchFamily="2" charset="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6964E9B-0D16-D7D2-C306-0CEC4116A65C}"/>
              </a:ext>
            </a:extLst>
          </p:cNvPr>
          <p:cNvSpPr/>
          <p:nvPr/>
        </p:nvSpPr>
        <p:spPr>
          <a:xfrm>
            <a:off x="705513" y="2032202"/>
            <a:ext cx="5266944" cy="943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es-419" sz="1400" noProof="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Con el </a:t>
            </a:r>
            <a:r>
              <a:rPr lang="es-419" sz="1400" b="1" noProof="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DOR listo</a:t>
            </a:r>
            <a:r>
              <a:rPr lang="es-419" sz="1400" noProof="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, se activa y prioriza al equipo de arquitectura, que  establece los componentes, interacciones, tecnologías, patrones y decisiones técnicas necesarias para su implementación;  entregando la arquitectura de solución. </a:t>
            </a: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FBB7A386-77E7-4076-0239-315DB4C20A2F}"/>
              </a:ext>
            </a:extLst>
          </p:cNvPr>
          <p:cNvSpPr/>
          <p:nvPr/>
        </p:nvSpPr>
        <p:spPr>
          <a:xfrm>
            <a:off x="6862811" y="3446062"/>
            <a:ext cx="4815840" cy="1384995"/>
          </a:xfrm>
          <a:prstGeom prst="roundRect">
            <a:avLst>
              <a:gd name="adj" fmla="val 3902"/>
            </a:avLst>
          </a:prstGeom>
          <a:solidFill>
            <a:srgbClr val="EEF4FC"/>
          </a:solidFill>
          <a:ln/>
        </p:spPr>
        <p:txBody>
          <a:bodyPr lIns="91440" tIns="45720" rIns="91440" bIns="45720" anchor="ctr"/>
          <a:lstStyle/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419" sz="1400">
                <a:solidFill>
                  <a:schemeClr val="accent1">
                    <a:lumMod val="50000"/>
                  </a:schemeClr>
                </a:solidFill>
                <a:latin typeface="Roboto"/>
                <a:ea typeface="Roboto"/>
                <a:cs typeface="Calibri"/>
              </a:rPr>
              <a:t>Documentación en la Wiki</a:t>
            </a: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419" sz="1400">
                <a:solidFill>
                  <a:schemeClr val="accent1">
                    <a:lumMod val="50000"/>
                  </a:schemeClr>
                </a:solidFill>
                <a:latin typeface="Roboto"/>
                <a:ea typeface="Roboto"/>
                <a:cs typeface="Calibri"/>
              </a:rPr>
              <a:t>Diagrama de Contexto</a:t>
            </a: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419" sz="1400">
                <a:solidFill>
                  <a:schemeClr val="accent1">
                    <a:lumMod val="50000"/>
                  </a:schemeClr>
                </a:solidFill>
                <a:latin typeface="Roboto"/>
                <a:ea typeface="Roboto"/>
                <a:cs typeface="Calibri"/>
              </a:rPr>
              <a:t>Diagrama de Despliegue</a:t>
            </a: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419" sz="1400">
                <a:solidFill>
                  <a:schemeClr val="accent1">
                    <a:lumMod val="50000"/>
                  </a:schemeClr>
                </a:solidFill>
                <a:latin typeface="Roboto"/>
                <a:ea typeface="Roboto"/>
                <a:cs typeface="Calibri"/>
              </a:rPr>
              <a:t>Definición de </a:t>
            </a:r>
            <a:r>
              <a:rPr lang="es-419" sz="1400" err="1">
                <a:solidFill>
                  <a:schemeClr val="accent1">
                    <a:lumMod val="50000"/>
                  </a:schemeClr>
                </a:solidFill>
                <a:latin typeface="Roboto"/>
                <a:ea typeface="Roboto"/>
                <a:cs typeface="Calibri"/>
              </a:rPr>
              <a:t>APIs</a:t>
            </a:r>
            <a:endParaRPr lang="es-419" sz="1400">
              <a:solidFill>
                <a:schemeClr val="accent1">
                  <a:lumMod val="50000"/>
                </a:schemeClr>
              </a:solidFill>
              <a:latin typeface="Roboto"/>
              <a:ea typeface="Roboto"/>
              <a:cs typeface="Calibri"/>
            </a:endParaRP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419" sz="1400">
                <a:solidFill>
                  <a:schemeClr val="accent1">
                    <a:lumMod val="50000"/>
                  </a:schemeClr>
                </a:solidFill>
                <a:latin typeface="Roboto"/>
                <a:ea typeface="Roboto"/>
                <a:cs typeface="Calibri"/>
              </a:rPr>
              <a:t>Deuda técnica</a:t>
            </a:r>
            <a:endParaRPr lang="es-419" sz="140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EA7BBAF9-BCA3-8B29-518B-9BD89FF4A30A}"/>
              </a:ext>
            </a:extLst>
          </p:cNvPr>
          <p:cNvSpPr/>
          <p:nvPr/>
        </p:nvSpPr>
        <p:spPr>
          <a:xfrm>
            <a:off x="6069993" y="121765"/>
            <a:ext cx="4267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s-419" sz="1400" i="1" noProof="0">
              <a:solidFill>
                <a:srgbClr val="5B6B82"/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9291CEE9-1B3E-D35D-4CE4-8D40FE358C20}"/>
              </a:ext>
            </a:extLst>
          </p:cNvPr>
          <p:cNvSpPr/>
          <p:nvPr/>
        </p:nvSpPr>
        <p:spPr>
          <a:xfrm>
            <a:off x="705513" y="3177540"/>
            <a:ext cx="536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600" b="1" kern="0" spc="267" noProof="0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ACTIVIDADES CLAVE</a:t>
            </a:r>
            <a:endParaRPr lang="es-419" sz="1600" noProof="0">
              <a:latin typeface="Roboto" pitchFamily="2" charset="0"/>
              <a:ea typeface="Roboto" pitchFamily="2" charset="0"/>
            </a:endParaRPr>
          </a:p>
        </p:txBody>
      </p:sp>
      <p:sp>
        <p:nvSpPr>
          <p:cNvPr id="27" name="Shape 22">
            <a:extLst>
              <a:ext uri="{FF2B5EF4-FFF2-40B4-BE49-F238E27FC236}">
                <a16:creationId xmlns:a16="http://schemas.microsoft.com/office/drawing/2014/main" id="{DAEF95AC-69AE-7C09-C26F-C2C3547C1DF7}"/>
              </a:ext>
            </a:extLst>
          </p:cNvPr>
          <p:cNvSpPr/>
          <p:nvPr/>
        </p:nvSpPr>
        <p:spPr>
          <a:xfrm>
            <a:off x="879445" y="3686574"/>
            <a:ext cx="288000" cy="288000"/>
          </a:xfrm>
          <a:prstGeom prst="ellipse">
            <a:avLst/>
          </a:prstGeom>
          <a:solidFill>
            <a:srgbClr val="0E9594"/>
          </a:solidFill>
          <a:ln w="12700">
            <a:solidFill>
              <a:srgbClr val="0E9594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1</a:t>
            </a:r>
          </a:p>
        </p:txBody>
      </p:sp>
      <p:sp>
        <p:nvSpPr>
          <p:cNvPr id="30" name="Shape 25">
            <a:extLst>
              <a:ext uri="{FF2B5EF4-FFF2-40B4-BE49-F238E27FC236}">
                <a16:creationId xmlns:a16="http://schemas.microsoft.com/office/drawing/2014/main" id="{B6D59D4F-AD4F-153A-2BB3-766B9CCB2B45}"/>
              </a:ext>
            </a:extLst>
          </p:cNvPr>
          <p:cNvSpPr/>
          <p:nvPr/>
        </p:nvSpPr>
        <p:spPr>
          <a:xfrm>
            <a:off x="879445" y="4160520"/>
            <a:ext cx="288000" cy="288000"/>
          </a:xfrm>
          <a:prstGeom prst="ellipse">
            <a:avLst/>
          </a:prstGeom>
          <a:solidFill>
            <a:srgbClr val="0E9594"/>
          </a:solidFill>
          <a:ln w="12700">
            <a:solidFill>
              <a:srgbClr val="0E9594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2</a:t>
            </a:r>
          </a:p>
        </p:txBody>
      </p:sp>
      <p:sp>
        <p:nvSpPr>
          <p:cNvPr id="33" name="Shape 28">
            <a:extLst>
              <a:ext uri="{FF2B5EF4-FFF2-40B4-BE49-F238E27FC236}">
                <a16:creationId xmlns:a16="http://schemas.microsoft.com/office/drawing/2014/main" id="{8C5FFD2E-9A7F-4784-F247-6AAEA1F83D44}"/>
              </a:ext>
            </a:extLst>
          </p:cNvPr>
          <p:cNvSpPr/>
          <p:nvPr/>
        </p:nvSpPr>
        <p:spPr>
          <a:xfrm>
            <a:off x="879445" y="4636008"/>
            <a:ext cx="288000" cy="288000"/>
          </a:xfrm>
          <a:prstGeom prst="ellipse">
            <a:avLst/>
          </a:prstGeom>
          <a:solidFill>
            <a:srgbClr val="0E9594"/>
          </a:solidFill>
          <a:ln w="12700">
            <a:solidFill>
              <a:srgbClr val="0E9594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3</a:t>
            </a:r>
          </a:p>
        </p:txBody>
      </p:sp>
      <p:sp>
        <p:nvSpPr>
          <p:cNvPr id="36" name="Shape 31">
            <a:extLst>
              <a:ext uri="{FF2B5EF4-FFF2-40B4-BE49-F238E27FC236}">
                <a16:creationId xmlns:a16="http://schemas.microsoft.com/office/drawing/2014/main" id="{702F3F19-8FB5-CEB1-04DB-DEAC0DBD87DD}"/>
              </a:ext>
            </a:extLst>
          </p:cNvPr>
          <p:cNvSpPr/>
          <p:nvPr/>
        </p:nvSpPr>
        <p:spPr>
          <a:xfrm>
            <a:off x="879445" y="5111496"/>
            <a:ext cx="288000" cy="288000"/>
          </a:xfrm>
          <a:prstGeom prst="ellipse">
            <a:avLst/>
          </a:prstGeom>
          <a:solidFill>
            <a:srgbClr val="0E9594"/>
          </a:solidFill>
          <a:ln w="12700">
            <a:solidFill>
              <a:srgbClr val="0E9594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4</a:t>
            </a:r>
          </a:p>
        </p:txBody>
      </p:sp>
      <p:sp>
        <p:nvSpPr>
          <p:cNvPr id="39" name="Shape 34">
            <a:extLst>
              <a:ext uri="{FF2B5EF4-FFF2-40B4-BE49-F238E27FC236}">
                <a16:creationId xmlns:a16="http://schemas.microsoft.com/office/drawing/2014/main" id="{E6E169E0-B7E8-6D3A-4713-4267BF224BCA}"/>
              </a:ext>
            </a:extLst>
          </p:cNvPr>
          <p:cNvSpPr/>
          <p:nvPr/>
        </p:nvSpPr>
        <p:spPr>
          <a:xfrm>
            <a:off x="879445" y="5586984"/>
            <a:ext cx="288000" cy="288000"/>
          </a:xfrm>
          <a:prstGeom prst="ellipse">
            <a:avLst/>
          </a:prstGeom>
          <a:solidFill>
            <a:srgbClr val="0E9594"/>
          </a:solidFill>
          <a:ln w="12700">
            <a:solidFill>
              <a:srgbClr val="0E9594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5</a:t>
            </a:r>
          </a:p>
        </p:txBody>
      </p:sp>
      <p:sp>
        <p:nvSpPr>
          <p:cNvPr id="47" name="Text 49">
            <a:extLst>
              <a:ext uri="{FF2B5EF4-FFF2-40B4-BE49-F238E27FC236}">
                <a16:creationId xmlns:a16="http://schemas.microsoft.com/office/drawing/2014/main" id="{E4D9AF60-3028-BE9F-56B3-FB5B8E899C59}"/>
              </a:ext>
            </a:extLst>
          </p:cNvPr>
          <p:cNvSpPr/>
          <p:nvPr/>
        </p:nvSpPr>
        <p:spPr>
          <a:xfrm>
            <a:off x="9366306" y="3553813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s-419" sz="750" noProof="0"/>
          </a:p>
        </p:txBody>
      </p:sp>
      <p:sp>
        <p:nvSpPr>
          <p:cNvPr id="48" name="Text 7">
            <a:extLst>
              <a:ext uri="{FF2B5EF4-FFF2-40B4-BE49-F238E27FC236}">
                <a16:creationId xmlns:a16="http://schemas.microsoft.com/office/drawing/2014/main" id="{4EEAB413-944C-263F-28EA-8F68BBA97971}"/>
              </a:ext>
            </a:extLst>
          </p:cNvPr>
          <p:cNvSpPr/>
          <p:nvPr/>
        </p:nvSpPr>
        <p:spPr>
          <a:xfrm>
            <a:off x="6862810" y="3015127"/>
            <a:ext cx="4815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600" b="1" kern="0" spc="267" noProof="0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ENTREGABLE: Arquitectura de Solución</a:t>
            </a:r>
            <a:endParaRPr lang="es-419" sz="1600" noProof="0">
              <a:latin typeface="Roboto" pitchFamily="2" charset="0"/>
              <a:ea typeface="Roboto" pitchFamily="2" charset="0"/>
            </a:endParaRPr>
          </a:p>
        </p:txBody>
      </p:sp>
      <p:sp>
        <p:nvSpPr>
          <p:cNvPr id="56" name="Text 11">
            <a:extLst>
              <a:ext uri="{FF2B5EF4-FFF2-40B4-BE49-F238E27FC236}">
                <a16:creationId xmlns:a16="http://schemas.microsoft.com/office/drawing/2014/main" id="{EBF16906-FA4D-4721-77F0-7C1660267A70}"/>
              </a:ext>
            </a:extLst>
          </p:cNvPr>
          <p:cNvSpPr/>
          <p:nvPr/>
        </p:nvSpPr>
        <p:spPr>
          <a:xfrm>
            <a:off x="6846207" y="953551"/>
            <a:ext cx="44338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600" b="1" kern="0" spc="267" noProof="0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ACTORES QUE INTERVIENEN</a:t>
            </a:r>
            <a:endParaRPr lang="es-419" sz="1600" noProof="0">
              <a:latin typeface="Roboto" pitchFamily="2" charset="0"/>
              <a:ea typeface="Roboto" pitchFamily="2" charset="0"/>
            </a:endParaRPr>
          </a:p>
        </p:txBody>
      </p:sp>
      <p:sp>
        <p:nvSpPr>
          <p:cNvPr id="57" name="Shape 16">
            <a:extLst>
              <a:ext uri="{FF2B5EF4-FFF2-40B4-BE49-F238E27FC236}">
                <a16:creationId xmlns:a16="http://schemas.microsoft.com/office/drawing/2014/main" id="{7CD8129A-9055-5ADD-9611-D4C9A03800B8}"/>
              </a:ext>
            </a:extLst>
          </p:cNvPr>
          <p:cNvSpPr/>
          <p:nvPr/>
        </p:nvSpPr>
        <p:spPr>
          <a:xfrm>
            <a:off x="6846207" y="1390854"/>
            <a:ext cx="1901952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/>
          <a:lstStyle/>
          <a:p>
            <a:pPr algn="ctr"/>
            <a:r>
              <a:rPr lang="es-419" sz="1267" b="1" noProof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Líder de Célula</a:t>
            </a:r>
          </a:p>
        </p:txBody>
      </p:sp>
      <p:sp>
        <p:nvSpPr>
          <p:cNvPr id="59" name="Shape 16">
            <a:extLst>
              <a:ext uri="{FF2B5EF4-FFF2-40B4-BE49-F238E27FC236}">
                <a16:creationId xmlns:a16="http://schemas.microsoft.com/office/drawing/2014/main" id="{F80E83BB-3FFB-9048-07FC-C2C73019D1E6}"/>
              </a:ext>
            </a:extLst>
          </p:cNvPr>
          <p:cNvSpPr/>
          <p:nvPr/>
        </p:nvSpPr>
        <p:spPr>
          <a:xfrm>
            <a:off x="8843337" y="1874018"/>
            <a:ext cx="2270377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/>
          <a:lstStyle/>
          <a:p>
            <a:pPr algn="ctr"/>
            <a:r>
              <a:rPr lang="es-419" sz="1267" b="1" noProof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Célula  - Miembros de equipo</a:t>
            </a:r>
          </a:p>
        </p:txBody>
      </p:sp>
      <p:sp>
        <p:nvSpPr>
          <p:cNvPr id="60" name="Shape 16">
            <a:extLst>
              <a:ext uri="{FF2B5EF4-FFF2-40B4-BE49-F238E27FC236}">
                <a16:creationId xmlns:a16="http://schemas.microsoft.com/office/drawing/2014/main" id="{A72D21B0-0389-CE18-695F-22BB49DA8134}"/>
              </a:ext>
            </a:extLst>
          </p:cNvPr>
          <p:cNvSpPr/>
          <p:nvPr/>
        </p:nvSpPr>
        <p:spPr>
          <a:xfrm>
            <a:off x="6846207" y="1876985"/>
            <a:ext cx="1901952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/>
          <a:lstStyle/>
          <a:p>
            <a:pPr algn="ctr"/>
            <a:r>
              <a:rPr lang="es-419" sz="1267" b="1" noProof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Líder Técnico </a:t>
            </a:r>
          </a:p>
        </p:txBody>
      </p:sp>
      <p:pic>
        <p:nvPicPr>
          <p:cNvPr id="61" name="Picture 2">
            <a:extLst>
              <a:ext uri="{FF2B5EF4-FFF2-40B4-BE49-F238E27FC236}">
                <a16:creationId xmlns:a16="http://schemas.microsoft.com/office/drawing/2014/main" id="{40A53A92-A8AD-2809-396A-6C9D8E6A13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5157" y="196371"/>
            <a:ext cx="868630" cy="580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 24">
            <a:extLst>
              <a:ext uri="{FF2B5EF4-FFF2-40B4-BE49-F238E27FC236}">
                <a16:creationId xmlns:a16="http://schemas.microsoft.com/office/drawing/2014/main" id="{2AC41BAB-3F53-AF6D-4FC7-3C0316E41DED}"/>
              </a:ext>
            </a:extLst>
          </p:cNvPr>
          <p:cNvSpPr/>
          <p:nvPr/>
        </p:nvSpPr>
        <p:spPr>
          <a:xfrm>
            <a:off x="1367994" y="3610034"/>
            <a:ext cx="411840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 noProof="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Realizar contextualización de la iniciativa</a:t>
            </a:r>
          </a:p>
        </p:txBody>
      </p:sp>
      <p:sp>
        <p:nvSpPr>
          <p:cNvPr id="9" name="Text 27">
            <a:extLst>
              <a:ext uri="{FF2B5EF4-FFF2-40B4-BE49-F238E27FC236}">
                <a16:creationId xmlns:a16="http://schemas.microsoft.com/office/drawing/2014/main" id="{3D034DFF-12E2-1612-30FC-5690A4587900}"/>
              </a:ext>
            </a:extLst>
          </p:cNvPr>
          <p:cNvSpPr/>
          <p:nvPr/>
        </p:nvSpPr>
        <p:spPr>
          <a:xfrm>
            <a:off x="1367994" y="4085522"/>
            <a:ext cx="411840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 noProof="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Construcción de la Arquitectura de Solución</a:t>
            </a:r>
          </a:p>
        </p:txBody>
      </p:sp>
      <p:sp>
        <p:nvSpPr>
          <p:cNvPr id="10" name="Text 30">
            <a:extLst>
              <a:ext uri="{FF2B5EF4-FFF2-40B4-BE49-F238E27FC236}">
                <a16:creationId xmlns:a16="http://schemas.microsoft.com/office/drawing/2014/main" id="{65C683A3-D4B3-7446-69CA-20E344D2EB66}"/>
              </a:ext>
            </a:extLst>
          </p:cNvPr>
          <p:cNvSpPr/>
          <p:nvPr/>
        </p:nvSpPr>
        <p:spPr>
          <a:xfrm>
            <a:off x="1367995" y="4561010"/>
            <a:ext cx="44516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 noProof="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Guiar al arquitecto en componentes y plataformas existentes</a:t>
            </a:r>
          </a:p>
        </p:txBody>
      </p:sp>
      <p:sp>
        <p:nvSpPr>
          <p:cNvPr id="11" name="Text 36">
            <a:extLst>
              <a:ext uri="{FF2B5EF4-FFF2-40B4-BE49-F238E27FC236}">
                <a16:creationId xmlns:a16="http://schemas.microsoft.com/office/drawing/2014/main" id="{5E932DAF-9D01-7E23-7C48-12A4A3A89939}"/>
              </a:ext>
            </a:extLst>
          </p:cNvPr>
          <p:cNvSpPr/>
          <p:nvPr/>
        </p:nvSpPr>
        <p:spPr>
          <a:xfrm>
            <a:off x="1381709" y="5063930"/>
            <a:ext cx="47007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 noProof="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Mapear componentes necesarios y estimar esfuerzo por perfil</a:t>
            </a:r>
          </a:p>
        </p:txBody>
      </p:sp>
      <p:sp>
        <p:nvSpPr>
          <p:cNvPr id="13" name="Text 39">
            <a:extLst>
              <a:ext uri="{FF2B5EF4-FFF2-40B4-BE49-F238E27FC236}">
                <a16:creationId xmlns:a16="http://schemas.microsoft.com/office/drawing/2014/main" id="{E15C2660-AB64-62FE-811F-AC15F2D6C6AC}"/>
              </a:ext>
            </a:extLst>
          </p:cNvPr>
          <p:cNvSpPr/>
          <p:nvPr/>
        </p:nvSpPr>
        <p:spPr>
          <a:xfrm>
            <a:off x="1367993" y="5533687"/>
            <a:ext cx="411840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 noProof="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Activar al equipo de Seguridad desde esta etapa</a:t>
            </a: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54F093B7-A5B3-110B-464C-5DA7A8005F96}"/>
              </a:ext>
            </a:extLst>
          </p:cNvPr>
          <p:cNvSpPr/>
          <p:nvPr/>
        </p:nvSpPr>
        <p:spPr>
          <a:xfrm>
            <a:off x="8843337" y="1386007"/>
            <a:ext cx="2251820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/>
          <a:lstStyle/>
          <a:p>
            <a:pPr algn="ctr"/>
            <a:r>
              <a:rPr lang="es-419" sz="1267" b="1" noProof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Arquitecto</a:t>
            </a:r>
          </a:p>
        </p:txBody>
      </p:sp>
      <p:sp>
        <p:nvSpPr>
          <p:cNvPr id="17" name="Shape 16">
            <a:extLst>
              <a:ext uri="{FF2B5EF4-FFF2-40B4-BE49-F238E27FC236}">
                <a16:creationId xmlns:a16="http://schemas.microsoft.com/office/drawing/2014/main" id="{A32389C0-0858-38D3-0FF8-469947C37B38}"/>
              </a:ext>
            </a:extLst>
          </p:cNvPr>
          <p:cNvSpPr/>
          <p:nvPr/>
        </p:nvSpPr>
        <p:spPr>
          <a:xfrm>
            <a:off x="6846207" y="2364693"/>
            <a:ext cx="1901952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/>
          <a:lstStyle/>
          <a:p>
            <a:pPr algn="ctr"/>
            <a:r>
              <a:rPr lang="es-419" sz="1267" b="1" noProof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91F47E96-E3A4-1DED-AA59-8EE16FF06BB2}"/>
              </a:ext>
            </a:extLst>
          </p:cNvPr>
          <p:cNvSpPr>
            <a:spLocks noChangeAspect="1"/>
          </p:cNvSpPr>
          <p:nvPr/>
        </p:nvSpPr>
        <p:spPr>
          <a:xfrm>
            <a:off x="705513" y="725269"/>
            <a:ext cx="720000" cy="720000"/>
          </a:xfrm>
          <a:prstGeom prst="ellipse">
            <a:avLst/>
          </a:prstGeom>
          <a:solidFill>
            <a:srgbClr val="0E9594"/>
          </a:solidFill>
          <a:ln/>
        </p:spPr>
        <p:txBody>
          <a:bodyPr anchor="ctr"/>
          <a:lstStyle/>
          <a:p>
            <a:pPr algn="ctr"/>
            <a:r>
              <a:rPr lang="es-419" sz="3600" noProof="0">
                <a:solidFill>
                  <a:schemeClr val="bg1"/>
                </a:solidFill>
                <a:latin typeface="Roboto Bk" pitchFamily="2" charset="0"/>
                <a:ea typeface="Roboto Bk" pitchFamily="2" charset="0"/>
              </a:rPr>
              <a:t>2</a:t>
            </a:r>
          </a:p>
        </p:txBody>
      </p:sp>
      <p:sp>
        <p:nvSpPr>
          <p:cNvPr id="20" name="Text 2">
            <a:extLst>
              <a:ext uri="{FF2B5EF4-FFF2-40B4-BE49-F238E27FC236}">
                <a16:creationId xmlns:a16="http://schemas.microsoft.com/office/drawing/2014/main" id="{F5E59B53-B6B5-6020-2549-600BB4010773}"/>
              </a:ext>
            </a:extLst>
          </p:cNvPr>
          <p:cNvSpPr/>
          <p:nvPr/>
        </p:nvSpPr>
        <p:spPr>
          <a:xfrm>
            <a:off x="1586696" y="658549"/>
            <a:ext cx="4968108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3733" b="1" noProof="0">
                <a:solidFill>
                  <a:srgbClr val="1B2A5E"/>
                </a:solidFill>
                <a:latin typeface="Roboto Bk" pitchFamily="2" charset="0"/>
                <a:ea typeface="Roboto Bk" pitchFamily="2" charset="0"/>
                <a:cs typeface="Cambria" pitchFamily="34" charset="-120"/>
              </a:rPr>
              <a:t>Diseño de Arquitectura</a:t>
            </a:r>
            <a:endParaRPr lang="es-419" sz="3733" noProof="0">
              <a:latin typeface="Roboto Bk" pitchFamily="2" charset="0"/>
              <a:ea typeface="Roboto Bk" pitchFamily="2" charset="0"/>
            </a:endParaRPr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E3C7EE4E-9103-6422-AFF7-58AF6C6362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513" y="152721"/>
            <a:ext cx="1745877" cy="404490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0A6FDFAC-80EC-810B-0F57-07E536C97BAF}"/>
              </a:ext>
            </a:extLst>
          </p:cNvPr>
          <p:cNvSpPr/>
          <p:nvPr/>
        </p:nvSpPr>
        <p:spPr>
          <a:xfrm>
            <a:off x="8143876" y="167447"/>
            <a:ext cx="3095850" cy="5816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 algn="r">
              <a:defRPr/>
            </a:pPr>
            <a:r>
              <a:rPr lang="es-419" sz="1400" b="1" noProof="0">
                <a:solidFill>
                  <a:schemeClr val="bg1">
                    <a:lumMod val="85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Flujo construcción de soluciones TI </a:t>
            </a:r>
            <a:endParaRPr lang="es-419" sz="1400" noProof="0">
              <a:solidFill>
                <a:schemeClr val="bg1">
                  <a:lumMod val="85000"/>
                </a:schemeClr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AA95A55-CF8F-BD14-E607-E7245BBB2571}"/>
              </a:ext>
            </a:extLst>
          </p:cNvPr>
          <p:cNvSpPr txBox="1"/>
          <p:nvPr/>
        </p:nvSpPr>
        <p:spPr>
          <a:xfrm>
            <a:off x="6905042" y="4876112"/>
            <a:ext cx="4815840" cy="1600438"/>
          </a:xfrm>
          <a:prstGeom prst="rect">
            <a:avLst/>
          </a:prstGeom>
          <a:noFill/>
          <a:ln>
            <a:solidFill>
              <a:schemeClr val="accent1"/>
            </a:solidFill>
            <a:prstDash val="sysDash"/>
          </a:ln>
        </p:spPr>
        <p:txBody>
          <a:bodyPr wrap="square" lIns="91440" tIns="45720" rIns="91440" bIns="45720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s-CO" sz="1400" i="1" kern="1200">
                <a:solidFill>
                  <a:schemeClr val="tx2">
                    <a:lumMod val="50000"/>
                  </a:schemeClr>
                </a:solidFill>
                <a:latin typeface="Roboto"/>
                <a:ea typeface="Roboto"/>
                <a:cs typeface="Calibri"/>
              </a:rPr>
              <a:t>El Líder Técnico  asegura que  la arquitectura entregada cumpla con los requerimientos técnicos y funcionales</a:t>
            </a:r>
            <a:r>
              <a:rPr lang="es-CO" sz="1400" i="1">
                <a:solidFill>
                  <a:schemeClr val="tx2">
                    <a:lumMod val="50000"/>
                  </a:schemeClr>
                </a:solidFill>
                <a:latin typeface="Roboto"/>
                <a:ea typeface="Roboto"/>
                <a:cs typeface="Calibri"/>
              </a:rPr>
              <a:t>. Es le responsable de que la implementación cumpla con la arquitectura.</a:t>
            </a:r>
            <a:endParaRPr lang="es-CO" sz="1400" i="1" kern="1200">
              <a:solidFill>
                <a:schemeClr val="tx2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  <a:p>
            <a:pPr marL="285750" indent="-285750">
              <a:buFont typeface="Arial"/>
              <a:buChar char="•"/>
            </a:pPr>
            <a:r>
              <a:rPr lang="es-CO" sz="1400" i="1">
                <a:solidFill>
                  <a:srgbClr val="FF0000"/>
                </a:solidFill>
                <a:latin typeface="Roboto"/>
                <a:ea typeface="Roboto"/>
                <a:cs typeface="Calibri"/>
              </a:rPr>
              <a:t>La arquitectura  entregada puede impactar temas de dimensionamiento lo cual genera ajustes en el caso de negocio,  presupuesto  y capacidad</a:t>
            </a:r>
            <a:endParaRPr lang="es-CO" sz="1400" i="1" kern="1200">
              <a:solidFill>
                <a:srgbClr val="222A35"/>
              </a:solidFill>
              <a:latin typeface="Roboto"/>
              <a:ea typeface="Roboto"/>
              <a:cs typeface="Calibri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8A1DF8A4-D187-AC6A-2167-B8CB2F3A11DB}"/>
              </a:ext>
            </a:extLst>
          </p:cNvPr>
          <p:cNvSpPr txBox="1"/>
          <p:nvPr/>
        </p:nvSpPr>
        <p:spPr>
          <a:xfrm>
            <a:off x="5144404" y="30325"/>
            <a:ext cx="159164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219170"/>
            <a:r>
              <a:rPr lang="es-419" sz="1200" b="1" noProof="0">
                <a:solidFill>
                  <a:srgbClr val="1B2A5E"/>
                </a:solidFill>
                <a:highlight>
                  <a:srgbClr val="FFFF00"/>
                </a:highligh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Juan  Ma + Lina + Aleyda +  Monica</a:t>
            </a:r>
          </a:p>
          <a:p>
            <a:pPr algn="ctr" defTabSz="1219170"/>
            <a:endParaRPr lang="es-419" sz="1200" b="1">
              <a:solidFill>
                <a:srgbClr val="1B2A5E"/>
              </a:solidFill>
              <a:highlight>
                <a:srgbClr val="FFFF00"/>
              </a:highlight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ctr" defTabSz="1219170"/>
            <a:r>
              <a:rPr lang="es-419" sz="1200" b="1" noProof="0">
                <a:solidFill>
                  <a:srgbClr val="1B2A5E"/>
                </a:solidFill>
                <a:highlight>
                  <a:srgbClr val="FFFF00"/>
                </a:highligh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8804609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DF5F8-7457-AAAA-AB6B-775762BBF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>
            <a:extLst>
              <a:ext uri="{FF2B5EF4-FFF2-40B4-BE49-F238E27FC236}">
                <a16:creationId xmlns:a16="http://schemas.microsoft.com/office/drawing/2014/main" id="{4EA57533-076B-50B5-2EBA-CAC0998DCBFC}"/>
              </a:ext>
            </a:extLst>
          </p:cNvPr>
          <p:cNvSpPr/>
          <p:nvPr/>
        </p:nvSpPr>
        <p:spPr>
          <a:xfrm>
            <a:off x="731520" y="156057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600" b="1" kern="0" spc="267" noProof="0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EN QUÉ CONSISTE</a:t>
            </a:r>
            <a:endParaRPr lang="es-419" sz="1600" noProof="0">
              <a:latin typeface="Roboto" pitchFamily="2" charset="0"/>
              <a:ea typeface="Roboto" pitchFamily="2" charset="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E0C278A-F7EF-A53A-06A0-214D414F3B09}"/>
              </a:ext>
            </a:extLst>
          </p:cNvPr>
          <p:cNvSpPr/>
          <p:nvPr/>
        </p:nvSpPr>
        <p:spPr>
          <a:xfrm>
            <a:off x="731520" y="2005043"/>
            <a:ext cx="5266944" cy="1050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400" b="0" u="none" strike="noStrike" kern="1200" cap="none" spc="0" normalizeH="0" baseline="0" noProof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Calibri" pitchFamily="34" charset="-120"/>
              </a:rPr>
              <a:t>identificar, analizar y mitigar amenazas en etapas tempranas del desarrollo de software. Su propósito es anticiparse a posibles vectores de ataque, reducir el riesgo de vulnerabilidades en producción y habilitar despliegues más ágiles, seguros y controlados de los aplicativos de la compañía.</a:t>
            </a:r>
            <a:endParaRPr kumimoji="0" lang="en-US" sz="1400" b="0" u="none" strike="noStrike" kern="1200" cap="none" spc="0" normalizeH="0" baseline="0" noProof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uLnTx/>
              <a:uFillTx/>
              <a:latin typeface="Roboto" pitchFamily="2" charset="0"/>
              <a:ea typeface="Roboto" pitchFamily="2" charset="0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9DE5AF6E-74D2-2CD8-443C-792FB741414C}"/>
              </a:ext>
            </a:extLst>
          </p:cNvPr>
          <p:cNvSpPr/>
          <p:nvPr/>
        </p:nvSpPr>
        <p:spPr>
          <a:xfrm>
            <a:off x="6862811" y="3286594"/>
            <a:ext cx="4815840" cy="1731562"/>
          </a:xfrm>
          <a:prstGeom prst="roundRect">
            <a:avLst>
              <a:gd name="adj" fmla="val 3902"/>
            </a:avLst>
          </a:prstGeom>
          <a:solidFill>
            <a:srgbClr val="EEF4FC"/>
          </a:solidFill>
          <a:ln/>
        </p:spPr>
        <p:txBody>
          <a:bodyPr lIns="91440" tIns="45720" rIns="91440" bIns="45720" anchor="ctr"/>
          <a:lstStyle/>
          <a:p>
            <a:r>
              <a:rPr lang="es-ES" sz="1400" b="1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</a:rPr>
              <a:t>Artefacto de diseño</a:t>
            </a:r>
            <a:r>
              <a:rPr lang="es-ES" sz="14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</a:rPr>
              <a:t> de seguridad con las amenazas y controles a implementar.</a:t>
            </a:r>
          </a:p>
          <a:p>
            <a:endParaRPr lang="es-ES" sz="1400">
              <a:solidFill>
                <a:schemeClr val="accent1">
                  <a:lumMod val="50000"/>
                </a:schemeClr>
              </a:solidFill>
              <a:latin typeface="Roboto"/>
              <a:ea typeface="Roboto"/>
              <a:cs typeface="Roboto"/>
            </a:endParaRPr>
          </a:p>
          <a:p>
            <a:r>
              <a:rPr lang="es-ES" sz="1400" b="1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Roboto"/>
              </a:rPr>
              <a:t>Recolección de evidencias</a:t>
            </a:r>
            <a:r>
              <a:rPr lang="es-ES" sz="140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Roboto"/>
              </a:rPr>
              <a:t> por parte del especialista de TI asegurando la implementación de los controles definidos.</a:t>
            </a:r>
            <a:endParaRPr lang="es-E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711E0B54-34A5-FD21-E65B-02BCB3441EAF}"/>
              </a:ext>
            </a:extLst>
          </p:cNvPr>
          <p:cNvSpPr/>
          <p:nvPr/>
        </p:nvSpPr>
        <p:spPr>
          <a:xfrm>
            <a:off x="6069993" y="121765"/>
            <a:ext cx="4267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s-419" sz="1400" i="1" noProof="0">
              <a:solidFill>
                <a:srgbClr val="5B6B82"/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29D8580C-F526-07E3-D4E0-D88808E56133}"/>
              </a:ext>
            </a:extLst>
          </p:cNvPr>
          <p:cNvSpPr/>
          <p:nvPr/>
        </p:nvSpPr>
        <p:spPr>
          <a:xfrm>
            <a:off x="705513" y="3329940"/>
            <a:ext cx="536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600" b="1" kern="0" spc="267" noProof="0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ACTIVIDADES CLAVE</a:t>
            </a:r>
            <a:endParaRPr lang="es-419" sz="1600" noProof="0">
              <a:latin typeface="Roboto" pitchFamily="2" charset="0"/>
              <a:ea typeface="Roboto" pitchFamily="2" charset="0"/>
            </a:endParaRPr>
          </a:p>
        </p:txBody>
      </p:sp>
      <p:sp>
        <p:nvSpPr>
          <p:cNvPr id="27" name="Shape 22">
            <a:extLst>
              <a:ext uri="{FF2B5EF4-FFF2-40B4-BE49-F238E27FC236}">
                <a16:creationId xmlns:a16="http://schemas.microsoft.com/office/drawing/2014/main" id="{3EC9148D-9F4D-B6BB-1CFA-01C3D6BD0074}"/>
              </a:ext>
            </a:extLst>
          </p:cNvPr>
          <p:cNvSpPr/>
          <p:nvPr/>
        </p:nvSpPr>
        <p:spPr>
          <a:xfrm>
            <a:off x="879445" y="3838974"/>
            <a:ext cx="288000" cy="288000"/>
          </a:xfrm>
          <a:prstGeom prst="ellipse">
            <a:avLst/>
          </a:prstGeom>
          <a:solidFill>
            <a:srgbClr val="0E9594"/>
          </a:solidFill>
          <a:ln w="12700">
            <a:solidFill>
              <a:srgbClr val="0E9594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1</a:t>
            </a:r>
          </a:p>
        </p:txBody>
      </p:sp>
      <p:sp>
        <p:nvSpPr>
          <p:cNvPr id="30" name="Shape 25">
            <a:extLst>
              <a:ext uri="{FF2B5EF4-FFF2-40B4-BE49-F238E27FC236}">
                <a16:creationId xmlns:a16="http://schemas.microsoft.com/office/drawing/2014/main" id="{A34D2674-7A28-F645-30A9-A9CC1F77B28F}"/>
              </a:ext>
            </a:extLst>
          </p:cNvPr>
          <p:cNvSpPr/>
          <p:nvPr/>
        </p:nvSpPr>
        <p:spPr>
          <a:xfrm>
            <a:off x="879445" y="4312920"/>
            <a:ext cx="288000" cy="288000"/>
          </a:xfrm>
          <a:prstGeom prst="ellipse">
            <a:avLst/>
          </a:prstGeom>
          <a:solidFill>
            <a:srgbClr val="0E9594"/>
          </a:solidFill>
          <a:ln w="12700">
            <a:solidFill>
              <a:srgbClr val="0E9594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2</a:t>
            </a:r>
          </a:p>
        </p:txBody>
      </p:sp>
      <p:sp>
        <p:nvSpPr>
          <p:cNvPr id="33" name="Shape 28">
            <a:extLst>
              <a:ext uri="{FF2B5EF4-FFF2-40B4-BE49-F238E27FC236}">
                <a16:creationId xmlns:a16="http://schemas.microsoft.com/office/drawing/2014/main" id="{3EC3A6BF-1BA2-86CD-1CBA-DE6FA2F6774B}"/>
              </a:ext>
            </a:extLst>
          </p:cNvPr>
          <p:cNvSpPr/>
          <p:nvPr/>
        </p:nvSpPr>
        <p:spPr>
          <a:xfrm>
            <a:off x="879445" y="4788408"/>
            <a:ext cx="288000" cy="288000"/>
          </a:xfrm>
          <a:prstGeom prst="ellipse">
            <a:avLst/>
          </a:prstGeom>
          <a:solidFill>
            <a:srgbClr val="0E9594"/>
          </a:solidFill>
          <a:ln w="12700">
            <a:solidFill>
              <a:srgbClr val="0E9594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3</a:t>
            </a:r>
          </a:p>
        </p:txBody>
      </p:sp>
      <p:sp>
        <p:nvSpPr>
          <p:cNvPr id="36" name="Shape 31">
            <a:extLst>
              <a:ext uri="{FF2B5EF4-FFF2-40B4-BE49-F238E27FC236}">
                <a16:creationId xmlns:a16="http://schemas.microsoft.com/office/drawing/2014/main" id="{6DEE05F5-A1E2-EDFA-6056-151AB441FB23}"/>
              </a:ext>
            </a:extLst>
          </p:cNvPr>
          <p:cNvSpPr/>
          <p:nvPr/>
        </p:nvSpPr>
        <p:spPr>
          <a:xfrm>
            <a:off x="879445" y="5263896"/>
            <a:ext cx="288000" cy="288000"/>
          </a:xfrm>
          <a:prstGeom prst="ellipse">
            <a:avLst/>
          </a:prstGeom>
          <a:solidFill>
            <a:srgbClr val="0E9594"/>
          </a:solidFill>
          <a:ln w="12700">
            <a:solidFill>
              <a:srgbClr val="0E9594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4</a:t>
            </a:r>
          </a:p>
        </p:txBody>
      </p:sp>
      <p:sp>
        <p:nvSpPr>
          <p:cNvPr id="47" name="Text 49">
            <a:extLst>
              <a:ext uri="{FF2B5EF4-FFF2-40B4-BE49-F238E27FC236}">
                <a16:creationId xmlns:a16="http://schemas.microsoft.com/office/drawing/2014/main" id="{D64A8D4A-BA0F-D253-56F5-8ED22FA9E75E}"/>
              </a:ext>
            </a:extLst>
          </p:cNvPr>
          <p:cNvSpPr/>
          <p:nvPr/>
        </p:nvSpPr>
        <p:spPr>
          <a:xfrm>
            <a:off x="9366306" y="3553813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s-419" sz="750" noProof="0"/>
          </a:p>
        </p:txBody>
      </p:sp>
      <p:sp>
        <p:nvSpPr>
          <p:cNvPr id="48" name="Text 7">
            <a:extLst>
              <a:ext uri="{FF2B5EF4-FFF2-40B4-BE49-F238E27FC236}">
                <a16:creationId xmlns:a16="http://schemas.microsoft.com/office/drawing/2014/main" id="{57DA4C01-DF4D-24CF-EFA5-C8D3A902D82F}"/>
              </a:ext>
            </a:extLst>
          </p:cNvPr>
          <p:cNvSpPr/>
          <p:nvPr/>
        </p:nvSpPr>
        <p:spPr>
          <a:xfrm>
            <a:off x="6972526" y="2831061"/>
            <a:ext cx="426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600" b="1" kern="0" spc="267" noProof="0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Entregable: Diseño de seguridad</a:t>
            </a:r>
            <a:endParaRPr lang="es-419" sz="1600" noProof="0">
              <a:latin typeface="Roboto" pitchFamily="2" charset="0"/>
              <a:ea typeface="Roboto" pitchFamily="2" charset="0"/>
            </a:endParaRPr>
          </a:p>
        </p:txBody>
      </p:sp>
      <p:sp>
        <p:nvSpPr>
          <p:cNvPr id="56" name="Text 11">
            <a:extLst>
              <a:ext uri="{FF2B5EF4-FFF2-40B4-BE49-F238E27FC236}">
                <a16:creationId xmlns:a16="http://schemas.microsoft.com/office/drawing/2014/main" id="{2EDECA56-7A71-A83C-E0C9-F0F891E5A740}"/>
              </a:ext>
            </a:extLst>
          </p:cNvPr>
          <p:cNvSpPr/>
          <p:nvPr/>
        </p:nvSpPr>
        <p:spPr>
          <a:xfrm>
            <a:off x="6846207" y="953551"/>
            <a:ext cx="44338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600" b="1" kern="0" spc="267" noProof="0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ACTORES QUE INTERVIENEN</a:t>
            </a:r>
            <a:endParaRPr lang="es-419" sz="1600" noProof="0">
              <a:latin typeface="Roboto" pitchFamily="2" charset="0"/>
              <a:ea typeface="Roboto" pitchFamily="2" charset="0"/>
            </a:endParaRPr>
          </a:p>
        </p:txBody>
      </p:sp>
      <p:sp>
        <p:nvSpPr>
          <p:cNvPr id="57" name="Shape 16">
            <a:extLst>
              <a:ext uri="{FF2B5EF4-FFF2-40B4-BE49-F238E27FC236}">
                <a16:creationId xmlns:a16="http://schemas.microsoft.com/office/drawing/2014/main" id="{AD5E07D0-A655-A2BF-5733-7BF2D5897BAA}"/>
              </a:ext>
            </a:extLst>
          </p:cNvPr>
          <p:cNvSpPr/>
          <p:nvPr/>
        </p:nvSpPr>
        <p:spPr>
          <a:xfrm>
            <a:off x="6730520" y="1390854"/>
            <a:ext cx="2003552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 lIns="91440" tIns="45720" rIns="91440" bIns="45720" anchor="t"/>
          <a:lstStyle/>
          <a:p>
            <a:pPr algn="ctr"/>
            <a:r>
              <a:rPr lang="es-419" sz="1200" b="1">
                <a:solidFill>
                  <a:srgbClr val="1B2A5E"/>
                </a:solidFill>
                <a:latin typeface="Roboto Condensed"/>
                <a:ea typeface="Roboto Condensed"/>
                <a:cs typeface="Roboto Condensed"/>
              </a:rPr>
              <a:t>Estrategia de seguridad</a:t>
            </a:r>
            <a:endParaRPr lang="es-419" sz="1200" b="1" noProof="0">
              <a:solidFill>
                <a:srgbClr val="1B2A5E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59" name="Shape 16">
            <a:extLst>
              <a:ext uri="{FF2B5EF4-FFF2-40B4-BE49-F238E27FC236}">
                <a16:creationId xmlns:a16="http://schemas.microsoft.com/office/drawing/2014/main" id="{54C6989B-FD7A-9261-164C-AD4425347E7C}"/>
              </a:ext>
            </a:extLst>
          </p:cNvPr>
          <p:cNvSpPr/>
          <p:nvPr/>
        </p:nvSpPr>
        <p:spPr>
          <a:xfrm>
            <a:off x="8843337" y="1874018"/>
            <a:ext cx="2270377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/>
          <a:lstStyle/>
          <a:p>
            <a:pPr algn="ctr"/>
            <a:r>
              <a:rPr lang="es-419" sz="1200" b="1" noProof="0">
                <a:solidFill>
                  <a:srgbClr val="1B2A5E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Desarrollador</a:t>
            </a:r>
          </a:p>
        </p:txBody>
      </p:sp>
      <p:sp>
        <p:nvSpPr>
          <p:cNvPr id="60" name="Shape 16">
            <a:extLst>
              <a:ext uri="{FF2B5EF4-FFF2-40B4-BE49-F238E27FC236}">
                <a16:creationId xmlns:a16="http://schemas.microsoft.com/office/drawing/2014/main" id="{07C93B75-F122-ACF4-81E4-462390D03E4B}"/>
              </a:ext>
            </a:extLst>
          </p:cNvPr>
          <p:cNvSpPr/>
          <p:nvPr/>
        </p:nvSpPr>
        <p:spPr>
          <a:xfrm>
            <a:off x="6717669" y="1876985"/>
            <a:ext cx="2032580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/>
          <a:lstStyle/>
          <a:p>
            <a:pPr algn="ctr"/>
            <a:r>
              <a:rPr lang="es-419" sz="1200" b="1" noProof="0">
                <a:solidFill>
                  <a:srgbClr val="1B2A5E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Especialista TI</a:t>
            </a:r>
          </a:p>
        </p:txBody>
      </p:sp>
      <p:pic>
        <p:nvPicPr>
          <p:cNvPr id="61" name="Picture 2">
            <a:extLst>
              <a:ext uri="{FF2B5EF4-FFF2-40B4-BE49-F238E27FC236}">
                <a16:creationId xmlns:a16="http://schemas.microsoft.com/office/drawing/2014/main" id="{B8EFFF9E-D9D3-553C-D1A4-4197E85924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5157" y="196371"/>
            <a:ext cx="868630" cy="580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 24">
            <a:extLst>
              <a:ext uri="{FF2B5EF4-FFF2-40B4-BE49-F238E27FC236}">
                <a16:creationId xmlns:a16="http://schemas.microsoft.com/office/drawing/2014/main" id="{1EC9CF29-ACCB-E807-1DD8-D225FC7467AE}"/>
              </a:ext>
            </a:extLst>
          </p:cNvPr>
          <p:cNvSpPr/>
          <p:nvPr/>
        </p:nvSpPr>
        <p:spPr>
          <a:xfrm>
            <a:off x="1367994" y="3762434"/>
            <a:ext cx="411840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1200" noProof="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Identificar el sistema, aplicación o proceso a evaluar.</a:t>
            </a:r>
          </a:p>
        </p:txBody>
      </p:sp>
      <p:sp>
        <p:nvSpPr>
          <p:cNvPr id="9" name="Text 27">
            <a:extLst>
              <a:ext uri="{FF2B5EF4-FFF2-40B4-BE49-F238E27FC236}">
                <a16:creationId xmlns:a16="http://schemas.microsoft.com/office/drawing/2014/main" id="{3F392CEE-6890-9C48-1DF0-246A5ACA5E43}"/>
              </a:ext>
            </a:extLst>
          </p:cNvPr>
          <p:cNvSpPr/>
          <p:nvPr/>
        </p:nvSpPr>
        <p:spPr>
          <a:xfrm>
            <a:off x="1367994" y="4237922"/>
            <a:ext cx="411840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1200" noProof="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Determinar activos críticos, flujos de información y componentes.</a:t>
            </a:r>
          </a:p>
        </p:txBody>
      </p:sp>
      <p:sp>
        <p:nvSpPr>
          <p:cNvPr id="10" name="Text 30">
            <a:extLst>
              <a:ext uri="{FF2B5EF4-FFF2-40B4-BE49-F238E27FC236}">
                <a16:creationId xmlns:a16="http://schemas.microsoft.com/office/drawing/2014/main" id="{A4F3573F-98E8-73DE-0E4A-8A58A30E2A53}"/>
              </a:ext>
            </a:extLst>
          </p:cNvPr>
          <p:cNvSpPr/>
          <p:nvPr/>
        </p:nvSpPr>
        <p:spPr>
          <a:xfrm>
            <a:off x="1367995" y="4713410"/>
            <a:ext cx="4132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1200" noProof="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Detectar posibles escenarios de abuso, ataques o fallos de seguridad.</a:t>
            </a:r>
          </a:p>
        </p:txBody>
      </p:sp>
      <p:sp>
        <p:nvSpPr>
          <p:cNvPr id="11" name="Text 36">
            <a:extLst>
              <a:ext uri="{FF2B5EF4-FFF2-40B4-BE49-F238E27FC236}">
                <a16:creationId xmlns:a16="http://schemas.microsoft.com/office/drawing/2014/main" id="{F76DBCE2-4A48-902F-4DB1-E36DCA292866}"/>
              </a:ext>
            </a:extLst>
          </p:cNvPr>
          <p:cNvSpPr/>
          <p:nvPr/>
        </p:nvSpPr>
        <p:spPr>
          <a:xfrm>
            <a:off x="1381709" y="5216330"/>
            <a:ext cx="411840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1200" noProof="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Proponer controles de seguridad para mitigar las amenazas identificadas.</a:t>
            </a: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BD750684-2D2C-F244-1996-25C707E15F3C}"/>
              </a:ext>
            </a:extLst>
          </p:cNvPr>
          <p:cNvSpPr/>
          <p:nvPr/>
        </p:nvSpPr>
        <p:spPr>
          <a:xfrm>
            <a:off x="8843337" y="1386007"/>
            <a:ext cx="2251820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/>
          <a:lstStyle/>
          <a:p>
            <a:pPr algn="ctr"/>
            <a:r>
              <a:rPr lang="es-419" sz="1200" b="1">
                <a:solidFill>
                  <a:srgbClr val="1B2A5E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Líder de Célula</a:t>
            </a:r>
          </a:p>
          <a:p>
            <a:pPr algn="ctr"/>
            <a:endParaRPr lang="es-419" sz="1200" b="1" noProof="0">
              <a:solidFill>
                <a:srgbClr val="1B2A5E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A44BC3B9-EC5F-742C-B568-4768E9D762A5}"/>
              </a:ext>
            </a:extLst>
          </p:cNvPr>
          <p:cNvSpPr>
            <a:spLocks noChangeAspect="1"/>
          </p:cNvSpPr>
          <p:nvPr/>
        </p:nvSpPr>
        <p:spPr>
          <a:xfrm>
            <a:off x="705513" y="725269"/>
            <a:ext cx="720000" cy="720000"/>
          </a:xfrm>
          <a:prstGeom prst="ellipse">
            <a:avLst/>
          </a:prstGeom>
          <a:solidFill>
            <a:srgbClr val="0E9594"/>
          </a:solidFill>
          <a:ln/>
        </p:spPr>
        <p:txBody>
          <a:bodyPr anchor="ctr"/>
          <a:lstStyle/>
          <a:p>
            <a:pPr algn="ctr"/>
            <a:r>
              <a:rPr lang="es-419" sz="3600">
                <a:solidFill>
                  <a:schemeClr val="bg1"/>
                </a:solidFill>
                <a:latin typeface="Roboto Bk" pitchFamily="2" charset="0"/>
                <a:ea typeface="Roboto Bk" pitchFamily="2" charset="0"/>
              </a:rPr>
              <a:t>3</a:t>
            </a:r>
            <a:endParaRPr lang="es-419" sz="3600" noProof="0">
              <a:solidFill>
                <a:schemeClr val="bg1"/>
              </a:solidFill>
              <a:latin typeface="Roboto Bk" pitchFamily="2" charset="0"/>
              <a:ea typeface="Roboto Bk" pitchFamily="2" charset="0"/>
            </a:endParaRPr>
          </a:p>
        </p:txBody>
      </p:sp>
      <p:sp>
        <p:nvSpPr>
          <p:cNvPr id="20" name="Text 2">
            <a:extLst>
              <a:ext uri="{FF2B5EF4-FFF2-40B4-BE49-F238E27FC236}">
                <a16:creationId xmlns:a16="http://schemas.microsoft.com/office/drawing/2014/main" id="{DF74B051-EFE0-8EC9-2314-A1C96B65A8B4}"/>
              </a:ext>
            </a:extLst>
          </p:cNvPr>
          <p:cNvSpPr/>
          <p:nvPr/>
        </p:nvSpPr>
        <p:spPr>
          <a:xfrm>
            <a:off x="1586696" y="658549"/>
            <a:ext cx="4968108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3733" b="1" noProof="0">
                <a:solidFill>
                  <a:srgbClr val="1B2A5E"/>
                </a:solidFill>
                <a:latin typeface="Roboto Bk" pitchFamily="2" charset="0"/>
                <a:ea typeface="Roboto Bk" pitchFamily="2" charset="0"/>
                <a:cs typeface="Cambria" pitchFamily="34" charset="-120"/>
              </a:rPr>
              <a:t>Diseño de Seguridad</a:t>
            </a:r>
            <a:endParaRPr lang="es-419" sz="3733" noProof="0">
              <a:latin typeface="Roboto Bk" pitchFamily="2" charset="0"/>
              <a:ea typeface="Roboto Bk" pitchFamily="2" charset="0"/>
            </a:endParaRPr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EB6149ED-8DD2-1B28-B9B8-5535677409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513" y="152721"/>
            <a:ext cx="1745877" cy="404490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6D58F2B2-D808-8378-6316-5F2DF400CFFA}"/>
              </a:ext>
            </a:extLst>
          </p:cNvPr>
          <p:cNvSpPr/>
          <p:nvPr/>
        </p:nvSpPr>
        <p:spPr>
          <a:xfrm>
            <a:off x="8143876" y="167447"/>
            <a:ext cx="3095850" cy="5816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 algn="r">
              <a:defRPr/>
            </a:pPr>
            <a:r>
              <a:rPr lang="es-419" sz="1400" b="1" noProof="0">
                <a:solidFill>
                  <a:schemeClr val="bg1">
                    <a:lumMod val="85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Flujo construcción de soluciones TI </a:t>
            </a:r>
            <a:endParaRPr lang="es-419" sz="1400" noProof="0">
              <a:solidFill>
                <a:schemeClr val="bg1">
                  <a:lumMod val="85000"/>
                </a:schemeClr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4" name="Shape 6">
            <a:extLst>
              <a:ext uri="{FF2B5EF4-FFF2-40B4-BE49-F238E27FC236}">
                <a16:creationId xmlns:a16="http://schemas.microsoft.com/office/drawing/2014/main" id="{23BDAD64-F746-8FE8-4588-3916FA9D1E3C}"/>
              </a:ext>
            </a:extLst>
          </p:cNvPr>
          <p:cNvSpPr/>
          <p:nvPr/>
        </p:nvSpPr>
        <p:spPr>
          <a:xfrm>
            <a:off x="6846207" y="5131363"/>
            <a:ext cx="4815840" cy="773086"/>
          </a:xfrm>
          <a:prstGeom prst="roundRect">
            <a:avLst>
              <a:gd name="adj" fmla="val 3902"/>
            </a:avLst>
          </a:prstGeom>
          <a:solidFill>
            <a:srgbClr val="EEF4FC"/>
          </a:solidFill>
          <a:ln/>
        </p:spPr>
        <p:txBody>
          <a:bodyPr lIns="91440" tIns="45720" rIns="91440" bIns="45720" anchor="ctr"/>
          <a:lstStyle/>
          <a:p>
            <a:r>
              <a:rPr lang="es-ES">
                <a:solidFill>
                  <a:srgbClr val="FF0000"/>
                </a:solidFill>
                <a:highlight>
                  <a:srgbClr val="FFFF00"/>
                </a:highlight>
              </a:rPr>
              <a:t>Por que medio se realiza esta solicitud! 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54DFAC30-2D60-7521-07FE-DC266CB5E47A}"/>
              </a:ext>
            </a:extLst>
          </p:cNvPr>
          <p:cNvSpPr txBox="1"/>
          <p:nvPr/>
        </p:nvSpPr>
        <p:spPr>
          <a:xfrm>
            <a:off x="4961867" y="135023"/>
            <a:ext cx="159164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219170"/>
            <a:r>
              <a:rPr lang="es-419" sz="1200" b="1" noProof="0">
                <a:solidFill>
                  <a:srgbClr val="1B2A5E"/>
                </a:solidFill>
                <a:highlight>
                  <a:srgbClr val="FFFF00"/>
                </a:highligh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RODAS-Revisar </a:t>
            </a:r>
          </a:p>
        </p:txBody>
      </p:sp>
    </p:spTree>
    <p:extLst>
      <p:ext uri="{BB962C8B-B14F-4D97-AF65-F5344CB8AC3E}">
        <p14:creationId xmlns:p14="http://schemas.microsoft.com/office/powerpoint/2010/main" val="13585056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E8E741-1945-B66D-01AE-E7137B117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>
            <a:extLst>
              <a:ext uri="{FF2B5EF4-FFF2-40B4-BE49-F238E27FC236}">
                <a16:creationId xmlns:a16="http://schemas.microsoft.com/office/drawing/2014/main" id="{3FB99992-F205-9A66-056D-B8607936297D}"/>
              </a:ext>
            </a:extLst>
          </p:cNvPr>
          <p:cNvSpPr/>
          <p:nvPr/>
        </p:nvSpPr>
        <p:spPr>
          <a:xfrm>
            <a:off x="731520" y="15610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600" b="1" kern="0" spc="267" noProof="0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EN QUÉ CONSISTE</a:t>
            </a:r>
            <a:endParaRPr lang="es-419" sz="1600" noProof="0">
              <a:latin typeface="Roboto" pitchFamily="2" charset="0"/>
              <a:ea typeface="Roboto" pitchFamily="2" charset="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5F132B9-2672-88F4-1FEE-922AED4D7BF3}"/>
              </a:ext>
            </a:extLst>
          </p:cNvPr>
          <p:cNvSpPr/>
          <p:nvPr/>
        </p:nvSpPr>
        <p:spPr>
          <a:xfrm>
            <a:off x="731520" y="2106635"/>
            <a:ext cx="5266944" cy="943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es-419" sz="1500">
                <a:solidFill>
                  <a:schemeClr val="accent1">
                    <a:lumMod val="50000"/>
                  </a:schemeClr>
                </a:solidFill>
              </a:rPr>
              <a:t>Análisis de costos y aprovisionamiento de la infraestructura en nube, así como la creación y configuración de repositorios de código fuente y la definición de pipelines CI/CD, garantizando la integración del ciclo de vida de software en Azure DevOps.</a:t>
            </a:r>
            <a:endParaRPr lang="en-US" sz="1500">
              <a:solidFill>
                <a:schemeClr val="accent1">
                  <a:lumMod val="50000"/>
                </a:schemeClr>
              </a:solidFill>
              <a:ea typeface="Calibri"/>
              <a:cs typeface="Calibri"/>
            </a:endParaRPr>
          </a:p>
          <a:p>
            <a:pPr algn="just"/>
            <a:endParaRPr lang="es-419" sz="1400">
              <a:solidFill>
                <a:schemeClr val="accent1">
                  <a:lumMod val="50000"/>
                </a:schemeClr>
              </a:solidFill>
              <a:latin typeface="Roboto"/>
              <a:ea typeface="Roboto"/>
              <a:cs typeface="Calibri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9D975002-8B5C-4CFF-3E10-A86FE10F82B1}"/>
              </a:ext>
            </a:extLst>
          </p:cNvPr>
          <p:cNvSpPr/>
          <p:nvPr/>
        </p:nvSpPr>
        <p:spPr>
          <a:xfrm>
            <a:off x="6862811" y="3608321"/>
            <a:ext cx="4815840" cy="1774097"/>
          </a:xfrm>
          <a:prstGeom prst="roundRect">
            <a:avLst>
              <a:gd name="adj" fmla="val 3902"/>
            </a:avLst>
          </a:prstGeom>
          <a:solidFill>
            <a:srgbClr val="EEF4FC"/>
          </a:solidFill>
          <a:ln/>
        </p:spPr>
        <p:txBody>
          <a:bodyPr lIns="91440" tIns="45720" rIns="91440" bIns="45720" anchor="ctr"/>
          <a:lstStyle/>
          <a:p>
            <a:pPr marL="171450" indent="-171450" algn="just">
              <a:buFont typeface="Wingdings" panose="05000000000000000000" pitchFamily="2" charset="2"/>
              <a:buChar char="§"/>
            </a:pPr>
            <a:endParaRPr lang="es-419" sz="1400" noProof="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  <a:p>
            <a:pPr marL="171450" indent="-171450" algn="just">
              <a:buFont typeface="Wingdings" panose="05000000000000000000" pitchFamily="2" charset="2"/>
              <a:buChar char="§"/>
            </a:pPr>
            <a:endParaRPr lang="es-419" sz="140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  <a:p>
            <a:pPr algn="just">
              <a:buFont typeface="Arial" panose="05000000000000000000" pitchFamily="2" charset="2"/>
              <a:buChar char="•"/>
            </a:pPr>
            <a:r>
              <a:rPr lang="es-419" sz="14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Segoe UI"/>
              </a:rPr>
              <a:t>Infraestructura desplegada y operativa </a:t>
            </a:r>
          </a:p>
          <a:p>
            <a:pPr algn="just"/>
            <a:r>
              <a:rPr lang="es-419" sz="14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Segoe UI"/>
              </a:rPr>
              <a:t> por ambiente.</a:t>
            </a:r>
            <a:endParaRPr lang="es-419" sz="140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anose="020F0502020204030204"/>
            </a:endParaRPr>
          </a:p>
          <a:p>
            <a:pPr algn="just">
              <a:buFont typeface="Arial" panose="05000000000000000000" pitchFamily="2" charset="2"/>
              <a:buChar char="•"/>
            </a:pPr>
            <a:r>
              <a:rPr lang="es-419" sz="14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Segoe UI"/>
              </a:rPr>
              <a:t>Repositorios estructurados y gobernados.</a:t>
            </a:r>
            <a:endParaRPr lang="es-419" sz="140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/>
            </a:endParaRPr>
          </a:p>
          <a:p>
            <a:pPr algn="just">
              <a:buFont typeface="Arial" panose="05000000000000000000" pitchFamily="2" charset="2"/>
              <a:buChar char="•"/>
            </a:pPr>
            <a:r>
              <a:rPr lang="es-419" sz="14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Segoe UI"/>
              </a:rPr>
              <a:t>Pipelines CI/CD creados y configurados.</a:t>
            </a:r>
            <a:endParaRPr lang="es-419" sz="140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/>
            </a:endParaRPr>
          </a:p>
          <a:p>
            <a:pPr algn="just"/>
            <a:endParaRPr lang="es-419" sz="140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  <a:cs typeface="Segoe UI"/>
            </a:endParaRPr>
          </a:p>
          <a:p>
            <a:pPr marL="171450" indent="-171450" algn="just">
              <a:buFont typeface="Wingdings" panose="05000000000000000000" pitchFamily="2" charset="2"/>
              <a:buChar char="§"/>
            </a:pPr>
            <a:endParaRPr lang="es-419" sz="140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  <a:p>
            <a:pPr marL="171450" indent="-171450" algn="just">
              <a:buFont typeface="Wingdings" panose="05000000000000000000" pitchFamily="2" charset="2"/>
              <a:buChar char="§"/>
            </a:pPr>
            <a:endParaRPr lang="es-419" sz="140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  <a:p>
            <a:pPr algn="just"/>
            <a:endParaRPr lang="es-419" sz="140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D36C53F2-988E-D101-36DC-C7EA2576AB38}"/>
              </a:ext>
            </a:extLst>
          </p:cNvPr>
          <p:cNvSpPr/>
          <p:nvPr/>
        </p:nvSpPr>
        <p:spPr>
          <a:xfrm>
            <a:off x="6069993" y="121765"/>
            <a:ext cx="4267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s-419" sz="1400" i="1" noProof="0">
              <a:solidFill>
                <a:srgbClr val="5B6B82"/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3A671346-C088-C74F-337F-A5FF2357E09C}"/>
              </a:ext>
            </a:extLst>
          </p:cNvPr>
          <p:cNvSpPr/>
          <p:nvPr/>
        </p:nvSpPr>
        <p:spPr>
          <a:xfrm>
            <a:off x="705513" y="3177540"/>
            <a:ext cx="536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600" b="1" kern="0" spc="267" noProof="0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ACTIVIDADES CLAVE</a:t>
            </a:r>
            <a:endParaRPr lang="es-419" sz="1600" noProof="0">
              <a:latin typeface="Roboto" pitchFamily="2" charset="0"/>
              <a:ea typeface="Roboto" pitchFamily="2" charset="0"/>
            </a:endParaRPr>
          </a:p>
        </p:txBody>
      </p:sp>
      <p:sp>
        <p:nvSpPr>
          <p:cNvPr id="27" name="Shape 22">
            <a:extLst>
              <a:ext uri="{FF2B5EF4-FFF2-40B4-BE49-F238E27FC236}">
                <a16:creationId xmlns:a16="http://schemas.microsoft.com/office/drawing/2014/main" id="{235277BB-EAB7-AE11-371A-9889100B10ED}"/>
              </a:ext>
            </a:extLst>
          </p:cNvPr>
          <p:cNvSpPr/>
          <p:nvPr/>
        </p:nvSpPr>
        <p:spPr>
          <a:xfrm>
            <a:off x="879445" y="3686574"/>
            <a:ext cx="288000" cy="288000"/>
          </a:xfrm>
          <a:prstGeom prst="ellipse">
            <a:avLst/>
          </a:prstGeom>
          <a:solidFill>
            <a:srgbClr val="0E9594"/>
          </a:solidFill>
          <a:ln w="12700">
            <a:solidFill>
              <a:srgbClr val="0E9594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1</a:t>
            </a:r>
          </a:p>
        </p:txBody>
      </p:sp>
      <p:sp>
        <p:nvSpPr>
          <p:cNvPr id="30" name="Shape 25">
            <a:extLst>
              <a:ext uri="{FF2B5EF4-FFF2-40B4-BE49-F238E27FC236}">
                <a16:creationId xmlns:a16="http://schemas.microsoft.com/office/drawing/2014/main" id="{34029D32-D9DF-E9ED-D8CF-4B57D512B230}"/>
              </a:ext>
            </a:extLst>
          </p:cNvPr>
          <p:cNvSpPr/>
          <p:nvPr/>
        </p:nvSpPr>
        <p:spPr>
          <a:xfrm>
            <a:off x="879445" y="4160520"/>
            <a:ext cx="288000" cy="288000"/>
          </a:xfrm>
          <a:prstGeom prst="ellipse">
            <a:avLst/>
          </a:prstGeom>
          <a:solidFill>
            <a:srgbClr val="0E9594"/>
          </a:solidFill>
          <a:ln w="12700">
            <a:solidFill>
              <a:srgbClr val="0E9594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2</a:t>
            </a:r>
          </a:p>
        </p:txBody>
      </p:sp>
      <p:sp>
        <p:nvSpPr>
          <p:cNvPr id="33" name="Shape 28">
            <a:extLst>
              <a:ext uri="{FF2B5EF4-FFF2-40B4-BE49-F238E27FC236}">
                <a16:creationId xmlns:a16="http://schemas.microsoft.com/office/drawing/2014/main" id="{944FCDAE-8B85-58CA-8409-AEAAE72EFD26}"/>
              </a:ext>
            </a:extLst>
          </p:cNvPr>
          <p:cNvSpPr/>
          <p:nvPr/>
        </p:nvSpPr>
        <p:spPr>
          <a:xfrm>
            <a:off x="879445" y="4636008"/>
            <a:ext cx="288000" cy="288000"/>
          </a:xfrm>
          <a:prstGeom prst="ellipse">
            <a:avLst/>
          </a:prstGeom>
          <a:solidFill>
            <a:srgbClr val="0E9594"/>
          </a:solidFill>
          <a:ln w="12700">
            <a:solidFill>
              <a:srgbClr val="0E9594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3</a:t>
            </a:r>
          </a:p>
        </p:txBody>
      </p:sp>
      <p:sp>
        <p:nvSpPr>
          <p:cNvPr id="36" name="Shape 31">
            <a:extLst>
              <a:ext uri="{FF2B5EF4-FFF2-40B4-BE49-F238E27FC236}">
                <a16:creationId xmlns:a16="http://schemas.microsoft.com/office/drawing/2014/main" id="{71563CC7-770B-5D21-A0D8-AFF0D99882FC}"/>
              </a:ext>
            </a:extLst>
          </p:cNvPr>
          <p:cNvSpPr/>
          <p:nvPr/>
        </p:nvSpPr>
        <p:spPr>
          <a:xfrm>
            <a:off x="879445" y="5111496"/>
            <a:ext cx="288000" cy="288000"/>
          </a:xfrm>
          <a:prstGeom prst="ellipse">
            <a:avLst/>
          </a:prstGeom>
          <a:solidFill>
            <a:srgbClr val="0E9594"/>
          </a:solidFill>
          <a:ln w="12700">
            <a:solidFill>
              <a:srgbClr val="0E9594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4</a:t>
            </a:r>
          </a:p>
        </p:txBody>
      </p:sp>
      <p:sp>
        <p:nvSpPr>
          <p:cNvPr id="39" name="Shape 34">
            <a:extLst>
              <a:ext uri="{FF2B5EF4-FFF2-40B4-BE49-F238E27FC236}">
                <a16:creationId xmlns:a16="http://schemas.microsoft.com/office/drawing/2014/main" id="{0EC42681-C69C-4AF4-071A-4410866EA425}"/>
              </a:ext>
            </a:extLst>
          </p:cNvPr>
          <p:cNvSpPr/>
          <p:nvPr/>
        </p:nvSpPr>
        <p:spPr>
          <a:xfrm>
            <a:off x="879445" y="5586984"/>
            <a:ext cx="288000" cy="288000"/>
          </a:xfrm>
          <a:prstGeom prst="ellipse">
            <a:avLst/>
          </a:prstGeom>
          <a:solidFill>
            <a:srgbClr val="0E9594"/>
          </a:solidFill>
          <a:ln w="12700">
            <a:solidFill>
              <a:srgbClr val="0E9594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5</a:t>
            </a:r>
          </a:p>
        </p:txBody>
      </p:sp>
      <p:sp>
        <p:nvSpPr>
          <p:cNvPr id="48" name="Text 7">
            <a:extLst>
              <a:ext uri="{FF2B5EF4-FFF2-40B4-BE49-F238E27FC236}">
                <a16:creationId xmlns:a16="http://schemas.microsoft.com/office/drawing/2014/main" id="{D2141606-0C33-BED8-833A-7606799561C7}"/>
              </a:ext>
            </a:extLst>
          </p:cNvPr>
          <p:cNvSpPr/>
          <p:nvPr/>
        </p:nvSpPr>
        <p:spPr>
          <a:xfrm>
            <a:off x="6878097" y="3246674"/>
            <a:ext cx="479697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600" b="1" kern="0" spc="267" noProof="0">
                <a:solidFill>
                  <a:srgbClr val="2E5FA3"/>
                </a:solidFill>
                <a:latin typeface="Roboto"/>
                <a:ea typeface="Roboto"/>
                <a:cs typeface="Calibri"/>
              </a:rPr>
              <a:t>Entregable:</a:t>
            </a:r>
            <a:r>
              <a:rPr lang="es-419" sz="1600" b="1" kern="0" spc="267">
                <a:solidFill>
                  <a:srgbClr val="2E5FA3"/>
                </a:solidFill>
                <a:latin typeface="Roboto"/>
                <a:ea typeface="Roboto"/>
                <a:cs typeface="Calibri"/>
              </a:rPr>
              <a:t> Recursos aprovisionados/desplegados.</a:t>
            </a:r>
            <a:endParaRPr lang="es-419" sz="1600" b="1" kern="0" spc="267">
              <a:solidFill>
                <a:srgbClr val="2E5FA3"/>
              </a:solidFill>
              <a:latin typeface="Roboto" pitchFamily="2" charset="0"/>
              <a:ea typeface="Roboto" pitchFamily="2" charset="0"/>
              <a:cs typeface="Calibri"/>
            </a:endParaRPr>
          </a:p>
          <a:p>
            <a:endParaRPr lang="es-419" sz="1600" b="1" kern="0" spc="267" noProof="0">
              <a:solidFill>
                <a:srgbClr val="2E5FA3"/>
              </a:solidFill>
              <a:latin typeface="Roboto" pitchFamily="2" charset="0"/>
              <a:ea typeface="Roboto" pitchFamily="2" charset="0"/>
              <a:cs typeface="Calibri"/>
            </a:endParaRPr>
          </a:p>
        </p:txBody>
      </p:sp>
      <p:sp>
        <p:nvSpPr>
          <p:cNvPr id="56" name="Text 11">
            <a:extLst>
              <a:ext uri="{FF2B5EF4-FFF2-40B4-BE49-F238E27FC236}">
                <a16:creationId xmlns:a16="http://schemas.microsoft.com/office/drawing/2014/main" id="{B3AB3953-ADCE-18D6-6259-4AF513B8B788}"/>
              </a:ext>
            </a:extLst>
          </p:cNvPr>
          <p:cNvSpPr/>
          <p:nvPr/>
        </p:nvSpPr>
        <p:spPr>
          <a:xfrm>
            <a:off x="6862811" y="1606211"/>
            <a:ext cx="44338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600" b="1" kern="0" spc="267" noProof="0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ACTORES QUE INTERVIENEN</a:t>
            </a:r>
            <a:endParaRPr lang="es-419" sz="1600" noProof="0">
              <a:latin typeface="Roboto" pitchFamily="2" charset="0"/>
              <a:ea typeface="Roboto" pitchFamily="2" charset="0"/>
            </a:endParaRPr>
          </a:p>
        </p:txBody>
      </p:sp>
      <p:sp>
        <p:nvSpPr>
          <p:cNvPr id="57" name="Shape 16">
            <a:extLst>
              <a:ext uri="{FF2B5EF4-FFF2-40B4-BE49-F238E27FC236}">
                <a16:creationId xmlns:a16="http://schemas.microsoft.com/office/drawing/2014/main" id="{7B5E4585-8194-8CEF-CBA1-BD78646F2BE8}"/>
              </a:ext>
            </a:extLst>
          </p:cNvPr>
          <p:cNvSpPr/>
          <p:nvPr/>
        </p:nvSpPr>
        <p:spPr>
          <a:xfrm>
            <a:off x="6821157" y="2594284"/>
            <a:ext cx="2016000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/>
          <a:lstStyle/>
          <a:p>
            <a:pPr algn="ctr"/>
            <a:r>
              <a:rPr lang="es-419" sz="1200" b="1">
                <a:solidFill>
                  <a:srgbClr val="1B2A5E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Líder Técnico </a:t>
            </a:r>
          </a:p>
          <a:p>
            <a:pPr algn="ctr"/>
            <a:endParaRPr lang="es-419" sz="1200" b="1" noProof="0">
              <a:solidFill>
                <a:srgbClr val="1B2A5E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60" name="Shape 16">
            <a:extLst>
              <a:ext uri="{FF2B5EF4-FFF2-40B4-BE49-F238E27FC236}">
                <a16:creationId xmlns:a16="http://schemas.microsoft.com/office/drawing/2014/main" id="{ED83E817-7CD0-398D-2DD2-C4529645EE7D}"/>
              </a:ext>
            </a:extLst>
          </p:cNvPr>
          <p:cNvSpPr/>
          <p:nvPr/>
        </p:nvSpPr>
        <p:spPr>
          <a:xfrm>
            <a:off x="6821157" y="2063605"/>
            <a:ext cx="2016000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/>
          <a:lstStyle/>
          <a:p>
            <a:pPr algn="ctr"/>
            <a:r>
              <a:rPr lang="es-419" sz="1200" b="1" noProof="0">
                <a:solidFill>
                  <a:srgbClr val="1B2A5E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Especialista Técnico</a:t>
            </a:r>
          </a:p>
        </p:txBody>
      </p:sp>
      <p:pic>
        <p:nvPicPr>
          <p:cNvPr id="61" name="Picture 2">
            <a:extLst>
              <a:ext uri="{FF2B5EF4-FFF2-40B4-BE49-F238E27FC236}">
                <a16:creationId xmlns:a16="http://schemas.microsoft.com/office/drawing/2014/main" id="{158112CD-2F0F-DECB-910C-90E669AAE8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5157" y="196371"/>
            <a:ext cx="868630" cy="580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 24">
            <a:extLst>
              <a:ext uri="{FF2B5EF4-FFF2-40B4-BE49-F238E27FC236}">
                <a16:creationId xmlns:a16="http://schemas.microsoft.com/office/drawing/2014/main" id="{5D5E5C99-B2A2-81A6-5649-E037854F939A}"/>
              </a:ext>
            </a:extLst>
          </p:cNvPr>
          <p:cNvSpPr/>
          <p:nvPr/>
        </p:nvSpPr>
        <p:spPr>
          <a:xfrm>
            <a:off x="1367994" y="3610034"/>
            <a:ext cx="411840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>
                <a:solidFill>
                  <a:schemeClr val="accent1">
                    <a:lumMod val="50000"/>
                  </a:schemeClr>
                </a:solidFill>
                <a:latin typeface="Roboto"/>
                <a:ea typeface="Roboto"/>
                <a:cs typeface="Calibri"/>
              </a:rPr>
              <a:t>Contextualización de la iniciativa.</a:t>
            </a:r>
            <a:endParaRPr lang="es-419" sz="120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</p:txBody>
      </p:sp>
      <p:sp>
        <p:nvSpPr>
          <p:cNvPr id="9" name="Text 27">
            <a:extLst>
              <a:ext uri="{FF2B5EF4-FFF2-40B4-BE49-F238E27FC236}">
                <a16:creationId xmlns:a16="http://schemas.microsoft.com/office/drawing/2014/main" id="{779A537E-953B-A5F6-B120-5AD3FD147B39}"/>
              </a:ext>
            </a:extLst>
          </p:cNvPr>
          <p:cNvSpPr/>
          <p:nvPr/>
        </p:nvSpPr>
        <p:spPr>
          <a:xfrm>
            <a:off x="1367994" y="5060114"/>
            <a:ext cx="411840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>
                <a:solidFill>
                  <a:schemeClr val="accent1">
                    <a:lumMod val="50000"/>
                  </a:schemeClr>
                </a:solidFill>
                <a:latin typeface="Roboto"/>
                <a:ea typeface="Roboto"/>
                <a:cs typeface="Calibri"/>
              </a:rPr>
              <a:t>Aprovisionamiento de Infraestructura en Nube </a:t>
            </a:r>
            <a:endParaRPr lang="es-419" sz="120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</p:txBody>
      </p:sp>
      <p:sp>
        <p:nvSpPr>
          <p:cNvPr id="10" name="Text 30">
            <a:extLst>
              <a:ext uri="{FF2B5EF4-FFF2-40B4-BE49-F238E27FC236}">
                <a16:creationId xmlns:a16="http://schemas.microsoft.com/office/drawing/2014/main" id="{2BF7B586-9354-3EC0-2AA8-3C5116541AD1}"/>
              </a:ext>
            </a:extLst>
          </p:cNvPr>
          <p:cNvSpPr/>
          <p:nvPr/>
        </p:nvSpPr>
        <p:spPr>
          <a:xfrm>
            <a:off x="1367995" y="4592174"/>
            <a:ext cx="44516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>
                <a:solidFill>
                  <a:schemeClr val="accent1">
                    <a:lumMod val="50000"/>
                  </a:schemeClr>
                </a:solidFill>
                <a:latin typeface="Roboto"/>
                <a:ea typeface="Roboto"/>
                <a:cs typeface="Calibri"/>
              </a:rPr>
              <a:t>Creación y configuración de repositorios basados en la Arquitectura definida.</a:t>
            </a:r>
            <a:endParaRPr lang="es-419" sz="120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</p:txBody>
      </p:sp>
      <p:sp>
        <p:nvSpPr>
          <p:cNvPr id="11" name="Text 36">
            <a:extLst>
              <a:ext uri="{FF2B5EF4-FFF2-40B4-BE49-F238E27FC236}">
                <a16:creationId xmlns:a16="http://schemas.microsoft.com/office/drawing/2014/main" id="{C4A1C386-0C0F-AD93-A536-2DD0A274747D}"/>
              </a:ext>
            </a:extLst>
          </p:cNvPr>
          <p:cNvSpPr/>
          <p:nvPr/>
        </p:nvSpPr>
        <p:spPr>
          <a:xfrm>
            <a:off x="1381709" y="5588580"/>
            <a:ext cx="47007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Implementación de pipelines CI/CD</a:t>
            </a:r>
          </a:p>
        </p:txBody>
      </p:sp>
      <p:sp>
        <p:nvSpPr>
          <p:cNvPr id="13" name="Text 39">
            <a:extLst>
              <a:ext uri="{FF2B5EF4-FFF2-40B4-BE49-F238E27FC236}">
                <a16:creationId xmlns:a16="http://schemas.microsoft.com/office/drawing/2014/main" id="{27C57568-3228-07DB-D359-1BAF0B53E960}"/>
              </a:ext>
            </a:extLst>
          </p:cNvPr>
          <p:cNvSpPr/>
          <p:nvPr/>
        </p:nvSpPr>
        <p:spPr>
          <a:xfrm>
            <a:off x="1367993" y="6058337"/>
            <a:ext cx="411840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>
                <a:solidFill>
                  <a:schemeClr val="accent1">
                    <a:lumMod val="50000"/>
                  </a:schemeClr>
                </a:solidFill>
                <a:latin typeface="Roboto"/>
                <a:ea typeface="Roboto"/>
                <a:cs typeface="Roboto"/>
              </a:rPr>
              <a:t>Acompañamiento y estabilización.</a:t>
            </a:r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B849683D-B043-3C21-3B59-59D6EF10B82F}"/>
              </a:ext>
            </a:extLst>
          </p:cNvPr>
          <p:cNvSpPr>
            <a:spLocks noChangeAspect="1"/>
          </p:cNvSpPr>
          <p:nvPr/>
        </p:nvSpPr>
        <p:spPr>
          <a:xfrm>
            <a:off x="705513" y="725269"/>
            <a:ext cx="720000" cy="720000"/>
          </a:xfrm>
          <a:prstGeom prst="ellipse">
            <a:avLst/>
          </a:prstGeom>
          <a:solidFill>
            <a:srgbClr val="0E9594"/>
          </a:solidFill>
          <a:ln/>
        </p:spPr>
        <p:txBody>
          <a:bodyPr anchor="ctr"/>
          <a:lstStyle/>
          <a:p>
            <a:pPr algn="ctr"/>
            <a:r>
              <a:rPr lang="es-419" sz="3600" noProof="0">
                <a:solidFill>
                  <a:schemeClr val="bg1"/>
                </a:solidFill>
                <a:latin typeface="Roboto Bk" pitchFamily="2" charset="0"/>
                <a:ea typeface="Roboto Bk" pitchFamily="2" charset="0"/>
              </a:rPr>
              <a:t>4</a:t>
            </a:r>
          </a:p>
        </p:txBody>
      </p:sp>
      <p:sp>
        <p:nvSpPr>
          <p:cNvPr id="20" name="Text 2">
            <a:extLst>
              <a:ext uri="{FF2B5EF4-FFF2-40B4-BE49-F238E27FC236}">
                <a16:creationId xmlns:a16="http://schemas.microsoft.com/office/drawing/2014/main" id="{745FBDD3-2170-5C4A-068D-D6024B59A438}"/>
              </a:ext>
            </a:extLst>
          </p:cNvPr>
          <p:cNvSpPr/>
          <p:nvPr/>
        </p:nvSpPr>
        <p:spPr>
          <a:xfrm>
            <a:off x="1586696" y="658549"/>
            <a:ext cx="8516674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3733" b="1" noProof="0">
                <a:solidFill>
                  <a:srgbClr val="1B2A5E"/>
                </a:solidFill>
                <a:latin typeface="Roboto Bk" pitchFamily="2" charset="0"/>
                <a:ea typeface="Roboto Bk" pitchFamily="2" charset="0"/>
                <a:cs typeface="Cambria" pitchFamily="34" charset="-120"/>
              </a:rPr>
              <a:t>Implementación | </a:t>
            </a:r>
            <a:r>
              <a:rPr lang="es-419" sz="3733" b="1" noProof="0">
                <a:solidFill>
                  <a:srgbClr val="0E9594"/>
                </a:solidFill>
                <a:latin typeface="Roboto Bk" pitchFamily="2" charset="0"/>
                <a:ea typeface="Roboto Bk" pitchFamily="2" charset="0"/>
                <a:cs typeface="Cambria" pitchFamily="34" charset="-120"/>
              </a:rPr>
              <a:t>Nube &amp; DevOps </a:t>
            </a:r>
            <a:endParaRPr lang="es-419" sz="3733" noProof="0">
              <a:solidFill>
                <a:srgbClr val="0E9594"/>
              </a:solidFill>
              <a:latin typeface="Roboto Bk" pitchFamily="2" charset="0"/>
              <a:ea typeface="Roboto Bk" pitchFamily="2" charset="0"/>
            </a:endParaRPr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F85B467E-1DE1-1C9F-63EF-F0FC306726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513" y="152721"/>
            <a:ext cx="1745877" cy="404490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8F6E5E70-4C18-9A1F-ADA2-D34F9E36C610}"/>
              </a:ext>
            </a:extLst>
          </p:cNvPr>
          <p:cNvSpPr/>
          <p:nvPr/>
        </p:nvSpPr>
        <p:spPr>
          <a:xfrm>
            <a:off x="8143876" y="167447"/>
            <a:ext cx="3095850" cy="5816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 algn="r">
              <a:defRPr/>
            </a:pPr>
            <a:r>
              <a:rPr lang="es-419" sz="1400" b="1" noProof="0">
                <a:solidFill>
                  <a:schemeClr val="bg1">
                    <a:lumMod val="85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Flujo construcción de soluciones TI </a:t>
            </a:r>
            <a:endParaRPr lang="es-419" sz="1400" noProof="0">
              <a:solidFill>
                <a:schemeClr val="bg1">
                  <a:lumMod val="85000"/>
                </a:schemeClr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4" name="Shape 16">
            <a:extLst>
              <a:ext uri="{FF2B5EF4-FFF2-40B4-BE49-F238E27FC236}">
                <a16:creationId xmlns:a16="http://schemas.microsoft.com/office/drawing/2014/main" id="{BB4BD477-D626-CB2A-5707-C1EDC3D8246D}"/>
              </a:ext>
            </a:extLst>
          </p:cNvPr>
          <p:cNvSpPr/>
          <p:nvPr/>
        </p:nvSpPr>
        <p:spPr>
          <a:xfrm>
            <a:off x="9064393" y="2093293"/>
            <a:ext cx="2144649" cy="392440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/>
          <a:lstStyle/>
          <a:p>
            <a:pPr algn="ctr"/>
            <a:r>
              <a:rPr lang="es-419" sz="1200" b="1" noProof="0">
                <a:solidFill>
                  <a:srgbClr val="1B2A5E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Dessarrolladores</a:t>
            </a:r>
          </a:p>
        </p:txBody>
      </p:sp>
      <p:sp>
        <p:nvSpPr>
          <p:cNvPr id="14" name="Shape 16">
            <a:extLst>
              <a:ext uri="{FF2B5EF4-FFF2-40B4-BE49-F238E27FC236}">
                <a16:creationId xmlns:a16="http://schemas.microsoft.com/office/drawing/2014/main" id="{0BB7781F-41C2-095E-B9FD-43F027779C9D}"/>
              </a:ext>
            </a:extLst>
          </p:cNvPr>
          <p:cNvSpPr/>
          <p:nvPr/>
        </p:nvSpPr>
        <p:spPr>
          <a:xfrm>
            <a:off x="9074289" y="2574492"/>
            <a:ext cx="2144649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/>
          <a:lstStyle/>
          <a:p>
            <a:pPr algn="ctr"/>
            <a:r>
              <a:rPr lang="es-419" sz="1200" b="1" noProof="0">
                <a:solidFill>
                  <a:srgbClr val="1B2A5E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Ingeniero </a:t>
            </a:r>
            <a:r>
              <a:rPr lang="es-419" sz="1200" b="1">
                <a:solidFill>
                  <a:srgbClr val="1B2A5E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Cloud</a:t>
            </a:r>
            <a:r>
              <a:rPr lang="es-419" sz="1200" b="1" noProof="0">
                <a:solidFill>
                  <a:srgbClr val="1B2A5E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/ DevOps</a:t>
            </a:r>
          </a:p>
        </p:txBody>
      </p:sp>
      <p:sp>
        <p:nvSpPr>
          <p:cNvPr id="15" name="Shape 34">
            <a:extLst>
              <a:ext uri="{FF2B5EF4-FFF2-40B4-BE49-F238E27FC236}">
                <a16:creationId xmlns:a16="http://schemas.microsoft.com/office/drawing/2014/main" id="{E442A453-1B9F-E9CA-2CD8-5B6E43E8E7A3}"/>
              </a:ext>
            </a:extLst>
          </p:cNvPr>
          <p:cNvSpPr/>
          <p:nvPr/>
        </p:nvSpPr>
        <p:spPr>
          <a:xfrm>
            <a:off x="879445" y="6132731"/>
            <a:ext cx="288000" cy="288000"/>
          </a:xfrm>
          <a:prstGeom prst="ellipse">
            <a:avLst/>
          </a:prstGeom>
          <a:solidFill>
            <a:srgbClr val="0E9594"/>
          </a:solidFill>
          <a:ln w="12700">
            <a:solidFill>
              <a:srgbClr val="0E9594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6</a:t>
            </a:r>
          </a:p>
        </p:txBody>
      </p:sp>
      <p:sp>
        <p:nvSpPr>
          <p:cNvPr id="18" name="Text 27">
            <a:extLst>
              <a:ext uri="{FF2B5EF4-FFF2-40B4-BE49-F238E27FC236}">
                <a16:creationId xmlns:a16="http://schemas.microsoft.com/office/drawing/2014/main" id="{3EE74093-BE64-0571-5EF9-5763B7457BA8}"/>
              </a:ext>
            </a:extLst>
          </p:cNvPr>
          <p:cNvSpPr/>
          <p:nvPr/>
        </p:nvSpPr>
        <p:spPr>
          <a:xfrm>
            <a:off x="1381709" y="4111059"/>
            <a:ext cx="411840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>
                <a:solidFill>
                  <a:schemeClr val="accent1">
                    <a:lumMod val="50000"/>
                  </a:schemeClr>
                </a:solidFill>
                <a:latin typeface="Roboto"/>
                <a:ea typeface="Roboto"/>
                <a:cs typeface="Calibri"/>
              </a:rPr>
              <a:t>Análisis de costos y presupuesto. </a:t>
            </a:r>
            <a:endParaRPr lang="en-US">
              <a:solidFill>
                <a:schemeClr val="accent1">
                  <a:lumMod val="50000"/>
                </a:schemeClr>
              </a:solidFill>
              <a:ea typeface="Calibri" panose="020F0502020204030204"/>
              <a:cs typeface="Calibri" panose="020F0502020204030204"/>
            </a:endParaRPr>
          </a:p>
        </p:txBody>
      </p:sp>
      <p:sp>
        <p:nvSpPr>
          <p:cNvPr id="16" name="Shape 6">
            <a:extLst>
              <a:ext uri="{FF2B5EF4-FFF2-40B4-BE49-F238E27FC236}">
                <a16:creationId xmlns:a16="http://schemas.microsoft.com/office/drawing/2014/main" id="{7C4C1121-DE8B-A205-F1B6-F47769793BEC}"/>
              </a:ext>
            </a:extLst>
          </p:cNvPr>
          <p:cNvSpPr/>
          <p:nvPr/>
        </p:nvSpPr>
        <p:spPr>
          <a:xfrm>
            <a:off x="6862811" y="5466360"/>
            <a:ext cx="4774186" cy="733092"/>
          </a:xfrm>
          <a:prstGeom prst="roundRect">
            <a:avLst>
              <a:gd name="adj" fmla="val 3902"/>
            </a:avLst>
          </a:prstGeom>
          <a:noFill/>
          <a:ln>
            <a:solidFill>
              <a:schemeClr val="accent1"/>
            </a:solidFill>
          </a:ln>
        </p:spPr>
        <p:txBody>
          <a:bodyPr lIns="91440" tIns="45720" rIns="91440" bIns="45720" anchor="ctr"/>
          <a:lstStyle/>
          <a:p>
            <a:r>
              <a:rPr lang="es-CO" sz="1400" i="1">
                <a:solidFill>
                  <a:schemeClr val="tx2">
                    <a:lumMod val="50000"/>
                  </a:schemeClr>
                </a:solidFill>
                <a:highlight>
                  <a:srgbClr val="FFFF00"/>
                </a:highlight>
                <a:latin typeface="Roboto" pitchFamily="2" charset="0"/>
                <a:ea typeface="Roboto" pitchFamily="2" charset="0"/>
                <a:cs typeface="Calibri" pitchFamily="34" charset="-120"/>
              </a:rPr>
              <a:t>El   líder de célula aprueba los pipeline en el paso a producción </a:t>
            </a:r>
            <a:r>
              <a:rPr lang="es-CO" sz="1400" i="1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– como  lo  aprueba</a:t>
            </a:r>
            <a:endParaRPr lang="es-419" sz="1400" i="1">
              <a:solidFill>
                <a:schemeClr val="tx2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51133F00-B589-3D54-506B-D5DC9D1CF744}"/>
              </a:ext>
            </a:extLst>
          </p:cNvPr>
          <p:cNvSpPr txBox="1"/>
          <p:nvPr/>
        </p:nvSpPr>
        <p:spPr>
          <a:xfrm>
            <a:off x="4961867" y="135023"/>
            <a:ext cx="159164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219170"/>
            <a:r>
              <a:rPr lang="es-419" sz="1200" b="1" noProof="0">
                <a:solidFill>
                  <a:srgbClr val="1B2A5E"/>
                </a:solidFill>
                <a:highlight>
                  <a:srgbClr val="FFFF00"/>
                </a:highligh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Stive   + Sara   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A025ED4F-801D-0DF2-19AD-A0F9D2FD632F}"/>
              </a:ext>
            </a:extLst>
          </p:cNvPr>
          <p:cNvSpPr txBox="1"/>
          <p:nvPr/>
        </p:nvSpPr>
        <p:spPr>
          <a:xfrm>
            <a:off x="6821157" y="6199451"/>
            <a:ext cx="5476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>
                <a:solidFill>
                  <a:srgbClr val="FF0000"/>
                </a:solidFill>
                <a:highlight>
                  <a:srgbClr val="FFFF00"/>
                </a:highlight>
              </a:rPr>
              <a:t>Por que medio se realiza esta solicitud! </a:t>
            </a:r>
          </a:p>
        </p:txBody>
      </p:sp>
    </p:spTree>
    <p:extLst>
      <p:ext uri="{BB962C8B-B14F-4D97-AF65-F5344CB8AC3E}">
        <p14:creationId xmlns:p14="http://schemas.microsoft.com/office/powerpoint/2010/main" val="27250555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5198FB-8EC8-A1C1-2D35-9B6F0F92A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>
            <a:extLst>
              <a:ext uri="{FF2B5EF4-FFF2-40B4-BE49-F238E27FC236}">
                <a16:creationId xmlns:a16="http://schemas.microsoft.com/office/drawing/2014/main" id="{B2C15E73-CB56-3B4E-EDE6-F36643056CE2}"/>
              </a:ext>
            </a:extLst>
          </p:cNvPr>
          <p:cNvSpPr/>
          <p:nvPr/>
        </p:nvSpPr>
        <p:spPr>
          <a:xfrm>
            <a:off x="705512" y="156057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600" b="1" kern="0" spc="267" noProof="0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EN QUÉ CONSISTE</a:t>
            </a:r>
            <a:endParaRPr lang="es-419" sz="1600" noProof="0">
              <a:latin typeface="Roboto" pitchFamily="2" charset="0"/>
              <a:ea typeface="Roboto" pitchFamily="2" charset="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1519D6C-806B-BBF8-26F2-416139A8BE3D}"/>
              </a:ext>
            </a:extLst>
          </p:cNvPr>
          <p:cNvSpPr/>
          <p:nvPr/>
        </p:nvSpPr>
        <p:spPr>
          <a:xfrm>
            <a:off x="705512" y="1922096"/>
            <a:ext cx="5427001" cy="1062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/>
            <a:r>
              <a:rPr lang="es-CO" sz="14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Garantizar el aprovisionamiento oportuno, eficiente y controlado de equipos </a:t>
            </a:r>
            <a:r>
              <a:rPr lang="es-CO" sz="1400" err="1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On</a:t>
            </a:r>
            <a:r>
              <a:rPr lang="es-CO" sz="14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-Premise, asegurando que cuenten con la capacidad, configuración y rendimiento necesarios para cumplir con los requerimientos del negocio, optimizando y analizando costos, asegurando el cumplimiento de los niveles de servicio establecidos. </a:t>
            </a:r>
            <a:endParaRPr lang="es-419" sz="1400" noProof="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4FCD3651-63B8-5299-DC2B-274623C85A09}"/>
              </a:ext>
            </a:extLst>
          </p:cNvPr>
          <p:cNvSpPr/>
          <p:nvPr/>
        </p:nvSpPr>
        <p:spPr>
          <a:xfrm>
            <a:off x="6862810" y="4054190"/>
            <a:ext cx="4815840" cy="1375428"/>
          </a:xfrm>
          <a:prstGeom prst="roundRect">
            <a:avLst>
              <a:gd name="adj" fmla="val 3902"/>
            </a:avLst>
          </a:prstGeom>
          <a:solidFill>
            <a:srgbClr val="EEF4FC"/>
          </a:solidFill>
          <a:ln/>
        </p:spPr>
        <p:txBody>
          <a:bodyPr anchor="ctr"/>
          <a:lstStyle/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CO" sz="1200" noProof="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Análisis de Costos</a:t>
            </a: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CO" sz="1200" noProof="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Solicitud registrada en Sarita </a:t>
            </a:r>
            <a:r>
              <a:rPr lang="es-CO" sz="12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para aprovisionamiento de </a:t>
            </a:r>
            <a:r>
              <a:rPr lang="es-CO" sz="1200" noProof="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infraestructura, con la aprobación del presupuesto si aplica. </a:t>
            </a: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CO" sz="1200" noProof="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Información clara sobre los servicios a desplegar en producción.</a:t>
            </a: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CO" sz="12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Aprovisionamiento del recurso solicitado por parte del administrador incluyendo controles de línea base, seguridad, </a:t>
            </a:r>
            <a:r>
              <a:rPr lang="es-CO" sz="1200" err="1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cmdb</a:t>
            </a:r>
            <a:r>
              <a:rPr lang="es-CO" sz="12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, respaldos. Etc. </a:t>
            </a:r>
            <a:endParaRPr lang="es-CO" sz="1200" noProof="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CEF5C8C8-EB25-1C37-A7EC-D49B961DAD06}"/>
              </a:ext>
            </a:extLst>
          </p:cNvPr>
          <p:cNvSpPr/>
          <p:nvPr/>
        </p:nvSpPr>
        <p:spPr>
          <a:xfrm>
            <a:off x="6069993" y="121765"/>
            <a:ext cx="4267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s-419" sz="1400" i="1" noProof="0">
              <a:solidFill>
                <a:srgbClr val="5B6B82"/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123A66D4-A266-A055-46CC-018944BD23E4}"/>
              </a:ext>
            </a:extLst>
          </p:cNvPr>
          <p:cNvSpPr/>
          <p:nvPr/>
        </p:nvSpPr>
        <p:spPr>
          <a:xfrm>
            <a:off x="705512" y="3322504"/>
            <a:ext cx="536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600" b="1" kern="0" spc="267" noProof="0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ACTIVIDADES CLAVE</a:t>
            </a:r>
            <a:endParaRPr lang="es-419" sz="1600" noProof="0">
              <a:latin typeface="Roboto" pitchFamily="2" charset="0"/>
              <a:ea typeface="Roboto" pitchFamily="2" charset="0"/>
            </a:endParaRPr>
          </a:p>
        </p:txBody>
      </p:sp>
      <p:sp>
        <p:nvSpPr>
          <p:cNvPr id="27" name="Shape 22">
            <a:extLst>
              <a:ext uri="{FF2B5EF4-FFF2-40B4-BE49-F238E27FC236}">
                <a16:creationId xmlns:a16="http://schemas.microsoft.com/office/drawing/2014/main" id="{F5659F00-A830-25B9-9989-597406609AD4}"/>
              </a:ext>
            </a:extLst>
          </p:cNvPr>
          <p:cNvSpPr/>
          <p:nvPr/>
        </p:nvSpPr>
        <p:spPr>
          <a:xfrm>
            <a:off x="879445" y="3831538"/>
            <a:ext cx="288000" cy="288000"/>
          </a:xfrm>
          <a:prstGeom prst="ellipse">
            <a:avLst/>
          </a:prstGeom>
          <a:solidFill>
            <a:srgbClr val="0E9594"/>
          </a:solidFill>
          <a:ln w="12700">
            <a:solidFill>
              <a:srgbClr val="0E9594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1</a:t>
            </a:r>
          </a:p>
        </p:txBody>
      </p:sp>
      <p:sp>
        <p:nvSpPr>
          <p:cNvPr id="30" name="Shape 25">
            <a:extLst>
              <a:ext uri="{FF2B5EF4-FFF2-40B4-BE49-F238E27FC236}">
                <a16:creationId xmlns:a16="http://schemas.microsoft.com/office/drawing/2014/main" id="{C36F7C5C-4558-F158-A600-506BFFDF7850}"/>
              </a:ext>
            </a:extLst>
          </p:cNvPr>
          <p:cNvSpPr/>
          <p:nvPr/>
        </p:nvSpPr>
        <p:spPr>
          <a:xfrm>
            <a:off x="879445" y="4305484"/>
            <a:ext cx="288000" cy="288000"/>
          </a:xfrm>
          <a:prstGeom prst="ellipse">
            <a:avLst/>
          </a:prstGeom>
          <a:solidFill>
            <a:srgbClr val="0E9594"/>
          </a:solidFill>
          <a:ln w="12700">
            <a:solidFill>
              <a:srgbClr val="0E9594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2</a:t>
            </a:r>
          </a:p>
        </p:txBody>
      </p:sp>
      <p:sp>
        <p:nvSpPr>
          <p:cNvPr id="33" name="Shape 28">
            <a:extLst>
              <a:ext uri="{FF2B5EF4-FFF2-40B4-BE49-F238E27FC236}">
                <a16:creationId xmlns:a16="http://schemas.microsoft.com/office/drawing/2014/main" id="{CD77D3B0-B942-A7E1-EB64-30F6957DF3F6}"/>
              </a:ext>
            </a:extLst>
          </p:cNvPr>
          <p:cNvSpPr/>
          <p:nvPr/>
        </p:nvSpPr>
        <p:spPr>
          <a:xfrm>
            <a:off x="879445" y="4780972"/>
            <a:ext cx="288000" cy="288000"/>
          </a:xfrm>
          <a:prstGeom prst="ellipse">
            <a:avLst/>
          </a:prstGeom>
          <a:solidFill>
            <a:srgbClr val="0E9594"/>
          </a:solidFill>
          <a:ln w="12700">
            <a:solidFill>
              <a:srgbClr val="0E9594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3</a:t>
            </a:r>
          </a:p>
        </p:txBody>
      </p:sp>
      <p:sp>
        <p:nvSpPr>
          <p:cNvPr id="36" name="Shape 31">
            <a:extLst>
              <a:ext uri="{FF2B5EF4-FFF2-40B4-BE49-F238E27FC236}">
                <a16:creationId xmlns:a16="http://schemas.microsoft.com/office/drawing/2014/main" id="{CA1B5CBF-AD62-E24B-04C8-73A3F860B7A4}"/>
              </a:ext>
            </a:extLst>
          </p:cNvPr>
          <p:cNvSpPr/>
          <p:nvPr/>
        </p:nvSpPr>
        <p:spPr>
          <a:xfrm>
            <a:off x="879445" y="5256460"/>
            <a:ext cx="288000" cy="288000"/>
          </a:xfrm>
          <a:prstGeom prst="ellipse">
            <a:avLst/>
          </a:prstGeom>
          <a:solidFill>
            <a:srgbClr val="0E9594"/>
          </a:solidFill>
          <a:ln w="12700">
            <a:solidFill>
              <a:srgbClr val="0E9594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4</a:t>
            </a:r>
          </a:p>
        </p:txBody>
      </p:sp>
      <p:sp>
        <p:nvSpPr>
          <p:cNvPr id="39" name="Shape 34">
            <a:extLst>
              <a:ext uri="{FF2B5EF4-FFF2-40B4-BE49-F238E27FC236}">
                <a16:creationId xmlns:a16="http://schemas.microsoft.com/office/drawing/2014/main" id="{6F440B36-E1F9-AA64-7C6C-9155D3F8BB9B}"/>
              </a:ext>
            </a:extLst>
          </p:cNvPr>
          <p:cNvSpPr/>
          <p:nvPr/>
        </p:nvSpPr>
        <p:spPr>
          <a:xfrm>
            <a:off x="879445" y="5731948"/>
            <a:ext cx="288000" cy="288000"/>
          </a:xfrm>
          <a:prstGeom prst="ellipse">
            <a:avLst/>
          </a:prstGeom>
          <a:solidFill>
            <a:srgbClr val="0E9594"/>
          </a:solidFill>
          <a:ln w="12700">
            <a:solidFill>
              <a:srgbClr val="0E9594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5</a:t>
            </a:r>
          </a:p>
        </p:txBody>
      </p:sp>
      <p:sp>
        <p:nvSpPr>
          <p:cNvPr id="48" name="Text 7">
            <a:extLst>
              <a:ext uri="{FF2B5EF4-FFF2-40B4-BE49-F238E27FC236}">
                <a16:creationId xmlns:a16="http://schemas.microsoft.com/office/drawing/2014/main" id="{C39A135B-DBCD-7EA1-7AFD-D3497A0BE53B}"/>
              </a:ext>
            </a:extLst>
          </p:cNvPr>
          <p:cNvSpPr/>
          <p:nvPr/>
        </p:nvSpPr>
        <p:spPr>
          <a:xfrm>
            <a:off x="6917513" y="3580244"/>
            <a:ext cx="4761137" cy="4268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600" b="1" kern="0" spc="267" noProof="0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Entregable: Recurso instalado/aprovisionado  </a:t>
            </a:r>
            <a:endParaRPr lang="es-419" sz="1600" noProof="0">
              <a:latin typeface="Roboto" pitchFamily="2" charset="0"/>
              <a:ea typeface="Roboto" pitchFamily="2" charset="0"/>
            </a:endParaRPr>
          </a:p>
        </p:txBody>
      </p:sp>
      <p:sp>
        <p:nvSpPr>
          <p:cNvPr id="56" name="Text 11">
            <a:extLst>
              <a:ext uri="{FF2B5EF4-FFF2-40B4-BE49-F238E27FC236}">
                <a16:creationId xmlns:a16="http://schemas.microsoft.com/office/drawing/2014/main" id="{D9DDFAE9-1E4B-5911-DB3B-C1854169BC9A}"/>
              </a:ext>
            </a:extLst>
          </p:cNvPr>
          <p:cNvSpPr/>
          <p:nvPr/>
        </p:nvSpPr>
        <p:spPr>
          <a:xfrm>
            <a:off x="6862811" y="1606211"/>
            <a:ext cx="44338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600" b="1" kern="0" spc="267" noProof="0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ACTORES QUE INTERVIENEN</a:t>
            </a:r>
            <a:endParaRPr lang="es-419" sz="1600" noProof="0">
              <a:latin typeface="Roboto" pitchFamily="2" charset="0"/>
              <a:ea typeface="Roboto" pitchFamily="2" charset="0"/>
            </a:endParaRPr>
          </a:p>
        </p:txBody>
      </p:sp>
      <p:sp>
        <p:nvSpPr>
          <p:cNvPr id="57" name="Shape 16">
            <a:extLst>
              <a:ext uri="{FF2B5EF4-FFF2-40B4-BE49-F238E27FC236}">
                <a16:creationId xmlns:a16="http://schemas.microsoft.com/office/drawing/2014/main" id="{1A608DD3-A82F-E4C8-FDA2-A4F8FACC9D4C}"/>
              </a:ext>
            </a:extLst>
          </p:cNvPr>
          <p:cNvSpPr/>
          <p:nvPr/>
        </p:nvSpPr>
        <p:spPr>
          <a:xfrm>
            <a:off x="6841390" y="2043514"/>
            <a:ext cx="2484041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rgbClr val="1B2A5E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Líder de Célula</a:t>
            </a:r>
          </a:p>
        </p:txBody>
      </p:sp>
      <p:sp>
        <p:nvSpPr>
          <p:cNvPr id="59" name="Shape 16">
            <a:extLst>
              <a:ext uri="{FF2B5EF4-FFF2-40B4-BE49-F238E27FC236}">
                <a16:creationId xmlns:a16="http://schemas.microsoft.com/office/drawing/2014/main" id="{46EE3094-7E40-F460-CEAB-C07644A3C632}"/>
              </a:ext>
            </a:extLst>
          </p:cNvPr>
          <p:cNvSpPr/>
          <p:nvPr/>
        </p:nvSpPr>
        <p:spPr>
          <a:xfrm>
            <a:off x="6841391" y="2508063"/>
            <a:ext cx="2484042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rgbClr val="1B2A5E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Administrador de plataforma</a:t>
            </a:r>
          </a:p>
        </p:txBody>
      </p:sp>
      <p:pic>
        <p:nvPicPr>
          <p:cNvPr id="61" name="Picture 2">
            <a:extLst>
              <a:ext uri="{FF2B5EF4-FFF2-40B4-BE49-F238E27FC236}">
                <a16:creationId xmlns:a16="http://schemas.microsoft.com/office/drawing/2014/main" id="{AEB2B56A-794D-008F-4064-26BE984A1F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5157" y="196371"/>
            <a:ext cx="868630" cy="580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 24">
            <a:extLst>
              <a:ext uri="{FF2B5EF4-FFF2-40B4-BE49-F238E27FC236}">
                <a16:creationId xmlns:a16="http://schemas.microsoft.com/office/drawing/2014/main" id="{6C25A6C8-03D7-DCAE-FDE4-C1CA8AB1B997}"/>
              </a:ext>
            </a:extLst>
          </p:cNvPr>
          <p:cNvSpPr/>
          <p:nvPr/>
        </p:nvSpPr>
        <p:spPr>
          <a:xfrm>
            <a:off x="1367994" y="3754998"/>
            <a:ext cx="411840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Contextualización de la iniciativa.</a:t>
            </a:r>
          </a:p>
        </p:txBody>
      </p:sp>
      <p:sp>
        <p:nvSpPr>
          <p:cNvPr id="9" name="Text 27">
            <a:extLst>
              <a:ext uri="{FF2B5EF4-FFF2-40B4-BE49-F238E27FC236}">
                <a16:creationId xmlns:a16="http://schemas.microsoft.com/office/drawing/2014/main" id="{16E55D47-437B-AF39-4610-67A8653C41E2}"/>
              </a:ext>
            </a:extLst>
          </p:cNvPr>
          <p:cNvSpPr/>
          <p:nvPr/>
        </p:nvSpPr>
        <p:spPr>
          <a:xfrm>
            <a:off x="1367994" y="4230486"/>
            <a:ext cx="411840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 noProof="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Aprobación diseño de arquitectura. </a:t>
            </a:r>
          </a:p>
        </p:txBody>
      </p:sp>
      <p:sp>
        <p:nvSpPr>
          <p:cNvPr id="10" name="Text 30">
            <a:extLst>
              <a:ext uri="{FF2B5EF4-FFF2-40B4-BE49-F238E27FC236}">
                <a16:creationId xmlns:a16="http://schemas.microsoft.com/office/drawing/2014/main" id="{C36A873F-DC7D-CEFA-524B-B086111E503A}"/>
              </a:ext>
            </a:extLst>
          </p:cNvPr>
          <p:cNvSpPr/>
          <p:nvPr/>
        </p:nvSpPr>
        <p:spPr>
          <a:xfrm>
            <a:off x="1367995" y="4705974"/>
            <a:ext cx="44516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Análisis de Costos de infraestructura o licenciamiento. </a:t>
            </a:r>
          </a:p>
        </p:txBody>
      </p:sp>
      <p:sp>
        <p:nvSpPr>
          <p:cNvPr id="11" name="Text 36">
            <a:extLst>
              <a:ext uri="{FF2B5EF4-FFF2-40B4-BE49-F238E27FC236}">
                <a16:creationId xmlns:a16="http://schemas.microsoft.com/office/drawing/2014/main" id="{175C0406-CAFC-D00A-B7BD-012E68B6684B}"/>
              </a:ext>
            </a:extLst>
          </p:cNvPr>
          <p:cNvSpPr/>
          <p:nvPr/>
        </p:nvSpPr>
        <p:spPr>
          <a:xfrm>
            <a:off x="1381709" y="5208894"/>
            <a:ext cx="47007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Solicitud para creación de infraestructura. </a:t>
            </a:r>
            <a:endParaRPr lang="es-419" sz="1200" noProof="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</p:txBody>
      </p:sp>
      <p:sp>
        <p:nvSpPr>
          <p:cNvPr id="13" name="Text 39">
            <a:extLst>
              <a:ext uri="{FF2B5EF4-FFF2-40B4-BE49-F238E27FC236}">
                <a16:creationId xmlns:a16="http://schemas.microsoft.com/office/drawing/2014/main" id="{EFFB425C-EEE9-452D-3C42-874354F28341}"/>
              </a:ext>
            </a:extLst>
          </p:cNvPr>
          <p:cNvSpPr/>
          <p:nvPr/>
        </p:nvSpPr>
        <p:spPr>
          <a:xfrm>
            <a:off x="1367993" y="5678651"/>
            <a:ext cx="411840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 noProof="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Preparación, creación y configuraciones del recurso. </a:t>
            </a: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AB8B073D-19B9-4A6E-BBFA-339C5B674A93}"/>
              </a:ext>
            </a:extLst>
          </p:cNvPr>
          <p:cNvSpPr/>
          <p:nvPr/>
        </p:nvSpPr>
        <p:spPr>
          <a:xfrm>
            <a:off x="9482444" y="2043514"/>
            <a:ext cx="2196206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rgbClr val="1B2A5E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Arquitecto</a:t>
            </a:r>
          </a:p>
        </p:txBody>
      </p:sp>
      <p:sp>
        <p:nvSpPr>
          <p:cNvPr id="17" name="Shape 16">
            <a:extLst>
              <a:ext uri="{FF2B5EF4-FFF2-40B4-BE49-F238E27FC236}">
                <a16:creationId xmlns:a16="http://schemas.microsoft.com/office/drawing/2014/main" id="{7B1BEED5-CC5C-B1B4-D9C6-0573690BC333}"/>
              </a:ext>
            </a:extLst>
          </p:cNvPr>
          <p:cNvSpPr/>
          <p:nvPr/>
        </p:nvSpPr>
        <p:spPr>
          <a:xfrm>
            <a:off x="9482444" y="2492962"/>
            <a:ext cx="2201415" cy="426834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rgbClr val="1B2A5E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Ingeniero de Infraestructura</a:t>
            </a:r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914A4D18-D0F5-32A7-AE3E-A16868458ACD}"/>
              </a:ext>
            </a:extLst>
          </p:cNvPr>
          <p:cNvSpPr>
            <a:spLocks noChangeAspect="1"/>
          </p:cNvSpPr>
          <p:nvPr/>
        </p:nvSpPr>
        <p:spPr>
          <a:xfrm>
            <a:off x="705513" y="725269"/>
            <a:ext cx="720000" cy="720000"/>
          </a:xfrm>
          <a:prstGeom prst="ellipse">
            <a:avLst/>
          </a:prstGeom>
          <a:solidFill>
            <a:srgbClr val="0E9594"/>
          </a:solidFill>
          <a:ln/>
        </p:spPr>
        <p:txBody>
          <a:bodyPr anchor="ctr"/>
          <a:lstStyle/>
          <a:p>
            <a:pPr algn="ctr"/>
            <a:r>
              <a:rPr lang="es-419" sz="3600" noProof="0">
                <a:solidFill>
                  <a:schemeClr val="bg1"/>
                </a:solidFill>
                <a:latin typeface="Roboto Bk" pitchFamily="2" charset="0"/>
                <a:ea typeface="Roboto Bk" pitchFamily="2" charset="0"/>
              </a:rPr>
              <a:t>4</a:t>
            </a:r>
          </a:p>
        </p:txBody>
      </p:sp>
      <p:sp>
        <p:nvSpPr>
          <p:cNvPr id="20" name="Text 2">
            <a:extLst>
              <a:ext uri="{FF2B5EF4-FFF2-40B4-BE49-F238E27FC236}">
                <a16:creationId xmlns:a16="http://schemas.microsoft.com/office/drawing/2014/main" id="{5E62360E-A992-B7DA-5F8B-C1E075E091F1}"/>
              </a:ext>
            </a:extLst>
          </p:cNvPr>
          <p:cNvSpPr/>
          <p:nvPr/>
        </p:nvSpPr>
        <p:spPr>
          <a:xfrm>
            <a:off x="1586695" y="658549"/>
            <a:ext cx="10268699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3200" b="1">
                <a:solidFill>
                  <a:srgbClr val="1B2A5E"/>
                </a:solidFill>
                <a:latin typeface="Roboto Bk" pitchFamily="2" charset="0"/>
                <a:ea typeface="Roboto Bk" pitchFamily="2" charset="0"/>
                <a:cs typeface="Cambria" pitchFamily="34" charset="-120"/>
              </a:rPr>
              <a:t>Aprovisionamiento  </a:t>
            </a:r>
            <a:r>
              <a:rPr lang="es-419" sz="2000" b="1">
                <a:solidFill>
                  <a:srgbClr val="1B2A5E"/>
                </a:solidFill>
                <a:latin typeface="Roboto Bk" pitchFamily="2" charset="0"/>
                <a:ea typeface="Roboto Bk" pitchFamily="2" charset="0"/>
                <a:cs typeface="Cambria" pitchFamily="34" charset="-120"/>
              </a:rPr>
              <a:t>Infra </a:t>
            </a:r>
            <a:r>
              <a:rPr lang="es-419" sz="2000" b="1" err="1">
                <a:solidFill>
                  <a:srgbClr val="1B2A5E"/>
                </a:solidFill>
                <a:latin typeface="Roboto Bk" pitchFamily="2" charset="0"/>
                <a:ea typeface="Roboto Bk" pitchFamily="2" charset="0"/>
                <a:cs typeface="Cambria" pitchFamily="34" charset="-120"/>
              </a:rPr>
              <a:t>OnPremise</a:t>
            </a:r>
            <a:r>
              <a:rPr lang="es-419" sz="2000" b="1" noProof="0">
                <a:solidFill>
                  <a:srgbClr val="1B2A5E"/>
                </a:solidFill>
                <a:latin typeface="Roboto Bk" pitchFamily="2" charset="0"/>
                <a:ea typeface="Roboto Bk" pitchFamily="2" charset="0"/>
                <a:cs typeface="Cambria" pitchFamily="34" charset="-120"/>
              </a:rPr>
              <a:t> </a:t>
            </a:r>
            <a:r>
              <a:rPr lang="es-419" sz="3733" b="1" noProof="0">
                <a:solidFill>
                  <a:srgbClr val="1B2A5E"/>
                </a:solidFill>
                <a:latin typeface="Roboto Bk" pitchFamily="2" charset="0"/>
                <a:ea typeface="Roboto Bk" pitchFamily="2" charset="0"/>
                <a:cs typeface="Cambria" pitchFamily="34" charset="-120"/>
              </a:rPr>
              <a:t>| </a:t>
            </a:r>
            <a:r>
              <a:rPr lang="es-419" sz="3733" b="1" noProof="0">
                <a:solidFill>
                  <a:srgbClr val="0E9594"/>
                </a:solidFill>
                <a:latin typeface="Roboto Bk" pitchFamily="2" charset="0"/>
                <a:ea typeface="Roboto Bk" pitchFamily="2" charset="0"/>
                <a:cs typeface="Cambria" pitchFamily="34" charset="-120"/>
              </a:rPr>
              <a:t>Operación TI</a:t>
            </a:r>
            <a:endParaRPr lang="es-419" sz="3733" noProof="0">
              <a:solidFill>
                <a:srgbClr val="0E9594"/>
              </a:solidFill>
              <a:latin typeface="Roboto Bk" pitchFamily="2" charset="0"/>
              <a:ea typeface="Roboto Bk" pitchFamily="2" charset="0"/>
            </a:endParaRPr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B9FE33A2-54CA-04C7-BBFA-5677910FE7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513" y="152721"/>
            <a:ext cx="1745877" cy="404490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CAB7A359-EF5A-95F5-65E2-A7021C39730E}"/>
              </a:ext>
            </a:extLst>
          </p:cNvPr>
          <p:cNvSpPr/>
          <p:nvPr/>
        </p:nvSpPr>
        <p:spPr>
          <a:xfrm>
            <a:off x="8143876" y="167447"/>
            <a:ext cx="3095850" cy="5816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 algn="r">
              <a:defRPr/>
            </a:pPr>
            <a:r>
              <a:rPr lang="es-419" sz="1400" b="1" noProof="0">
                <a:solidFill>
                  <a:schemeClr val="bg1">
                    <a:lumMod val="85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Flujo construcción de soluciones TI </a:t>
            </a:r>
            <a:endParaRPr lang="es-419" sz="1400" noProof="0">
              <a:solidFill>
                <a:schemeClr val="bg1">
                  <a:lumMod val="85000"/>
                </a:schemeClr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4" name="Shape 16">
            <a:extLst>
              <a:ext uri="{FF2B5EF4-FFF2-40B4-BE49-F238E27FC236}">
                <a16:creationId xmlns:a16="http://schemas.microsoft.com/office/drawing/2014/main" id="{9AA33B7E-57C9-CAEB-561E-1F160EC51CD0}"/>
              </a:ext>
            </a:extLst>
          </p:cNvPr>
          <p:cNvSpPr/>
          <p:nvPr/>
        </p:nvSpPr>
        <p:spPr>
          <a:xfrm>
            <a:off x="6841392" y="2972611"/>
            <a:ext cx="2484040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rgbClr val="1B2A5E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Especialista de gobierno y gestión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CD982B58-24BF-FAC8-6F9D-7CC1E68925A0}"/>
              </a:ext>
            </a:extLst>
          </p:cNvPr>
          <p:cNvSpPr txBox="1"/>
          <p:nvPr/>
        </p:nvSpPr>
        <p:spPr>
          <a:xfrm>
            <a:off x="6644464" y="5678651"/>
            <a:ext cx="60946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>
                <a:solidFill>
                  <a:srgbClr val="FF0000"/>
                </a:solidFill>
                <a:highlight>
                  <a:srgbClr val="FFFF00"/>
                </a:highlight>
              </a:rPr>
              <a:t>Por que medio se realiza esta solicitud! </a:t>
            </a:r>
          </a:p>
        </p:txBody>
      </p:sp>
    </p:spTree>
    <p:extLst>
      <p:ext uri="{BB962C8B-B14F-4D97-AF65-F5344CB8AC3E}">
        <p14:creationId xmlns:p14="http://schemas.microsoft.com/office/powerpoint/2010/main" val="1236826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F8BF1-C831-3C1C-5D60-38B22ED7D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>
            <a:extLst>
              <a:ext uri="{FF2B5EF4-FFF2-40B4-BE49-F238E27FC236}">
                <a16:creationId xmlns:a16="http://schemas.microsoft.com/office/drawing/2014/main" id="{EE4CC3E2-5809-2327-4675-A130B6C31BE7}"/>
              </a:ext>
            </a:extLst>
          </p:cNvPr>
          <p:cNvSpPr/>
          <p:nvPr/>
        </p:nvSpPr>
        <p:spPr>
          <a:xfrm>
            <a:off x="731520" y="1583393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600" b="1" kern="0" spc="267" noProof="0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EN QUÉ CONSISTE</a:t>
            </a:r>
            <a:endParaRPr lang="es-419" sz="1600" noProof="0">
              <a:latin typeface="Roboto" pitchFamily="2" charset="0"/>
              <a:ea typeface="Roboto" pitchFamily="2" charset="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A3A7649-5727-15B0-A21C-0CCC4DB5B5F2}"/>
              </a:ext>
            </a:extLst>
          </p:cNvPr>
          <p:cNvSpPr/>
          <p:nvPr/>
        </p:nvSpPr>
        <p:spPr>
          <a:xfrm>
            <a:off x="731520" y="2048644"/>
            <a:ext cx="5266944" cy="113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/>
            <a:r>
              <a:rPr lang="es-ES" sz="1400" noProof="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Definir, validar e implementar los accesos requeridos para una aplicación, sistema o proceso, asegurando que los perfiles, roles y permisos estén alineados con las funciones del negocio, el principio de mínimo privilegio y los lineamientos de control de acceso de la compañía.</a:t>
            </a:r>
            <a:endParaRPr lang="es-419" sz="1400" noProof="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E5FCAD1D-5923-47EC-C74F-DE2AAA209605}"/>
              </a:ext>
            </a:extLst>
          </p:cNvPr>
          <p:cNvSpPr/>
          <p:nvPr/>
        </p:nvSpPr>
        <p:spPr>
          <a:xfrm>
            <a:off x="6069993" y="121765"/>
            <a:ext cx="4267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s-419" sz="1400" i="1" noProof="0">
              <a:solidFill>
                <a:srgbClr val="5B6B82"/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F5A44FD6-F689-EC0D-D660-8A2FBC44B954}"/>
              </a:ext>
            </a:extLst>
          </p:cNvPr>
          <p:cNvSpPr/>
          <p:nvPr/>
        </p:nvSpPr>
        <p:spPr>
          <a:xfrm>
            <a:off x="705513" y="3322504"/>
            <a:ext cx="536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600" b="1" kern="0" spc="267" noProof="0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ACTIVIDADES CLAVE</a:t>
            </a:r>
            <a:endParaRPr lang="es-419" sz="1600" noProof="0">
              <a:latin typeface="Roboto" pitchFamily="2" charset="0"/>
              <a:ea typeface="Roboto" pitchFamily="2" charset="0"/>
            </a:endParaRPr>
          </a:p>
        </p:txBody>
      </p:sp>
      <p:sp>
        <p:nvSpPr>
          <p:cNvPr id="27" name="Shape 22">
            <a:extLst>
              <a:ext uri="{FF2B5EF4-FFF2-40B4-BE49-F238E27FC236}">
                <a16:creationId xmlns:a16="http://schemas.microsoft.com/office/drawing/2014/main" id="{57C2EF48-668C-CB93-0BC1-D88CD7649ECF}"/>
              </a:ext>
            </a:extLst>
          </p:cNvPr>
          <p:cNvSpPr/>
          <p:nvPr/>
        </p:nvSpPr>
        <p:spPr>
          <a:xfrm>
            <a:off x="879445" y="3831538"/>
            <a:ext cx="288000" cy="288000"/>
          </a:xfrm>
          <a:prstGeom prst="ellipse">
            <a:avLst/>
          </a:prstGeom>
          <a:solidFill>
            <a:srgbClr val="0E9594"/>
          </a:solidFill>
          <a:ln w="12700">
            <a:solidFill>
              <a:srgbClr val="0E9594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1</a:t>
            </a:r>
          </a:p>
        </p:txBody>
      </p:sp>
      <p:sp>
        <p:nvSpPr>
          <p:cNvPr id="30" name="Shape 25">
            <a:extLst>
              <a:ext uri="{FF2B5EF4-FFF2-40B4-BE49-F238E27FC236}">
                <a16:creationId xmlns:a16="http://schemas.microsoft.com/office/drawing/2014/main" id="{BDC50C05-816E-17CD-E6F9-723851E83249}"/>
              </a:ext>
            </a:extLst>
          </p:cNvPr>
          <p:cNvSpPr/>
          <p:nvPr/>
        </p:nvSpPr>
        <p:spPr>
          <a:xfrm>
            <a:off x="879445" y="4305484"/>
            <a:ext cx="288000" cy="288000"/>
          </a:xfrm>
          <a:prstGeom prst="ellipse">
            <a:avLst/>
          </a:prstGeom>
          <a:solidFill>
            <a:srgbClr val="0E9594"/>
          </a:solidFill>
          <a:ln w="12700">
            <a:solidFill>
              <a:srgbClr val="0E9594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2</a:t>
            </a:r>
          </a:p>
        </p:txBody>
      </p:sp>
      <p:sp>
        <p:nvSpPr>
          <p:cNvPr id="33" name="Shape 28">
            <a:extLst>
              <a:ext uri="{FF2B5EF4-FFF2-40B4-BE49-F238E27FC236}">
                <a16:creationId xmlns:a16="http://schemas.microsoft.com/office/drawing/2014/main" id="{504F4A74-09AA-02BE-7EFE-CCA9B952C3C8}"/>
              </a:ext>
            </a:extLst>
          </p:cNvPr>
          <p:cNvSpPr/>
          <p:nvPr/>
        </p:nvSpPr>
        <p:spPr>
          <a:xfrm>
            <a:off x="879445" y="4780972"/>
            <a:ext cx="288000" cy="288000"/>
          </a:xfrm>
          <a:prstGeom prst="ellipse">
            <a:avLst/>
          </a:prstGeom>
          <a:solidFill>
            <a:srgbClr val="0E9594"/>
          </a:solidFill>
          <a:ln w="12700">
            <a:solidFill>
              <a:srgbClr val="0E9594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3</a:t>
            </a:r>
          </a:p>
        </p:txBody>
      </p:sp>
      <p:sp>
        <p:nvSpPr>
          <p:cNvPr id="36" name="Shape 31">
            <a:extLst>
              <a:ext uri="{FF2B5EF4-FFF2-40B4-BE49-F238E27FC236}">
                <a16:creationId xmlns:a16="http://schemas.microsoft.com/office/drawing/2014/main" id="{3EFACD41-F511-F401-F6B3-70623CDD70E6}"/>
              </a:ext>
            </a:extLst>
          </p:cNvPr>
          <p:cNvSpPr/>
          <p:nvPr/>
        </p:nvSpPr>
        <p:spPr>
          <a:xfrm>
            <a:off x="879445" y="5256460"/>
            <a:ext cx="288000" cy="288000"/>
          </a:xfrm>
          <a:prstGeom prst="ellipse">
            <a:avLst/>
          </a:prstGeom>
          <a:solidFill>
            <a:srgbClr val="0E9594"/>
          </a:solidFill>
          <a:ln w="12700">
            <a:solidFill>
              <a:srgbClr val="0E9594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4</a:t>
            </a:r>
          </a:p>
        </p:txBody>
      </p:sp>
      <p:sp>
        <p:nvSpPr>
          <p:cNvPr id="56" name="Text 11">
            <a:extLst>
              <a:ext uri="{FF2B5EF4-FFF2-40B4-BE49-F238E27FC236}">
                <a16:creationId xmlns:a16="http://schemas.microsoft.com/office/drawing/2014/main" id="{30E3171E-073E-105D-7000-0E6833C64019}"/>
              </a:ext>
            </a:extLst>
          </p:cNvPr>
          <p:cNvSpPr/>
          <p:nvPr/>
        </p:nvSpPr>
        <p:spPr>
          <a:xfrm>
            <a:off x="6862811" y="1583393"/>
            <a:ext cx="44338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600" b="1" kern="0" spc="267" noProof="0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ACTORES QUE INTERVIENEN</a:t>
            </a:r>
            <a:endParaRPr lang="es-419" sz="1600" noProof="0">
              <a:latin typeface="Roboto" pitchFamily="2" charset="0"/>
              <a:ea typeface="Roboto" pitchFamily="2" charset="0"/>
            </a:endParaRPr>
          </a:p>
        </p:txBody>
      </p:sp>
      <p:sp>
        <p:nvSpPr>
          <p:cNvPr id="57" name="Shape 16">
            <a:extLst>
              <a:ext uri="{FF2B5EF4-FFF2-40B4-BE49-F238E27FC236}">
                <a16:creationId xmlns:a16="http://schemas.microsoft.com/office/drawing/2014/main" id="{26A9F18A-60A2-6B16-6541-3B139054119A}"/>
              </a:ext>
            </a:extLst>
          </p:cNvPr>
          <p:cNvSpPr/>
          <p:nvPr/>
        </p:nvSpPr>
        <p:spPr>
          <a:xfrm>
            <a:off x="6862811" y="2031918"/>
            <a:ext cx="1901952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 anchor="ctr"/>
          <a:lstStyle/>
          <a:p>
            <a:pPr algn="ctr"/>
            <a:r>
              <a:rPr lang="es-419" sz="1200" b="1">
                <a:solidFill>
                  <a:srgbClr val="1B2A5E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Especialista Técnico</a:t>
            </a:r>
            <a:endParaRPr lang="en-US" sz="120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60" name="Shape 16">
            <a:extLst>
              <a:ext uri="{FF2B5EF4-FFF2-40B4-BE49-F238E27FC236}">
                <a16:creationId xmlns:a16="http://schemas.microsoft.com/office/drawing/2014/main" id="{FB7FAF99-6819-6C6E-14BA-64F9AE06064B}"/>
              </a:ext>
            </a:extLst>
          </p:cNvPr>
          <p:cNvSpPr/>
          <p:nvPr/>
        </p:nvSpPr>
        <p:spPr>
          <a:xfrm>
            <a:off x="6862811" y="2538848"/>
            <a:ext cx="1901952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 anchor="ctr"/>
          <a:lstStyle/>
          <a:p>
            <a:pPr algn="ctr"/>
            <a:r>
              <a:rPr lang="es-419" sz="1200" b="1">
                <a:solidFill>
                  <a:srgbClr val="1B2A5E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Desarrollador</a:t>
            </a:r>
            <a:endParaRPr lang="es-419" sz="1200" b="1" noProof="0">
              <a:solidFill>
                <a:srgbClr val="1B2A5E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pic>
        <p:nvPicPr>
          <p:cNvPr id="61" name="Picture 2">
            <a:extLst>
              <a:ext uri="{FF2B5EF4-FFF2-40B4-BE49-F238E27FC236}">
                <a16:creationId xmlns:a16="http://schemas.microsoft.com/office/drawing/2014/main" id="{6B2691A4-8174-2439-6A0F-DB5245C063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5157" y="196371"/>
            <a:ext cx="868630" cy="580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 24">
            <a:extLst>
              <a:ext uri="{FF2B5EF4-FFF2-40B4-BE49-F238E27FC236}">
                <a16:creationId xmlns:a16="http://schemas.microsoft.com/office/drawing/2014/main" id="{82864FCE-E346-47DD-63EC-B9B066C95B04}"/>
              </a:ext>
            </a:extLst>
          </p:cNvPr>
          <p:cNvSpPr/>
          <p:nvPr/>
        </p:nvSpPr>
        <p:spPr>
          <a:xfrm>
            <a:off x="1367994" y="3754998"/>
            <a:ext cx="411840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12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</a:rPr>
              <a:t>Identificar la solución, aplicación o proceso a habilitar</a:t>
            </a:r>
            <a:endParaRPr lang="es-419" sz="1200" noProof="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</p:txBody>
      </p:sp>
      <p:sp>
        <p:nvSpPr>
          <p:cNvPr id="9" name="Text 27">
            <a:extLst>
              <a:ext uri="{FF2B5EF4-FFF2-40B4-BE49-F238E27FC236}">
                <a16:creationId xmlns:a16="http://schemas.microsoft.com/office/drawing/2014/main" id="{BA39EBA7-D344-8CBF-1F55-64D89952BB6F}"/>
              </a:ext>
            </a:extLst>
          </p:cNvPr>
          <p:cNvSpPr/>
          <p:nvPr/>
        </p:nvSpPr>
        <p:spPr>
          <a:xfrm>
            <a:off x="1367994" y="4230486"/>
            <a:ext cx="411840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12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</a:rPr>
              <a:t>Definir y validar el modelo de acceso requerido</a:t>
            </a:r>
            <a:endParaRPr lang="es-419" sz="120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10" name="Text 30">
            <a:extLst>
              <a:ext uri="{FF2B5EF4-FFF2-40B4-BE49-F238E27FC236}">
                <a16:creationId xmlns:a16="http://schemas.microsoft.com/office/drawing/2014/main" id="{51D3CCCA-9CF4-5A0F-3710-BC12699C22C0}"/>
              </a:ext>
            </a:extLst>
          </p:cNvPr>
          <p:cNvSpPr/>
          <p:nvPr/>
        </p:nvSpPr>
        <p:spPr>
          <a:xfrm>
            <a:off x="1367995" y="4705974"/>
            <a:ext cx="44516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12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</a:rPr>
              <a:t>Configurar e implementar los accesos</a:t>
            </a:r>
            <a:endParaRPr lang="es-419" sz="120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11" name="Text 36">
            <a:extLst>
              <a:ext uri="{FF2B5EF4-FFF2-40B4-BE49-F238E27FC236}">
                <a16:creationId xmlns:a16="http://schemas.microsoft.com/office/drawing/2014/main" id="{1D7D6530-E36D-758E-C631-ECC3D97B623B}"/>
              </a:ext>
            </a:extLst>
          </p:cNvPr>
          <p:cNvSpPr/>
          <p:nvPr/>
        </p:nvSpPr>
        <p:spPr>
          <a:xfrm>
            <a:off x="1381709" y="5208894"/>
            <a:ext cx="47007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12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</a:rPr>
              <a:t>Validar</a:t>
            </a:r>
            <a:r>
              <a:rPr lang="es-ES" sz="12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 y </a:t>
            </a:r>
            <a:r>
              <a:rPr lang="es-ES" sz="12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</a:rPr>
              <a:t>formalizar</a:t>
            </a:r>
            <a:r>
              <a:rPr lang="es-ES" sz="12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 </a:t>
            </a:r>
            <a:r>
              <a:rPr lang="es-ES" sz="12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</a:rPr>
              <a:t>la salida a operación</a:t>
            </a:r>
            <a:endParaRPr lang="es-419" sz="120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660C7E6A-633C-D64D-DACF-8FA1EFCD0B49}"/>
              </a:ext>
            </a:extLst>
          </p:cNvPr>
          <p:cNvSpPr/>
          <p:nvPr/>
        </p:nvSpPr>
        <p:spPr>
          <a:xfrm>
            <a:off x="8893742" y="2031918"/>
            <a:ext cx="1901952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rgbClr val="1B2A5E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Arquitecto</a:t>
            </a:r>
          </a:p>
        </p:txBody>
      </p:sp>
      <p:sp>
        <p:nvSpPr>
          <p:cNvPr id="17" name="Shape 16">
            <a:extLst>
              <a:ext uri="{FF2B5EF4-FFF2-40B4-BE49-F238E27FC236}">
                <a16:creationId xmlns:a16="http://schemas.microsoft.com/office/drawing/2014/main" id="{560A6167-66B7-ACA1-6ED1-F5774812694B}"/>
              </a:ext>
            </a:extLst>
          </p:cNvPr>
          <p:cNvSpPr/>
          <p:nvPr/>
        </p:nvSpPr>
        <p:spPr>
          <a:xfrm>
            <a:off x="8893742" y="2538848"/>
            <a:ext cx="1901952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rgbClr val="1B2A5E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Seguridad</a:t>
            </a:r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8A53EB49-A800-5314-1D0D-578EF321F7BE}"/>
              </a:ext>
            </a:extLst>
          </p:cNvPr>
          <p:cNvSpPr>
            <a:spLocks noChangeAspect="1"/>
          </p:cNvSpPr>
          <p:nvPr/>
        </p:nvSpPr>
        <p:spPr>
          <a:xfrm>
            <a:off x="705513" y="725269"/>
            <a:ext cx="720000" cy="720000"/>
          </a:xfrm>
          <a:prstGeom prst="ellipse">
            <a:avLst/>
          </a:prstGeom>
          <a:solidFill>
            <a:srgbClr val="0E9594"/>
          </a:solidFill>
          <a:ln/>
        </p:spPr>
        <p:txBody>
          <a:bodyPr anchor="ctr"/>
          <a:lstStyle/>
          <a:p>
            <a:pPr algn="ctr"/>
            <a:r>
              <a:rPr lang="es-419" sz="3600" noProof="0">
                <a:solidFill>
                  <a:schemeClr val="bg1"/>
                </a:solidFill>
                <a:latin typeface="Roboto Bk" pitchFamily="2" charset="0"/>
                <a:ea typeface="Roboto Bk" pitchFamily="2" charset="0"/>
              </a:rPr>
              <a:t>4</a:t>
            </a:r>
          </a:p>
        </p:txBody>
      </p:sp>
      <p:sp>
        <p:nvSpPr>
          <p:cNvPr id="20" name="Text 2">
            <a:extLst>
              <a:ext uri="{FF2B5EF4-FFF2-40B4-BE49-F238E27FC236}">
                <a16:creationId xmlns:a16="http://schemas.microsoft.com/office/drawing/2014/main" id="{A6709AD3-36DD-14F5-2687-475A71E38773}"/>
              </a:ext>
            </a:extLst>
          </p:cNvPr>
          <p:cNvSpPr/>
          <p:nvPr/>
        </p:nvSpPr>
        <p:spPr>
          <a:xfrm>
            <a:off x="1586696" y="658549"/>
            <a:ext cx="10300504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3733" b="1">
                <a:solidFill>
                  <a:srgbClr val="1B2A5E"/>
                </a:solidFill>
                <a:latin typeface="Roboto Bk" pitchFamily="2" charset="0"/>
                <a:ea typeface="Roboto Bk" pitchFamily="2" charset="0"/>
                <a:cs typeface="Cambria" pitchFamily="34" charset="-120"/>
              </a:rPr>
              <a:t>Implementación</a:t>
            </a:r>
            <a:r>
              <a:rPr lang="es-419" sz="3733" b="1" noProof="0">
                <a:solidFill>
                  <a:srgbClr val="1B2A5E"/>
                </a:solidFill>
                <a:latin typeface="Roboto Bk" pitchFamily="2" charset="0"/>
                <a:ea typeface="Roboto Bk" pitchFamily="2" charset="0"/>
                <a:cs typeface="Cambria" pitchFamily="34" charset="-120"/>
              </a:rPr>
              <a:t> | </a:t>
            </a:r>
            <a:r>
              <a:rPr lang="es-419" sz="3733" b="1" noProof="0">
                <a:solidFill>
                  <a:srgbClr val="0E9594"/>
                </a:solidFill>
                <a:latin typeface="Roboto Bk" pitchFamily="2" charset="0"/>
                <a:ea typeface="Roboto Bk" pitchFamily="2" charset="0"/>
                <a:cs typeface="Cambria" pitchFamily="34" charset="-120"/>
              </a:rPr>
              <a:t>Protección de la identidad</a:t>
            </a:r>
            <a:endParaRPr lang="es-419" sz="3733" noProof="0">
              <a:solidFill>
                <a:srgbClr val="0E9594"/>
              </a:solidFill>
              <a:latin typeface="Roboto Bk" pitchFamily="2" charset="0"/>
              <a:ea typeface="Roboto Bk" pitchFamily="2" charset="0"/>
            </a:endParaRPr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8CB3C81D-842D-3A24-C824-312A6E74BB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513" y="152721"/>
            <a:ext cx="1745877" cy="404490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3F3AD090-00EB-24F7-879F-A313DF98A085}"/>
              </a:ext>
            </a:extLst>
          </p:cNvPr>
          <p:cNvSpPr/>
          <p:nvPr/>
        </p:nvSpPr>
        <p:spPr>
          <a:xfrm>
            <a:off x="8143876" y="167447"/>
            <a:ext cx="3095850" cy="5816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 algn="r">
              <a:defRPr/>
            </a:pPr>
            <a:r>
              <a:rPr lang="es-419" sz="1400" b="1" noProof="0">
                <a:solidFill>
                  <a:schemeClr val="bg1">
                    <a:lumMod val="85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Flujo construcción de soluciones TI </a:t>
            </a:r>
            <a:endParaRPr lang="es-419" sz="1400" noProof="0">
              <a:solidFill>
                <a:schemeClr val="bg1">
                  <a:lumMod val="85000"/>
                </a:schemeClr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31" name="Shape 6">
            <a:extLst>
              <a:ext uri="{FF2B5EF4-FFF2-40B4-BE49-F238E27FC236}">
                <a16:creationId xmlns:a16="http://schemas.microsoft.com/office/drawing/2014/main" id="{F078B2C1-7AAA-4A7E-CF9D-2D8F7EE28AE1}"/>
              </a:ext>
            </a:extLst>
          </p:cNvPr>
          <p:cNvSpPr/>
          <p:nvPr/>
        </p:nvSpPr>
        <p:spPr>
          <a:xfrm>
            <a:off x="6862811" y="3607413"/>
            <a:ext cx="4815840" cy="1644376"/>
          </a:xfrm>
          <a:prstGeom prst="roundRect">
            <a:avLst>
              <a:gd name="adj" fmla="val 3902"/>
            </a:avLst>
          </a:prstGeom>
          <a:solidFill>
            <a:srgbClr val="EEF4FC"/>
          </a:solidFill>
          <a:ln/>
        </p:spPr>
        <p:txBody>
          <a:bodyPr anchor="ctr"/>
          <a:lstStyle/>
          <a:p>
            <a:pPr marL="171450" indent="-171450" algn="just">
              <a:buFont typeface="Wingdings" panose="05000000000000000000" pitchFamily="2" charset="2"/>
              <a:buChar char="§"/>
            </a:pPr>
            <a:endParaRPr lang="es-419" sz="1400" noProof="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  <a:p>
            <a:pPr marL="171450" indent="-171450" algn="just">
              <a:buFont typeface="Wingdings" panose="05000000000000000000" pitchFamily="2" charset="2"/>
              <a:buChar char="§"/>
            </a:pPr>
            <a:endParaRPr lang="es-419" sz="140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419" sz="1400" noProof="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Matriz de roles/perfiles </a:t>
            </a:r>
            <a:r>
              <a:rPr lang="es-419" sz="1400" noProof="0" err="1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RGP</a:t>
            </a:r>
            <a:endParaRPr lang="es-419" sz="1400" noProof="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ES" sz="14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Permisos autorizados</a:t>
            </a: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ES" sz="14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Validaciones realizadas</a:t>
            </a: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ES" sz="14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Evidencias de configuración</a:t>
            </a: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ES" sz="14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Lineamientos para su administración</a:t>
            </a:r>
            <a:endParaRPr lang="es-ES" sz="140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</a:endParaRPr>
          </a:p>
          <a:p>
            <a:pPr algn="just"/>
            <a:endParaRPr lang="es-419" sz="140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  <a:p>
            <a:pPr algn="just"/>
            <a:endParaRPr lang="es-419" sz="140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</p:txBody>
      </p:sp>
      <p:sp>
        <p:nvSpPr>
          <p:cNvPr id="34" name="Text 7">
            <a:extLst>
              <a:ext uri="{FF2B5EF4-FFF2-40B4-BE49-F238E27FC236}">
                <a16:creationId xmlns:a16="http://schemas.microsoft.com/office/drawing/2014/main" id="{10136982-4A16-752A-4552-306F0BD1FB98}"/>
              </a:ext>
            </a:extLst>
          </p:cNvPr>
          <p:cNvSpPr/>
          <p:nvPr/>
        </p:nvSpPr>
        <p:spPr>
          <a:xfrm>
            <a:off x="6862811" y="3129037"/>
            <a:ext cx="481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600" b="1" kern="0" spc="267" noProof="0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Entregable: Implementación de accesos</a:t>
            </a:r>
            <a:endParaRPr lang="es-419" sz="1600" noProof="0">
              <a:latin typeface="Roboto" pitchFamily="2" charset="0"/>
              <a:ea typeface="Roboto" pitchFamily="2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87241B5-BC90-11CE-F91A-2BDC792AFD52}"/>
              </a:ext>
            </a:extLst>
          </p:cNvPr>
          <p:cNvSpPr txBox="1"/>
          <p:nvPr/>
        </p:nvSpPr>
        <p:spPr>
          <a:xfrm>
            <a:off x="5188810" y="197119"/>
            <a:ext cx="18381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>
                <a:highlight>
                  <a:srgbClr val="FFFF00"/>
                </a:highlight>
              </a:rPr>
              <a:t>Camilo Ocampo_ Alejo  Molina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B02D8A00-8D36-1D0D-7570-F487909AF297}"/>
              </a:ext>
            </a:extLst>
          </p:cNvPr>
          <p:cNvSpPr txBox="1"/>
          <p:nvPr/>
        </p:nvSpPr>
        <p:spPr>
          <a:xfrm>
            <a:off x="6862811" y="5415077"/>
            <a:ext cx="39328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>
                <a:solidFill>
                  <a:srgbClr val="FF0000"/>
                </a:solidFill>
                <a:highlight>
                  <a:srgbClr val="FFFF00"/>
                </a:highlight>
              </a:rPr>
              <a:t>Por que medio se realiza esta solicitud! </a:t>
            </a:r>
          </a:p>
          <a:p>
            <a:r>
              <a:rPr lang="es-ES" err="1">
                <a:solidFill>
                  <a:srgbClr val="FF0000"/>
                </a:solidFill>
                <a:highlight>
                  <a:srgbClr val="FFFF00"/>
                </a:highlight>
              </a:rPr>
              <a:t>SLA´s</a:t>
            </a:r>
            <a:r>
              <a:rPr lang="es-ES">
                <a:solidFill>
                  <a:srgbClr val="FF0000"/>
                </a:solidFill>
                <a:highlight>
                  <a:srgbClr val="FFFF00"/>
                </a:highlight>
              </a:rPr>
              <a:t> </a:t>
            </a:r>
            <a:endParaRPr lang="es-ES" sz="180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9830533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F98AD-8F9A-03AA-235A-3B80208A6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>
            <a:extLst>
              <a:ext uri="{FF2B5EF4-FFF2-40B4-BE49-F238E27FC236}">
                <a16:creationId xmlns:a16="http://schemas.microsoft.com/office/drawing/2014/main" id="{907CB87F-B21F-31F0-3E7F-B0AE6C3D062B}"/>
              </a:ext>
            </a:extLst>
          </p:cNvPr>
          <p:cNvSpPr/>
          <p:nvPr/>
        </p:nvSpPr>
        <p:spPr>
          <a:xfrm>
            <a:off x="731520" y="1583393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600" b="1" kern="0" spc="267" noProof="0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EN QUÉ CONSISTE</a:t>
            </a:r>
            <a:endParaRPr lang="es-419" sz="1600" noProof="0">
              <a:latin typeface="Roboto" pitchFamily="2" charset="0"/>
              <a:ea typeface="Roboto" pitchFamily="2" charset="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E1342A9-4A7F-CBB2-2C98-44521B50FA9B}"/>
              </a:ext>
            </a:extLst>
          </p:cNvPr>
          <p:cNvSpPr/>
          <p:nvPr/>
        </p:nvSpPr>
        <p:spPr>
          <a:xfrm>
            <a:off x="731520" y="2048644"/>
            <a:ext cx="5266944" cy="113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/>
            <a:r>
              <a:rPr lang="es-ES" sz="1400" noProof="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Definir, validar e implementar los accesos requeridos para una aplicación, sistema o proceso, asegurando que los perfiles, roles y permisos estén alineados con las funciones del negocio, el principio de mínimo privilegio y los lineamientos de control de acceso de la compañía.</a:t>
            </a:r>
            <a:endParaRPr lang="es-419" sz="1400" noProof="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38AE9419-7933-B050-01A4-D9403C0A997E}"/>
              </a:ext>
            </a:extLst>
          </p:cNvPr>
          <p:cNvSpPr/>
          <p:nvPr/>
        </p:nvSpPr>
        <p:spPr>
          <a:xfrm>
            <a:off x="6069993" y="121765"/>
            <a:ext cx="4267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s-419" sz="1400" i="1" noProof="0">
              <a:solidFill>
                <a:srgbClr val="5B6B82"/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94598DF8-058C-257C-14CD-A25D3F5F37D4}"/>
              </a:ext>
            </a:extLst>
          </p:cNvPr>
          <p:cNvSpPr/>
          <p:nvPr/>
        </p:nvSpPr>
        <p:spPr>
          <a:xfrm>
            <a:off x="705513" y="3322504"/>
            <a:ext cx="536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600" b="1" kern="0" spc="267" noProof="0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ACTIVIDADES CLAVE</a:t>
            </a:r>
            <a:endParaRPr lang="es-419" sz="1600" noProof="0">
              <a:latin typeface="Roboto" pitchFamily="2" charset="0"/>
              <a:ea typeface="Roboto" pitchFamily="2" charset="0"/>
            </a:endParaRPr>
          </a:p>
        </p:txBody>
      </p:sp>
      <p:sp>
        <p:nvSpPr>
          <p:cNvPr id="27" name="Shape 22">
            <a:extLst>
              <a:ext uri="{FF2B5EF4-FFF2-40B4-BE49-F238E27FC236}">
                <a16:creationId xmlns:a16="http://schemas.microsoft.com/office/drawing/2014/main" id="{6F3F14B9-E691-CB94-9E45-FE98B12F5041}"/>
              </a:ext>
            </a:extLst>
          </p:cNvPr>
          <p:cNvSpPr/>
          <p:nvPr/>
        </p:nvSpPr>
        <p:spPr>
          <a:xfrm>
            <a:off x="879445" y="3831538"/>
            <a:ext cx="288000" cy="288000"/>
          </a:xfrm>
          <a:prstGeom prst="ellipse">
            <a:avLst/>
          </a:prstGeom>
          <a:solidFill>
            <a:srgbClr val="0E9594"/>
          </a:solidFill>
          <a:ln w="12700">
            <a:solidFill>
              <a:srgbClr val="0E9594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1</a:t>
            </a:r>
          </a:p>
        </p:txBody>
      </p:sp>
      <p:sp>
        <p:nvSpPr>
          <p:cNvPr id="30" name="Shape 25">
            <a:extLst>
              <a:ext uri="{FF2B5EF4-FFF2-40B4-BE49-F238E27FC236}">
                <a16:creationId xmlns:a16="http://schemas.microsoft.com/office/drawing/2014/main" id="{6DE2F392-8D48-79D8-CC4F-A2536C2DDE3E}"/>
              </a:ext>
            </a:extLst>
          </p:cNvPr>
          <p:cNvSpPr/>
          <p:nvPr/>
        </p:nvSpPr>
        <p:spPr>
          <a:xfrm>
            <a:off x="879445" y="4305484"/>
            <a:ext cx="288000" cy="288000"/>
          </a:xfrm>
          <a:prstGeom prst="ellipse">
            <a:avLst/>
          </a:prstGeom>
          <a:solidFill>
            <a:srgbClr val="0E9594"/>
          </a:solidFill>
          <a:ln w="12700">
            <a:solidFill>
              <a:srgbClr val="0E9594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2</a:t>
            </a:r>
          </a:p>
        </p:txBody>
      </p:sp>
      <p:sp>
        <p:nvSpPr>
          <p:cNvPr id="33" name="Shape 28">
            <a:extLst>
              <a:ext uri="{FF2B5EF4-FFF2-40B4-BE49-F238E27FC236}">
                <a16:creationId xmlns:a16="http://schemas.microsoft.com/office/drawing/2014/main" id="{EC5B47AF-688C-70F3-E099-9D122E2E57EC}"/>
              </a:ext>
            </a:extLst>
          </p:cNvPr>
          <p:cNvSpPr/>
          <p:nvPr/>
        </p:nvSpPr>
        <p:spPr>
          <a:xfrm>
            <a:off x="879445" y="4780972"/>
            <a:ext cx="288000" cy="288000"/>
          </a:xfrm>
          <a:prstGeom prst="ellipse">
            <a:avLst/>
          </a:prstGeom>
          <a:solidFill>
            <a:srgbClr val="0E9594"/>
          </a:solidFill>
          <a:ln w="12700">
            <a:solidFill>
              <a:srgbClr val="0E9594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3</a:t>
            </a:r>
          </a:p>
        </p:txBody>
      </p:sp>
      <p:sp>
        <p:nvSpPr>
          <p:cNvPr id="36" name="Shape 31">
            <a:extLst>
              <a:ext uri="{FF2B5EF4-FFF2-40B4-BE49-F238E27FC236}">
                <a16:creationId xmlns:a16="http://schemas.microsoft.com/office/drawing/2014/main" id="{7C1FE408-C84A-0693-26F9-AE7ED1690656}"/>
              </a:ext>
            </a:extLst>
          </p:cNvPr>
          <p:cNvSpPr/>
          <p:nvPr/>
        </p:nvSpPr>
        <p:spPr>
          <a:xfrm>
            <a:off x="879445" y="5256460"/>
            <a:ext cx="288000" cy="288000"/>
          </a:xfrm>
          <a:prstGeom prst="ellipse">
            <a:avLst/>
          </a:prstGeom>
          <a:solidFill>
            <a:srgbClr val="0E9594"/>
          </a:solidFill>
          <a:ln w="12700">
            <a:solidFill>
              <a:srgbClr val="0E9594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4</a:t>
            </a:r>
          </a:p>
        </p:txBody>
      </p:sp>
      <p:sp>
        <p:nvSpPr>
          <p:cNvPr id="56" name="Text 11">
            <a:extLst>
              <a:ext uri="{FF2B5EF4-FFF2-40B4-BE49-F238E27FC236}">
                <a16:creationId xmlns:a16="http://schemas.microsoft.com/office/drawing/2014/main" id="{9B065D7F-8762-2234-1092-E424E9E3C850}"/>
              </a:ext>
            </a:extLst>
          </p:cNvPr>
          <p:cNvSpPr/>
          <p:nvPr/>
        </p:nvSpPr>
        <p:spPr>
          <a:xfrm>
            <a:off x="6862811" y="1583393"/>
            <a:ext cx="44338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600" b="1" kern="0" spc="267" noProof="0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ACTORES QUE INTERVIENEN</a:t>
            </a:r>
            <a:endParaRPr lang="es-419" sz="1600" noProof="0">
              <a:latin typeface="Roboto" pitchFamily="2" charset="0"/>
              <a:ea typeface="Roboto" pitchFamily="2" charset="0"/>
            </a:endParaRPr>
          </a:p>
        </p:txBody>
      </p:sp>
      <p:sp>
        <p:nvSpPr>
          <p:cNvPr id="57" name="Shape 16">
            <a:extLst>
              <a:ext uri="{FF2B5EF4-FFF2-40B4-BE49-F238E27FC236}">
                <a16:creationId xmlns:a16="http://schemas.microsoft.com/office/drawing/2014/main" id="{78606CEB-2B22-7EC7-8AB8-E66C7709C2AE}"/>
              </a:ext>
            </a:extLst>
          </p:cNvPr>
          <p:cNvSpPr/>
          <p:nvPr/>
        </p:nvSpPr>
        <p:spPr>
          <a:xfrm>
            <a:off x="6862811" y="2031918"/>
            <a:ext cx="1901952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 anchor="ctr"/>
          <a:lstStyle/>
          <a:p>
            <a:pPr algn="ctr"/>
            <a:r>
              <a:rPr lang="es-419" sz="1200" b="1">
                <a:solidFill>
                  <a:srgbClr val="1B2A5E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Especialista Técnico</a:t>
            </a:r>
            <a:endParaRPr lang="en-US" sz="120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60" name="Shape 16">
            <a:extLst>
              <a:ext uri="{FF2B5EF4-FFF2-40B4-BE49-F238E27FC236}">
                <a16:creationId xmlns:a16="http://schemas.microsoft.com/office/drawing/2014/main" id="{1C13BAC3-D351-E465-9704-E5D6676D25B1}"/>
              </a:ext>
            </a:extLst>
          </p:cNvPr>
          <p:cNvSpPr/>
          <p:nvPr/>
        </p:nvSpPr>
        <p:spPr>
          <a:xfrm>
            <a:off x="6862811" y="2538848"/>
            <a:ext cx="1901952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 anchor="ctr"/>
          <a:lstStyle/>
          <a:p>
            <a:pPr algn="ctr"/>
            <a:r>
              <a:rPr lang="es-419" sz="1200" b="1">
                <a:solidFill>
                  <a:srgbClr val="1B2A5E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Desarrollador</a:t>
            </a:r>
            <a:endParaRPr lang="es-419" sz="1200" b="1" noProof="0">
              <a:solidFill>
                <a:srgbClr val="1B2A5E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pic>
        <p:nvPicPr>
          <p:cNvPr id="61" name="Picture 2">
            <a:extLst>
              <a:ext uri="{FF2B5EF4-FFF2-40B4-BE49-F238E27FC236}">
                <a16:creationId xmlns:a16="http://schemas.microsoft.com/office/drawing/2014/main" id="{A3F075A3-BA90-71CE-F560-F25F0A7BE0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5157" y="196371"/>
            <a:ext cx="868630" cy="580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 24">
            <a:extLst>
              <a:ext uri="{FF2B5EF4-FFF2-40B4-BE49-F238E27FC236}">
                <a16:creationId xmlns:a16="http://schemas.microsoft.com/office/drawing/2014/main" id="{00276508-5E89-CFCA-2855-B9BB069B4F79}"/>
              </a:ext>
            </a:extLst>
          </p:cNvPr>
          <p:cNvSpPr/>
          <p:nvPr/>
        </p:nvSpPr>
        <p:spPr>
          <a:xfrm>
            <a:off x="1367994" y="3754998"/>
            <a:ext cx="411840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12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</a:rPr>
              <a:t>Identificar la solución, aplicación o proceso a habilitar</a:t>
            </a:r>
            <a:endParaRPr lang="es-419" sz="1200" noProof="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</p:txBody>
      </p:sp>
      <p:sp>
        <p:nvSpPr>
          <p:cNvPr id="9" name="Text 27">
            <a:extLst>
              <a:ext uri="{FF2B5EF4-FFF2-40B4-BE49-F238E27FC236}">
                <a16:creationId xmlns:a16="http://schemas.microsoft.com/office/drawing/2014/main" id="{08F58666-B4AB-1F2D-8E72-70DEB20FA81D}"/>
              </a:ext>
            </a:extLst>
          </p:cNvPr>
          <p:cNvSpPr/>
          <p:nvPr/>
        </p:nvSpPr>
        <p:spPr>
          <a:xfrm>
            <a:off x="1367994" y="4230486"/>
            <a:ext cx="411840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12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</a:rPr>
              <a:t>Definir y validar el modelo de acceso requerido</a:t>
            </a:r>
            <a:endParaRPr lang="es-419" sz="120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10" name="Text 30">
            <a:extLst>
              <a:ext uri="{FF2B5EF4-FFF2-40B4-BE49-F238E27FC236}">
                <a16:creationId xmlns:a16="http://schemas.microsoft.com/office/drawing/2014/main" id="{D5B32A9D-620D-1B6B-04D5-E804B9D05A42}"/>
              </a:ext>
            </a:extLst>
          </p:cNvPr>
          <p:cNvSpPr/>
          <p:nvPr/>
        </p:nvSpPr>
        <p:spPr>
          <a:xfrm>
            <a:off x="1367995" y="4705974"/>
            <a:ext cx="44516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12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</a:rPr>
              <a:t>Configurar e implementar los accesos</a:t>
            </a:r>
            <a:endParaRPr lang="es-419" sz="120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11" name="Text 36">
            <a:extLst>
              <a:ext uri="{FF2B5EF4-FFF2-40B4-BE49-F238E27FC236}">
                <a16:creationId xmlns:a16="http://schemas.microsoft.com/office/drawing/2014/main" id="{7959CE02-6801-A61D-4604-8C7BC92E4701}"/>
              </a:ext>
            </a:extLst>
          </p:cNvPr>
          <p:cNvSpPr/>
          <p:nvPr/>
        </p:nvSpPr>
        <p:spPr>
          <a:xfrm>
            <a:off x="1381709" y="5208894"/>
            <a:ext cx="47007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12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</a:rPr>
              <a:t>Validar</a:t>
            </a:r>
            <a:r>
              <a:rPr lang="es-ES" sz="12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 y </a:t>
            </a:r>
            <a:r>
              <a:rPr lang="es-ES" sz="12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</a:rPr>
              <a:t>formalizar</a:t>
            </a:r>
            <a:r>
              <a:rPr lang="es-ES" sz="12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 </a:t>
            </a:r>
            <a:r>
              <a:rPr lang="es-ES" sz="12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</a:rPr>
              <a:t>la salida a operación</a:t>
            </a:r>
            <a:endParaRPr lang="es-419" sz="120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83A5BB4A-35D9-5D8A-025C-E2FF969B6A23}"/>
              </a:ext>
            </a:extLst>
          </p:cNvPr>
          <p:cNvSpPr/>
          <p:nvPr/>
        </p:nvSpPr>
        <p:spPr>
          <a:xfrm>
            <a:off x="8893742" y="2031918"/>
            <a:ext cx="1901952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rgbClr val="1B2A5E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Arquitecto</a:t>
            </a:r>
          </a:p>
        </p:txBody>
      </p:sp>
      <p:sp>
        <p:nvSpPr>
          <p:cNvPr id="17" name="Shape 16">
            <a:extLst>
              <a:ext uri="{FF2B5EF4-FFF2-40B4-BE49-F238E27FC236}">
                <a16:creationId xmlns:a16="http://schemas.microsoft.com/office/drawing/2014/main" id="{3A0A7EA4-B7A9-AB18-0103-4526477C742B}"/>
              </a:ext>
            </a:extLst>
          </p:cNvPr>
          <p:cNvSpPr/>
          <p:nvPr/>
        </p:nvSpPr>
        <p:spPr>
          <a:xfrm>
            <a:off x="8893742" y="2538848"/>
            <a:ext cx="1901952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rgbClr val="1B2A5E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Seguridad</a:t>
            </a:r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DE526FC6-4016-FDC4-295A-35D89F033BEF}"/>
              </a:ext>
            </a:extLst>
          </p:cNvPr>
          <p:cNvSpPr>
            <a:spLocks noChangeAspect="1"/>
          </p:cNvSpPr>
          <p:nvPr/>
        </p:nvSpPr>
        <p:spPr>
          <a:xfrm>
            <a:off x="705513" y="725269"/>
            <a:ext cx="720000" cy="720000"/>
          </a:xfrm>
          <a:prstGeom prst="ellipse">
            <a:avLst/>
          </a:prstGeom>
          <a:solidFill>
            <a:srgbClr val="0E9594"/>
          </a:solidFill>
          <a:ln/>
        </p:spPr>
        <p:txBody>
          <a:bodyPr anchor="ctr"/>
          <a:lstStyle/>
          <a:p>
            <a:pPr algn="ctr"/>
            <a:r>
              <a:rPr lang="es-419" sz="3600" noProof="0">
                <a:solidFill>
                  <a:schemeClr val="bg1"/>
                </a:solidFill>
                <a:latin typeface="Roboto Bk" pitchFamily="2" charset="0"/>
                <a:ea typeface="Roboto Bk" pitchFamily="2" charset="0"/>
              </a:rPr>
              <a:t>4</a:t>
            </a:r>
          </a:p>
        </p:txBody>
      </p:sp>
      <p:sp>
        <p:nvSpPr>
          <p:cNvPr id="20" name="Text 2">
            <a:extLst>
              <a:ext uri="{FF2B5EF4-FFF2-40B4-BE49-F238E27FC236}">
                <a16:creationId xmlns:a16="http://schemas.microsoft.com/office/drawing/2014/main" id="{07E952C0-A4BC-4121-8E55-C67FB51AF4BE}"/>
              </a:ext>
            </a:extLst>
          </p:cNvPr>
          <p:cNvSpPr/>
          <p:nvPr/>
        </p:nvSpPr>
        <p:spPr>
          <a:xfrm>
            <a:off x="1586696" y="658549"/>
            <a:ext cx="10300504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3733" b="1">
                <a:solidFill>
                  <a:srgbClr val="1B2A5E"/>
                </a:solidFill>
                <a:latin typeface="Roboto Bk" pitchFamily="2" charset="0"/>
                <a:ea typeface="Roboto Bk" pitchFamily="2" charset="0"/>
                <a:cs typeface="Cambria" pitchFamily="34" charset="-120"/>
              </a:rPr>
              <a:t>Implementación</a:t>
            </a:r>
            <a:r>
              <a:rPr lang="es-419" sz="3733" b="1" noProof="0">
                <a:solidFill>
                  <a:srgbClr val="1B2A5E"/>
                </a:solidFill>
                <a:latin typeface="Roboto Bk" pitchFamily="2" charset="0"/>
                <a:ea typeface="Roboto Bk" pitchFamily="2" charset="0"/>
                <a:cs typeface="Cambria" pitchFamily="34" charset="-120"/>
              </a:rPr>
              <a:t> | </a:t>
            </a:r>
            <a:r>
              <a:rPr lang="es-419" sz="3733" b="1" noProof="0">
                <a:solidFill>
                  <a:srgbClr val="0E9594"/>
                </a:solidFill>
                <a:latin typeface="Roboto Bk" pitchFamily="2" charset="0"/>
                <a:ea typeface="Roboto Bk" pitchFamily="2" charset="0"/>
                <a:cs typeface="Cambria" pitchFamily="34" charset="-120"/>
              </a:rPr>
              <a:t>Infraestructura de seguridad</a:t>
            </a:r>
            <a:endParaRPr lang="es-419" sz="3733" noProof="0">
              <a:solidFill>
                <a:srgbClr val="0E9594"/>
              </a:solidFill>
              <a:latin typeface="Roboto Bk" pitchFamily="2" charset="0"/>
              <a:ea typeface="Roboto Bk" pitchFamily="2" charset="0"/>
            </a:endParaRPr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FEC45E68-6F77-EE5F-F0C3-218FA7EE43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513" y="152721"/>
            <a:ext cx="1745877" cy="404490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712065FE-008C-5C50-51D9-59868F0C6112}"/>
              </a:ext>
            </a:extLst>
          </p:cNvPr>
          <p:cNvSpPr/>
          <p:nvPr/>
        </p:nvSpPr>
        <p:spPr>
          <a:xfrm>
            <a:off x="8143876" y="167447"/>
            <a:ext cx="3095850" cy="5816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 algn="r">
              <a:defRPr/>
            </a:pPr>
            <a:r>
              <a:rPr lang="es-419" sz="1400" b="1" noProof="0">
                <a:solidFill>
                  <a:schemeClr val="bg1">
                    <a:lumMod val="85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Flujo construcción de soluciones TI </a:t>
            </a:r>
            <a:endParaRPr lang="es-419" sz="1400" noProof="0">
              <a:solidFill>
                <a:schemeClr val="bg1">
                  <a:lumMod val="85000"/>
                </a:schemeClr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31" name="Shape 6">
            <a:extLst>
              <a:ext uri="{FF2B5EF4-FFF2-40B4-BE49-F238E27FC236}">
                <a16:creationId xmlns:a16="http://schemas.microsoft.com/office/drawing/2014/main" id="{0322D0DF-F390-E75B-8DA5-105F0B0986BC}"/>
              </a:ext>
            </a:extLst>
          </p:cNvPr>
          <p:cNvSpPr/>
          <p:nvPr/>
        </p:nvSpPr>
        <p:spPr>
          <a:xfrm>
            <a:off x="6862811" y="3607413"/>
            <a:ext cx="4815840" cy="1644376"/>
          </a:xfrm>
          <a:prstGeom prst="roundRect">
            <a:avLst>
              <a:gd name="adj" fmla="val 3902"/>
            </a:avLst>
          </a:prstGeom>
          <a:solidFill>
            <a:srgbClr val="EEF4FC"/>
          </a:solidFill>
          <a:ln/>
        </p:spPr>
        <p:txBody>
          <a:bodyPr anchor="ctr"/>
          <a:lstStyle/>
          <a:p>
            <a:pPr marL="171450" indent="-171450" algn="just">
              <a:buFont typeface="Wingdings" panose="05000000000000000000" pitchFamily="2" charset="2"/>
              <a:buChar char="§"/>
            </a:pPr>
            <a:endParaRPr lang="es-419" sz="1400" noProof="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  <a:p>
            <a:pPr marL="171450" indent="-171450" algn="just">
              <a:buFont typeface="Wingdings" panose="05000000000000000000" pitchFamily="2" charset="2"/>
              <a:buChar char="§"/>
            </a:pPr>
            <a:endParaRPr lang="es-419" sz="140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419" sz="1400" noProof="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Matriz de roles/perfiles </a:t>
            </a:r>
            <a:r>
              <a:rPr lang="es-419" sz="1400" noProof="0" err="1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RGP</a:t>
            </a:r>
            <a:endParaRPr lang="es-419" sz="1400" noProof="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ES" sz="14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Permisos autorizados</a:t>
            </a: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ES" sz="14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Validaciones realizadas</a:t>
            </a: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ES" sz="14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Evidencias de configuración</a:t>
            </a: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ES" sz="14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Lineamientos para su administración</a:t>
            </a:r>
            <a:endParaRPr lang="es-ES" sz="140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</a:endParaRPr>
          </a:p>
          <a:p>
            <a:pPr algn="just"/>
            <a:endParaRPr lang="es-419" sz="140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  <a:p>
            <a:pPr algn="just"/>
            <a:endParaRPr lang="es-419" sz="140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</p:txBody>
      </p:sp>
      <p:sp>
        <p:nvSpPr>
          <p:cNvPr id="34" name="Text 7">
            <a:extLst>
              <a:ext uri="{FF2B5EF4-FFF2-40B4-BE49-F238E27FC236}">
                <a16:creationId xmlns:a16="http://schemas.microsoft.com/office/drawing/2014/main" id="{D7F776E8-22E7-DC86-85E0-D03EFC8BC724}"/>
              </a:ext>
            </a:extLst>
          </p:cNvPr>
          <p:cNvSpPr/>
          <p:nvPr/>
        </p:nvSpPr>
        <p:spPr>
          <a:xfrm>
            <a:off x="6862811" y="3129037"/>
            <a:ext cx="481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600" b="1" kern="0" spc="267" noProof="0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Entregable: Implementación de accesos</a:t>
            </a:r>
            <a:endParaRPr lang="es-419" sz="1600" noProof="0">
              <a:latin typeface="Roboto" pitchFamily="2" charset="0"/>
              <a:ea typeface="Roboto" pitchFamily="2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A41CD64-C71E-9E40-FE0E-7298AA0D0F97}"/>
              </a:ext>
            </a:extLst>
          </p:cNvPr>
          <p:cNvSpPr txBox="1"/>
          <p:nvPr/>
        </p:nvSpPr>
        <p:spPr>
          <a:xfrm>
            <a:off x="5188810" y="197119"/>
            <a:ext cx="18381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>
                <a:highlight>
                  <a:srgbClr val="FFFF00"/>
                </a:highlight>
              </a:rPr>
              <a:t>Alejo  Molina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EA16AA6-7E6D-0452-40CE-F81A3D388372}"/>
              </a:ext>
            </a:extLst>
          </p:cNvPr>
          <p:cNvSpPr txBox="1"/>
          <p:nvPr/>
        </p:nvSpPr>
        <p:spPr>
          <a:xfrm rot="2642606">
            <a:off x="9988696" y="573456"/>
            <a:ext cx="264329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>
                <a:highlight>
                  <a:srgbClr val="FFFF00"/>
                </a:highlight>
              </a:rPr>
              <a:t>EN </a:t>
            </a:r>
            <a:r>
              <a:rPr lang="en-US" sz="1200" b="1" err="1">
                <a:highlight>
                  <a:srgbClr val="FFFF00"/>
                </a:highlight>
              </a:rPr>
              <a:t>CONSTRUCCIÖN</a:t>
            </a:r>
            <a:endParaRPr lang="en-US" sz="1200" b="1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4267497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728AA9-04BE-6018-688A-8FE6E02A3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>
            <a:extLst>
              <a:ext uri="{FF2B5EF4-FFF2-40B4-BE49-F238E27FC236}">
                <a16:creationId xmlns:a16="http://schemas.microsoft.com/office/drawing/2014/main" id="{48EEE82E-9B31-C1D8-6434-7001B2FC0952}"/>
              </a:ext>
            </a:extLst>
          </p:cNvPr>
          <p:cNvSpPr/>
          <p:nvPr/>
        </p:nvSpPr>
        <p:spPr>
          <a:xfrm>
            <a:off x="731520" y="146073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600" b="1" kern="0" spc="267" noProof="0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EN QUÉ CONSISTE</a:t>
            </a:r>
            <a:endParaRPr lang="es-419" sz="1600" noProof="0">
              <a:latin typeface="Roboto" pitchFamily="2" charset="0"/>
              <a:ea typeface="Roboto" pitchFamily="2" charset="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BB6B2E4-75D0-1EF6-2CC4-ED0336CFFAD9}"/>
              </a:ext>
            </a:extLst>
          </p:cNvPr>
          <p:cNvSpPr/>
          <p:nvPr/>
        </p:nvSpPr>
        <p:spPr>
          <a:xfrm>
            <a:off x="731520" y="1909541"/>
            <a:ext cx="5266944" cy="943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/>
            <a:r>
              <a:rPr lang="es-419" sz="1400">
                <a:solidFill>
                  <a:schemeClr val="accent1">
                    <a:lumMod val="50000"/>
                  </a:schemeClr>
                </a:solidFill>
                <a:latin typeface="Roboto"/>
                <a:ea typeface="Roboto"/>
                <a:cs typeface="Calibri"/>
              </a:rPr>
              <a:t>Consiste en traducir los diseños de arquitectura en soluciones técnicas funcionales utilizando las herramientas destinadas al </a:t>
            </a:r>
            <a:r>
              <a:rPr lang="es-419" sz="1400" err="1">
                <a:solidFill>
                  <a:schemeClr val="accent1">
                    <a:lumMod val="50000"/>
                  </a:schemeClr>
                </a:solidFill>
                <a:latin typeface="Roboto"/>
                <a:ea typeface="Roboto"/>
                <a:cs typeface="Calibri"/>
              </a:rPr>
              <a:t>CoE</a:t>
            </a:r>
            <a:r>
              <a:rPr lang="es-419" sz="1400">
                <a:solidFill>
                  <a:schemeClr val="accent1">
                    <a:lumMod val="50000"/>
                  </a:schemeClr>
                </a:solidFill>
                <a:latin typeface="Roboto"/>
                <a:ea typeface="Roboto"/>
                <a:cs typeface="Calibri"/>
              </a:rPr>
              <a:t>(</a:t>
            </a:r>
            <a:r>
              <a:rPr lang="es-419" sz="1400" err="1">
                <a:solidFill>
                  <a:schemeClr val="accent1">
                    <a:lumMod val="50000"/>
                  </a:schemeClr>
                </a:solidFill>
                <a:latin typeface="Roboto"/>
                <a:ea typeface="Roboto"/>
                <a:cs typeface="Calibri"/>
              </a:rPr>
              <a:t>Mulesoft</a:t>
            </a:r>
            <a:r>
              <a:rPr lang="es-419" sz="1400">
                <a:solidFill>
                  <a:schemeClr val="accent1">
                    <a:lumMod val="50000"/>
                  </a:schemeClr>
                </a:solidFill>
                <a:latin typeface="Roboto"/>
                <a:ea typeface="Roboto"/>
                <a:cs typeface="Calibri"/>
              </a:rPr>
              <a:t>, </a:t>
            </a:r>
            <a:r>
              <a:rPr lang="es-419" sz="1400" err="1">
                <a:solidFill>
                  <a:schemeClr val="accent1">
                    <a:lumMod val="50000"/>
                  </a:schemeClr>
                </a:solidFill>
                <a:latin typeface="Roboto"/>
                <a:ea typeface="Roboto"/>
                <a:cs typeface="Calibri"/>
              </a:rPr>
              <a:t>GoAnywhere</a:t>
            </a:r>
            <a:r>
              <a:rPr lang="es-419" sz="1400">
                <a:solidFill>
                  <a:schemeClr val="accent1">
                    <a:lumMod val="50000"/>
                  </a:schemeClr>
                </a:solidFill>
                <a:latin typeface="Roboto"/>
                <a:ea typeface="Roboto"/>
                <a:cs typeface="Calibri"/>
              </a:rPr>
              <a:t>, </a:t>
            </a:r>
            <a:r>
              <a:rPr lang="es-419" sz="1400" err="1">
                <a:solidFill>
                  <a:schemeClr val="accent1">
                    <a:lumMod val="50000"/>
                  </a:schemeClr>
                </a:solidFill>
                <a:latin typeface="Roboto"/>
                <a:ea typeface="Roboto"/>
                <a:cs typeface="Calibri"/>
              </a:rPr>
              <a:t>Datafactory</a:t>
            </a:r>
            <a:r>
              <a:rPr lang="es-419" sz="1400">
                <a:solidFill>
                  <a:schemeClr val="accent1">
                    <a:lumMod val="50000"/>
                  </a:schemeClr>
                </a:solidFill>
                <a:latin typeface="Roboto"/>
                <a:ea typeface="Roboto"/>
                <a:cs typeface="Calibri"/>
              </a:rPr>
              <a:t>). Se construyen y configuran Apis, flujos de transferencia de archivos y pipelines llevando a cabo el cumplimiento de los estándares de la organización.</a:t>
            </a: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3395A235-5BFA-196A-E000-6FA61969B865}"/>
              </a:ext>
            </a:extLst>
          </p:cNvPr>
          <p:cNvSpPr/>
          <p:nvPr/>
        </p:nvSpPr>
        <p:spPr>
          <a:xfrm>
            <a:off x="6717669" y="4006329"/>
            <a:ext cx="4960982" cy="1384952"/>
          </a:xfrm>
          <a:prstGeom prst="roundRect">
            <a:avLst>
              <a:gd name="adj" fmla="val 3902"/>
            </a:avLst>
          </a:prstGeom>
          <a:solidFill>
            <a:srgbClr val="EEF4FC"/>
          </a:solidFill>
          <a:ln/>
        </p:spPr>
        <p:txBody>
          <a:bodyPr lIns="91440" tIns="45720" rIns="91440" bIns="45720" anchor="ctr"/>
          <a:lstStyle/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419" sz="15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/>
              </a:rPr>
              <a:t>DoR de Integración</a:t>
            </a: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419" sz="15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/>
              </a:rPr>
              <a:t>Manual de Instalación</a:t>
            </a:r>
            <a:endParaRPr lang="es-419" sz="1500" noProof="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419" sz="15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/>
              </a:rPr>
              <a:t>Entregable a operaciones – Arquitectura de Software</a:t>
            </a:r>
            <a:endParaRPr lang="es-419" sz="150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419" sz="15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/>
              </a:rPr>
              <a:t>Artefacto desplegado en </a:t>
            </a:r>
            <a:r>
              <a:rPr lang="es-419" sz="1500" err="1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/>
              </a:rPr>
              <a:t>cert</a:t>
            </a:r>
            <a:r>
              <a:rPr lang="es-419" sz="15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/>
              </a:rPr>
              <a:t>/</a:t>
            </a:r>
            <a:r>
              <a:rPr lang="es-419" sz="1500" err="1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/>
              </a:rPr>
              <a:t>prod</a:t>
            </a:r>
            <a:endParaRPr lang="es-419" sz="1500" noProof="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3EBF9AE1-6ED9-E685-C6AD-C8296A6284ED}"/>
              </a:ext>
            </a:extLst>
          </p:cNvPr>
          <p:cNvSpPr/>
          <p:nvPr/>
        </p:nvSpPr>
        <p:spPr>
          <a:xfrm>
            <a:off x="6069993" y="121765"/>
            <a:ext cx="4267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s-419" sz="1400" i="1" noProof="0">
              <a:solidFill>
                <a:srgbClr val="5B6B82"/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6CFF58FD-E0AB-32D6-C307-41A6938470D9}"/>
              </a:ext>
            </a:extLst>
          </p:cNvPr>
          <p:cNvSpPr/>
          <p:nvPr/>
        </p:nvSpPr>
        <p:spPr>
          <a:xfrm>
            <a:off x="741799" y="3233475"/>
            <a:ext cx="536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600" b="1" kern="0" spc="267" noProof="0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ACTIVIDADES CLAVE</a:t>
            </a:r>
            <a:endParaRPr lang="es-419" sz="1600" noProof="0">
              <a:latin typeface="Roboto" pitchFamily="2" charset="0"/>
              <a:ea typeface="Roboto" pitchFamily="2" charset="0"/>
            </a:endParaRPr>
          </a:p>
        </p:txBody>
      </p:sp>
      <p:sp>
        <p:nvSpPr>
          <p:cNvPr id="27" name="Shape 22">
            <a:extLst>
              <a:ext uri="{FF2B5EF4-FFF2-40B4-BE49-F238E27FC236}">
                <a16:creationId xmlns:a16="http://schemas.microsoft.com/office/drawing/2014/main" id="{BB1BB191-254F-E09F-B23B-0DABC43EC7EC}"/>
              </a:ext>
            </a:extLst>
          </p:cNvPr>
          <p:cNvSpPr/>
          <p:nvPr/>
        </p:nvSpPr>
        <p:spPr>
          <a:xfrm>
            <a:off x="879445" y="3658058"/>
            <a:ext cx="288000" cy="288000"/>
          </a:xfrm>
          <a:prstGeom prst="ellipse">
            <a:avLst/>
          </a:prstGeom>
          <a:solidFill>
            <a:srgbClr val="0E9594"/>
          </a:solidFill>
          <a:ln w="12700">
            <a:solidFill>
              <a:srgbClr val="0E9594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1</a:t>
            </a:r>
          </a:p>
        </p:txBody>
      </p:sp>
      <p:sp>
        <p:nvSpPr>
          <p:cNvPr id="30" name="Shape 25">
            <a:extLst>
              <a:ext uri="{FF2B5EF4-FFF2-40B4-BE49-F238E27FC236}">
                <a16:creationId xmlns:a16="http://schemas.microsoft.com/office/drawing/2014/main" id="{DA993E89-8D62-634F-6956-412891952559}"/>
              </a:ext>
            </a:extLst>
          </p:cNvPr>
          <p:cNvSpPr/>
          <p:nvPr/>
        </p:nvSpPr>
        <p:spPr>
          <a:xfrm>
            <a:off x="879445" y="4088160"/>
            <a:ext cx="288000" cy="288000"/>
          </a:xfrm>
          <a:prstGeom prst="ellipse">
            <a:avLst/>
          </a:prstGeom>
          <a:solidFill>
            <a:srgbClr val="0E9594"/>
          </a:solidFill>
          <a:ln w="12700">
            <a:solidFill>
              <a:srgbClr val="0E9594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2</a:t>
            </a:r>
          </a:p>
        </p:txBody>
      </p:sp>
      <p:sp>
        <p:nvSpPr>
          <p:cNvPr id="33" name="Shape 28">
            <a:extLst>
              <a:ext uri="{FF2B5EF4-FFF2-40B4-BE49-F238E27FC236}">
                <a16:creationId xmlns:a16="http://schemas.microsoft.com/office/drawing/2014/main" id="{1DCA56BC-1D5F-87E6-E670-FBDEACAFA962}"/>
              </a:ext>
            </a:extLst>
          </p:cNvPr>
          <p:cNvSpPr/>
          <p:nvPr/>
        </p:nvSpPr>
        <p:spPr>
          <a:xfrm>
            <a:off x="879445" y="4582307"/>
            <a:ext cx="288000" cy="288000"/>
          </a:xfrm>
          <a:prstGeom prst="ellipse">
            <a:avLst/>
          </a:prstGeom>
          <a:solidFill>
            <a:srgbClr val="0E9594"/>
          </a:solidFill>
          <a:ln w="12700">
            <a:solidFill>
              <a:srgbClr val="0E9594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3</a:t>
            </a:r>
          </a:p>
        </p:txBody>
      </p:sp>
      <p:sp>
        <p:nvSpPr>
          <p:cNvPr id="36" name="Shape 31">
            <a:extLst>
              <a:ext uri="{FF2B5EF4-FFF2-40B4-BE49-F238E27FC236}">
                <a16:creationId xmlns:a16="http://schemas.microsoft.com/office/drawing/2014/main" id="{8697B50D-7F27-AFAC-3480-4BE37ED8CD2C}"/>
              </a:ext>
            </a:extLst>
          </p:cNvPr>
          <p:cNvSpPr/>
          <p:nvPr/>
        </p:nvSpPr>
        <p:spPr>
          <a:xfrm>
            <a:off x="879445" y="5075013"/>
            <a:ext cx="288000" cy="288000"/>
          </a:xfrm>
          <a:prstGeom prst="ellipse">
            <a:avLst/>
          </a:prstGeom>
          <a:solidFill>
            <a:srgbClr val="0E9594"/>
          </a:solidFill>
          <a:ln w="12700">
            <a:solidFill>
              <a:srgbClr val="0E9594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4</a:t>
            </a:r>
          </a:p>
        </p:txBody>
      </p:sp>
      <p:sp>
        <p:nvSpPr>
          <p:cNvPr id="39" name="Shape 34">
            <a:extLst>
              <a:ext uri="{FF2B5EF4-FFF2-40B4-BE49-F238E27FC236}">
                <a16:creationId xmlns:a16="http://schemas.microsoft.com/office/drawing/2014/main" id="{46E876FA-381F-8CA8-A316-26D33CC6003C}"/>
              </a:ext>
            </a:extLst>
          </p:cNvPr>
          <p:cNvSpPr/>
          <p:nvPr/>
        </p:nvSpPr>
        <p:spPr>
          <a:xfrm>
            <a:off x="879445" y="5594234"/>
            <a:ext cx="288000" cy="288000"/>
          </a:xfrm>
          <a:prstGeom prst="ellipse">
            <a:avLst/>
          </a:prstGeom>
          <a:solidFill>
            <a:srgbClr val="0E9594"/>
          </a:solidFill>
          <a:ln w="12700">
            <a:solidFill>
              <a:srgbClr val="0E9594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5</a:t>
            </a:r>
          </a:p>
        </p:txBody>
      </p:sp>
      <p:sp>
        <p:nvSpPr>
          <p:cNvPr id="48" name="Text 7">
            <a:extLst>
              <a:ext uri="{FF2B5EF4-FFF2-40B4-BE49-F238E27FC236}">
                <a16:creationId xmlns:a16="http://schemas.microsoft.com/office/drawing/2014/main" id="{4B9BC17D-913E-E610-CE0B-7773192EFAAD}"/>
              </a:ext>
            </a:extLst>
          </p:cNvPr>
          <p:cNvSpPr/>
          <p:nvPr/>
        </p:nvSpPr>
        <p:spPr>
          <a:xfrm>
            <a:off x="6717669" y="3611647"/>
            <a:ext cx="49609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600" b="1" kern="0" spc="267" noProof="0">
                <a:solidFill>
                  <a:srgbClr val="2E5FA3"/>
                </a:solidFill>
                <a:latin typeface="Roboto"/>
                <a:ea typeface="Roboto"/>
                <a:cs typeface="Calibri"/>
              </a:rPr>
              <a:t>Entregable: </a:t>
            </a:r>
            <a:r>
              <a:rPr lang="es-419" sz="1600" b="1" kern="0" spc="267">
                <a:solidFill>
                  <a:srgbClr val="2E5FA3"/>
                </a:solidFill>
                <a:latin typeface="Roboto"/>
                <a:ea typeface="Roboto"/>
                <a:cs typeface="Calibri"/>
              </a:rPr>
              <a:t>Artefacto y Documentación</a:t>
            </a:r>
            <a:endParaRPr lang="es-419" sz="1600" noProof="0">
              <a:latin typeface="Roboto" pitchFamily="2" charset="0"/>
              <a:ea typeface="Roboto" pitchFamily="2" charset="0"/>
            </a:endParaRPr>
          </a:p>
        </p:txBody>
      </p:sp>
      <p:sp>
        <p:nvSpPr>
          <p:cNvPr id="56" name="Text 11">
            <a:extLst>
              <a:ext uri="{FF2B5EF4-FFF2-40B4-BE49-F238E27FC236}">
                <a16:creationId xmlns:a16="http://schemas.microsoft.com/office/drawing/2014/main" id="{CDC14606-C65B-6D34-2A2C-F041794A8E47}"/>
              </a:ext>
            </a:extLst>
          </p:cNvPr>
          <p:cNvSpPr/>
          <p:nvPr/>
        </p:nvSpPr>
        <p:spPr>
          <a:xfrm>
            <a:off x="6862811" y="1460732"/>
            <a:ext cx="44338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600" b="1" kern="0" spc="267" noProof="0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ACTORES QUE INTERVIENEN</a:t>
            </a:r>
            <a:endParaRPr lang="es-419" sz="1600" noProof="0">
              <a:latin typeface="Roboto" pitchFamily="2" charset="0"/>
              <a:ea typeface="Roboto" pitchFamily="2" charset="0"/>
            </a:endParaRPr>
          </a:p>
        </p:txBody>
      </p:sp>
      <p:sp>
        <p:nvSpPr>
          <p:cNvPr id="57" name="Shape 16">
            <a:extLst>
              <a:ext uri="{FF2B5EF4-FFF2-40B4-BE49-F238E27FC236}">
                <a16:creationId xmlns:a16="http://schemas.microsoft.com/office/drawing/2014/main" id="{71D97A02-8BA4-21D9-4059-C22EB070FD92}"/>
              </a:ext>
            </a:extLst>
          </p:cNvPr>
          <p:cNvSpPr/>
          <p:nvPr/>
        </p:nvSpPr>
        <p:spPr>
          <a:xfrm>
            <a:off x="6862811" y="1920853"/>
            <a:ext cx="1901952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/>
          <a:lstStyle/>
          <a:p>
            <a:pPr algn="ctr"/>
            <a:r>
              <a:rPr lang="es-419" sz="1200" b="1" noProof="0">
                <a:solidFill>
                  <a:srgbClr val="1B2A5E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Líder de Célula</a:t>
            </a:r>
          </a:p>
        </p:txBody>
      </p:sp>
      <p:sp>
        <p:nvSpPr>
          <p:cNvPr id="59" name="Shape 16">
            <a:extLst>
              <a:ext uri="{FF2B5EF4-FFF2-40B4-BE49-F238E27FC236}">
                <a16:creationId xmlns:a16="http://schemas.microsoft.com/office/drawing/2014/main" id="{1E53B4BE-1E89-CC0C-2FBD-B082A1740D95}"/>
              </a:ext>
            </a:extLst>
          </p:cNvPr>
          <p:cNvSpPr/>
          <p:nvPr/>
        </p:nvSpPr>
        <p:spPr>
          <a:xfrm>
            <a:off x="8893743" y="2393568"/>
            <a:ext cx="1901952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 lIns="91440" tIns="45720" rIns="91440" bIns="45720" anchor="t"/>
          <a:lstStyle/>
          <a:p>
            <a:pPr algn="ctr"/>
            <a:r>
              <a:rPr lang="es-419" sz="1200" b="1" err="1">
                <a:solidFill>
                  <a:srgbClr val="1B2A5E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Admin</a:t>
            </a:r>
            <a:r>
              <a:rPr lang="es-419" sz="1200" b="1">
                <a:solidFill>
                  <a:srgbClr val="1B2A5E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. de plataforma</a:t>
            </a:r>
            <a:endParaRPr lang="en-US" sz="120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60" name="Shape 16">
            <a:extLst>
              <a:ext uri="{FF2B5EF4-FFF2-40B4-BE49-F238E27FC236}">
                <a16:creationId xmlns:a16="http://schemas.microsoft.com/office/drawing/2014/main" id="{21816710-3E73-1EDB-AF3C-1777AB8A1941}"/>
              </a:ext>
            </a:extLst>
          </p:cNvPr>
          <p:cNvSpPr/>
          <p:nvPr/>
        </p:nvSpPr>
        <p:spPr>
          <a:xfrm>
            <a:off x="6862811" y="2406984"/>
            <a:ext cx="1901952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/>
          <a:lstStyle/>
          <a:p>
            <a:pPr algn="ctr"/>
            <a:r>
              <a:rPr lang="es-419" sz="1200" b="1" noProof="0">
                <a:solidFill>
                  <a:srgbClr val="1B2A5E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Líder Técnico </a:t>
            </a:r>
          </a:p>
        </p:txBody>
      </p:sp>
      <p:pic>
        <p:nvPicPr>
          <p:cNvPr id="61" name="Picture 2">
            <a:extLst>
              <a:ext uri="{FF2B5EF4-FFF2-40B4-BE49-F238E27FC236}">
                <a16:creationId xmlns:a16="http://schemas.microsoft.com/office/drawing/2014/main" id="{2E2C642A-0864-50FF-6B30-08452065F5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5157" y="196371"/>
            <a:ext cx="868630" cy="580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 24">
            <a:extLst>
              <a:ext uri="{FF2B5EF4-FFF2-40B4-BE49-F238E27FC236}">
                <a16:creationId xmlns:a16="http://schemas.microsoft.com/office/drawing/2014/main" id="{E32CD298-19BC-C7EB-5A2A-662DA4712E7E}"/>
              </a:ext>
            </a:extLst>
          </p:cNvPr>
          <p:cNvSpPr/>
          <p:nvPr/>
        </p:nvSpPr>
        <p:spPr>
          <a:xfrm>
            <a:off x="1294622" y="3610034"/>
            <a:ext cx="475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>
                <a:solidFill>
                  <a:schemeClr val="accent1">
                    <a:lumMod val="50000"/>
                  </a:schemeClr>
                </a:solidFill>
                <a:highlight>
                  <a:srgbClr val="FFFFFF"/>
                </a:highlight>
                <a:latin typeface="Roboto" pitchFamily="2" charset="0"/>
                <a:ea typeface="Roboto" pitchFamily="2" charset="0"/>
                <a:cs typeface="+mn-lt"/>
              </a:rPr>
              <a:t>Reunión de contexto.</a:t>
            </a:r>
            <a:endParaRPr lang="en-US" sz="120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9" name="Text 27">
            <a:extLst>
              <a:ext uri="{FF2B5EF4-FFF2-40B4-BE49-F238E27FC236}">
                <a16:creationId xmlns:a16="http://schemas.microsoft.com/office/drawing/2014/main" id="{CA00D862-3E9B-A57D-8990-A625E50A191B}"/>
              </a:ext>
            </a:extLst>
          </p:cNvPr>
          <p:cNvSpPr/>
          <p:nvPr/>
        </p:nvSpPr>
        <p:spPr>
          <a:xfrm>
            <a:off x="1294622" y="4040136"/>
            <a:ext cx="475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>
                <a:solidFill>
                  <a:schemeClr val="accent1">
                    <a:lumMod val="50000"/>
                  </a:schemeClr>
                </a:solidFill>
                <a:highlight>
                  <a:srgbClr val="FFFFFF"/>
                </a:highlight>
                <a:latin typeface="Roboto" pitchFamily="2" charset="0"/>
                <a:ea typeface="Roboto" pitchFamily="2" charset="0"/>
                <a:cs typeface="+mn-lt"/>
              </a:rPr>
              <a:t>Formato para la creación de integraciones correctamente diligenciado.</a:t>
            </a:r>
            <a:endParaRPr lang="en-US" sz="120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10" name="Text 30">
            <a:extLst>
              <a:ext uri="{FF2B5EF4-FFF2-40B4-BE49-F238E27FC236}">
                <a16:creationId xmlns:a16="http://schemas.microsoft.com/office/drawing/2014/main" id="{220842A9-A100-5467-2402-6B9C5F31D43C}"/>
              </a:ext>
            </a:extLst>
          </p:cNvPr>
          <p:cNvSpPr/>
          <p:nvPr/>
        </p:nvSpPr>
        <p:spPr>
          <a:xfrm>
            <a:off x="1294622" y="4534283"/>
            <a:ext cx="475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>
                <a:solidFill>
                  <a:schemeClr val="accent1">
                    <a:lumMod val="50000"/>
                  </a:schemeClr>
                </a:solidFill>
                <a:highlight>
                  <a:srgbClr val="FFFFFF"/>
                </a:highlight>
                <a:latin typeface="Roboto" pitchFamily="2" charset="0"/>
                <a:ea typeface="Roboto" pitchFamily="2" charset="0"/>
                <a:cs typeface="+mn-lt"/>
              </a:rPr>
              <a:t>Link de la wiki donde esté publicada la Arquitectura de la solución aprobada.</a:t>
            </a:r>
            <a:endParaRPr lang="es-419" sz="1200" noProof="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</p:txBody>
      </p:sp>
      <p:sp>
        <p:nvSpPr>
          <p:cNvPr id="13" name="Text 39">
            <a:extLst>
              <a:ext uri="{FF2B5EF4-FFF2-40B4-BE49-F238E27FC236}">
                <a16:creationId xmlns:a16="http://schemas.microsoft.com/office/drawing/2014/main" id="{D476812E-8BCC-2416-8D46-C819AF55970F}"/>
              </a:ext>
            </a:extLst>
          </p:cNvPr>
          <p:cNvSpPr/>
          <p:nvPr/>
        </p:nvSpPr>
        <p:spPr>
          <a:xfrm>
            <a:off x="1294622" y="5007233"/>
            <a:ext cx="475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>
                <a:solidFill>
                  <a:schemeClr val="accent1">
                    <a:lumMod val="50000"/>
                  </a:schemeClr>
                </a:solidFill>
                <a:highlight>
                  <a:srgbClr val="FFFFFF"/>
                </a:highlight>
                <a:latin typeface="Roboto" pitchFamily="2" charset="0"/>
                <a:ea typeface="Roboto" pitchFamily="2" charset="0"/>
                <a:cs typeface="+mn-lt"/>
              </a:rPr>
              <a:t>Permisos habilitados desde el bus de integración/</a:t>
            </a:r>
            <a:r>
              <a:rPr lang="es-419" sz="1200" err="1">
                <a:solidFill>
                  <a:schemeClr val="accent1">
                    <a:lumMod val="50000"/>
                  </a:schemeClr>
                </a:solidFill>
                <a:highlight>
                  <a:srgbClr val="FFFFFF"/>
                </a:highlight>
                <a:latin typeface="Roboto" pitchFamily="2" charset="0"/>
                <a:ea typeface="Roboto" pitchFamily="2" charset="0"/>
                <a:cs typeface="+mn-lt"/>
              </a:rPr>
              <a:t>Datapower</a:t>
            </a:r>
            <a:r>
              <a:rPr lang="es-419" sz="1200">
                <a:solidFill>
                  <a:schemeClr val="accent1">
                    <a:lumMod val="50000"/>
                  </a:schemeClr>
                </a:solidFill>
                <a:highlight>
                  <a:srgbClr val="FFFFFF"/>
                </a:highlight>
                <a:latin typeface="Roboto" pitchFamily="2" charset="0"/>
                <a:ea typeface="Roboto" pitchFamily="2" charset="0"/>
                <a:cs typeface="+mn-lt"/>
              </a:rPr>
              <a:t>/</a:t>
            </a:r>
            <a:r>
              <a:rPr lang="es-419" sz="1200" err="1">
                <a:solidFill>
                  <a:schemeClr val="accent1">
                    <a:lumMod val="50000"/>
                  </a:schemeClr>
                </a:solidFill>
                <a:highlight>
                  <a:srgbClr val="FFFFFF"/>
                </a:highlight>
                <a:latin typeface="Roboto" pitchFamily="2" charset="0"/>
                <a:ea typeface="Roboto" pitchFamily="2" charset="0"/>
                <a:cs typeface="+mn-lt"/>
              </a:rPr>
              <a:t>Mulesoft</a:t>
            </a:r>
            <a:r>
              <a:rPr lang="es-419" sz="1200">
                <a:solidFill>
                  <a:schemeClr val="accent1">
                    <a:lumMod val="50000"/>
                  </a:schemeClr>
                </a:solidFill>
                <a:highlight>
                  <a:srgbClr val="FFFFFF"/>
                </a:highlight>
                <a:latin typeface="Roboto" pitchFamily="2" charset="0"/>
                <a:ea typeface="Roboto" pitchFamily="2" charset="0"/>
                <a:cs typeface="+mn-lt"/>
              </a:rPr>
              <a:t> RTF y Flex hacia los </a:t>
            </a:r>
            <a:r>
              <a:rPr lang="es-419" sz="1200" err="1">
                <a:solidFill>
                  <a:schemeClr val="accent1">
                    <a:lumMod val="50000"/>
                  </a:schemeClr>
                </a:solidFill>
                <a:highlight>
                  <a:srgbClr val="FFFFFF"/>
                </a:highlight>
                <a:latin typeface="Roboto" pitchFamily="2" charset="0"/>
                <a:ea typeface="Roboto" pitchFamily="2" charset="0"/>
                <a:cs typeface="+mn-lt"/>
              </a:rPr>
              <a:t>backends</a:t>
            </a:r>
            <a:r>
              <a:rPr lang="es-419" sz="1200">
                <a:solidFill>
                  <a:schemeClr val="accent1">
                    <a:lumMod val="50000"/>
                  </a:schemeClr>
                </a:solidFill>
                <a:highlight>
                  <a:srgbClr val="FFFFFF"/>
                </a:highlight>
                <a:latin typeface="Roboto" pitchFamily="2" charset="0"/>
                <a:ea typeface="Roboto" pitchFamily="2" charset="0"/>
                <a:cs typeface="+mn-lt"/>
              </a:rPr>
              <a:t>.</a:t>
            </a:r>
            <a:endParaRPr lang="es-419" sz="1200" noProof="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186F49C3-47DD-6F25-8594-BD241AE51B54}"/>
              </a:ext>
            </a:extLst>
          </p:cNvPr>
          <p:cNvSpPr/>
          <p:nvPr/>
        </p:nvSpPr>
        <p:spPr>
          <a:xfrm>
            <a:off x="8893742" y="1897662"/>
            <a:ext cx="1901952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/>
          <a:lstStyle/>
          <a:p>
            <a:pPr algn="ctr"/>
            <a:r>
              <a:rPr lang="es-419" sz="1200" b="1" noProof="0">
                <a:solidFill>
                  <a:srgbClr val="1B2A5E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Arquitecto</a:t>
            </a:r>
          </a:p>
        </p:txBody>
      </p:sp>
      <p:sp>
        <p:nvSpPr>
          <p:cNvPr id="17" name="Shape 16">
            <a:extLst>
              <a:ext uri="{FF2B5EF4-FFF2-40B4-BE49-F238E27FC236}">
                <a16:creationId xmlns:a16="http://schemas.microsoft.com/office/drawing/2014/main" id="{5FA50EFF-2589-D0E4-E62C-7590B8A8766D}"/>
              </a:ext>
            </a:extLst>
          </p:cNvPr>
          <p:cNvSpPr/>
          <p:nvPr/>
        </p:nvSpPr>
        <p:spPr>
          <a:xfrm>
            <a:off x="6862811" y="2894692"/>
            <a:ext cx="1901952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/>
          <a:lstStyle/>
          <a:p>
            <a:pPr algn="ctr"/>
            <a:r>
              <a:rPr lang="es-419" sz="1200" b="1" noProof="0">
                <a:solidFill>
                  <a:srgbClr val="1B2A5E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Seguridad</a:t>
            </a:r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1A276B01-FBE1-7394-6883-5C4541C5C198}"/>
              </a:ext>
            </a:extLst>
          </p:cNvPr>
          <p:cNvSpPr>
            <a:spLocks noChangeAspect="1"/>
          </p:cNvSpPr>
          <p:nvPr/>
        </p:nvSpPr>
        <p:spPr>
          <a:xfrm>
            <a:off x="705513" y="725269"/>
            <a:ext cx="720000" cy="720000"/>
          </a:xfrm>
          <a:prstGeom prst="ellipse">
            <a:avLst/>
          </a:prstGeom>
          <a:solidFill>
            <a:srgbClr val="0E9594"/>
          </a:solidFill>
          <a:ln/>
        </p:spPr>
        <p:txBody>
          <a:bodyPr anchor="ctr"/>
          <a:lstStyle/>
          <a:p>
            <a:pPr algn="ctr"/>
            <a:r>
              <a:rPr lang="es-419" sz="3600" noProof="0">
                <a:solidFill>
                  <a:schemeClr val="bg1"/>
                </a:solidFill>
                <a:latin typeface="Roboto Bk" pitchFamily="2" charset="0"/>
                <a:ea typeface="Roboto Bk" pitchFamily="2" charset="0"/>
              </a:rPr>
              <a:t>4</a:t>
            </a:r>
          </a:p>
        </p:txBody>
      </p:sp>
      <p:sp>
        <p:nvSpPr>
          <p:cNvPr id="20" name="Text 2">
            <a:extLst>
              <a:ext uri="{FF2B5EF4-FFF2-40B4-BE49-F238E27FC236}">
                <a16:creationId xmlns:a16="http://schemas.microsoft.com/office/drawing/2014/main" id="{79DA85BB-6655-D371-3B9F-3A9B4E3DE78B}"/>
              </a:ext>
            </a:extLst>
          </p:cNvPr>
          <p:cNvSpPr/>
          <p:nvPr/>
        </p:nvSpPr>
        <p:spPr>
          <a:xfrm>
            <a:off x="1586696" y="658549"/>
            <a:ext cx="10300504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3733" b="1">
                <a:solidFill>
                  <a:srgbClr val="1B2A5E"/>
                </a:solidFill>
                <a:latin typeface="Roboto Bk" pitchFamily="2" charset="0"/>
                <a:ea typeface="Roboto Bk" pitchFamily="2" charset="0"/>
                <a:cs typeface="Cambria" pitchFamily="34" charset="-120"/>
              </a:rPr>
              <a:t>Implementación</a:t>
            </a:r>
            <a:r>
              <a:rPr lang="es-419" sz="3733" b="1" noProof="0">
                <a:solidFill>
                  <a:srgbClr val="1B2A5E"/>
                </a:solidFill>
                <a:latin typeface="Roboto Bk" pitchFamily="2" charset="0"/>
                <a:ea typeface="Roboto Bk" pitchFamily="2" charset="0"/>
                <a:cs typeface="Cambria" pitchFamily="34" charset="-120"/>
              </a:rPr>
              <a:t> | </a:t>
            </a:r>
            <a:r>
              <a:rPr lang="es-419" sz="3733" b="1" noProof="0">
                <a:solidFill>
                  <a:srgbClr val="0E9594"/>
                </a:solidFill>
                <a:latin typeface="Roboto Bk" pitchFamily="2" charset="0"/>
                <a:ea typeface="Roboto Bk" pitchFamily="2" charset="0"/>
                <a:cs typeface="Cambria" pitchFamily="34" charset="-120"/>
              </a:rPr>
              <a:t>Integración</a:t>
            </a:r>
            <a:endParaRPr lang="es-419" sz="3733" noProof="0">
              <a:solidFill>
                <a:srgbClr val="0E9594"/>
              </a:solidFill>
              <a:latin typeface="Roboto Bk" pitchFamily="2" charset="0"/>
              <a:ea typeface="Roboto Bk" pitchFamily="2" charset="0"/>
            </a:endParaRPr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7B2E3A80-98EF-4C43-1784-820528D7A1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513" y="152721"/>
            <a:ext cx="1745877" cy="404490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41F87BF4-DEB5-C10A-905C-45145A88EB7D}"/>
              </a:ext>
            </a:extLst>
          </p:cNvPr>
          <p:cNvSpPr/>
          <p:nvPr/>
        </p:nvSpPr>
        <p:spPr>
          <a:xfrm>
            <a:off x="8143876" y="167447"/>
            <a:ext cx="3095850" cy="5816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 algn="r">
              <a:defRPr/>
            </a:pPr>
            <a:r>
              <a:rPr lang="es-419" sz="1400" b="1" noProof="0">
                <a:solidFill>
                  <a:schemeClr val="bg1">
                    <a:lumMod val="85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Flujo construcción de soluciones TI </a:t>
            </a:r>
            <a:endParaRPr lang="es-419" sz="1400" noProof="0">
              <a:solidFill>
                <a:schemeClr val="bg1">
                  <a:lumMod val="85000"/>
                </a:schemeClr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4" name="Shape 34">
            <a:extLst>
              <a:ext uri="{FF2B5EF4-FFF2-40B4-BE49-F238E27FC236}">
                <a16:creationId xmlns:a16="http://schemas.microsoft.com/office/drawing/2014/main" id="{451F3259-8F80-4CF2-9EE3-5FF29DEC4DFE}"/>
              </a:ext>
            </a:extLst>
          </p:cNvPr>
          <p:cNvSpPr/>
          <p:nvPr/>
        </p:nvSpPr>
        <p:spPr>
          <a:xfrm>
            <a:off x="879445" y="6193267"/>
            <a:ext cx="288000" cy="288000"/>
          </a:xfrm>
          <a:prstGeom prst="ellipse">
            <a:avLst/>
          </a:prstGeom>
          <a:solidFill>
            <a:srgbClr val="0E9594"/>
          </a:solidFill>
          <a:ln w="12700">
            <a:solidFill>
              <a:srgbClr val="0E9594"/>
            </a:solidFill>
            <a:prstDash val="solid"/>
          </a:ln>
        </p:spPr>
        <p:txBody>
          <a:bodyPr lIns="91440" tIns="45720" rIns="91440" bIns="45720" anchor="ctr"/>
          <a:lstStyle/>
          <a:p>
            <a:pPr algn="ctr"/>
            <a:r>
              <a:rPr lang="es-419" sz="1200" b="1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Roboto"/>
              </a:rPr>
              <a:t>6</a:t>
            </a:r>
            <a:endParaRPr lang="es-419" sz="1200" b="1" noProof="0">
              <a:solidFill>
                <a:schemeClr val="bg1"/>
              </a:solidFill>
              <a:latin typeface="Roboto" pitchFamily="2" charset="0"/>
              <a:ea typeface="Roboto" pitchFamily="2" charset="0"/>
              <a:cs typeface="Roboto"/>
            </a:endParaRPr>
          </a:p>
        </p:txBody>
      </p:sp>
      <p:sp>
        <p:nvSpPr>
          <p:cNvPr id="18" name="Text 36">
            <a:extLst>
              <a:ext uri="{FF2B5EF4-FFF2-40B4-BE49-F238E27FC236}">
                <a16:creationId xmlns:a16="http://schemas.microsoft.com/office/drawing/2014/main" id="{F7FC4CC3-F8A4-B833-3BA6-0023BBB777E9}"/>
              </a:ext>
            </a:extLst>
          </p:cNvPr>
          <p:cNvSpPr/>
          <p:nvPr/>
        </p:nvSpPr>
        <p:spPr>
          <a:xfrm>
            <a:off x="1294622" y="5594234"/>
            <a:ext cx="475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100">
                <a:solidFill>
                  <a:schemeClr val="accent1">
                    <a:lumMod val="50000"/>
                  </a:schemeClr>
                </a:solidFill>
                <a:highlight>
                  <a:srgbClr val="FFFFFF"/>
                </a:highlight>
                <a:latin typeface="Roboto" pitchFamily="2" charset="0"/>
                <a:ea typeface="Roboto" pitchFamily="2" charset="0"/>
                <a:cs typeface="+mn-lt"/>
              </a:rPr>
              <a:t>Dependencia declarada según el proceso definido por la compañía. (Historia de usuario y criterios de aceptación) adicional, la dependencia debe ser negociada con el líder del </a:t>
            </a:r>
            <a:r>
              <a:rPr lang="es-419" sz="1100" err="1">
                <a:solidFill>
                  <a:schemeClr val="accent1">
                    <a:lumMod val="50000"/>
                  </a:schemeClr>
                </a:solidFill>
                <a:highlight>
                  <a:srgbClr val="FFFFFF"/>
                </a:highlight>
                <a:latin typeface="Roboto" pitchFamily="2" charset="0"/>
                <a:ea typeface="Roboto" pitchFamily="2" charset="0"/>
                <a:cs typeface="+mn-lt"/>
              </a:rPr>
              <a:t>CoE</a:t>
            </a:r>
            <a:r>
              <a:rPr lang="es-419" sz="1100">
                <a:solidFill>
                  <a:schemeClr val="accent1">
                    <a:lumMod val="50000"/>
                  </a:schemeClr>
                </a:solidFill>
                <a:highlight>
                  <a:srgbClr val="FFFFFF"/>
                </a:highlight>
                <a:latin typeface="Roboto" pitchFamily="2" charset="0"/>
                <a:ea typeface="Roboto" pitchFamily="2" charset="0"/>
                <a:cs typeface="+mn-lt"/>
              </a:rPr>
              <a:t>, para validar la priorización de la misma.</a:t>
            </a:r>
            <a:endParaRPr lang="es-419" sz="1100" noProof="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</p:txBody>
      </p:sp>
      <p:sp>
        <p:nvSpPr>
          <p:cNvPr id="22" name="Text 36">
            <a:extLst>
              <a:ext uri="{FF2B5EF4-FFF2-40B4-BE49-F238E27FC236}">
                <a16:creationId xmlns:a16="http://schemas.microsoft.com/office/drawing/2014/main" id="{2C886372-89C5-1D72-B4E6-185F43BDCC65}"/>
              </a:ext>
            </a:extLst>
          </p:cNvPr>
          <p:cNvSpPr/>
          <p:nvPr/>
        </p:nvSpPr>
        <p:spPr>
          <a:xfrm>
            <a:off x="1294622" y="6145243"/>
            <a:ext cx="475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100">
                <a:solidFill>
                  <a:schemeClr val="accent1">
                    <a:lumMod val="50000"/>
                  </a:schemeClr>
                </a:solidFill>
                <a:highlight>
                  <a:srgbClr val="FFFFFF"/>
                </a:highlight>
                <a:latin typeface="Roboto" pitchFamily="2" charset="0"/>
                <a:ea typeface="Roboto" pitchFamily="2" charset="0"/>
                <a:cs typeface="+mn-lt"/>
              </a:rPr>
              <a:t>Desarrollo de la dependencia en los ambientes </a:t>
            </a:r>
            <a:r>
              <a:rPr lang="es-419" sz="1100" err="1">
                <a:solidFill>
                  <a:schemeClr val="accent1">
                    <a:lumMod val="50000"/>
                  </a:schemeClr>
                </a:solidFill>
                <a:highlight>
                  <a:srgbClr val="FFFFFF"/>
                </a:highlight>
                <a:latin typeface="Roboto" pitchFamily="2" charset="0"/>
                <a:ea typeface="Roboto" pitchFamily="2" charset="0"/>
                <a:cs typeface="+mn-lt"/>
              </a:rPr>
              <a:t>dev</a:t>
            </a:r>
            <a:r>
              <a:rPr lang="es-419" sz="1100">
                <a:solidFill>
                  <a:schemeClr val="accent1">
                    <a:lumMod val="50000"/>
                  </a:schemeClr>
                </a:solidFill>
                <a:highlight>
                  <a:srgbClr val="FFFFFF"/>
                </a:highlight>
                <a:latin typeface="Roboto" pitchFamily="2" charset="0"/>
                <a:ea typeface="Roboto" pitchFamily="2" charset="0"/>
                <a:cs typeface="+mn-lt"/>
              </a:rPr>
              <a:t>/</a:t>
            </a:r>
            <a:r>
              <a:rPr lang="es-419" sz="1100" err="1">
                <a:solidFill>
                  <a:schemeClr val="accent1">
                    <a:lumMod val="50000"/>
                  </a:schemeClr>
                </a:solidFill>
                <a:highlight>
                  <a:srgbClr val="FFFFFF"/>
                </a:highlight>
                <a:latin typeface="Roboto" pitchFamily="2" charset="0"/>
                <a:ea typeface="Roboto" pitchFamily="2" charset="0"/>
                <a:cs typeface="+mn-lt"/>
              </a:rPr>
              <a:t>cert</a:t>
            </a:r>
            <a:r>
              <a:rPr lang="es-419" sz="1100">
                <a:solidFill>
                  <a:schemeClr val="accent1">
                    <a:lumMod val="50000"/>
                  </a:schemeClr>
                </a:solidFill>
                <a:highlight>
                  <a:srgbClr val="FFFFFF"/>
                </a:highlight>
                <a:latin typeface="Roboto" pitchFamily="2" charset="0"/>
                <a:ea typeface="Roboto" pitchFamily="2" charset="0"/>
                <a:cs typeface="+mn-lt"/>
              </a:rPr>
              <a:t>/</a:t>
            </a:r>
            <a:r>
              <a:rPr lang="es-419" sz="1100" err="1">
                <a:solidFill>
                  <a:schemeClr val="accent1">
                    <a:lumMod val="50000"/>
                  </a:schemeClr>
                </a:solidFill>
                <a:highlight>
                  <a:srgbClr val="FFFFFF"/>
                </a:highlight>
                <a:latin typeface="Roboto" pitchFamily="2" charset="0"/>
                <a:ea typeface="Roboto" pitchFamily="2" charset="0"/>
                <a:cs typeface="+mn-lt"/>
              </a:rPr>
              <a:t>prod</a:t>
            </a:r>
            <a:r>
              <a:rPr lang="es-419" sz="1100">
                <a:solidFill>
                  <a:schemeClr val="accent1">
                    <a:lumMod val="50000"/>
                  </a:schemeClr>
                </a:solidFill>
                <a:highlight>
                  <a:srgbClr val="FFFFFF"/>
                </a:highlight>
                <a:latin typeface="Roboto" pitchFamily="2" charset="0"/>
                <a:ea typeface="Roboto" pitchFamily="2" charset="0"/>
                <a:cs typeface="+mn-lt"/>
              </a:rPr>
              <a:t>, funcional y con sus respectivas pruebas unitarias.</a:t>
            </a:r>
            <a:endParaRPr lang="es-419" sz="1100" noProof="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</p:txBody>
      </p:sp>
      <p:sp>
        <p:nvSpPr>
          <p:cNvPr id="23" name="Shape 16">
            <a:extLst>
              <a:ext uri="{FF2B5EF4-FFF2-40B4-BE49-F238E27FC236}">
                <a16:creationId xmlns:a16="http://schemas.microsoft.com/office/drawing/2014/main" id="{E4383EFB-2341-BEA7-2075-AE5ADA343981}"/>
              </a:ext>
            </a:extLst>
          </p:cNvPr>
          <p:cNvSpPr/>
          <p:nvPr/>
        </p:nvSpPr>
        <p:spPr>
          <a:xfrm>
            <a:off x="8893741" y="2899147"/>
            <a:ext cx="1901952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 lIns="91440" tIns="45720" rIns="91440" bIns="45720" anchor="t"/>
          <a:lstStyle/>
          <a:p>
            <a:pPr algn="ctr"/>
            <a:r>
              <a:rPr lang="es-419" sz="1200" b="1">
                <a:solidFill>
                  <a:srgbClr val="1B2A5E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Accesos</a:t>
            </a:r>
            <a:endParaRPr lang="es-419" sz="1200" b="1" noProof="0">
              <a:solidFill>
                <a:srgbClr val="1B2A5E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11" name="Text 24">
            <a:extLst>
              <a:ext uri="{FF2B5EF4-FFF2-40B4-BE49-F238E27FC236}">
                <a16:creationId xmlns:a16="http://schemas.microsoft.com/office/drawing/2014/main" id="{5D5C91D2-1BC7-1D12-AE7A-EB84DEFEED20}"/>
              </a:ext>
            </a:extLst>
          </p:cNvPr>
          <p:cNvSpPr/>
          <p:nvPr/>
        </p:nvSpPr>
        <p:spPr>
          <a:xfrm>
            <a:off x="8032129" y="883854"/>
            <a:ext cx="3319343" cy="401690"/>
          </a:xfrm>
          <a:prstGeom prst="roundRect">
            <a:avLst>
              <a:gd name="adj" fmla="val 24995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/>
            <a:r>
              <a:rPr lang="es-419" sz="1100">
                <a:latin typeface="Roboto Condensed Light"/>
                <a:ea typeface="Roboto Condensed Light"/>
                <a:cs typeface="Roboto Condensed Light"/>
              </a:rPr>
              <a:t>Se usa cuando lo realiza el equipo de integración</a:t>
            </a:r>
          </a:p>
          <a:p>
            <a:pPr algn="ctr"/>
            <a:r>
              <a:rPr lang="es-419" sz="1100">
                <a:latin typeface="Roboto Condensed Light"/>
                <a:ea typeface="Roboto Condensed Light"/>
                <a:cs typeface="Roboto Condensed Light"/>
              </a:rPr>
              <a:t>(</a:t>
            </a:r>
            <a:r>
              <a:rPr lang="es-419" sz="1100" err="1">
                <a:latin typeface="Roboto Condensed Light"/>
                <a:ea typeface="Roboto Condensed Light"/>
                <a:cs typeface="Roboto Condensed Light"/>
              </a:rPr>
              <a:t>GoAnywhere</a:t>
            </a:r>
            <a:r>
              <a:rPr lang="es-419" sz="1100">
                <a:latin typeface="Roboto Condensed Light"/>
                <a:ea typeface="Roboto Condensed Light"/>
                <a:cs typeface="Roboto Condensed Light"/>
              </a:rPr>
              <a:t>, </a:t>
            </a:r>
            <a:r>
              <a:rPr lang="es-419" sz="1100" err="1">
                <a:latin typeface="Roboto Condensed Light"/>
                <a:ea typeface="Roboto Condensed Light"/>
                <a:cs typeface="Roboto Condensed Light"/>
              </a:rPr>
              <a:t>Mulesoft</a:t>
            </a:r>
            <a:r>
              <a:rPr lang="es-419" sz="1100">
                <a:latin typeface="Roboto Condensed Light"/>
                <a:ea typeface="Roboto Condensed Light"/>
                <a:cs typeface="Roboto Condensed Light"/>
              </a:rPr>
              <a:t>, </a:t>
            </a:r>
            <a:r>
              <a:rPr lang="es-419" sz="1100" err="1">
                <a:latin typeface="Roboto Condensed Light"/>
                <a:ea typeface="Roboto Condensed Light"/>
                <a:cs typeface="Roboto Condensed Light"/>
              </a:rPr>
              <a:t>Datafactory</a:t>
            </a:r>
            <a:r>
              <a:rPr lang="es-419" sz="1100">
                <a:latin typeface="Roboto Condensed Light"/>
                <a:ea typeface="Roboto Condensed Light"/>
                <a:cs typeface="Roboto Condensed Light"/>
              </a:rPr>
              <a:t>) </a:t>
            </a:r>
            <a:endParaRPr lang="en-US">
              <a:latin typeface="Roboto Condensed Light"/>
              <a:ea typeface="Roboto Condensed Light"/>
              <a:cs typeface="Roboto Condensed Light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E1654CAC-649D-1722-BA53-3F3D2318B0A3}"/>
              </a:ext>
            </a:extLst>
          </p:cNvPr>
          <p:cNvSpPr txBox="1"/>
          <p:nvPr/>
        </p:nvSpPr>
        <p:spPr>
          <a:xfrm>
            <a:off x="6607533" y="5439396"/>
            <a:ext cx="50711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>
                <a:solidFill>
                  <a:srgbClr val="FF0000"/>
                </a:solidFill>
                <a:highlight>
                  <a:srgbClr val="FFFF00"/>
                </a:highlight>
              </a:rPr>
              <a:t>Habilitadora  correspondiente  - la DOR  la  hace  el Desarrollador!?</a:t>
            </a:r>
          </a:p>
        </p:txBody>
      </p:sp>
    </p:spTree>
    <p:extLst>
      <p:ext uri="{BB962C8B-B14F-4D97-AF65-F5344CB8AC3E}">
        <p14:creationId xmlns:p14="http://schemas.microsoft.com/office/powerpoint/2010/main" val="2083104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158F7E-6AD8-170F-AEE2-FB8CF4FBC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>
            <a:extLst>
              <a:ext uri="{FF2B5EF4-FFF2-40B4-BE49-F238E27FC236}">
                <a16:creationId xmlns:a16="http://schemas.microsoft.com/office/drawing/2014/main" id="{97A7B4AD-A9C3-E747-EECC-475AC55140F5}"/>
              </a:ext>
            </a:extLst>
          </p:cNvPr>
          <p:cNvSpPr/>
          <p:nvPr/>
        </p:nvSpPr>
        <p:spPr>
          <a:xfrm>
            <a:off x="731520" y="156057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600" b="1" kern="0" spc="267" noProof="0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EN QUÉ CONSISTE</a:t>
            </a:r>
            <a:endParaRPr lang="es-419" sz="1600" noProof="0">
              <a:latin typeface="Roboto" pitchFamily="2" charset="0"/>
              <a:ea typeface="Roboto" pitchFamily="2" charset="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7E6FC75-E1DE-8238-2C4F-55C204667170}"/>
              </a:ext>
            </a:extLst>
          </p:cNvPr>
          <p:cNvSpPr/>
          <p:nvPr/>
        </p:nvSpPr>
        <p:spPr>
          <a:xfrm>
            <a:off x="731520" y="1931843"/>
            <a:ext cx="5266944" cy="943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es-ES" sz="140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El equipo técnico construye la solución. Se  Resuelven impedimentos y garantiza el cumplimiento de los lineamientos de la compañía.</a:t>
            </a:r>
            <a:endParaRPr lang="es-419" sz="1400" noProof="0">
              <a:solidFill>
                <a:schemeClr val="tx2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DA11B2FE-0B7B-BC3B-7F94-D5CFB6355B99}"/>
              </a:ext>
            </a:extLst>
          </p:cNvPr>
          <p:cNvSpPr/>
          <p:nvPr/>
        </p:nvSpPr>
        <p:spPr>
          <a:xfrm>
            <a:off x="6855554" y="3090462"/>
            <a:ext cx="4823097" cy="2169885"/>
          </a:xfrm>
          <a:prstGeom prst="roundRect">
            <a:avLst>
              <a:gd name="adj" fmla="val 3902"/>
            </a:avLst>
          </a:prstGeom>
          <a:solidFill>
            <a:srgbClr val="EEF4FC"/>
          </a:solidFill>
          <a:ln/>
        </p:spPr>
        <p:txBody>
          <a:bodyPr lIns="91440" tIns="45720" rIns="91440" bIns="45720" anchor="ctr"/>
          <a:lstStyle/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419" sz="1500">
                <a:solidFill>
                  <a:schemeClr val="tx2">
                    <a:lumMod val="50000"/>
                  </a:schemeClr>
                </a:solidFill>
                <a:latin typeface="Roboto"/>
                <a:ea typeface="Roboto"/>
                <a:cs typeface="Calibri"/>
              </a:rPr>
              <a:t>Funcionalidad desarrollada conforme a los criterios de aceptación.</a:t>
            </a: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419" sz="1500">
                <a:solidFill>
                  <a:schemeClr val="tx2">
                    <a:lumMod val="50000"/>
                  </a:schemeClr>
                </a:solidFill>
                <a:latin typeface="Roboto"/>
                <a:ea typeface="Roboto"/>
                <a:cs typeface="Calibri"/>
              </a:rPr>
              <a:t>Cumplimiento del DoD de referencia y los criterios adicionales definidos para la iniciativa.</a:t>
            </a: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419" sz="1500">
                <a:solidFill>
                  <a:schemeClr val="tx2">
                    <a:lumMod val="50000"/>
                  </a:schemeClr>
                </a:solidFill>
                <a:latin typeface="Roboto"/>
                <a:ea typeface="Roboto"/>
                <a:cs typeface="Calibri"/>
              </a:rPr>
              <a:t>Aprobaciones técnicas  requeridas (líder técnico, seguridad, arquitectura...)</a:t>
            </a: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419" sz="1500">
                <a:solidFill>
                  <a:schemeClr val="tx2">
                    <a:lumMod val="50000"/>
                  </a:schemeClr>
                </a:solidFill>
                <a:latin typeface="Roboto"/>
                <a:ea typeface="Roboto"/>
                <a:cs typeface="Calibri"/>
              </a:rPr>
              <a:t>Documentación y evidencias actualizadas según el estándar definido.</a:t>
            </a: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419" sz="1500" b="1">
                <a:solidFill>
                  <a:schemeClr val="tx2">
                    <a:lumMod val="50000"/>
                  </a:schemeClr>
                </a:solidFill>
                <a:highlight>
                  <a:srgbClr val="FFFF00"/>
                </a:highlight>
                <a:latin typeface="Roboto"/>
                <a:ea typeface="Roboto"/>
                <a:cs typeface="Calibri"/>
              </a:rPr>
              <a:t>Deuda técnica </a:t>
            </a:r>
            <a:r>
              <a:rPr lang="es-419" sz="1500">
                <a:solidFill>
                  <a:schemeClr val="tx2">
                    <a:lumMod val="50000"/>
                  </a:schemeClr>
                </a:solidFill>
                <a:latin typeface="Roboto"/>
                <a:ea typeface="Roboto"/>
                <a:cs typeface="Calibri"/>
              </a:rPr>
              <a:t>identificada documentada</a:t>
            </a:r>
            <a:endParaRPr lang="es-419" sz="1500">
              <a:solidFill>
                <a:schemeClr val="tx2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46C63752-690A-F2E8-EEA6-FE2A133B3A51}"/>
              </a:ext>
            </a:extLst>
          </p:cNvPr>
          <p:cNvSpPr/>
          <p:nvPr/>
        </p:nvSpPr>
        <p:spPr>
          <a:xfrm>
            <a:off x="6069993" y="121765"/>
            <a:ext cx="4267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s-419" sz="1400" i="1" noProof="0">
              <a:solidFill>
                <a:srgbClr val="5B6B82"/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E30C1ACC-4035-3FE0-13A7-6199C57BA054}"/>
              </a:ext>
            </a:extLst>
          </p:cNvPr>
          <p:cNvSpPr/>
          <p:nvPr/>
        </p:nvSpPr>
        <p:spPr>
          <a:xfrm>
            <a:off x="705513" y="2920365"/>
            <a:ext cx="536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600" b="1" kern="0" spc="267" noProof="0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ACTIVIDADES CLAVE</a:t>
            </a:r>
            <a:endParaRPr lang="es-419" sz="1600" noProof="0">
              <a:latin typeface="Roboto" pitchFamily="2" charset="0"/>
              <a:ea typeface="Roboto" pitchFamily="2" charset="0"/>
            </a:endParaRPr>
          </a:p>
        </p:txBody>
      </p:sp>
      <p:sp>
        <p:nvSpPr>
          <p:cNvPr id="27" name="Shape 22">
            <a:extLst>
              <a:ext uri="{FF2B5EF4-FFF2-40B4-BE49-F238E27FC236}">
                <a16:creationId xmlns:a16="http://schemas.microsoft.com/office/drawing/2014/main" id="{253BDB84-964A-3585-4F5A-156A64D248BE}"/>
              </a:ext>
            </a:extLst>
          </p:cNvPr>
          <p:cNvSpPr/>
          <p:nvPr/>
        </p:nvSpPr>
        <p:spPr>
          <a:xfrm>
            <a:off x="886303" y="3429399"/>
            <a:ext cx="288000" cy="288000"/>
          </a:xfrm>
          <a:prstGeom prst="ellipse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1</a:t>
            </a:r>
          </a:p>
        </p:txBody>
      </p:sp>
      <p:sp>
        <p:nvSpPr>
          <p:cNvPr id="30" name="Shape 25">
            <a:extLst>
              <a:ext uri="{FF2B5EF4-FFF2-40B4-BE49-F238E27FC236}">
                <a16:creationId xmlns:a16="http://schemas.microsoft.com/office/drawing/2014/main" id="{F3BD836A-7900-EABA-9710-62FDB975C23C}"/>
              </a:ext>
            </a:extLst>
          </p:cNvPr>
          <p:cNvSpPr/>
          <p:nvPr/>
        </p:nvSpPr>
        <p:spPr>
          <a:xfrm>
            <a:off x="886303" y="3894474"/>
            <a:ext cx="288000" cy="288000"/>
          </a:xfrm>
          <a:prstGeom prst="ellipse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2</a:t>
            </a:r>
          </a:p>
        </p:txBody>
      </p:sp>
      <p:sp>
        <p:nvSpPr>
          <p:cNvPr id="33" name="Shape 28">
            <a:extLst>
              <a:ext uri="{FF2B5EF4-FFF2-40B4-BE49-F238E27FC236}">
                <a16:creationId xmlns:a16="http://schemas.microsoft.com/office/drawing/2014/main" id="{57A43EDB-8CFF-C8DF-C060-9B209C286C64}"/>
              </a:ext>
            </a:extLst>
          </p:cNvPr>
          <p:cNvSpPr/>
          <p:nvPr/>
        </p:nvSpPr>
        <p:spPr>
          <a:xfrm>
            <a:off x="886303" y="4359549"/>
            <a:ext cx="288000" cy="288000"/>
          </a:xfrm>
          <a:prstGeom prst="ellipse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3</a:t>
            </a:r>
          </a:p>
        </p:txBody>
      </p:sp>
      <p:sp>
        <p:nvSpPr>
          <p:cNvPr id="36" name="Shape 31">
            <a:extLst>
              <a:ext uri="{FF2B5EF4-FFF2-40B4-BE49-F238E27FC236}">
                <a16:creationId xmlns:a16="http://schemas.microsoft.com/office/drawing/2014/main" id="{4AE8C579-CD38-C6FC-BEC3-C9D3B52DDAFF}"/>
              </a:ext>
            </a:extLst>
          </p:cNvPr>
          <p:cNvSpPr/>
          <p:nvPr/>
        </p:nvSpPr>
        <p:spPr>
          <a:xfrm>
            <a:off x="886303" y="4824624"/>
            <a:ext cx="288000" cy="288000"/>
          </a:xfrm>
          <a:prstGeom prst="ellipse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4</a:t>
            </a:r>
          </a:p>
        </p:txBody>
      </p:sp>
      <p:sp>
        <p:nvSpPr>
          <p:cNvPr id="39" name="Shape 34">
            <a:extLst>
              <a:ext uri="{FF2B5EF4-FFF2-40B4-BE49-F238E27FC236}">
                <a16:creationId xmlns:a16="http://schemas.microsoft.com/office/drawing/2014/main" id="{4232C1AA-5A97-77C7-2A19-D9A83D965871}"/>
              </a:ext>
            </a:extLst>
          </p:cNvPr>
          <p:cNvSpPr/>
          <p:nvPr/>
        </p:nvSpPr>
        <p:spPr>
          <a:xfrm>
            <a:off x="886303" y="5289699"/>
            <a:ext cx="288000" cy="288000"/>
          </a:xfrm>
          <a:prstGeom prst="ellipse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5</a:t>
            </a:r>
          </a:p>
        </p:txBody>
      </p:sp>
      <p:sp>
        <p:nvSpPr>
          <p:cNvPr id="47" name="Text 49">
            <a:extLst>
              <a:ext uri="{FF2B5EF4-FFF2-40B4-BE49-F238E27FC236}">
                <a16:creationId xmlns:a16="http://schemas.microsoft.com/office/drawing/2014/main" id="{65691767-40A2-A8C8-55EA-30E748800C08}"/>
              </a:ext>
            </a:extLst>
          </p:cNvPr>
          <p:cNvSpPr/>
          <p:nvPr/>
        </p:nvSpPr>
        <p:spPr>
          <a:xfrm>
            <a:off x="9366306" y="3553813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s-419" sz="750" noProof="0"/>
          </a:p>
        </p:txBody>
      </p:sp>
      <p:sp>
        <p:nvSpPr>
          <p:cNvPr id="48" name="Text 7">
            <a:extLst>
              <a:ext uri="{FF2B5EF4-FFF2-40B4-BE49-F238E27FC236}">
                <a16:creationId xmlns:a16="http://schemas.microsoft.com/office/drawing/2014/main" id="{BFF85D3A-D299-2CDF-D335-1F9151FFD21E}"/>
              </a:ext>
            </a:extLst>
          </p:cNvPr>
          <p:cNvSpPr/>
          <p:nvPr/>
        </p:nvSpPr>
        <p:spPr>
          <a:xfrm>
            <a:off x="6879415" y="2579698"/>
            <a:ext cx="426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600" b="1" kern="0" spc="267" noProof="0">
                <a:solidFill>
                  <a:srgbClr val="2E5FA3"/>
                </a:solidFill>
                <a:latin typeface="Roboto"/>
                <a:ea typeface="Roboto"/>
                <a:cs typeface="Calibri"/>
              </a:rPr>
              <a:t>Entregable: </a:t>
            </a:r>
            <a:r>
              <a:rPr lang="es-419" sz="1600" b="1" kern="0" spc="267">
                <a:solidFill>
                  <a:srgbClr val="2E5FA3"/>
                </a:solidFill>
                <a:latin typeface="Roboto"/>
                <a:ea typeface="Roboto"/>
                <a:cs typeface="Calibri"/>
              </a:rPr>
              <a:t>Solución lista para Certificación</a:t>
            </a:r>
            <a:endParaRPr lang="es-419" sz="1600" noProof="0">
              <a:latin typeface="Roboto" pitchFamily="2" charset="0"/>
              <a:ea typeface="Roboto" pitchFamily="2" charset="0"/>
            </a:endParaRPr>
          </a:p>
        </p:txBody>
      </p:sp>
      <p:sp>
        <p:nvSpPr>
          <p:cNvPr id="56" name="Text 11">
            <a:extLst>
              <a:ext uri="{FF2B5EF4-FFF2-40B4-BE49-F238E27FC236}">
                <a16:creationId xmlns:a16="http://schemas.microsoft.com/office/drawing/2014/main" id="{8846D498-BC5C-B83F-22CB-F32788E4B440}"/>
              </a:ext>
            </a:extLst>
          </p:cNvPr>
          <p:cNvSpPr/>
          <p:nvPr/>
        </p:nvSpPr>
        <p:spPr>
          <a:xfrm>
            <a:off x="6846207" y="953551"/>
            <a:ext cx="44338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600" b="1" kern="0" spc="267" noProof="0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ACTORES QUE INTERVIENEN</a:t>
            </a:r>
            <a:endParaRPr lang="es-419" sz="1600" noProof="0">
              <a:latin typeface="Roboto" pitchFamily="2" charset="0"/>
              <a:ea typeface="Roboto" pitchFamily="2" charset="0"/>
            </a:endParaRPr>
          </a:p>
        </p:txBody>
      </p:sp>
      <p:sp>
        <p:nvSpPr>
          <p:cNvPr id="57" name="Shape 16">
            <a:extLst>
              <a:ext uri="{FF2B5EF4-FFF2-40B4-BE49-F238E27FC236}">
                <a16:creationId xmlns:a16="http://schemas.microsoft.com/office/drawing/2014/main" id="{8866A672-E601-8578-5CCE-7ADF62D0BDAD}"/>
              </a:ext>
            </a:extLst>
          </p:cNvPr>
          <p:cNvSpPr/>
          <p:nvPr/>
        </p:nvSpPr>
        <p:spPr>
          <a:xfrm>
            <a:off x="6853891" y="1390854"/>
            <a:ext cx="1872000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/>
          <a:lstStyle/>
          <a:p>
            <a:pPr algn="ctr"/>
            <a:r>
              <a:rPr lang="es-419" sz="1200" b="1">
                <a:solidFill>
                  <a:srgbClr val="1B2A5E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Desarrollador</a:t>
            </a:r>
            <a:endParaRPr lang="es-419" sz="1200" b="1" noProof="0">
              <a:solidFill>
                <a:srgbClr val="1B2A5E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60" name="Shape 16">
            <a:extLst>
              <a:ext uri="{FF2B5EF4-FFF2-40B4-BE49-F238E27FC236}">
                <a16:creationId xmlns:a16="http://schemas.microsoft.com/office/drawing/2014/main" id="{10C643FA-48C7-C582-5C7B-529926B28654}"/>
              </a:ext>
            </a:extLst>
          </p:cNvPr>
          <p:cNvSpPr/>
          <p:nvPr/>
        </p:nvSpPr>
        <p:spPr>
          <a:xfrm>
            <a:off x="6862811" y="1876985"/>
            <a:ext cx="1872000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 lIns="91440" tIns="45720" rIns="91440" bIns="45720" anchor="t"/>
          <a:lstStyle/>
          <a:p>
            <a:pPr algn="ctr"/>
            <a:r>
              <a:rPr lang="es-419" sz="1200" b="1">
                <a:solidFill>
                  <a:srgbClr val="1B2A5E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Especialista Técnico</a:t>
            </a:r>
            <a:endParaRPr lang="en-US" sz="120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pic>
        <p:nvPicPr>
          <p:cNvPr id="61" name="Picture 2">
            <a:extLst>
              <a:ext uri="{FF2B5EF4-FFF2-40B4-BE49-F238E27FC236}">
                <a16:creationId xmlns:a16="http://schemas.microsoft.com/office/drawing/2014/main" id="{2FA7396B-4429-E01F-0F6E-E16F778706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5157" y="196371"/>
            <a:ext cx="868630" cy="580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 24">
            <a:extLst>
              <a:ext uri="{FF2B5EF4-FFF2-40B4-BE49-F238E27FC236}">
                <a16:creationId xmlns:a16="http://schemas.microsoft.com/office/drawing/2014/main" id="{02477C8F-5854-5EF9-4762-C56AFA301557}"/>
              </a:ext>
            </a:extLst>
          </p:cNvPr>
          <p:cNvSpPr/>
          <p:nvPr/>
        </p:nvSpPr>
        <p:spPr>
          <a:xfrm>
            <a:off x="1367993" y="3352859"/>
            <a:ext cx="4680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 noProof="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Alineación técnica: Contextualizar arquitectura al equipo.</a:t>
            </a:r>
          </a:p>
        </p:txBody>
      </p:sp>
      <p:sp>
        <p:nvSpPr>
          <p:cNvPr id="9" name="Text 27">
            <a:extLst>
              <a:ext uri="{FF2B5EF4-FFF2-40B4-BE49-F238E27FC236}">
                <a16:creationId xmlns:a16="http://schemas.microsoft.com/office/drawing/2014/main" id="{99B71640-6169-F097-480A-9B7C391F8B41}"/>
              </a:ext>
            </a:extLst>
          </p:cNvPr>
          <p:cNvSpPr/>
          <p:nvPr/>
        </p:nvSpPr>
        <p:spPr>
          <a:xfrm>
            <a:off x="1367993" y="3821808"/>
            <a:ext cx="4680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Resolver impedimentos: permisos, accesos, respuestas de equipos externos.</a:t>
            </a:r>
            <a:endParaRPr lang="es-419" sz="1200" noProof="0">
              <a:solidFill>
                <a:schemeClr val="tx2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</p:txBody>
      </p:sp>
      <p:sp>
        <p:nvSpPr>
          <p:cNvPr id="10" name="Text 30">
            <a:extLst>
              <a:ext uri="{FF2B5EF4-FFF2-40B4-BE49-F238E27FC236}">
                <a16:creationId xmlns:a16="http://schemas.microsoft.com/office/drawing/2014/main" id="{CF444F05-2D98-0A61-CD7D-3502AD5B1A13}"/>
              </a:ext>
            </a:extLst>
          </p:cNvPr>
          <p:cNvSpPr/>
          <p:nvPr/>
        </p:nvSpPr>
        <p:spPr>
          <a:xfrm>
            <a:off x="1367995" y="4290757"/>
            <a:ext cx="4680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Revisar código y aprobar </a:t>
            </a:r>
            <a:r>
              <a:rPr lang="es-419" sz="1200" err="1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pull</a:t>
            </a:r>
            <a:r>
              <a:rPr lang="es-419" sz="120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 </a:t>
            </a:r>
            <a:r>
              <a:rPr lang="es-419" sz="1200" err="1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requests</a:t>
            </a:r>
            <a:r>
              <a:rPr lang="es-419" sz="120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.</a:t>
            </a:r>
            <a:endParaRPr lang="es-419" sz="1200" noProof="0">
              <a:solidFill>
                <a:schemeClr val="tx2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</p:txBody>
      </p:sp>
      <p:sp>
        <p:nvSpPr>
          <p:cNvPr id="13" name="Text 39">
            <a:extLst>
              <a:ext uri="{FF2B5EF4-FFF2-40B4-BE49-F238E27FC236}">
                <a16:creationId xmlns:a16="http://schemas.microsoft.com/office/drawing/2014/main" id="{D6B37FEF-E9A7-BC92-7204-E868830BD53F}"/>
              </a:ext>
            </a:extLst>
          </p:cNvPr>
          <p:cNvSpPr/>
          <p:nvPr/>
        </p:nvSpPr>
        <p:spPr>
          <a:xfrm>
            <a:off x="1367992" y="4744023"/>
            <a:ext cx="4680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Monitorear sincronización entre perfiles (Dev + </a:t>
            </a:r>
            <a:r>
              <a:rPr lang="es-419" sz="1200" err="1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QA</a:t>
            </a:r>
            <a:r>
              <a:rPr lang="es-419" sz="120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)</a:t>
            </a: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99930605-7738-497E-45DF-053FFA8C4478}"/>
              </a:ext>
            </a:extLst>
          </p:cNvPr>
          <p:cNvSpPr/>
          <p:nvPr/>
        </p:nvSpPr>
        <p:spPr>
          <a:xfrm>
            <a:off x="8843337" y="1386007"/>
            <a:ext cx="1872000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/>
          <a:lstStyle/>
          <a:p>
            <a:pPr algn="ctr"/>
            <a:r>
              <a:rPr lang="es-419" sz="1200" b="1" noProof="0">
                <a:solidFill>
                  <a:srgbClr val="1B2A5E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Arquitecto</a:t>
            </a:r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4BF0665E-958C-0FC2-E54A-598F56867798}"/>
              </a:ext>
            </a:extLst>
          </p:cNvPr>
          <p:cNvSpPr>
            <a:spLocks noChangeAspect="1"/>
          </p:cNvSpPr>
          <p:nvPr/>
        </p:nvSpPr>
        <p:spPr>
          <a:xfrm>
            <a:off x="705513" y="725269"/>
            <a:ext cx="720000" cy="720000"/>
          </a:xfrm>
          <a:prstGeom prst="ellipse">
            <a:avLst/>
          </a:prstGeom>
          <a:solidFill>
            <a:srgbClr val="1B2A5E"/>
          </a:solidFill>
          <a:ln/>
        </p:spPr>
        <p:txBody>
          <a:bodyPr anchor="ctr"/>
          <a:lstStyle/>
          <a:p>
            <a:pPr algn="ctr"/>
            <a:r>
              <a:rPr lang="es-419" sz="3600" noProof="0">
                <a:solidFill>
                  <a:schemeClr val="bg1"/>
                </a:solidFill>
                <a:latin typeface="Roboto Bk" pitchFamily="2" charset="0"/>
                <a:ea typeface="Roboto Bk" pitchFamily="2" charset="0"/>
              </a:rPr>
              <a:t>5</a:t>
            </a:r>
          </a:p>
        </p:txBody>
      </p:sp>
      <p:sp>
        <p:nvSpPr>
          <p:cNvPr id="20" name="Text 2">
            <a:extLst>
              <a:ext uri="{FF2B5EF4-FFF2-40B4-BE49-F238E27FC236}">
                <a16:creationId xmlns:a16="http://schemas.microsoft.com/office/drawing/2014/main" id="{9C5CE289-211B-F249-9946-69B26291C325}"/>
              </a:ext>
            </a:extLst>
          </p:cNvPr>
          <p:cNvSpPr/>
          <p:nvPr/>
        </p:nvSpPr>
        <p:spPr>
          <a:xfrm>
            <a:off x="1451524" y="658549"/>
            <a:ext cx="5720553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3733" b="1" noProof="0">
                <a:solidFill>
                  <a:srgbClr val="1B2A5E"/>
                </a:solidFill>
                <a:latin typeface="Roboto Bk" pitchFamily="2" charset="0"/>
                <a:ea typeface="Roboto Bk" pitchFamily="2" charset="0"/>
                <a:cs typeface="Cambria" pitchFamily="34" charset="-120"/>
              </a:rPr>
              <a:t>Proceso de Desarrollo</a:t>
            </a:r>
            <a:endParaRPr lang="es-419" sz="3733" noProof="0">
              <a:latin typeface="Roboto Bk" pitchFamily="2" charset="0"/>
              <a:ea typeface="Roboto Bk" pitchFamily="2" charset="0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B7AF4A15-54CE-7DAB-8868-14F61EB012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27837"/>
            <a:ext cx="1584859" cy="424846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3" name="Shape 34">
            <a:extLst>
              <a:ext uri="{FF2B5EF4-FFF2-40B4-BE49-F238E27FC236}">
                <a16:creationId xmlns:a16="http://schemas.microsoft.com/office/drawing/2014/main" id="{996EC36E-3059-F1CF-DF8D-FB80A2884BE9}"/>
              </a:ext>
            </a:extLst>
          </p:cNvPr>
          <p:cNvSpPr/>
          <p:nvPr/>
        </p:nvSpPr>
        <p:spPr>
          <a:xfrm>
            <a:off x="886303" y="5754774"/>
            <a:ext cx="288000" cy="288000"/>
          </a:xfrm>
          <a:prstGeom prst="ellipse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6</a:t>
            </a:r>
          </a:p>
        </p:txBody>
      </p:sp>
      <p:sp>
        <p:nvSpPr>
          <p:cNvPr id="4" name="Text 39">
            <a:extLst>
              <a:ext uri="{FF2B5EF4-FFF2-40B4-BE49-F238E27FC236}">
                <a16:creationId xmlns:a16="http://schemas.microsoft.com/office/drawing/2014/main" id="{5AC9844F-EA5F-89F9-F813-3980136DB5B6}"/>
              </a:ext>
            </a:extLst>
          </p:cNvPr>
          <p:cNvSpPr/>
          <p:nvPr/>
        </p:nvSpPr>
        <p:spPr>
          <a:xfrm>
            <a:off x="1367992" y="5212972"/>
            <a:ext cx="4680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Detectar y resolver caídas del ambiente de certificación.</a:t>
            </a:r>
          </a:p>
        </p:txBody>
      </p:sp>
      <p:sp>
        <p:nvSpPr>
          <p:cNvPr id="15" name="Text 39">
            <a:extLst>
              <a:ext uri="{FF2B5EF4-FFF2-40B4-BE49-F238E27FC236}">
                <a16:creationId xmlns:a16="http://schemas.microsoft.com/office/drawing/2014/main" id="{4D7C5021-0DE3-8E38-45A0-7E81C9DF22EB}"/>
              </a:ext>
            </a:extLst>
          </p:cNvPr>
          <p:cNvSpPr/>
          <p:nvPr/>
        </p:nvSpPr>
        <p:spPr>
          <a:xfrm>
            <a:off x="1381708" y="5681920"/>
            <a:ext cx="4680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Velar por lineamientos de desarrollo, calidad y seguridad</a:t>
            </a:r>
          </a:p>
        </p:txBody>
      </p:sp>
      <p:sp>
        <p:nvSpPr>
          <p:cNvPr id="18" name="Text 0">
            <a:extLst>
              <a:ext uri="{FF2B5EF4-FFF2-40B4-BE49-F238E27FC236}">
                <a16:creationId xmlns:a16="http://schemas.microsoft.com/office/drawing/2014/main" id="{60ABD0DA-66A5-68D5-C0EE-E49E08D82F60}"/>
              </a:ext>
            </a:extLst>
          </p:cNvPr>
          <p:cNvSpPr/>
          <p:nvPr/>
        </p:nvSpPr>
        <p:spPr>
          <a:xfrm>
            <a:off x="8143876" y="167447"/>
            <a:ext cx="3095850" cy="5816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 algn="r">
              <a:defRPr/>
            </a:pPr>
            <a:r>
              <a:rPr lang="es-419" sz="1400" b="1" noProof="0">
                <a:solidFill>
                  <a:schemeClr val="bg1">
                    <a:lumMod val="85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Flujo construcción de soluciones TI </a:t>
            </a:r>
            <a:endParaRPr lang="es-419" sz="1400" noProof="0">
              <a:solidFill>
                <a:schemeClr val="bg1">
                  <a:lumMod val="85000"/>
                </a:schemeClr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21" name="Shape 16">
            <a:extLst>
              <a:ext uri="{FF2B5EF4-FFF2-40B4-BE49-F238E27FC236}">
                <a16:creationId xmlns:a16="http://schemas.microsoft.com/office/drawing/2014/main" id="{DABF0738-5DAA-49BE-0DD3-64A576C6CF99}"/>
              </a:ext>
            </a:extLst>
          </p:cNvPr>
          <p:cNvSpPr/>
          <p:nvPr/>
        </p:nvSpPr>
        <p:spPr>
          <a:xfrm>
            <a:off x="8880296" y="1876984"/>
            <a:ext cx="1872000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/>
          <a:lstStyle/>
          <a:p>
            <a:pPr algn="ctr"/>
            <a:r>
              <a:rPr lang="es-419" sz="1200" b="1" noProof="0">
                <a:solidFill>
                  <a:srgbClr val="1B2A5E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Líder Técnico </a:t>
            </a:r>
          </a:p>
        </p:txBody>
      </p:sp>
      <p:sp>
        <p:nvSpPr>
          <p:cNvPr id="34" name="Shape 34">
            <a:extLst>
              <a:ext uri="{FF2B5EF4-FFF2-40B4-BE49-F238E27FC236}">
                <a16:creationId xmlns:a16="http://schemas.microsoft.com/office/drawing/2014/main" id="{B9BC5955-0934-C390-1A88-4B20FFFC635C}"/>
              </a:ext>
            </a:extLst>
          </p:cNvPr>
          <p:cNvSpPr/>
          <p:nvPr/>
        </p:nvSpPr>
        <p:spPr>
          <a:xfrm>
            <a:off x="874111" y="6144918"/>
            <a:ext cx="288000" cy="288000"/>
          </a:xfrm>
          <a:prstGeom prst="ellipse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7</a:t>
            </a:r>
            <a:endParaRPr lang="es-419" sz="1200" b="1" noProof="0">
              <a:solidFill>
                <a:schemeClr val="bg1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37" name="Text 39">
            <a:extLst>
              <a:ext uri="{FF2B5EF4-FFF2-40B4-BE49-F238E27FC236}">
                <a16:creationId xmlns:a16="http://schemas.microsoft.com/office/drawing/2014/main" id="{1D1F3A07-432E-93A0-81C2-E1E401FB78FC}"/>
              </a:ext>
            </a:extLst>
          </p:cNvPr>
          <p:cNvSpPr/>
          <p:nvPr/>
        </p:nvSpPr>
        <p:spPr>
          <a:xfrm>
            <a:off x="1369516" y="6072064"/>
            <a:ext cx="4680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Ceremonias de agilismo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0FC4EF0C-A40C-0591-02EF-03160B52B165}"/>
              </a:ext>
            </a:extLst>
          </p:cNvPr>
          <p:cNvSpPr txBox="1"/>
          <p:nvPr/>
        </p:nvSpPr>
        <p:spPr>
          <a:xfrm>
            <a:off x="6879415" y="5273779"/>
            <a:ext cx="472907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s-419" sz="1200" b="1">
                <a:solidFill>
                  <a:schemeClr val="tx2">
                    <a:lumMod val="50000"/>
                  </a:schemeClr>
                </a:solidFill>
                <a:highlight>
                  <a:srgbClr val="FFFF00"/>
                </a:highlight>
                <a:latin typeface="Roboto"/>
                <a:ea typeface="Roboto"/>
                <a:cs typeface="Calibri"/>
              </a:rPr>
              <a:t>Reserva de fuentes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s-419" sz="1200" b="1">
                <a:solidFill>
                  <a:schemeClr val="tx2">
                    <a:lumMod val="50000"/>
                  </a:schemeClr>
                </a:solidFill>
                <a:highlight>
                  <a:srgbClr val="FFFF00"/>
                </a:highlight>
                <a:latin typeface="Roboto"/>
                <a:ea typeface="Roboto"/>
                <a:cs typeface="Calibri"/>
              </a:rPr>
              <a:t>HU  Claras 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s-419" sz="1200" b="1">
                <a:solidFill>
                  <a:schemeClr val="tx2">
                    <a:lumMod val="50000"/>
                  </a:schemeClr>
                </a:solidFill>
                <a:highlight>
                  <a:srgbClr val="FFFF00"/>
                </a:highlight>
                <a:latin typeface="Roboto"/>
                <a:ea typeface="Roboto"/>
                <a:cs typeface="Calibri"/>
              </a:rPr>
              <a:t>Diseño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s-419" sz="1200" b="1" err="1">
                <a:solidFill>
                  <a:schemeClr val="tx2">
                    <a:lumMod val="50000"/>
                  </a:schemeClr>
                </a:solidFill>
                <a:highlight>
                  <a:srgbClr val="FFFF00"/>
                </a:highlight>
                <a:latin typeface="Roboto"/>
                <a:ea typeface="Roboto"/>
                <a:cs typeface="Calibri"/>
              </a:rPr>
              <a:t>Codigo</a:t>
            </a:r>
            <a:r>
              <a:rPr lang="es-419" sz="1200" b="1">
                <a:solidFill>
                  <a:schemeClr val="tx2">
                    <a:lumMod val="50000"/>
                  </a:schemeClr>
                </a:solidFill>
                <a:highlight>
                  <a:srgbClr val="FFFF00"/>
                </a:highlight>
                <a:latin typeface="Roboto"/>
                <a:ea typeface="Roboto"/>
                <a:cs typeface="Calibri"/>
              </a:rPr>
              <a:t> 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s-419" sz="1200" b="1">
                <a:solidFill>
                  <a:schemeClr val="tx2">
                    <a:lumMod val="50000"/>
                  </a:schemeClr>
                </a:solidFill>
                <a:highlight>
                  <a:srgbClr val="FFFF00"/>
                </a:highlight>
                <a:latin typeface="Roboto"/>
                <a:ea typeface="Roboto"/>
                <a:cs typeface="Calibri"/>
              </a:rPr>
              <a:t>DevOps 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s-419" sz="1200" b="1">
                <a:solidFill>
                  <a:schemeClr val="tx2">
                    <a:lumMod val="50000"/>
                  </a:schemeClr>
                </a:solidFill>
                <a:highlight>
                  <a:srgbClr val="FFFF00"/>
                </a:highlight>
                <a:latin typeface="Roboto"/>
                <a:ea typeface="Roboto"/>
                <a:cs typeface="Calibri"/>
              </a:rPr>
              <a:t>NO explicarlo técnicamente </a:t>
            </a:r>
            <a:endParaRPr lang="es-419" sz="1200">
              <a:solidFill>
                <a:schemeClr val="tx2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A836F89A-2F90-E8DD-6BFD-FEF030A2D4FF}"/>
              </a:ext>
            </a:extLst>
          </p:cNvPr>
          <p:cNvSpPr txBox="1"/>
          <p:nvPr/>
        </p:nvSpPr>
        <p:spPr>
          <a:xfrm>
            <a:off x="9574699" y="5344776"/>
            <a:ext cx="210395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419" sz="1500" b="1">
                <a:solidFill>
                  <a:schemeClr val="tx2">
                    <a:lumMod val="50000"/>
                  </a:schemeClr>
                </a:solidFill>
                <a:highlight>
                  <a:srgbClr val="00FF00"/>
                </a:highlight>
                <a:latin typeface="Roboto"/>
                <a:ea typeface="Roboto"/>
                <a:cs typeface="Calibri"/>
              </a:rPr>
              <a:t>AMBIENTES  VA  A SALIR</a:t>
            </a:r>
            <a:endParaRPr lang="es-419" sz="1500">
              <a:solidFill>
                <a:schemeClr val="tx2">
                  <a:lumMod val="50000"/>
                </a:schemeClr>
              </a:solidFill>
              <a:highlight>
                <a:srgbClr val="00FF00"/>
              </a:highlight>
              <a:latin typeface="Roboto" pitchFamily="2" charset="0"/>
              <a:ea typeface="Roboto" pitchFamily="2" charset="0"/>
              <a:cs typeface="Calibr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174760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693AB-A5DE-21E3-921A-E76F1D9D9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>
            <a:extLst>
              <a:ext uri="{FF2B5EF4-FFF2-40B4-BE49-F238E27FC236}">
                <a16:creationId xmlns:a16="http://schemas.microsoft.com/office/drawing/2014/main" id="{FD6821D5-B3FD-7467-F238-F917D9E59F7C}"/>
              </a:ext>
            </a:extLst>
          </p:cNvPr>
          <p:cNvSpPr/>
          <p:nvPr/>
        </p:nvSpPr>
        <p:spPr>
          <a:xfrm>
            <a:off x="731520" y="156057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600" b="1" kern="0" spc="267" noProof="0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EN QUÉ CONSISTE</a:t>
            </a:r>
            <a:endParaRPr lang="es-419" sz="1600" noProof="0">
              <a:latin typeface="Roboto" pitchFamily="2" charset="0"/>
              <a:ea typeface="Roboto" pitchFamily="2" charset="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E6EE257-BAFD-949F-B4F9-3994FCD4C212}"/>
              </a:ext>
            </a:extLst>
          </p:cNvPr>
          <p:cNvSpPr/>
          <p:nvPr/>
        </p:nvSpPr>
        <p:spPr>
          <a:xfrm>
            <a:off x="731520" y="2032202"/>
            <a:ext cx="5266944" cy="943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/>
            <a:r>
              <a:rPr lang="es-419" sz="140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+mn-lt"/>
              </a:rPr>
              <a:t>Se valida que los desarrollos implementados cumplan con los requerimientos funcionales definidos en el DOR, asegurando que el comportamiento del sistema corresponde a los criterios de aceptación. Incluye pruebas manuales y/o automatizadas, así como la gestión de defectos identificados.</a:t>
            </a:r>
            <a:endParaRPr lang="en-US" sz="1400">
              <a:solidFill>
                <a:schemeClr val="tx2">
                  <a:lumMod val="50000"/>
                </a:schemeClr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883FE8FC-1BEA-C984-FD3B-C955221CFA99}"/>
              </a:ext>
            </a:extLst>
          </p:cNvPr>
          <p:cNvSpPr/>
          <p:nvPr/>
        </p:nvSpPr>
        <p:spPr>
          <a:xfrm>
            <a:off x="6862811" y="3130296"/>
            <a:ext cx="4815840" cy="1722795"/>
          </a:xfrm>
          <a:prstGeom prst="roundRect">
            <a:avLst>
              <a:gd name="adj" fmla="val 3902"/>
            </a:avLst>
          </a:prstGeom>
          <a:solidFill>
            <a:srgbClr val="EEF4FC"/>
          </a:solidFill>
          <a:ln/>
        </p:spPr>
        <p:txBody>
          <a:bodyPr lIns="91440" tIns="45720" rIns="91440" bIns="45720" anchor="ctr"/>
          <a:lstStyle/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419" sz="140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+mn-lt"/>
              </a:rPr>
              <a:t>Plan de pruebas</a:t>
            </a:r>
            <a:endParaRPr lang="es-419" sz="1400" noProof="0">
              <a:solidFill>
                <a:schemeClr val="tx2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419" sz="140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+mn-lt"/>
              </a:rPr>
              <a:t>Casos de prueba diseñados /ejecutados</a:t>
            </a: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419" sz="140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+mn-lt"/>
              </a:rPr>
              <a:t>Evidencias de ejecución (capturas, logs, reportes)</a:t>
            </a:r>
            <a:endParaRPr lang="es-419" sz="1400">
              <a:solidFill>
                <a:schemeClr val="tx2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419" sz="140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+mn-lt"/>
              </a:rPr>
              <a:t>Reporte de defectos/bugs</a:t>
            </a: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419" sz="140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+mn-lt"/>
              </a:rPr>
              <a:t>Resultado de pruebas (paso/fallo)</a:t>
            </a: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419" sz="140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+mn-lt"/>
              </a:rPr>
              <a:t>Informe de ejecución</a:t>
            </a: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419" sz="140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+mn-lt"/>
              </a:rPr>
              <a:t>Carta de certificación</a:t>
            </a:r>
            <a:endParaRPr lang="es-419" sz="1400">
              <a:solidFill>
                <a:schemeClr val="tx2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35CAE911-C384-6EF3-B1A5-D1D000A047D8}"/>
              </a:ext>
            </a:extLst>
          </p:cNvPr>
          <p:cNvSpPr/>
          <p:nvPr/>
        </p:nvSpPr>
        <p:spPr>
          <a:xfrm>
            <a:off x="6069993" y="121765"/>
            <a:ext cx="4267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s-419" sz="1400" i="1" noProof="0">
              <a:solidFill>
                <a:srgbClr val="5B6B82"/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62418ABD-BD82-2613-BA67-94799979283A}"/>
              </a:ext>
            </a:extLst>
          </p:cNvPr>
          <p:cNvSpPr/>
          <p:nvPr/>
        </p:nvSpPr>
        <p:spPr>
          <a:xfrm>
            <a:off x="705513" y="3177540"/>
            <a:ext cx="536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600" b="1" kern="0" spc="267" noProof="0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ACTIVIDADES CLAVE</a:t>
            </a:r>
            <a:endParaRPr lang="es-419" sz="1600" noProof="0">
              <a:latin typeface="Roboto" pitchFamily="2" charset="0"/>
              <a:ea typeface="Roboto" pitchFamily="2" charset="0"/>
            </a:endParaRPr>
          </a:p>
        </p:txBody>
      </p:sp>
      <p:sp>
        <p:nvSpPr>
          <p:cNvPr id="27" name="Shape 22">
            <a:extLst>
              <a:ext uri="{FF2B5EF4-FFF2-40B4-BE49-F238E27FC236}">
                <a16:creationId xmlns:a16="http://schemas.microsoft.com/office/drawing/2014/main" id="{1E2027E7-79A6-6CEE-84A0-BF1F5E9EE7CA}"/>
              </a:ext>
            </a:extLst>
          </p:cNvPr>
          <p:cNvSpPr/>
          <p:nvPr/>
        </p:nvSpPr>
        <p:spPr>
          <a:xfrm>
            <a:off x="879445" y="3686574"/>
            <a:ext cx="288000" cy="288000"/>
          </a:xfrm>
          <a:prstGeom prst="ellipse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1</a:t>
            </a:r>
          </a:p>
        </p:txBody>
      </p:sp>
      <p:sp>
        <p:nvSpPr>
          <p:cNvPr id="30" name="Shape 25">
            <a:extLst>
              <a:ext uri="{FF2B5EF4-FFF2-40B4-BE49-F238E27FC236}">
                <a16:creationId xmlns:a16="http://schemas.microsoft.com/office/drawing/2014/main" id="{F333C984-B2FF-B5B7-62B6-3ACEB6671C55}"/>
              </a:ext>
            </a:extLst>
          </p:cNvPr>
          <p:cNvSpPr/>
          <p:nvPr/>
        </p:nvSpPr>
        <p:spPr>
          <a:xfrm>
            <a:off x="879445" y="4160520"/>
            <a:ext cx="288000" cy="288000"/>
          </a:xfrm>
          <a:prstGeom prst="ellipse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2</a:t>
            </a:r>
          </a:p>
        </p:txBody>
      </p:sp>
      <p:sp>
        <p:nvSpPr>
          <p:cNvPr id="33" name="Shape 28">
            <a:extLst>
              <a:ext uri="{FF2B5EF4-FFF2-40B4-BE49-F238E27FC236}">
                <a16:creationId xmlns:a16="http://schemas.microsoft.com/office/drawing/2014/main" id="{72260AEF-7945-B3F0-3200-7C3BE161F4F6}"/>
              </a:ext>
            </a:extLst>
          </p:cNvPr>
          <p:cNvSpPr/>
          <p:nvPr/>
        </p:nvSpPr>
        <p:spPr>
          <a:xfrm>
            <a:off x="879445" y="4636008"/>
            <a:ext cx="288000" cy="288000"/>
          </a:xfrm>
          <a:prstGeom prst="ellipse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3</a:t>
            </a:r>
          </a:p>
        </p:txBody>
      </p:sp>
      <p:sp>
        <p:nvSpPr>
          <p:cNvPr id="36" name="Shape 31">
            <a:extLst>
              <a:ext uri="{FF2B5EF4-FFF2-40B4-BE49-F238E27FC236}">
                <a16:creationId xmlns:a16="http://schemas.microsoft.com/office/drawing/2014/main" id="{9497F2FD-6703-794E-9533-A3FE8DE4159E}"/>
              </a:ext>
            </a:extLst>
          </p:cNvPr>
          <p:cNvSpPr/>
          <p:nvPr/>
        </p:nvSpPr>
        <p:spPr>
          <a:xfrm>
            <a:off x="879445" y="5111496"/>
            <a:ext cx="288000" cy="288000"/>
          </a:xfrm>
          <a:prstGeom prst="ellipse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4</a:t>
            </a:r>
          </a:p>
        </p:txBody>
      </p:sp>
      <p:sp>
        <p:nvSpPr>
          <p:cNvPr id="39" name="Shape 34">
            <a:extLst>
              <a:ext uri="{FF2B5EF4-FFF2-40B4-BE49-F238E27FC236}">
                <a16:creationId xmlns:a16="http://schemas.microsoft.com/office/drawing/2014/main" id="{DC257261-1EFA-22B7-CF14-BC3541E471D9}"/>
              </a:ext>
            </a:extLst>
          </p:cNvPr>
          <p:cNvSpPr/>
          <p:nvPr/>
        </p:nvSpPr>
        <p:spPr>
          <a:xfrm>
            <a:off x="879445" y="5586984"/>
            <a:ext cx="288000" cy="288000"/>
          </a:xfrm>
          <a:prstGeom prst="ellipse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5</a:t>
            </a:r>
          </a:p>
        </p:txBody>
      </p:sp>
      <p:sp>
        <p:nvSpPr>
          <p:cNvPr id="47" name="Text 49">
            <a:extLst>
              <a:ext uri="{FF2B5EF4-FFF2-40B4-BE49-F238E27FC236}">
                <a16:creationId xmlns:a16="http://schemas.microsoft.com/office/drawing/2014/main" id="{A3669401-C6CE-622C-B451-EB8253FB8B32}"/>
              </a:ext>
            </a:extLst>
          </p:cNvPr>
          <p:cNvSpPr/>
          <p:nvPr/>
        </p:nvSpPr>
        <p:spPr>
          <a:xfrm>
            <a:off x="9366306" y="3553813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s-419" sz="750" noProof="0"/>
          </a:p>
        </p:txBody>
      </p:sp>
      <p:sp>
        <p:nvSpPr>
          <p:cNvPr id="48" name="Text 7">
            <a:extLst>
              <a:ext uri="{FF2B5EF4-FFF2-40B4-BE49-F238E27FC236}">
                <a16:creationId xmlns:a16="http://schemas.microsoft.com/office/drawing/2014/main" id="{7D6FA4A6-B094-AA2A-FF79-0F2CE897A5FA}"/>
              </a:ext>
            </a:extLst>
          </p:cNvPr>
          <p:cNvSpPr/>
          <p:nvPr/>
        </p:nvSpPr>
        <p:spPr>
          <a:xfrm>
            <a:off x="6879414" y="2699361"/>
            <a:ext cx="471785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600" b="1" kern="0" spc="267" noProof="0">
                <a:solidFill>
                  <a:srgbClr val="2E5FA3"/>
                </a:solidFill>
                <a:latin typeface="Roboto"/>
                <a:ea typeface="Roboto"/>
                <a:cs typeface="Calibri"/>
              </a:rPr>
              <a:t>Entregable: </a:t>
            </a:r>
            <a:r>
              <a:rPr lang="es-419" sz="1600" b="1" kern="0" spc="267">
                <a:solidFill>
                  <a:srgbClr val="2E5FA3"/>
                </a:solidFill>
                <a:latin typeface="Roboto"/>
                <a:ea typeface="Roboto"/>
                <a:cs typeface="Calibri"/>
              </a:rPr>
              <a:t>Certificación Desarrollo</a:t>
            </a:r>
            <a:endParaRPr lang="es-419" sz="1600" noProof="0">
              <a:latin typeface="Roboto" pitchFamily="2" charset="0"/>
              <a:ea typeface="Roboto" pitchFamily="2" charset="0"/>
            </a:endParaRPr>
          </a:p>
        </p:txBody>
      </p:sp>
      <p:sp>
        <p:nvSpPr>
          <p:cNvPr id="56" name="Text 11">
            <a:extLst>
              <a:ext uri="{FF2B5EF4-FFF2-40B4-BE49-F238E27FC236}">
                <a16:creationId xmlns:a16="http://schemas.microsoft.com/office/drawing/2014/main" id="{056A3339-C537-D47A-1D38-07BE0CB70C97}"/>
              </a:ext>
            </a:extLst>
          </p:cNvPr>
          <p:cNvSpPr/>
          <p:nvPr/>
        </p:nvSpPr>
        <p:spPr>
          <a:xfrm>
            <a:off x="6853891" y="1132670"/>
            <a:ext cx="44338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600" b="1" kern="0" spc="267" noProof="0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ACTORES QUE INTERVIENEN</a:t>
            </a:r>
            <a:endParaRPr lang="es-419" sz="1600" noProof="0">
              <a:latin typeface="Roboto" pitchFamily="2" charset="0"/>
              <a:ea typeface="Roboto" pitchFamily="2" charset="0"/>
            </a:endParaRPr>
          </a:p>
        </p:txBody>
      </p:sp>
      <p:sp>
        <p:nvSpPr>
          <p:cNvPr id="57" name="Shape 16">
            <a:extLst>
              <a:ext uri="{FF2B5EF4-FFF2-40B4-BE49-F238E27FC236}">
                <a16:creationId xmlns:a16="http://schemas.microsoft.com/office/drawing/2014/main" id="{E7AFB20A-00D4-AD54-CF63-E4470C4F5C5B}"/>
              </a:ext>
            </a:extLst>
          </p:cNvPr>
          <p:cNvSpPr/>
          <p:nvPr/>
        </p:nvSpPr>
        <p:spPr>
          <a:xfrm>
            <a:off x="8094294" y="1615753"/>
            <a:ext cx="1872000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/>
          <a:lstStyle/>
          <a:p>
            <a:pPr algn="ctr"/>
            <a:r>
              <a:rPr lang="es-419" sz="1200" b="1" noProof="0">
                <a:solidFill>
                  <a:srgbClr val="1B2A5E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Ingeniero de Calidad</a:t>
            </a:r>
          </a:p>
        </p:txBody>
      </p:sp>
      <p:sp>
        <p:nvSpPr>
          <p:cNvPr id="60" name="Shape 16">
            <a:extLst>
              <a:ext uri="{FF2B5EF4-FFF2-40B4-BE49-F238E27FC236}">
                <a16:creationId xmlns:a16="http://schemas.microsoft.com/office/drawing/2014/main" id="{DB477D68-BB60-2F6E-69AB-781C2D6A5DBF}"/>
              </a:ext>
            </a:extLst>
          </p:cNvPr>
          <p:cNvSpPr/>
          <p:nvPr/>
        </p:nvSpPr>
        <p:spPr>
          <a:xfrm>
            <a:off x="8094294" y="2101884"/>
            <a:ext cx="1872000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 lIns="91440" tIns="45720" rIns="91440" bIns="45720" anchor="t"/>
          <a:lstStyle/>
          <a:p>
            <a:pPr algn="ctr"/>
            <a:r>
              <a:rPr lang="es-419" sz="1200" b="1">
                <a:solidFill>
                  <a:srgbClr val="1B2A5E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Desarrollador</a:t>
            </a:r>
            <a:endParaRPr lang="en-US" sz="120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pic>
        <p:nvPicPr>
          <p:cNvPr id="61" name="Picture 2">
            <a:extLst>
              <a:ext uri="{FF2B5EF4-FFF2-40B4-BE49-F238E27FC236}">
                <a16:creationId xmlns:a16="http://schemas.microsoft.com/office/drawing/2014/main" id="{45852F60-465B-8501-CB89-AFB78DFEEF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5157" y="196371"/>
            <a:ext cx="868630" cy="580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 24">
            <a:extLst>
              <a:ext uri="{FF2B5EF4-FFF2-40B4-BE49-F238E27FC236}">
                <a16:creationId xmlns:a16="http://schemas.microsoft.com/office/drawing/2014/main" id="{52C9F044-BCCC-D4D7-165E-BFD46A4BA03F}"/>
              </a:ext>
            </a:extLst>
          </p:cNvPr>
          <p:cNvSpPr/>
          <p:nvPr/>
        </p:nvSpPr>
        <p:spPr>
          <a:xfrm>
            <a:off x="1367994" y="3610034"/>
            <a:ext cx="411840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+mn-lt"/>
              </a:rPr>
              <a:t>Analizar requerimientos funcionales y criterios de aceptación</a:t>
            </a:r>
            <a:endParaRPr lang="en-US">
              <a:solidFill>
                <a:schemeClr val="tx2">
                  <a:lumMod val="50000"/>
                </a:schemeClr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9" name="Text 27">
            <a:extLst>
              <a:ext uri="{FF2B5EF4-FFF2-40B4-BE49-F238E27FC236}">
                <a16:creationId xmlns:a16="http://schemas.microsoft.com/office/drawing/2014/main" id="{E712D2BD-A788-0A30-5CA2-F645ACF93646}"/>
              </a:ext>
            </a:extLst>
          </p:cNvPr>
          <p:cNvSpPr/>
          <p:nvPr/>
        </p:nvSpPr>
        <p:spPr>
          <a:xfrm>
            <a:off x="1367994" y="4085522"/>
            <a:ext cx="411840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+mn-lt"/>
              </a:rPr>
              <a:t>Diseñar y/o actualizar casos de prueba</a:t>
            </a:r>
            <a:endParaRPr lang="en-US">
              <a:solidFill>
                <a:schemeClr val="tx2">
                  <a:lumMod val="50000"/>
                </a:schemeClr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10" name="Text 30">
            <a:extLst>
              <a:ext uri="{FF2B5EF4-FFF2-40B4-BE49-F238E27FC236}">
                <a16:creationId xmlns:a16="http://schemas.microsoft.com/office/drawing/2014/main" id="{A655ED58-D4C6-621F-B140-606518136E61}"/>
              </a:ext>
            </a:extLst>
          </p:cNvPr>
          <p:cNvSpPr/>
          <p:nvPr/>
        </p:nvSpPr>
        <p:spPr>
          <a:xfrm>
            <a:off x="1367995" y="4561010"/>
            <a:ext cx="44516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+mn-lt"/>
              </a:rPr>
              <a:t>Ejecutar pruebas funcionales (manuales y automatizadas)</a:t>
            </a:r>
            <a:endParaRPr lang="en-US">
              <a:solidFill>
                <a:schemeClr val="tx2">
                  <a:lumMod val="50000"/>
                </a:schemeClr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11" name="Text 36">
            <a:extLst>
              <a:ext uri="{FF2B5EF4-FFF2-40B4-BE49-F238E27FC236}">
                <a16:creationId xmlns:a16="http://schemas.microsoft.com/office/drawing/2014/main" id="{A161D61C-5EC0-1B41-294C-681F8948D5EE}"/>
              </a:ext>
            </a:extLst>
          </p:cNvPr>
          <p:cNvSpPr/>
          <p:nvPr/>
        </p:nvSpPr>
        <p:spPr>
          <a:xfrm>
            <a:off x="1381709" y="5063930"/>
            <a:ext cx="47007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+mn-lt"/>
              </a:rPr>
              <a:t>Registrar, gestionar y hacer seguimiento a defectos o novedades</a:t>
            </a:r>
            <a:endParaRPr lang="en-US">
              <a:solidFill>
                <a:schemeClr val="tx2">
                  <a:lumMod val="50000"/>
                </a:schemeClr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13" name="Text 39">
            <a:extLst>
              <a:ext uri="{FF2B5EF4-FFF2-40B4-BE49-F238E27FC236}">
                <a16:creationId xmlns:a16="http://schemas.microsoft.com/office/drawing/2014/main" id="{CAE55E8A-1104-F1EE-DC6D-FAB9569FFFDF}"/>
              </a:ext>
            </a:extLst>
          </p:cNvPr>
          <p:cNvSpPr/>
          <p:nvPr/>
        </p:nvSpPr>
        <p:spPr>
          <a:xfrm>
            <a:off x="1367993" y="5533687"/>
            <a:ext cx="411840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+mn-lt"/>
              </a:rPr>
              <a:t>Generar reporte de resultados, estado de calidad</a:t>
            </a:r>
            <a:endParaRPr lang="es-419" sz="1200">
              <a:solidFill>
                <a:schemeClr val="tx2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/>
            </a:endParaRP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8811F9BB-0FD6-6B74-9616-C41638CE3711}"/>
              </a:ext>
            </a:extLst>
          </p:cNvPr>
          <p:cNvSpPr/>
          <p:nvPr/>
        </p:nvSpPr>
        <p:spPr>
          <a:xfrm>
            <a:off x="10083740" y="1610906"/>
            <a:ext cx="1872000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 lIns="91440" tIns="45720" rIns="91440" bIns="45720" anchor="t"/>
          <a:lstStyle/>
          <a:p>
            <a:pPr algn="ctr"/>
            <a:r>
              <a:rPr lang="es-419" sz="1200" b="1">
                <a:solidFill>
                  <a:srgbClr val="1B2A5E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Especialista TI</a:t>
            </a:r>
            <a:endParaRPr lang="en-US" sz="120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526514D8-1818-B261-7FBC-53A68C2E1771}"/>
              </a:ext>
            </a:extLst>
          </p:cNvPr>
          <p:cNvSpPr>
            <a:spLocks noChangeAspect="1"/>
          </p:cNvSpPr>
          <p:nvPr/>
        </p:nvSpPr>
        <p:spPr>
          <a:xfrm>
            <a:off x="705513" y="725269"/>
            <a:ext cx="720000" cy="720000"/>
          </a:xfrm>
          <a:prstGeom prst="ellipse">
            <a:avLst/>
          </a:prstGeom>
          <a:solidFill>
            <a:srgbClr val="1B2A5E"/>
          </a:solidFill>
          <a:ln/>
        </p:spPr>
        <p:txBody>
          <a:bodyPr anchor="ctr"/>
          <a:lstStyle/>
          <a:p>
            <a:pPr algn="ctr"/>
            <a:r>
              <a:rPr lang="es-419" sz="3600">
                <a:solidFill>
                  <a:schemeClr val="bg1"/>
                </a:solidFill>
                <a:latin typeface="Roboto Bk" pitchFamily="2" charset="0"/>
                <a:ea typeface="Roboto Bk" pitchFamily="2" charset="0"/>
              </a:rPr>
              <a:t>6</a:t>
            </a:r>
            <a:endParaRPr lang="es-419" sz="3600" noProof="0">
              <a:solidFill>
                <a:schemeClr val="bg1"/>
              </a:solidFill>
              <a:latin typeface="Roboto Bk" pitchFamily="2" charset="0"/>
              <a:ea typeface="Roboto Bk" pitchFamily="2" charset="0"/>
            </a:endParaRPr>
          </a:p>
        </p:txBody>
      </p:sp>
      <p:sp>
        <p:nvSpPr>
          <p:cNvPr id="20" name="Text 2">
            <a:extLst>
              <a:ext uri="{FF2B5EF4-FFF2-40B4-BE49-F238E27FC236}">
                <a16:creationId xmlns:a16="http://schemas.microsoft.com/office/drawing/2014/main" id="{4A24E918-A94F-DC3A-75C8-963CD6CADDBC}"/>
              </a:ext>
            </a:extLst>
          </p:cNvPr>
          <p:cNvSpPr/>
          <p:nvPr/>
        </p:nvSpPr>
        <p:spPr>
          <a:xfrm>
            <a:off x="1586696" y="658549"/>
            <a:ext cx="4968108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3733" b="1" noProof="0">
                <a:solidFill>
                  <a:srgbClr val="1B2A5E"/>
                </a:solidFill>
                <a:latin typeface="Roboto Bk" pitchFamily="2" charset="0"/>
                <a:ea typeface="Roboto Bk" pitchFamily="2" charset="0"/>
                <a:cs typeface="Cambria" pitchFamily="34" charset="-120"/>
              </a:rPr>
              <a:t>Pruebas | </a:t>
            </a:r>
            <a:r>
              <a:rPr lang="es-419" sz="3733" b="1" noProof="0">
                <a:solidFill>
                  <a:srgbClr val="0E9594"/>
                </a:solidFill>
                <a:latin typeface="Roboto Bk" pitchFamily="2" charset="0"/>
                <a:ea typeface="Roboto Bk" pitchFamily="2" charset="0"/>
                <a:cs typeface="Cambria" pitchFamily="34" charset="-120"/>
              </a:rPr>
              <a:t>Funcionales</a:t>
            </a:r>
            <a:endParaRPr lang="es-419" sz="3733" noProof="0">
              <a:solidFill>
                <a:srgbClr val="0E9594"/>
              </a:solidFill>
              <a:latin typeface="Roboto Bk" pitchFamily="2" charset="0"/>
              <a:ea typeface="Roboto Bk" pitchFamily="2" charset="0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42D3B9E3-45B6-9E4F-4E38-9E396BFE81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34857"/>
            <a:ext cx="1584859" cy="424846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A059DE8B-D8F3-4383-45C7-6A419044BDE3}"/>
              </a:ext>
            </a:extLst>
          </p:cNvPr>
          <p:cNvSpPr/>
          <p:nvPr/>
        </p:nvSpPr>
        <p:spPr>
          <a:xfrm>
            <a:off x="8143876" y="167447"/>
            <a:ext cx="3095850" cy="5816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 algn="r">
              <a:defRPr/>
            </a:pPr>
            <a:r>
              <a:rPr lang="es-419" sz="1400" b="1" noProof="0">
                <a:solidFill>
                  <a:schemeClr val="bg1">
                    <a:lumMod val="85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Flujo construcción de soluciones TI </a:t>
            </a:r>
            <a:endParaRPr lang="es-419" sz="1400" noProof="0">
              <a:solidFill>
                <a:schemeClr val="bg1">
                  <a:lumMod val="85000"/>
                </a:schemeClr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61222ED2-C6C4-5B64-1F8D-6A1944A5B583}"/>
              </a:ext>
            </a:extLst>
          </p:cNvPr>
          <p:cNvSpPr/>
          <p:nvPr/>
        </p:nvSpPr>
        <p:spPr>
          <a:xfrm>
            <a:off x="10083739" y="2104391"/>
            <a:ext cx="1872000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 lIns="91440" tIns="45720" rIns="91440" bIns="45720" anchor="t"/>
          <a:lstStyle/>
          <a:p>
            <a:pPr algn="ctr"/>
            <a:r>
              <a:rPr lang="es-419" sz="1200" b="1">
                <a:solidFill>
                  <a:srgbClr val="1B2A5E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Líder Técnico</a:t>
            </a:r>
          </a:p>
        </p:txBody>
      </p:sp>
      <p:sp>
        <p:nvSpPr>
          <p:cNvPr id="22" name="Shape 34">
            <a:extLst>
              <a:ext uri="{FF2B5EF4-FFF2-40B4-BE49-F238E27FC236}">
                <a16:creationId xmlns:a16="http://schemas.microsoft.com/office/drawing/2014/main" id="{2889C7F2-35D0-A6AA-D734-B43AB6BCAFAA}"/>
              </a:ext>
            </a:extLst>
          </p:cNvPr>
          <p:cNvSpPr/>
          <p:nvPr/>
        </p:nvSpPr>
        <p:spPr>
          <a:xfrm>
            <a:off x="872187" y="6080469"/>
            <a:ext cx="288000" cy="288000"/>
          </a:xfrm>
          <a:prstGeom prst="ellipse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 lIns="91440" tIns="45720" rIns="91440" bIns="45720" anchor="ctr"/>
          <a:lstStyle/>
          <a:p>
            <a:pPr algn="ctr"/>
            <a:r>
              <a:rPr lang="es-419" sz="1200" b="1">
                <a:solidFill>
                  <a:schemeClr val="bg1"/>
                </a:solidFill>
                <a:latin typeface="Roboto"/>
                <a:ea typeface="Roboto"/>
                <a:cs typeface="Roboto"/>
              </a:rPr>
              <a:t>6</a:t>
            </a:r>
            <a:endParaRPr lang="es-419" sz="1200" b="1" noProof="0">
              <a:solidFill>
                <a:schemeClr val="bg1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23" name="Text 39">
            <a:extLst>
              <a:ext uri="{FF2B5EF4-FFF2-40B4-BE49-F238E27FC236}">
                <a16:creationId xmlns:a16="http://schemas.microsoft.com/office/drawing/2014/main" id="{FBD6B9A6-6730-8563-BD99-7806078DD12E}"/>
              </a:ext>
            </a:extLst>
          </p:cNvPr>
          <p:cNvSpPr/>
          <p:nvPr/>
        </p:nvSpPr>
        <p:spPr>
          <a:xfrm>
            <a:off x="1360735" y="6027172"/>
            <a:ext cx="411840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+mn-lt"/>
              </a:rPr>
              <a:t>Ceremonia UAT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4EDA6360-CCB2-1DC0-35C5-39E0DC9ED227}"/>
              </a:ext>
            </a:extLst>
          </p:cNvPr>
          <p:cNvSpPr txBox="1"/>
          <p:nvPr/>
        </p:nvSpPr>
        <p:spPr>
          <a:xfrm>
            <a:off x="2508828" y="360126"/>
            <a:ext cx="8340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100">
                <a:solidFill>
                  <a:srgbClr val="7030A0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Tested By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FA91233E-D8B6-2535-5D3B-78EF17D513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8086" y="131280"/>
            <a:ext cx="1457086" cy="4320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EB18B873-CD76-D999-565B-0AF13EF059E1}"/>
              </a:ext>
            </a:extLst>
          </p:cNvPr>
          <p:cNvCxnSpPr>
            <a:cxnSpLocks/>
          </p:cNvCxnSpPr>
          <p:nvPr/>
        </p:nvCxnSpPr>
        <p:spPr>
          <a:xfrm>
            <a:off x="2316379" y="342049"/>
            <a:ext cx="1241707" cy="10463"/>
          </a:xfrm>
          <a:prstGeom prst="line">
            <a:avLst/>
          </a:prstGeom>
          <a:ln w="28575">
            <a:solidFill>
              <a:srgbClr val="0E9594"/>
            </a:solidFill>
            <a:prstDash val="sysDash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Shape 6">
            <a:extLst>
              <a:ext uri="{FF2B5EF4-FFF2-40B4-BE49-F238E27FC236}">
                <a16:creationId xmlns:a16="http://schemas.microsoft.com/office/drawing/2014/main" id="{8ED53FBA-F2E9-4DA7-4BAF-3DDC7E74CBDE}"/>
              </a:ext>
            </a:extLst>
          </p:cNvPr>
          <p:cNvSpPr/>
          <p:nvPr/>
        </p:nvSpPr>
        <p:spPr>
          <a:xfrm>
            <a:off x="6879414" y="5063930"/>
            <a:ext cx="4815840" cy="1329732"/>
          </a:xfrm>
          <a:prstGeom prst="roundRect">
            <a:avLst>
              <a:gd name="adj" fmla="val 3902"/>
            </a:avLst>
          </a:prstGeom>
          <a:solidFill>
            <a:srgbClr val="EEF4FC"/>
          </a:solidFill>
          <a:ln/>
        </p:spPr>
        <p:txBody>
          <a:bodyPr lIns="91440" tIns="45720" rIns="91440" bIns="45720" anchor="ctr"/>
          <a:lstStyle/>
          <a:p>
            <a:r>
              <a:rPr lang="es-419" sz="1600">
                <a:solidFill>
                  <a:srgbClr val="FF0000"/>
                </a:solidFill>
                <a:highlight>
                  <a:srgbClr val="FFFF00"/>
                </a:highlight>
              </a:rPr>
              <a:t>Líder  de  célula  participa:</a:t>
            </a:r>
          </a:p>
          <a:p>
            <a:r>
              <a:rPr lang="es-419" sz="1600" b="1">
                <a:solidFill>
                  <a:srgbClr val="FF0000"/>
                </a:solidFill>
                <a:highlight>
                  <a:srgbClr val="FFFF00"/>
                </a:highlight>
              </a:rPr>
              <a:t>Construcción de  pruebas  </a:t>
            </a:r>
          </a:p>
          <a:p>
            <a:r>
              <a:rPr lang="es-419" sz="1600" b="1">
                <a:solidFill>
                  <a:srgbClr val="FF0000"/>
                </a:solidFill>
                <a:highlight>
                  <a:srgbClr val="FFFF00"/>
                </a:highlight>
              </a:rPr>
              <a:t>Aprueba de las pruebas de usuario final ( UAT)</a:t>
            </a:r>
          </a:p>
          <a:p>
            <a:r>
              <a:rPr lang="es-419" sz="1600" b="1">
                <a:solidFill>
                  <a:srgbClr val="FF0000"/>
                </a:solidFill>
                <a:highlight>
                  <a:srgbClr val="FFFF00"/>
                </a:highlight>
              </a:rPr>
              <a:t> </a:t>
            </a:r>
          </a:p>
          <a:p>
            <a:r>
              <a:rPr lang="es-419" sz="1600">
                <a:solidFill>
                  <a:srgbClr val="FF0000"/>
                </a:solidFill>
                <a:highlight>
                  <a:srgbClr val="FFFF00"/>
                </a:highlight>
              </a:rPr>
              <a:t>Ejemplo: App  desarrolla y es  mi  insumo - Componentes  transversales - </a:t>
            </a:r>
            <a:r>
              <a:rPr lang="es-419" sz="1600" err="1">
                <a:solidFill>
                  <a:srgbClr val="FF0000"/>
                </a:solidFill>
                <a:highlight>
                  <a:srgbClr val="FFFF00"/>
                </a:highlight>
              </a:rPr>
              <a:t>DORIntegral</a:t>
            </a:r>
            <a:endParaRPr lang="es-419" sz="160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25" name="Shape 16">
            <a:extLst>
              <a:ext uri="{FF2B5EF4-FFF2-40B4-BE49-F238E27FC236}">
                <a16:creationId xmlns:a16="http://schemas.microsoft.com/office/drawing/2014/main" id="{12374A89-7837-8F0D-0CC9-0783FD5B2439}"/>
              </a:ext>
            </a:extLst>
          </p:cNvPr>
          <p:cNvSpPr/>
          <p:nvPr/>
        </p:nvSpPr>
        <p:spPr>
          <a:xfrm>
            <a:off x="6163571" y="1602574"/>
            <a:ext cx="1872000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/>
          <a:lstStyle/>
          <a:p>
            <a:pPr algn="ctr"/>
            <a:r>
              <a:rPr lang="es-419" sz="1200" b="1" noProof="0" err="1">
                <a:solidFill>
                  <a:srgbClr val="1B2A5E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Lide</a:t>
            </a:r>
            <a:r>
              <a:rPr lang="es-419" sz="1200" b="1">
                <a:solidFill>
                  <a:srgbClr val="1B2A5E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r de Célula</a:t>
            </a:r>
            <a:endParaRPr lang="es-419" sz="1200" b="1" noProof="0">
              <a:solidFill>
                <a:srgbClr val="1B2A5E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38551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F8E2B-24CF-5677-E131-9776A6196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>
            <a:extLst>
              <a:ext uri="{FF2B5EF4-FFF2-40B4-BE49-F238E27FC236}">
                <a16:creationId xmlns:a16="http://schemas.microsoft.com/office/drawing/2014/main" id="{7202DCB1-877B-C9CC-19AC-A03B93B49C89}"/>
              </a:ext>
            </a:extLst>
          </p:cNvPr>
          <p:cNvSpPr/>
          <p:nvPr/>
        </p:nvSpPr>
        <p:spPr>
          <a:xfrm>
            <a:off x="705513" y="156057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600" b="1" kern="0" spc="267" noProof="0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EN QUÉ CONSISTE</a:t>
            </a:r>
            <a:endParaRPr lang="es-419" sz="1600" noProof="0">
              <a:latin typeface="Roboto" pitchFamily="2" charset="0"/>
              <a:ea typeface="Roboto" pitchFamily="2" charset="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3BD8B25-B13F-4278-13AE-61AE48E6E2E5}"/>
              </a:ext>
            </a:extLst>
          </p:cNvPr>
          <p:cNvSpPr/>
          <p:nvPr/>
        </p:nvSpPr>
        <p:spPr>
          <a:xfrm>
            <a:off x="705513" y="2032202"/>
            <a:ext cx="5266944" cy="943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/>
            <a:r>
              <a:rPr lang="es-419" sz="1400">
                <a:solidFill>
                  <a:schemeClr val="tx2">
                    <a:lumMod val="50000"/>
                  </a:schemeClr>
                </a:solidFill>
                <a:latin typeface="Roboto"/>
                <a:ea typeface="Roboto"/>
                <a:cs typeface="Calibri"/>
              </a:rPr>
              <a:t>Consisten en evaluar cómo se comporta un sistema (Aplicación, sitio web, </a:t>
            </a:r>
            <a:r>
              <a:rPr lang="es-419" sz="1400" err="1">
                <a:solidFill>
                  <a:schemeClr val="tx2">
                    <a:lumMod val="50000"/>
                  </a:schemeClr>
                </a:solidFill>
                <a:latin typeface="Roboto"/>
                <a:ea typeface="Roboto"/>
                <a:cs typeface="Calibri"/>
              </a:rPr>
              <a:t>etc</a:t>
            </a:r>
            <a:r>
              <a:rPr lang="es-419" sz="1400">
                <a:solidFill>
                  <a:schemeClr val="tx2">
                    <a:lumMod val="50000"/>
                  </a:schemeClr>
                </a:solidFill>
                <a:latin typeface="Roboto"/>
                <a:ea typeface="Roboto"/>
                <a:cs typeface="Calibri"/>
              </a:rPr>
              <a:t>), cuando es sometido a diferentes niveles de carga y condiciones de uso. Sirven para medir su comportamiento y asegurar que sea rápido, estable y escalable.</a:t>
            </a:r>
            <a:endParaRPr lang="es-419" sz="1400" noProof="0">
              <a:solidFill>
                <a:schemeClr val="tx2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43FC9320-8E64-23B2-756E-7CBE72C020D7}"/>
              </a:ext>
            </a:extLst>
          </p:cNvPr>
          <p:cNvSpPr/>
          <p:nvPr/>
        </p:nvSpPr>
        <p:spPr>
          <a:xfrm>
            <a:off x="6862811" y="3446062"/>
            <a:ext cx="4815840" cy="1167050"/>
          </a:xfrm>
          <a:prstGeom prst="roundRect">
            <a:avLst>
              <a:gd name="adj" fmla="val 3902"/>
            </a:avLst>
          </a:prstGeom>
          <a:solidFill>
            <a:srgbClr val="EEF4FC"/>
          </a:solidFill>
          <a:ln/>
        </p:spPr>
        <p:txBody>
          <a:bodyPr lIns="91440" tIns="45720" rIns="91440" bIns="45720" anchor="ctr"/>
          <a:lstStyle/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419" sz="1400">
                <a:solidFill>
                  <a:schemeClr val="tx2">
                    <a:lumMod val="50000"/>
                  </a:schemeClr>
                </a:solidFill>
                <a:latin typeface="Roboto"/>
                <a:ea typeface="Roboto"/>
                <a:cs typeface="Calibri"/>
              </a:rPr>
              <a:t>DoR de Performance</a:t>
            </a: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419" sz="1400">
                <a:solidFill>
                  <a:schemeClr val="tx2">
                    <a:lumMod val="50000"/>
                  </a:schemeClr>
                </a:solidFill>
                <a:latin typeface="Roboto"/>
                <a:ea typeface="Roboto"/>
                <a:cs typeface="Calibri"/>
              </a:rPr>
              <a:t>Script con escenarios de prueba.</a:t>
            </a:r>
            <a:endParaRPr lang="es-419" sz="1400" noProof="0">
              <a:solidFill>
                <a:schemeClr val="tx2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419" sz="1400">
                <a:solidFill>
                  <a:schemeClr val="tx2">
                    <a:lumMod val="50000"/>
                  </a:schemeClr>
                </a:solidFill>
                <a:latin typeface="Roboto"/>
                <a:ea typeface="Roboto"/>
                <a:cs typeface="Calibri"/>
              </a:rPr>
              <a:t>Evidencias de ejecución (logs)</a:t>
            </a:r>
            <a:endParaRPr lang="es-419" sz="1400">
              <a:solidFill>
                <a:schemeClr val="tx2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419" sz="1400">
                <a:solidFill>
                  <a:schemeClr val="tx2">
                    <a:lumMod val="50000"/>
                  </a:schemeClr>
                </a:solidFill>
                <a:latin typeface="Roboto"/>
                <a:ea typeface="Roboto"/>
                <a:cs typeface="Calibri"/>
              </a:rPr>
              <a:t>Informe con resultado de las pruebas</a:t>
            </a:r>
            <a:endParaRPr lang="es-419" sz="1400" noProof="0">
              <a:solidFill>
                <a:schemeClr val="tx2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D211C2C7-70A4-9ADE-FB8F-05F3BDDE04D7}"/>
              </a:ext>
            </a:extLst>
          </p:cNvPr>
          <p:cNvSpPr/>
          <p:nvPr/>
        </p:nvSpPr>
        <p:spPr>
          <a:xfrm>
            <a:off x="6069993" y="121765"/>
            <a:ext cx="4267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s-419" sz="1400" i="1" noProof="0">
              <a:solidFill>
                <a:srgbClr val="5B6B82"/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7B05FAC5-3636-7EEC-6129-3C4B1819566E}"/>
              </a:ext>
            </a:extLst>
          </p:cNvPr>
          <p:cNvSpPr/>
          <p:nvPr/>
        </p:nvSpPr>
        <p:spPr>
          <a:xfrm>
            <a:off x="705513" y="3177540"/>
            <a:ext cx="536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600" b="1" kern="0" spc="267" noProof="0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ACTIVIDADES CLAVE</a:t>
            </a:r>
            <a:endParaRPr lang="es-419" sz="1600" noProof="0">
              <a:latin typeface="Roboto" pitchFamily="2" charset="0"/>
              <a:ea typeface="Roboto" pitchFamily="2" charset="0"/>
            </a:endParaRPr>
          </a:p>
        </p:txBody>
      </p:sp>
      <p:sp>
        <p:nvSpPr>
          <p:cNvPr id="27" name="Shape 22">
            <a:extLst>
              <a:ext uri="{FF2B5EF4-FFF2-40B4-BE49-F238E27FC236}">
                <a16:creationId xmlns:a16="http://schemas.microsoft.com/office/drawing/2014/main" id="{F9E422F0-6CB9-1184-09F8-87FA22B6B679}"/>
              </a:ext>
            </a:extLst>
          </p:cNvPr>
          <p:cNvSpPr/>
          <p:nvPr/>
        </p:nvSpPr>
        <p:spPr>
          <a:xfrm>
            <a:off x="879445" y="3686574"/>
            <a:ext cx="288000" cy="288000"/>
          </a:xfrm>
          <a:prstGeom prst="ellipse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1</a:t>
            </a:r>
          </a:p>
        </p:txBody>
      </p:sp>
      <p:sp>
        <p:nvSpPr>
          <p:cNvPr id="30" name="Shape 25">
            <a:extLst>
              <a:ext uri="{FF2B5EF4-FFF2-40B4-BE49-F238E27FC236}">
                <a16:creationId xmlns:a16="http://schemas.microsoft.com/office/drawing/2014/main" id="{947A6707-51F4-443D-0505-D35FE7381ADB}"/>
              </a:ext>
            </a:extLst>
          </p:cNvPr>
          <p:cNvSpPr/>
          <p:nvPr/>
        </p:nvSpPr>
        <p:spPr>
          <a:xfrm>
            <a:off x="879445" y="4160520"/>
            <a:ext cx="288000" cy="288000"/>
          </a:xfrm>
          <a:prstGeom prst="ellipse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2</a:t>
            </a:r>
          </a:p>
        </p:txBody>
      </p:sp>
      <p:sp>
        <p:nvSpPr>
          <p:cNvPr id="33" name="Shape 28">
            <a:extLst>
              <a:ext uri="{FF2B5EF4-FFF2-40B4-BE49-F238E27FC236}">
                <a16:creationId xmlns:a16="http://schemas.microsoft.com/office/drawing/2014/main" id="{E09A3A1C-E95D-68B5-E7CB-E87788EF7659}"/>
              </a:ext>
            </a:extLst>
          </p:cNvPr>
          <p:cNvSpPr/>
          <p:nvPr/>
        </p:nvSpPr>
        <p:spPr>
          <a:xfrm>
            <a:off x="879445" y="4636008"/>
            <a:ext cx="288000" cy="288000"/>
          </a:xfrm>
          <a:prstGeom prst="ellipse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3</a:t>
            </a:r>
          </a:p>
        </p:txBody>
      </p:sp>
      <p:sp>
        <p:nvSpPr>
          <p:cNvPr id="36" name="Shape 31">
            <a:extLst>
              <a:ext uri="{FF2B5EF4-FFF2-40B4-BE49-F238E27FC236}">
                <a16:creationId xmlns:a16="http://schemas.microsoft.com/office/drawing/2014/main" id="{C7E301A1-A2EC-FA26-0B08-20273EB5EB81}"/>
              </a:ext>
            </a:extLst>
          </p:cNvPr>
          <p:cNvSpPr/>
          <p:nvPr/>
        </p:nvSpPr>
        <p:spPr>
          <a:xfrm>
            <a:off x="879445" y="5111496"/>
            <a:ext cx="288000" cy="288000"/>
          </a:xfrm>
          <a:prstGeom prst="ellipse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4</a:t>
            </a:r>
          </a:p>
        </p:txBody>
      </p:sp>
      <p:sp>
        <p:nvSpPr>
          <p:cNvPr id="39" name="Shape 34">
            <a:extLst>
              <a:ext uri="{FF2B5EF4-FFF2-40B4-BE49-F238E27FC236}">
                <a16:creationId xmlns:a16="http://schemas.microsoft.com/office/drawing/2014/main" id="{4BABB32A-E297-9F5C-7B7B-B4F1E932B02E}"/>
              </a:ext>
            </a:extLst>
          </p:cNvPr>
          <p:cNvSpPr/>
          <p:nvPr/>
        </p:nvSpPr>
        <p:spPr>
          <a:xfrm>
            <a:off x="879445" y="5586984"/>
            <a:ext cx="288000" cy="288000"/>
          </a:xfrm>
          <a:prstGeom prst="ellipse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5</a:t>
            </a:r>
          </a:p>
        </p:txBody>
      </p:sp>
      <p:sp>
        <p:nvSpPr>
          <p:cNvPr id="47" name="Text 49">
            <a:extLst>
              <a:ext uri="{FF2B5EF4-FFF2-40B4-BE49-F238E27FC236}">
                <a16:creationId xmlns:a16="http://schemas.microsoft.com/office/drawing/2014/main" id="{53EA023D-D42D-4FD4-9F5F-A127B59E049C}"/>
              </a:ext>
            </a:extLst>
          </p:cNvPr>
          <p:cNvSpPr/>
          <p:nvPr/>
        </p:nvSpPr>
        <p:spPr>
          <a:xfrm>
            <a:off x="9366306" y="3553813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s-419" sz="750" noProof="0"/>
          </a:p>
        </p:txBody>
      </p:sp>
      <p:sp>
        <p:nvSpPr>
          <p:cNvPr id="48" name="Text 7">
            <a:extLst>
              <a:ext uri="{FF2B5EF4-FFF2-40B4-BE49-F238E27FC236}">
                <a16:creationId xmlns:a16="http://schemas.microsoft.com/office/drawing/2014/main" id="{B8452403-142B-F894-2CCA-8EEF7A3FA976}"/>
              </a:ext>
            </a:extLst>
          </p:cNvPr>
          <p:cNvSpPr/>
          <p:nvPr/>
        </p:nvSpPr>
        <p:spPr>
          <a:xfrm>
            <a:off x="6879415" y="3015127"/>
            <a:ext cx="47992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600" b="1" kern="0" spc="267" noProof="0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Entregable: Pruebas de Performance</a:t>
            </a:r>
            <a:endParaRPr lang="es-419" sz="1600" noProof="0">
              <a:latin typeface="Roboto" pitchFamily="2" charset="0"/>
              <a:ea typeface="Roboto" pitchFamily="2" charset="0"/>
            </a:endParaRPr>
          </a:p>
        </p:txBody>
      </p:sp>
      <p:sp>
        <p:nvSpPr>
          <p:cNvPr id="56" name="Text 11">
            <a:extLst>
              <a:ext uri="{FF2B5EF4-FFF2-40B4-BE49-F238E27FC236}">
                <a16:creationId xmlns:a16="http://schemas.microsoft.com/office/drawing/2014/main" id="{D382F0A4-BE66-DCA0-989C-7930A1629DCA}"/>
              </a:ext>
            </a:extLst>
          </p:cNvPr>
          <p:cNvSpPr/>
          <p:nvPr/>
        </p:nvSpPr>
        <p:spPr>
          <a:xfrm>
            <a:off x="6846207" y="953551"/>
            <a:ext cx="44338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600" b="1" kern="0" spc="267" noProof="0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ACTORES QUE INTERVIENEN</a:t>
            </a:r>
            <a:endParaRPr lang="es-419" sz="1600" noProof="0">
              <a:latin typeface="Roboto" pitchFamily="2" charset="0"/>
              <a:ea typeface="Roboto" pitchFamily="2" charset="0"/>
            </a:endParaRPr>
          </a:p>
        </p:txBody>
      </p:sp>
      <p:pic>
        <p:nvPicPr>
          <p:cNvPr id="61" name="Picture 2">
            <a:extLst>
              <a:ext uri="{FF2B5EF4-FFF2-40B4-BE49-F238E27FC236}">
                <a16:creationId xmlns:a16="http://schemas.microsoft.com/office/drawing/2014/main" id="{243AD574-05EA-C96D-C66B-C1490776A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5157" y="196371"/>
            <a:ext cx="868630" cy="580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 24">
            <a:extLst>
              <a:ext uri="{FF2B5EF4-FFF2-40B4-BE49-F238E27FC236}">
                <a16:creationId xmlns:a16="http://schemas.microsoft.com/office/drawing/2014/main" id="{BC8BD143-A412-8CA4-3EA1-EAD423C60464}"/>
              </a:ext>
            </a:extLst>
          </p:cNvPr>
          <p:cNvSpPr/>
          <p:nvPr/>
        </p:nvSpPr>
        <p:spPr>
          <a:xfrm>
            <a:off x="1367993" y="3610034"/>
            <a:ext cx="4500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>
                <a:solidFill>
                  <a:schemeClr val="tx2">
                    <a:lumMod val="50000"/>
                  </a:schemeClr>
                </a:solidFill>
                <a:latin typeface="Roboto"/>
                <a:ea typeface="Roboto"/>
                <a:cs typeface="Calibri"/>
              </a:rPr>
              <a:t>Analizar  DOR</a:t>
            </a:r>
            <a:endParaRPr lang="es-419" sz="1200" noProof="0">
              <a:solidFill>
                <a:schemeClr val="tx2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</p:txBody>
      </p:sp>
      <p:sp>
        <p:nvSpPr>
          <p:cNvPr id="9" name="Text 27">
            <a:extLst>
              <a:ext uri="{FF2B5EF4-FFF2-40B4-BE49-F238E27FC236}">
                <a16:creationId xmlns:a16="http://schemas.microsoft.com/office/drawing/2014/main" id="{86219800-DE40-CCF3-3021-0958F6F262B7}"/>
              </a:ext>
            </a:extLst>
          </p:cNvPr>
          <p:cNvSpPr/>
          <p:nvPr/>
        </p:nvSpPr>
        <p:spPr>
          <a:xfrm>
            <a:off x="1367993" y="4090947"/>
            <a:ext cx="4500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>
                <a:solidFill>
                  <a:schemeClr val="tx2">
                    <a:lumMod val="50000"/>
                  </a:schemeClr>
                </a:solidFill>
                <a:latin typeface="Roboto"/>
                <a:ea typeface="Roboto"/>
                <a:cs typeface="Calibri"/>
              </a:rPr>
              <a:t>Realizar diseño de script y configurar escenarios de prueba en </a:t>
            </a:r>
            <a:r>
              <a:rPr lang="es-419" sz="1200" err="1">
                <a:solidFill>
                  <a:schemeClr val="tx2">
                    <a:lumMod val="50000"/>
                  </a:schemeClr>
                </a:solidFill>
                <a:latin typeface="Roboto"/>
                <a:ea typeface="Roboto"/>
                <a:cs typeface="Calibri"/>
              </a:rPr>
              <a:t>Celerabit</a:t>
            </a:r>
            <a:r>
              <a:rPr lang="es-419" sz="1200">
                <a:solidFill>
                  <a:schemeClr val="tx2">
                    <a:lumMod val="50000"/>
                  </a:schemeClr>
                </a:solidFill>
                <a:latin typeface="Roboto"/>
                <a:ea typeface="Roboto"/>
                <a:cs typeface="Calibri"/>
              </a:rPr>
              <a:t>.</a:t>
            </a:r>
            <a:endParaRPr lang="es-419" sz="1200" noProof="0">
              <a:solidFill>
                <a:schemeClr val="tx2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</p:txBody>
      </p:sp>
      <p:sp>
        <p:nvSpPr>
          <p:cNvPr id="10" name="Text 30">
            <a:extLst>
              <a:ext uri="{FF2B5EF4-FFF2-40B4-BE49-F238E27FC236}">
                <a16:creationId xmlns:a16="http://schemas.microsoft.com/office/drawing/2014/main" id="{890ADC5B-DCB9-DB34-C8E2-686CD853145D}"/>
              </a:ext>
            </a:extLst>
          </p:cNvPr>
          <p:cNvSpPr/>
          <p:nvPr/>
        </p:nvSpPr>
        <p:spPr>
          <a:xfrm>
            <a:off x="1367993" y="4571860"/>
            <a:ext cx="4500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>
                <a:solidFill>
                  <a:schemeClr val="tx2">
                    <a:lumMod val="50000"/>
                  </a:schemeClr>
                </a:solidFill>
                <a:latin typeface="Roboto"/>
                <a:ea typeface="Roboto"/>
                <a:cs typeface="Calibri"/>
              </a:rPr>
              <a:t>Solicitar monitoreo de recursos – CPU, Memoria, réplicas de pods.</a:t>
            </a:r>
            <a:endParaRPr lang="es-419" sz="1200" noProof="0">
              <a:solidFill>
                <a:schemeClr val="tx2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</p:txBody>
      </p:sp>
      <p:sp>
        <p:nvSpPr>
          <p:cNvPr id="11" name="Text 36">
            <a:extLst>
              <a:ext uri="{FF2B5EF4-FFF2-40B4-BE49-F238E27FC236}">
                <a16:creationId xmlns:a16="http://schemas.microsoft.com/office/drawing/2014/main" id="{6C3CFA7D-BABA-EA33-0934-002AF6AFBD2E}"/>
              </a:ext>
            </a:extLst>
          </p:cNvPr>
          <p:cNvSpPr/>
          <p:nvPr/>
        </p:nvSpPr>
        <p:spPr>
          <a:xfrm>
            <a:off x="1367993" y="5052773"/>
            <a:ext cx="4500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>
                <a:solidFill>
                  <a:schemeClr val="tx2">
                    <a:lumMod val="50000"/>
                  </a:schemeClr>
                </a:solidFill>
                <a:latin typeface="Roboto"/>
                <a:ea typeface="Roboto"/>
                <a:cs typeface="Calibri"/>
              </a:rPr>
              <a:t>Realizar ejecución de escenarios y dar seguimiento de errores encontrados en la prueba.</a:t>
            </a:r>
            <a:endParaRPr lang="es-419" sz="1200" noProof="0">
              <a:solidFill>
                <a:schemeClr val="tx2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</p:txBody>
      </p:sp>
      <p:sp>
        <p:nvSpPr>
          <p:cNvPr id="13" name="Text 39">
            <a:extLst>
              <a:ext uri="{FF2B5EF4-FFF2-40B4-BE49-F238E27FC236}">
                <a16:creationId xmlns:a16="http://schemas.microsoft.com/office/drawing/2014/main" id="{7589C62D-0454-A028-FAC1-9D034795879D}"/>
              </a:ext>
            </a:extLst>
          </p:cNvPr>
          <p:cNvSpPr/>
          <p:nvPr/>
        </p:nvSpPr>
        <p:spPr>
          <a:xfrm>
            <a:off x="1367993" y="5533687"/>
            <a:ext cx="4500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>
                <a:solidFill>
                  <a:schemeClr val="tx2">
                    <a:lumMod val="50000"/>
                  </a:schemeClr>
                </a:solidFill>
                <a:latin typeface="Roboto"/>
                <a:ea typeface="Roboto"/>
                <a:cs typeface="Calibri"/>
              </a:rPr>
              <a:t>Entrega de resultados - UAT</a:t>
            </a:r>
            <a:endParaRPr lang="es-419" sz="1200" noProof="0">
              <a:solidFill>
                <a:schemeClr val="tx2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55E0C490-DFE5-973A-FDEE-909F8C251FDA}"/>
              </a:ext>
            </a:extLst>
          </p:cNvPr>
          <p:cNvSpPr>
            <a:spLocks noChangeAspect="1"/>
          </p:cNvSpPr>
          <p:nvPr/>
        </p:nvSpPr>
        <p:spPr>
          <a:xfrm>
            <a:off x="705513" y="725269"/>
            <a:ext cx="720000" cy="720000"/>
          </a:xfrm>
          <a:prstGeom prst="ellipse">
            <a:avLst/>
          </a:prstGeom>
          <a:solidFill>
            <a:srgbClr val="1B2A5E"/>
          </a:solidFill>
          <a:ln/>
        </p:spPr>
        <p:txBody>
          <a:bodyPr anchor="ctr"/>
          <a:lstStyle/>
          <a:p>
            <a:pPr algn="ctr"/>
            <a:r>
              <a:rPr lang="es-419" sz="3600" noProof="0">
                <a:solidFill>
                  <a:schemeClr val="bg1"/>
                </a:solidFill>
                <a:latin typeface="Roboto Bk" pitchFamily="2" charset="0"/>
                <a:ea typeface="Roboto Bk" pitchFamily="2" charset="0"/>
              </a:rPr>
              <a:t>6</a:t>
            </a:r>
          </a:p>
        </p:txBody>
      </p:sp>
      <p:sp>
        <p:nvSpPr>
          <p:cNvPr id="20" name="Text 2">
            <a:extLst>
              <a:ext uri="{FF2B5EF4-FFF2-40B4-BE49-F238E27FC236}">
                <a16:creationId xmlns:a16="http://schemas.microsoft.com/office/drawing/2014/main" id="{5443B3F4-E682-4270-6D57-613AB28803E1}"/>
              </a:ext>
            </a:extLst>
          </p:cNvPr>
          <p:cNvSpPr/>
          <p:nvPr/>
        </p:nvSpPr>
        <p:spPr>
          <a:xfrm>
            <a:off x="1586696" y="658549"/>
            <a:ext cx="4968108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3733" b="1" noProof="0">
                <a:solidFill>
                  <a:srgbClr val="1B2A5E"/>
                </a:solidFill>
                <a:latin typeface="Roboto Bk" pitchFamily="2" charset="0"/>
                <a:ea typeface="Roboto Bk" pitchFamily="2" charset="0"/>
                <a:cs typeface="Cambria" pitchFamily="34" charset="-120"/>
              </a:rPr>
              <a:t>Pruebas | </a:t>
            </a:r>
            <a:r>
              <a:rPr lang="es-419" sz="3733" b="1" noProof="0">
                <a:solidFill>
                  <a:srgbClr val="0E9594"/>
                </a:solidFill>
                <a:latin typeface="Roboto Bk" pitchFamily="2" charset="0"/>
                <a:ea typeface="Roboto Bk" pitchFamily="2" charset="0"/>
                <a:cs typeface="Cambria" pitchFamily="34" charset="-120"/>
              </a:rPr>
              <a:t>Performance</a:t>
            </a:r>
            <a:endParaRPr lang="es-419" sz="3733" noProof="0">
              <a:solidFill>
                <a:srgbClr val="0E9594"/>
              </a:solidFill>
              <a:latin typeface="Roboto Bk" pitchFamily="2" charset="0"/>
              <a:ea typeface="Roboto Bk" pitchFamily="2" charset="0"/>
            </a:endParaRPr>
          </a:p>
        </p:txBody>
      </p:sp>
      <p:sp>
        <p:nvSpPr>
          <p:cNvPr id="2" name="Shape 16">
            <a:extLst>
              <a:ext uri="{FF2B5EF4-FFF2-40B4-BE49-F238E27FC236}">
                <a16:creationId xmlns:a16="http://schemas.microsoft.com/office/drawing/2014/main" id="{92508DF4-76A1-9081-EF52-94BD83075C98}"/>
              </a:ext>
            </a:extLst>
          </p:cNvPr>
          <p:cNvSpPr/>
          <p:nvPr/>
        </p:nvSpPr>
        <p:spPr>
          <a:xfrm>
            <a:off x="6853891" y="1390854"/>
            <a:ext cx="1908000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rgbClr val="1B2A5E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Ingeniero de Calidad</a:t>
            </a:r>
          </a:p>
        </p:txBody>
      </p:sp>
      <p:sp>
        <p:nvSpPr>
          <p:cNvPr id="15" name="Shape 16">
            <a:extLst>
              <a:ext uri="{FF2B5EF4-FFF2-40B4-BE49-F238E27FC236}">
                <a16:creationId xmlns:a16="http://schemas.microsoft.com/office/drawing/2014/main" id="{C40E3200-CD20-5CFD-4ED2-5757875D4E66}"/>
              </a:ext>
            </a:extLst>
          </p:cNvPr>
          <p:cNvSpPr/>
          <p:nvPr/>
        </p:nvSpPr>
        <p:spPr>
          <a:xfrm>
            <a:off x="6853891" y="1895177"/>
            <a:ext cx="1908000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 lIns="91440" tIns="45720" rIns="91440" bIns="45720" anchor="ctr"/>
          <a:lstStyle/>
          <a:p>
            <a:pPr algn="ctr"/>
            <a:r>
              <a:rPr lang="es-419" sz="1200" b="1">
                <a:solidFill>
                  <a:srgbClr val="1B2A5E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Desarrollador</a:t>
            </a:r>
            <a:endParaRPr lang="es-419" sz="1200" b="1" noProof="0">
              <a:solidFill>
                <a:srgbClr val="1B2A5E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0A791DDD-3522-E495-2F53-FC128649C829}"/>
              </a:ext>
            </a:extLst>
          </p:cNvPr>
          <p:cNvSpPr/>
          <p:nvPr/>
        </p:nvSpPr>
        <p:spPr>
          <a:xfrm>
            <a:off x="8843337" y="1386007"/>
            <a:ext cx="1908000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 lIns="91440" tIns="45720" rIns="91440" bIns="45720" anchor="ctr"/>
          <a:lstStyle/>
          <a:p>
            <a:pPr algn="ctr"/>
            <a:r>
              <a:rPr lang="es-419" sz="1200" b="1">
                <a:solidFill>
                  <a:srgbClr val="1B2A5E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Especialista Técnico</a:t>
            </a:r>
            <a:endParaRPr lang="es-419" sz="1200" b="1" noProof="0">
              <a:solidFill>
                <a:srgbClr val="1B2A5E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21" name="Text 0">
            <a:extLst>
              <a:ext uri="{FF2B5EF4-FFF2-40B4-BE49-F238E27FC236}">
                <a16:creationId xmlns:a16="http://schemas.microsoft.com/office/drawing/2014/main" id="{B2DEF805-879F-1964-11C5-D1F6B7FA1994}"/>
              </a:ext>
            </a:extLst>
          </p:cNvPr>
          <p:cNvSpPr/>
          <p:nvPr/>
        </p:nvSpPr>
        <p:spPr>
          <a:xfrm>
            <a:off x="8143876" y="167447"/>
            <a:ext cx="3095850" cy="5816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 algn="r">
              <a:defRPr/>
            </a:pPr>
            <a:r>
              <a:rPr lang="es-419" sz="1400" b="1" noProof="0">
                <a:solidFill>
                  <a:schemeClr val="bg1">
                    <a:lumMod val="85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Flujo construcción de soluciones TI </a:t>
            </a:r>
            <a:endParaRPr lang="es-419" sz="1400" noProof="0">
              <a:solidFill>
                <a:schemeClr val="bg1">
                  <a:lumMod val="85000"/>
                </a:schemeClr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22" name="Shape 16">
            <a:extLst>
              <a:ext uri="{FF2B5EF4-FFF2-40B4-BE49-F238E27FC236}">
                <a16:creationId xmlns:a16="http://schemas.microsoft.com/office/drawing/2014/main" id="{F981F540-36C3-6C19-6831-C50BD85FE1D7}"/>
              </a:ext>
            </a:extLst>
          </p:cNvPr>
          <p:cNvSpPr/>
          <p:nvPr/>
        </p:nvSpPr>
        <p:spPr>
          <a:xfrm>
            <a:off x="8843336" y="1879492"/>
            <a:ext cx="1908000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 lIns="91440" tIns="45720" rIns="91440" bIns="45720" anchor="ctr"/>
          <a:lstStyle/>
          <a:p>
            <a:pPr algn="ctr"/>
            <a:r>
              <a:rPr lang="es-419" sz="1200" b="1">
                <a:solidFill>
                  <a:srgbClr val="1B2A5E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Líder Técnico</a:t>
            </a: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D0B100CE-3608-7E1F-8615-CB88308B03FD}"/>
              </a:ext>
            </a:extLst>
          </p:cNvPr>
          <p:cNvSpPr/>
          <p:nvPr/>
        </p:nvSpPr>
        <p:spPr>
          <a:xfrm>
            <a:off x="6853891" y="2399499"/>
            <a:ext cx="1908000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 lIns="91440" tIns="45720" rIns="91440" bIns="45720" anchor="ctr"/>
          <a:lstStyle/>
          <a:p>
            <a:pPr algn="ctr"/>
            <a:r>
              <a:rPr lang="es-419" sz="1200" b="1">
                <a:solidFill>
                  <a:srgbClr val="1B2A5E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SMT-Nube</a:t>
            </a:r>
            <a:endParaRPr lang="es-419" sz="1200" b="1" noProof="0">
              <a:solidFill>
                <a:srgbClr val="1B2A5E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2C722BE-D4D6-710A-28DA-B6BCEA7AF8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34857"/>
            <a:ext cx="1584859" cy="424846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B0EAED71-6B81-D000-B88D-7441EB2DD40C}"/>
              </a:ext>
            </a:extLst>
          </p:cNvPr>
          <p:cNvSpPr txBox="1"/>
          <p:nvPr/>
        </p:nvSpPr>
        <p:spPr>
          <a:xfrm>
            <a:off x="2508828" y="360126"/>
            <a:ext cx="8340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100">
                <a:solidFill>
                  <a:srgbClr val="7030A0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Tested By</a:t>
            </a:r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8F519ADC-4A68-F73A-F302-635A1E4F71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8086" y="131280"/>
            <a:ext cx="1457086" cy="4320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584CBFA1-01F1-EC44-2101-7AA67B697617}"/>
              </a:ext>
            </a:extLst>
          </p:cNvPr>
          <p:cNvCxnSpPr>
            <a:cxnSpLocks/>
          </p:cNvCxnSpPr>
          <p:nvPr/>
        </p:nvCxnSpPr>
        <p:spPr>
          <a:xfrm>
            <a:off x="2316379" y="342049"/>
            <a:ext cx="1241707" cy="10463"/>
          </a:xfrm>
          <a:prstGeom prst="line">
            <a:avLst/>
          </a:prstGeom>
          <a:ln w="28575">
            <a:solidFill>
              <a:srgbClr val="0E9594"/>
            </a:solidFill>
            <a:prstDash val="sysDash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Shape 6">
            <a:extLst>
              <a:ext uri="{FF2B5EF4-FFF2-40B4-BE49-F238E27FC236}">
                <a16:creationId xmlns:a16="http://schemas.microsoft.com/office/drawing/2014/main" id="{72084272-7A00-45A9-0A16-C6BAE277EC10}"/>
              </a:ext>
            </a:extLst>
          </p:cNvPr>
          <p:cNvSpPr/>
          <p:nvPr/>
        </p:nvSpPr>
        <p:spPr>
          <a:xfrm>
            <a:off x="6879414" y="4678287"/>
            <a:ext cx="4815840" cy="1715375"/>
          </a:xfrm>
          <a:prstGeom prst="roundRect">
            <a:avLst>
              <a:gd name="adj" fmla="val 3902"/>
            </a:avLst>
          </a:prstGeom>
          <a:solidFill>
            <a:srgbClr val="EEF4FC"/>
          </a:solidFill>
          <a:ln/>
        </p:spPr>
        <p:txBody>
          <a:bodyPr lIns="91440" tIns="45720" rIns="91440" bIns="45720" anchor="ctr"/>
          <a:lstStyle/>
          <a:p>
            <a:r>
              <a:rPr lang="es-419" sz="1400">
                <a:solidFill>
                  <a:srgbClr val="222A35"/>
                </a:solidFill>
                <a:latin typeface="Roboto"/>
                <a:ea typeface="Roboto"/>
                <a:cs typeface="Roboto"/>
              </a:rPr>
              <a:t>Líderes participan en la entrega de resultados final para aprobación según los criterios de aceptación.</a:t>
            </a:r>
          </a:p>
          <a:p>
            <a:endParaRPr lang="es-419" sz="1400">
              <a:solidFill>
                <a:srgbClr val="222A35"/>
              </a:solidFill>
              <a:latin typeface="Roboto"/>
              <a:ea typeface="Roboto"/>
              <a:cs typeface="Roboto"/>
            </a:endParaRPr>
          </a:p>
          <a:p>
            <a:r>
              <a:rPr lang="es-419" sz="1400">
                <a:solidFill>
                  <a:srgbClr val="222A35"/>
                </a:solidFill>
                <a:latin typeface="Roboto"/>
                <a:ea typeface="Roboto"/>
                <a:cs typeface="Roboto"/>
              </a:rPr>
              <a:t>¿Qué pasa cuando en las pruebas no se llega a los resultados esperados?</a:t>
            </a:r>
          </a:p>
          <a:p>
            <a:pPr marL="285750" indent="-285750">
              <a:buFont typeface="Calibri"/>
              <a:buChar char="-"/>
            </a:pPr>
            <a:r>
              <a:rPr lang="es-419" sz="1400">
                <a:solidFill>
                  <a:srgbClr val="222A35"/>
                </a:solidFill>
                <a:latin typeface="Roboto"/>
                <a:ea typeface="Roboto"/>
                <a:cs typeface="Roboto"/>
              </a:rPr>
              <a:t>Aprobación bajo riesgos.</a:t>
            </a:r>
          </a:p>
        </p:txBody>
      </p:sp>
      <p:sp>
        <p:nvSpPr>
          <p:cNvPr id="3" name="Shape 16">
            <a:extLst>
              <a:ext uri="{FF2B5EF4-FFF2-40B4-BE49-F238E27FC236}">
                <a16:creationId xmlns:a16="http://schemas.microsoft.com/office/drawing/2014/main" id="{2556A4EF-A6F2-BC28-7116-D838051D8ADD}"/>
              </a:ext>
            </a:extLst>
          </p:cNvPr>
          <p:cNvSpPr/>
          <p:nvPr/>
        </p:nvSpPr>
        <p:spPr>
          <a:xfrm>
            <a:off x="8838854" y="2399499"/>
            <a:ext cx="1908000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 lIns="91440" tIns="45720" rIns="91440" bIns="45720" anchor="ctr"/>
          <a:lstStyle/>
          <a:p>
            <a:pPr algn="ctr"/>
            <a:r>
              <a:rPr lang="es-419" sz="1200" b="1">
                <a:solidFill>
                  <a:srgbClr val="1B2A5E"/>
                </a:solidFill>
                <a:latin typeface="Roboto Condensed"/>
                <a:ea typeface="Roboto Condensed"/>
                <a:cs typeface="Roboto Condensed"/>
              </a:rPr>
              <a:t>PO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700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7E7B9-427B-799C-8055-206CCF244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>
            <a:extLst>
              <a:ext uri="{FF2B5EF4-FFF2-40B4-BE49-F238E27FC236}">
                <a16:creationId xmlns:a16="http://schemas.microsoft.com/office/drawing/2014/main" id="{8ED5F27B-0545-E3CD-D5BF-9446CD507E3A}"/>
              </a:ext>
            </a:extLst>
          </p:cNvPr>
          <p:cNvSpPr/>
          <p:nvPr/>
        </p:nvSpPr>
        <p:spPr>
          <a:xfrm>
            <a:off x="731520" y="156057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600" b="1" kern="0" spc="267" noProof="0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EN QUÉ CONSISTE</a:t>
            </a:r>
            <a:endParaRPr lang="es-419" sz="1600" noProof="0">
              <a:latin typeface="Roboto" pitchFamily="2" charset="0"/>
              <a:ea typeface="Roboto" pitchFamily="2" charset="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4086563-E955-2686-7ACF-91661525DF3F}"/>
              </a:ext>
            </a:extLst>
          </p:cNvPr>
          <p:cNvSpPr/>
          <p:nvPr/>
        </p:nvSpPr>
        <p:spPr>
          <a:xfrm>
            <a:off x="731520" y="1930602"/>
            <a:ext cx="5266944" cy="943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/>
            <a:r>
              <a:rPr lang="es-CO" sz="1400">
                <a:solidFill>
                  <a:schemeClr val="accent1">
                    <a:lumMod val="50000"/>
                  </a:schemeClr>
                </a:solidFill>
                <a:latin typeface="Roboto"/>
                <a:ea typeface="Roboto"/>
                <a:cs typeface="Roboto"/>
              </a:rPr>
              <a:t>identificar, analizar y validar posibles vectores de ataque sobre los aplicativos en etapas tempranas del desarrollo. Su objetivo es evidenciar vulnerabilidades de manera anticipada, priorizar su remediación y disminuir la exposición al riesgo en ambientes productivos, facilitando despliegues más ágiles, seguros y controlados</a:t>
            </a:r>
            <a:endParaRPr lang="en-US"/>
          </a:p>
          <a:p>
            <a:pPr algn="just"/>
            <a:endParaRPr lang="es-CO" sz="1400">
              <a:solidFill>
                <a:schemeClr val="accent1">
                  <a:lumMod val="50000"/>
                </a:schemeClr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561DA77F-E587-72D5-4DB2-DE6C24C18D8C}"/>
              </a:ext>
            </a:extLst>
          </p:cNvPr>
          <p:cNvSpPr/>
          <p:nvPr/>
        </p:nvSpPr>
        <p:spPr>
          <a:xfrm>
            <a:off x="6862811" y="2832579"/>
            <a:ext cx="4815840" cy="2594683"/>
          </a:xfrm>
          <a:prstGeom prst="roundRect">
            <a:avLst>
              <a:gd name="adj" fmla="val 3902"/>
            </a:avLst>
          </a:prstGeom>
          <a:solidFill>
            <a:srgbClr val="EEF4FC"/>
          </a:solidFill>
          <a:ln/>
        </p:spPr>
        <p:txBody>
          <a:bodyPr anchor="ctr"/>
          <a:lstStyle/>
          <a:p>
            <a:pPr marL="171450" indent="-171450" algn="just">
              <a:buFont typeface="Wingdings" panose="05000000000000000000" pitchFamily="2" charset="2"/>
              <a:buChar char="§"/>
            </a:pPr>
            <a:endParaRPr lang="es-419" sz="1500" noProof="0">
              <a:latin typeface="Roboto" pitchFamily="2" charset="0"/>
              <a:ea typeface="Roboto" pitchFamily="2" charset="0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D1C307A9-6E81-BED5-3CC6-FC85E53C5FAC}"/>
              </a:ext>
            </a:extLst>
          </p:cNvPr>
          <p:cNvSpPr/>
          <p:nvPr/>
        </p:nvSpPr>
        <p:spPr>
          <a:xfrm>
            <a:off x="6069993" y="121765"/>
            <a:ext cx="4267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s-419" sz="1400" i="1" noProof="0">
              <a:solidFill>
                <a:srgbClr val="5B6B82"/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46430011-C5E7-1EFB-823E-2A8320B9E713}"/>
              </a:ext>
            </a:extLst>
          </p:cNvPr>
          <p:cNvSpPr/>
          <p:nvPr/>
        </p:nvSpPr>
        <p:spPr>
          <a:xfrm>
            <a:off x="705513" y="3177540"/>
            <a:ext cx="536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600" b="1" kern="0" spc="267" noProof="0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ACTIVIDADES CLAVE</a:t>
            </a:r>
            <a:endParaRPr lang="es-419" sz="1600" noProof="0">
              <a:latin typeface="Roboto" pitchFamily="2" charset="0"/>
              <a:ea typeface="Roboto" pitchFamily="2" charset="0"/>
            </a:endParaRPr>
          </a:p>
        </p:txBody>
      </p:sp>
      <p:sp>
        <p:nvSpPr>
          <p:cNvPr id="30" name="Shape 25">
            <a:extLst>
              <a:ext uri="{FF2B5EF4-FFF2-40B4-BE49-F238E27FC236}">
                <a16:creationId xmlns:a16="http://schemas.microsoft.com/office/drawing/2014/main" id="{4A5FA337-D2DB-115E-29E4-4BDC79F6C05B}"/>
              </a:ext>
            </a:extLst>
          </p:cNvPr>
          <p:cNvSpPr/>
          <p:nvPr/>
        </p:nvSpPr>
        <p:spPr>
          <a:xfrm>
            <a:off x="945896" y="3795483"/>
            <a:ext cx="288000" cy="288000"/>
          </a:xfrm>
          <a:prstGeom prst="ellipse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1</a:t>
            </a:r>
            <a:endParaRPr lang="es-419" sz="1200" b="1" noProof="0">
              <a:solidFill>
                <a:schemeClr val="bg1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33" name="Shape 28">
            <a:extLst>
              <a:ext uri="{FF2B5EF4-FFF2-40B4-BE49-F238E27FC236}">
                <a16:creationId xmlns:a16="http://schemas.microsoft.com/office/drawing/2014/main" id="{B0BAF647-0024-DEC1-C9A5-79CF174522B3}"/>
              </a:ext>
            </a:extLst>
          </p:cNvPr>
          <p:cNvSpPr/>
          <p:nvPr/>
        </p:nvSpPr>
        <p:spPr>
          <a:xfrm>
            <a:off x="945896" y="4476731"/>
            <a:ext cx="288000" cy="288000"/>
          </a:xfrm>
          <a:prstGeom prst="ellipse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2</a:t>
            </a:r>
            <a:endParaRPr lang="es-419" sz="1200" b="1" noProof="0">
              <a:solidFill>
                <a:schemeClr val="bg1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48" name="Text 7">
            <a:extLst>
              <a:ext uri="{FF2B5EF4-FFF2-40B4-BE49-F238E27FC236}">
                <a16:creationId xmlns:a16="http://schemas.microsoft.com/office/drawing/2014/main" id="{79275CDC-8620-A6C2-13D8-3EA979051E58}"/>
              </a:ext>
            </a:extLst>
          </p:cNvPr>
          <p:cNvSpPr/>
          <p:nvPr/>
        </p:nvSpPr>
        <p:spPr>
          <a:xfrm>
            <a:off x="6827957" y="2401006"/>
            <a:ext cx="426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600" b="1" kern="0" spc="267" noProof="0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Entregable: Pruebas Seguridad </a:t>
            </a:r>
            <a:endParaRPr lang="es-419" sz="1600" noProof="0">
              <a:latin typeface="Roboto" pitchFamily="2" charset="0"/>
              <a:ea typeface="Roboto" pitchFamily="2" charset="0"/>
            </a:endParaRPr>
          </a:p>
        </p:txBody>
      </p:sp>
      <p:sp>
        <p:nvSpPr>
          <p:cNvPr id="56" name="Text 11">
            <a:extLst>
              <a:ext uri="{FF2B5EF4-FFF2-40B4-BE49-F238E27FC236}">
                <a16:creationId xmlns:a16="http://schemas.microsoft.com/office/drawing/2014/main" id="{99225C34-7CCF-E216-061C-351427E5811C}"/>
              </a:ext>
            </a:extLst>
          </p:cNvPr>
          <p:cNvSpPr/>
          <p:nvPr/>
        </p:nvSpPr>
        <p:spPr>
          <a:xfrm>
            <a:off x="6827957" y="953551"/>
            <a:ext cx="44338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600" b="1" kern="0" spc="267" noProof="0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ACTORES QUE INTERVIENEN</a:t>
            </a:r>
            <a:endParaRPr lang="es-419" sz="1600" noProof="0">
              <a:latin typeface="Roboto" pitchFamily="2" charset="0"/>
              <a:ea typeface="Roboto" pitchFamily="2" charset="0"/>
            </a:endParaRPr>
          </a:p>
        </p:txBody>
      </p:sp>
      <p:pic>
        <p:nvPicPr>
          <p:cNvPr id="61" name="Picture 2">
            <a:extLst>
              <a:ext uri="{FF2B5EF4-FFF2-40B4-BE49-F238E27FC236}">
                <a16:creationId xmlns:a16="http://schemas.microsoft.com/office/drawing/2014/main" id="{CB4F1A47-B29C-A173-DA7D-9DB0F62085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5157" y="196371"/>
            <a:ext cx="868630" cy="580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Shape 0">
            <a:extLst>
              <a:ext uri="{FF2B5EF4-FFF2-40B4-BE49-F238E27FC236}">
                <a16:creationId xmlns:a16="http://schemas.microsoft.com/office/drawing/2014/main" id="{6DFBC62C-9791-1132-1A92-8DFDB98EE68A}"/>
              </a:ext>
            </a:extLst>
          </p:cNvPr>
          <p:cNvSpPr>
            <a:spLocks noChangeAspect="1"/>
          </p:cNvSpPr>
          <p:nvPr/>
        </p:nvSpPr>
        <p:spPr>
          <a:xfrm>
            <a:off x="705513" y="725269"/>
            <a:ext cx="720000" cy="720000"/>
          </a:xfrm>
          <a:prstGeom prst="ellipse">
            <a:avLst/>
          </a:prstGeom>
          <a:solidFill>
            <a:srgbClr val="1B2A5E"/>
          </a:solidFill>
          <a:ln/>
        </p:spPr>
        <p:txBody>
          <a:bodyPr anchor="ctr"/>
          <a:lstStyle/>
          <a:p>
            <a:pPr algn="ctr"/>
            <a:r>
              <a:rPr lang="es-419" sz="3600">
                <a:solidFill>
                  <a:schemeClr val="bg1"/>
                </a:solidFill>
                <a:latin typeface="Roboto Bk" pitchFamily="2" charset="0"/>
                <a:ea typeface="Roboto Bk" pitchFamily="2" charset="0"/>
              </a:rPr>
              <a:t>6</a:t>
            </a:r>
            <a:endParaRPr lang="es-419" sz="3600" noProof="0">
              <a:solidFill>
                <a:schemeClr val="bg1"/>
              </a:solidFill>
              <a:latin typeface="Roboto Bk" pitchFamily="2" charset="0"/>
              <a:ea typeface="Roboto Bk" pitchFamily="2" charset="0"/>
            </a:endParaRPr>
          </a:p>
        </p:txBody>
      </p:sp>
      <p:sp>
        <p:nvSpPr>
          <p:cNvPr id="20" name="Text 2">
            <a:extLst>
              <a:ext uri="{FF2B5EF4-FFF2-40B4-BE49-F238E27FC236}">
                <a16:creationId xmlns:a16="http://schemas.microsoft.com/office/drawing/2014/main" id="{B3AA7DB3-82D3-014C-7A8C-8EA084A9E6B4}"/>
              </a:ext>
            </a:extLst>
          </p:cNvPr>
          <p:cNvSpPr/>
          <p:nvPr/>
        </p:nvSpPr>
        <p:spPr>
          <a:xfrm>
            <a:off x="1586696" y="658549"/>
            <a:ext cx="4968108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3733" b="1" noProof="0">
                <a:solidFill>
                  <a:srgbClr val="1B2A5E"/>
                </a:solidFill>
                <a:latin typeface="Roboto Bk" pitchFamily="2" charset="0"/>
                <a:ea typeface="Roboto Bk" pitchFamily="2" charset="0"/>
                <a:cs typeface="Cambria" pitchFamily="34" charset="-120"/>
              </a:rPr>
              <a:t>Pruebas | </a:t>
            </a:r>
            <a:r>
              <a:rPr lang="es-419" sz="3733" b="1" noProof="0">
                <a:solidFill>
                  <a:srgbClr val="0E9594"/>
                </a:solidFill>
                <a:latin typeface="Roboto Bk" pitchFamily="2" charset="0"/>
                <a:ea typeface="Roboto Bk" pitchFamily="2" charset="0"/>
                <a:cs typeface="Cambria" pitchFamily="34" charset="-120"/>
              </a:rPr>
              <a:t>Seguridad</a:t>
            </a:r>
            <a:endParaRPr lang="es-419" sz="3733" noProof="0">
              <a:solidFill>
                <a:srgbClr val="0E9594"/>
              </a:solidFill>
              <a:latin typeface="Roboto Bk" pitchFamily="2" charset="0"/>
              <a:ea typeface="Roboto Bk" pitchFamily="2" charset="0"/>
            </a:endParaRPr>
          </a:p>
        </p:txBody>
      </p:sp>
      <p:sp>
        <p:nvSpPr>
          <p:cNvPr id="21" name="Text 0">
            <a:extLst>
              <a:ext uri="{FF2B5EF4-FFF2-40B4-BE49-F238E27FC236}">
                <a16:creationId xmlns:a16="http://schemas.microsoft.com/office/drawing/2014/main" id="{108883F9-2EB7-7119-74B5-9496E16798CF}"/>
              </a:ext>
            </a:extLst>
          </p:cNvPr>
          <p:cNvSpPr/>
          <p:nvPr/>
        </p:nvSpPr>
        <p:spPr>
          <a:xfrm>
            <a:off x="8143876" y="167447"/>
            <a:ext cx="3095850" cy="5816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 algn="r">
              <a:defRPr/>
            </a:pPr>
            <a:r>
              <a:rPr lang="es-419" sz="1400" b="1" noProof="0">
                <a:solidFill>
                  <a:schemeClr val="bg1">
                    <a:lumMod val="85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Flujo construcción de soluciones TI </a:t>
            </a:r>
            <a:endParaRPr lang="es-419" sz="1400" noProof="0">
              <a:solidFill>
                <a:schemeClr val="bg1">
                  <a:lumMod val="85000"/>
                </a:schemeClr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22" name="Text 39">
            <a:extLst>
              <a:ext uri="{FF2B5EF4-FFF2-40B4-BE49-F238E27FC236}">
                <a16:creationId xmlns:a16="http://schemas.microsoft.com/office/drawing/2014/main" id="{BB531D16-3BB1-3ADF-C4C0-BEA27912E283}"/>
              </a:ext>
            </a:extLst>
          </p:cNvPr>
          <p:cNvSpPr/>
          <p:nvPr/>
        </p:nvSpPr>
        <p:spPr>
          <a:xfrm>
            <a:off x="1367995" y="3777312"/>
            <a:ext cx="411840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CO" sz="120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Realizar pruebas de </a:t>
            </a:r>
            <a:r>
              <a:rPr lang="es-CO" sz="1200" err="1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pentesting</a:t>
            </a:r>
            <a:r>
              <a:rPr lang="es-CO" sz="120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 al sistema, aplicación o proceso evaluado.</a:t>
            </a:r>
            <a:endParaRPr lang="en-US" sz="1200">
              <a:solidFill>
                <a:schemeClr val="tx2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</p:txBody>
      </p:sp>
      <p:sp>
        <p:nvSpPr>
          <p:cNvPr id="23" name="Text 39">
            <a:extLst>
              <a:ext uri="{FF2B5EF4-FFF2-40B4-BE49-F238E27FC236}">
                <a16:creationId xmlns:a16="http://schemas.microsoft.com/office/drawing/2014/main" id="{3EB0A097-65B8-FE26-DB11-5B573A6DAE2E}"/>
              </a:ext>
            </a:extLst>
          </p:cNvPr>
          <p:cNvSpPr/>
          <p:nvPr/>
        </p:nvSpPr>
        <p:spPr>
          <a:xfrm>
            <a:off x="1367995" y="4515805"/>
            <a:ext cx="411840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CO" sz="120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Validar que las recomendaciones de seguridad conserven su efectividad a lo largo del tiempo, evitando la degradación de los controles implementados.</a:t>
            </a:r>
            <a:endParaRPr lang="en-US" sz="1200">
              <a:solidFill>
                <a:schemeClr val="tx2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7D8166CF-F4E2-05CE-F5C3-1BFD40D61FA4}"/>
              </a:ext>
            </a:extLst>
          </p:cNvPr>
          <p:cNvSpPr txBox="1"/>
          <p:nvPr/>
        </p:nvSpPr>
        <p:spPr>
          <a:xfrm>
            <a:off x="6827957" y="2823419"/>
            <a:ext cx="4767125" cy="203132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/>
            <a:endParaRPr lang="es-ES" sz="1400">
              <a:solidFill>
                <a:schemeClr val="tx2">
                  <a:lumMod val="50000"/>
                </a:schemeClr>
              </a:solidFill>
              <a:latin typeface="Roboto" pitchFamily="2" charset="0"/>
              <a:ea typeface="Roboto" pitchFamily="2" charset="0"/>
              <a:cs typeface="Roboto"/>
            </a:endParaRPr>
          </a:p>
          <a:p>
            <a:pPr algn="just"/>
            <a:r>
              <a:rPr lang="es-ES" sz="1400" b="1">
                <a:solidFill>
                  <a:schemeClr val="tx2">
                    <a:lumMod val="50000"/>
                  </a:schemeClr>
                </a:solidFill>
                <a:latin typeface="Roboto"/>
                <a:ea typeface="Roboto"/>
                <a:cs typeface="Roboto"/>
              </a:rPr>
              <a:t>Definición de plan de pruebas</a:t>
            </a:r>
            <a:r>
              <a:rPr lang="es-ES" sz="1400">
                <a:solidFill>
                  <a:schemeClr val="tx2">
                    <a:lumMod val="50000"/>
                  </a:schemeClr>
                </a:solidFill>
                <a:latin typeface="Roboto"/>
                <a:ea typeface="Roboto"/>
                <a:cs typeface="Roboto"/>
              </a:rPr>
              <a:t> para la etapa de </a:t>
            </a:r>
            <a:r>
              <a:rPr lang="es-ES" sz="1400" err="1">
                <a:solidFill>
                  <a:schemeClr val="tx2">
                    <a:lumMod val="50000"/>
                  </a:schemeClr>
                </a:solidFill>
                <a:latin typeface="Roboto"/>
                <a:ea typeface="Roboto"/>
                <a:cs typeface="Roboto"/>
              </a:rPr>
              <a:t>Pentesting</a:t>
            </a:r>
            <a:r>
              <a:rPr lang="es-ES" sz="1400">
                <a:solidFill>
                  <a:schemeClr val="tx2">
                    <a:lumMod val="50000"/>
                  </a:schemeClr>
                </a:solidFill>
                <a:latin typeface="Roboto"/>
                <a:ea typeface="Roboto"/>
                <a:cs typeface="Roboto"/>
              </a:rPr>
              <a:t> en ambiente no productivo.</a:t>
            </a:r>
          </a:p>
          <a:p>
            <a:pPr algn="just"/>
            <a:r>
              <a:rPr lang="es-ES" sz="1400" b="1">
                <a:solidFill>
                  <a:schemeClr val="tx2">
                    <a:lumMod val="50000"/>
                  </a:schemeClr>
                </a:solidFill>
                <a:latin typeface="Roboto"/>
                <a:ea typeface="Roboto"/>
                <a:cs typeface="Roboto"/>
              </a:rPr>
              <a:t>Artefacto de </a:t>
            </a:r>
            <a:r>
              <a:rPr lang="es-ES" sz="1400" b="1" err="1">
                <a:solidFill>
                  <a:schemeClr val="tx2">
                    <a:lumMod val="50000"/>
                  </a:schemeClr>
                </a:solidFill>
                <a:latin typeface="Roboto"/>
                <a:ea typeface="Roboto"/>
                <a:cs typeface="Roboto"/>
              </a:rPr>
              <a:t>Pentesting</a:t>
            </a:r>
            <a:r>
              <a:rPr lang="es-ES" sz="1400">
                <a:solidFill>
                  <a:schemeClr val="tx2">
                    <a:lumMod val="50000"/>
                  </a:schemeClr>
                </a:solidFill>
                <a:latin typeface="Roboto"/>
                <a:ea typeface="Roboto"/>
                <a:cs typeface="Roboto"/>
              </a:rPr>
              <a:t> el cual contempla las pruebas realizadas con sus respectivas evidencias de los hallazgos identificados.</a:t>
            </a:r>
          </a:p>
          <a:p>
            <a:pPr algn="just"/>
            <a:r>
              <a:rPr lang="es-ES" sz="1400" b="1">
                <a:solidFill>
                  <a:schemeClr val="tx2">
                    <a:lumMod val="50000"/>
                  </a:schemeClr>
                </a:solidFill>
                <a:latin typeface="Roboto"/>
                <a:ea typeface="Roboto"/>
                <a:cs typeface="Roboto"/>
              </a:rPr>
              <a:t>Planes de acción en la plataforma GRC</a:t>
            </a:r>
            <a:r>
              <a:rPr lang="es-ES" sz="1400">
                <a:solidFill>
                  <a:schemeClr val="tx2">
                    <a:lumMod val="50000"/>
                  </a:schemeClr>
                </a:solidFill>
                <a:latin typeface="Roboto"/>
                <a:ea typeface="Roboto"/>
                <a:cs typeface="Roboto"/>
              </a:rPr>
              <a:t> con los hallazgos que no se puedan implementar al momento y requieran ser </a:t>
            </a:r>
            <a:r>
              <a:rPr lang="es-ES" sz="1400" err="1">
                <a:solidFill>
                  <a:schemeClr val="tx2">
                    <a:lumMod val="50000"/>
                  </a:schemeClr>
                </a:solidFill>
                <a:latin typeface="Roboto"/>
                <a:ea typeface="Roboto"/>
                <a:cs typeface="Roboto"/>
              </a:rPr>
              <a:t>asumidos</a:t>
            </a:r>
            <a:r>
              <a:rPr lang="es-ES" sz="1400">
                <a:solidFill>
                  <a:schemeClr val="tx2">
                    <a:lumMod val="50000"/>
                  </a:schemeClr>
                </a:solidFill>
                <a:latin typeface="Roboto"/>
                <a:ea typeface="Roboto"/>
                <a:cs typeface="Roboto"/>
              </a:rPr>
              <a:t>.</a:t>
            </a:r>
            <a:endParaRPr lang="es-419" sz="1400" noProof="0">
              <a:solidFill>
                <a:schemeClr val="tx2">
                  <a:lumMod val="50000"/>
                </a:schemeClr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C33E6C91-0F7D-E5F8-976E-814C3C559DBE}"/>
              </a:ext>
            </a:extLst>
          </p:cNvPr>
          <p:cNvSpPr/>
          <p:nvPr/>
        </p:nvSpPr>
        <p:spPr>
          <a:xfrm>
            <a:off x="6730520" y="1390854"/>
            <a:ext cx="2003552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 lIns="91440" tIns="45720" rIns="91440" bIns="45720" anchor="t"/>
          <a:lstStyle/>
          <a:p>
            <a:pPr algn="ctr"/>
            <a:r>
              <a:rPr lang="es-419" sz="1200" b="1">
                <a:solidFill>
                  <a:srgbClr val="1B2A5E"/>
                </a:solidFill>
                <a:latin typeface="Roboto Condensed"/>
                <a:ea typeface="Roboto Condensed"/>
                <a:cs typeface="Roboto Condensed"/>
              </a:rPr>
              <a:t>Estrategia de seguridad</a:t>
            </a:r>
            <a:endParaRPr lang="es-419" sz="1200" b="1" noProof="0">
              <a:solidFill>
                <a:srgbClr val="1B2A5E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26" name="Shape 16">
            <a:extLst>
              <a:ext uri="{FF2B5EF4-FFF2-40B4-BE49-F238E27FC236}">
                <a16:creationId xmlns:a16="http://schemas.microsoft.com/office/drawing/2014/main" id="{4EE5C242-376C-9451-0E9C-272F1395174E}"/>
              </a:ext>
            </a:extLst>
          </p:cNvPr>
          <p:cNvSpPr/>
          <p:nvPr/>
        </p:nvSpPr>
        <p:spPr>
          <a:xfrm>
            <a:off x="8843337" y="1874018"/>
            <a:ext cx="2270377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/>
          <a:lstStyle/>
          <a:p>
            <a:pPr algn="ctr"/>
            <a:r>
              <a:rPr lang="es-419" sz="1200" b="1" noProof="0">
                <a:solidFill>
                  <a:srgbClr val="1B2A5E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Desarrollador</a:t>
            </a:r>
          </a:p>
        </p:txBody>
      </p:sp>
      <p:sp>
        <p:nvSpPr>
          <p:cNvPr id="29" name="Shape 16">
            <a:extLst>
              <a:ext uri="{FF2B5EF4-FFF2-40B4-BE49-F238E27FC236}">
                <a16:creationId xmlns:a16="http://schemas.microsoft.com/office/drawing/2014/main" id="{4CAB9C05-07BC-70D2-1940-3227AE9A6896}"/>
              </a:ext>
            </a:extLst>
          </p:cNvPr>
          <p:cNvSpPr/>
          <p:nvPr/>
        </p:nvSpPr>
        <p:spPr>
          <a:xfrm>
            <a:off x="6717669" y="1876985"/>
            <a:ext cx="2032580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/>
          <a:lstStyle/>
          <a:p>
            <a:pPr algn="ctr"/>
            <a:r>
              <a:rPr lang="es-419" sz="1200" b="1" noProof="0">
                <a:solidFill>
                  <a:srgbClr val="1B2A5E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Especialista TI</a:t>
            </a:r>
          </a:p>
        </p:txBody>
      </p:sp>
      <p:sp>
        <p:nvSpPr>
          <p:cNvPr id="32" name="Shape 16">
            <a:extLst>
              <a:ext uri="{FF2B5EF4-FFF2-40B4-BE49-F238E27FC236}">
                <a16:creationId xmlns:a16="http://schemas.microsoft.com/office/drawing/2014/main" id="{17F4A5BD-4ED8-6CC8-03EF-C8C648342D6F}"/>
              </a:ext>
            </a:extLst>
          </p:cNvPr>
          <p:cNvSpPr/>
          <p:nvPr/>
        </p:nvSpPr>
        <p:spPr>
          <a:xfrm>
            <a:off x="8843337" y="1386007"/>
            <a:ext cx="2251820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/>
          <a:lstStyle/>
          <a:p>
            <a:pPr algn="ctr"/>
            <a:r>
              <a:rPr lang="es-419" sz="1200" b="1">
                <a:solidFill>
                  <a:srgbClr val="1B2A5E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Líder de Célula</a:t>
            </a:r>
          </a:p>
          <a:p>
            <a:pPr algn="ctr"/>
            <a:endParaRPr lang="es-419" sz="1200" b="1" noProof="0">
              <a:solidFill>
                <a:srgbClr val="1B2A5E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8E9C0BD5-F65C-838E-4D8D-D85279A079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34857"/>
            <a:ext cx="1584859" cy="424846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64C7AF08-FAAE-C30B-09AD-EF413EFF1AD0}"/>
              </a:ext>
            </a:extLst>
          </p:cNvPr>
          <p:cNvSpPr txBox="1"/>
          <p:nvPr/>
        </p:nvSpPr>
        <p:spPr>
          <a:xfrm>
            <a:off x="2508828" y="360126"/>
            <a:ext cx="8340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100">
                <a:solidFill>
                  <a:srgbClr val="7030A0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Tested By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BB882FD-C8F0-D52F-27D8-D7EDFBBED4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8086" y="131280"/>
            <a:ext cx="1457086" cy="4320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3689B3D-82C4-1B28-2393-61E9C72A91DC}"/>
              </a:ext>
            </a:extLst>
          </p:cNvPr>
          <p:cNvCxnSpPr>
            <a:cxnSpLocks/>
          </p:cNvCxnSpPr>
          <p:nvPr/>
        </p:nvCxnSpPr>
        <p:spPr>
          <a:xfrm>
            <a:off x="2316379" y="342049"/>
            <a:ext cx="1241707" cy="10463"/>
          </a:xfrm>
          <a:prstGeom prst="line">
            <a:avLst/>
          </a:prstGeom>
          <a:ln w="28575">
            <a:solidFill>
              <a:srgbClr val="0E9594"/>
            </a:solidFill>
            <a:prstDash val="sysDash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D19CDC0E-9E33-9960-8A72-B7F21A8940CF}"/>
              </a:ext>
            </a:extLst>
          </p:cNvPr>
          <p:cNvSpPr txBox="1"/>
          <p:nvPr/>
        </p:nvSpPr>
        <p:spPr>
          <a:xfrm>
            <a:off x="5583977" y="342049"/>
            <a:ext cx="200156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>
                <a:highlight>
                  <a:srgbClr val="FFFF00"/>
                </a:highlight>
              </a:rPr>
              <a:t>Juan Manuel Patiño -  Rodas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5412C93B-27FA-DDC8-C31B-C51202E37215}"/>
              </a:ext>
            </a:extLst>
          </p:cNvPr>
          <p:cNvSpPr txBox="1"/>
          <p:nvPr/>
        </p:nvSpPr>
        <p:spPr>
          <a:xfrm>
            <a:off x="6748682" y="5627450"/>
            <a:ext cx="4846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err="1">
                <a:highlight>
                  <a:srgbClr val="FFFF00"/>
                </a:highlight>
              </a:rPr>
              <a:t>Reproceso</a:t>
            </a:r>
            <a:r>
              <a:rPr lang="en-US" sz="1200" b="1">
                <a:highlight>
                  <a:srgbClr val="FFFF00"/>
                </a:highlight>
              </a:rPr>
              <a:t>:</a:t>
            </a:r>
          </a:p>
          <a:p>
            <a:r>
              <a:rPr lang="en-US" sz="1200" b="1" err="1">
                <a:highlight>
                  <a:srgbClr val="FFFF00"/>
                </a:highlight>
              </a:rPr>
              <a:t>Aprobacion</a:t>
            </a:r>
            <a:r>
              <a:rPr lang="en-US" sz="1200" b="1">
                <a:highlight>
                  <a:srgbClr val="FFFF00"/>
                </a:highlight>
              </a:rPr>
              <a:t>  para el  paso a </a:t>
            </a:r>
            <a:r>
              <a:rPr lang="en-US" sz="1200" b="1" err="1">
                <a:highlight>
                  <a:srgbClr val="FFFF00"/>
                </a:highlight>
              </a:rPr>
              <a:t>produccion</a:t>
            </a:r>
            <a:r>
              <a:rPr lang="en-US" sz="1200" b="1">
                <a:highlight>
                  <a:srgbClr val="FFFF00"/>
                </a:highlight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738748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C5D78-9882-10B0-DE97-27D615096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>
            <a:extLst>
              <a:ext uri="{FF2B5EF4-FFF2-40B4-BE49-F238E27FC236}">
                <a16:creationId xmlns:a16="http://schemas.microsoft.com/office/drawing/2014/main" id="{9A4F3196-DA3C-293C-FD0C-F11D8A460756}"/>
              </a:ext>
            </a:extLst>
          </p:cNvPr>
          <p:cNvSpPr/>
          <p:nvPr/>
        </p:nvSpPr>
        <p:spPr>
          <a:xfrm>
            <a:off x="705513" y="156057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600" b="1" kern="0" spc="267" noProof="0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EN QUÉ CONSISTE</a:t>
            </a:r>
            <a:endParaRPr lang="es-419" sz="1600" noProof="0">
              <a:latin typeface="Roboto" pitchFamily="2" charset="0"/>
              <a:ea typeface="Roboto" pitchFamily="2" charset="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D2747E7-05EC-6A0B-26FF-15AB917FA494}"/>
              </a:ext>
            </a:extLst>
          </p:cNvPr>
          <p:cNvSpPr/>
          <p:nvPr/>
        </p:nvSpPr>
        <p:spPr>
          <a:xfrm>
            <a:off x="705513" y="1981402"/>
            <a:ext cx="5660136" cy="943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/>
            <a:r>
              <a:rPr lang="es-CO" sz="1400" noProof="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Se realiza el comité de cambios en el cual se evalúan los despliegues a producción asociados a todos los cambios que impactan los ambientes productivos de la compañía, incluyendo la valoración de riesgos con el fin de mitigar posibles afectaciones a la operación.</a:t>
            </a:r>
            <a:endParaRPr lang="es-419" sz="1400" noProof="0">
              <a:solidFill>
                <a:schemeClr val="tx2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FF32B479-F70E-086B-6F10-E56418D17075}"/>
              </a:ext>
            </a:extLst>
          </p:cNvPr>
          <p:cNvSpPr/>
          <p:nvPr/>
        </p:nvSpPr>
        <p:spPr>
          <a:xfrm>
            <a:off x="6862811" y="3848100"/>
            <a:ext cx="4815840" cy="1228464"/>
          </a:xfrm>
          <a:prstGeom prst="roundRect">
            <a:avLst>
              <a:gd name="adj" fmla="val 3902"/>
            </a:avLst>
          </a:prstGeom>
          <a:solidFill>
            <a:srgbClr val="EEF4FC"/>
          </a:solidFill>
          <a:ln/>
        </p:spPr>
        <p:txBody>
          <a:bodyPr anchor="ctr"/>
          <a:lstStyle/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419" sz="1400" noProof="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Acta de aprobación comité de cambios. </a:t>
            </a: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419" sz="1400" noProof="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Tareas de despliegues a los diferentes equipos.</a:t>
            </a: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419" sz="140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Sesiones de entendimiento para despliegues y validaciones. </a:t>
            </a:r>
            <a:r>
              <a:rPr lang="es-419" sz="1400" noProof="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 </a:t>
            </a: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419" sz="1400" noProof="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Evidencias de pruebas.</a:t>
            </a:r>
            <a:endParaRPr lang="es-419" sz="1400" noProof="0">
              <a:solidFill>
                <a:schemeClr val="tx2">
                  <a:lumMod val="50000"/>
                </a:schemeClr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F1DC1F79-2100-ACDD-B36E-E6339D03A2C6}"/>
              </a:ext>
            </a:extLst>
          </p:cNvPr>
          <p:cNvSpPr/>
          <p:nvPr/>
        </p:nvSpPr>
        <p:spPr>
          <a:xfrm>
            <a:off x="6069993" y="121765"/>
            <a:ext cx="4267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s-419" sz="1400" i="1" noProof="0">
              <a:solidFill>
                <a:srgbClr val="5B6B82"/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247B5CA1-91A7-66B7-12B6-9A1ACEB149A6}"/>
              </a:ext>
            </a:extLst>
          </p:cNvPr>
          <p:cNvSpPr/>
          <p:nvPr/>
        </p:nvSpPr>
        <p:spPr>
          <a:xfrm>
            <a:off x="705513" y="2987040"/>
            <a:ext cx="536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600" b="1" kern="0" spc="267" noProof="0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ACTIVIDADES CLAVE</a:t>
            </a:r>
            <a:endParaRPr lang="es-419" sz="1600" noProof="0">
              <a:latin typeface="Roboto" pitchFamily="2" charset="0"/>
              <a:ea typeface="Roboto" pitchFamily="2" charset="0"/>
            </a:endParaRPr>
          </a:p>
        </p:txBody>
      </p:sp>
      <p:sp>
        <p:nvSpPr>
          <p:cNvPr id="27" name="Shape 22">
            <a:extLst>
              <a:ext uri="{FF2B5EF4-FFF2-40B4-BE49-F238E27FC236}">
                <a16:creationId xmlns:a16="http://schemas.microsoft.com/office/drawing/2014/main" id="{5F1FC037-FC3D-2D52-1ECC-FEFA76D990CD}"/>
              </a:ext>
            </a:extLst>
          </p:cNvPr>
          <p:cNvSpPr/>
          <p:nvPr/>
        </p:nvSpPr>
        <p:spPr>
          <a:xfrm>
            <a:off x="879445" y="3429458"/>
            <a:ext cx="288000" cy="288000"/>
          </a:xfrm>
          <a:prstGeom prst="ellipse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1</a:t>
            </a:r>
          </a:p>
        </p:txBody>
      </p:sp>
      <p:sp>
        <p:nvSpPr>
          <p:cNvPr id="30" name="Shape 25">
            <a:extLst>
              <a:ext uri="{FF2B5EF4-FFF2-40B4-BE49-F238E27FC236}">
                <a16:creationId xmlns:a16="http://schemas.microsoft.com/office/drawing/2014/main" id="{08FB5254-B676-5D04-D835-12C5E22FDD5F}"/>
              </a:ext>
            </a:extLst>
          </p:cNvPr>
          <p:cNvSpPr/>
          <p:nvPr/>
        </p:nvSpPr>
        <p:spPr>
          <a:xfrm>
            <a:off x="879445" y="3917646"/>
            <a:ext cx="288000" cy="288000"/>
          </a:xfrm>
          <a:prstGeom prst="ellipse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2</a:t>
            </a:r>
          </a:p>
        </p:txBody>
      </p:sp>
      <p:sp>
        <p:nvSpPr>
          <p:cNvPr id="33" name="Shape 28">
            <a:extLst>
              <a:ext uri="{FF2B5EF4-FFF2-40B4-BE49-F238E27FC236}">
                <a16:creationId xmlns:a16="http://schemas.microsoft.com/office/drawing/2014/main" id="{99A43A40-6370-D70F-05E3-119DC860367E}"/>
              </a:ext>
            </a:extLst>
          </p:cNvPr>
          <p:cNvSpPr/>
          <p:nvPr/>
        </p:nvSpPr>
        <p:spPr>
          <a:xfrm>
            <a:off x="879445" y="4431234"/>
            <a:ext cx="288000" cy="288000"/>
          </a:xfrm>
          <a:prstGeom prst="ellipse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3</a:t>
            </a:r>
          </a:p>
        </p:txBody>
      </p:sp>
      <p:sp>
        <p:nvSpPr>
          <p:cNvPr id="36" name="Shape 31">
            <a:extLst>
              <a:ext uri="{FF2B5EF4-FFF2-40B4-BE49-F238E27FC236}">
                <a16:creationId xmlns:a16="http://schemas.microsoft.com/office/drawing/2014/main" id="{636D53C6-F0C5-BAE2-9440-895E25F00F41}"/>
              </a:ext>
            </a:extLst>
          </p:cNvPr>
          <p:cNvSpPr/>
          <p:nvPr/>
        </p:nvSpPr>
        <p:spPr>
          <a:xfrm>
            <a:off x="879445" y="4934154"/>
            <a:ext cx="288000" cy="288000"/>
          </a:xfrm>
          <a:prstGeom prst="ellipse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4</a:t>
            </a:r>
          </a:p>
        </p:txBody>
      </p:sp>
      <p:sp>
        <p:nvSpPr>
          <p:cNvPr id="39" name="Shape 34">
            <a:extLst>
              <a:ext uri="{FF2B5EF4-FFF2-40B4-BE49-F238E27FC236}">
                <a16:creationId xmlns:a16="http://schemas.microsoft.com/office/drawing/2014/main" id="{A61188CB-543E-FBA7-420D-704B9966CE2F}"/>
              </a:ext>
            </a:extLst>
          </p:cNvPr>
          <p:cNvSpPr/>
          <p:nvPr/>
        </p:nvSpPr>
        <p:spPr>
          <a:xfrm>
            <a:off x="879445" y="5392535"/>
            <a:ext cx="288000" cy="288000"/>
          </a:xfrm>
          <a:prstGeom prst="ellipse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5</a:t>
            </a:r>
          </a:p>
        </p:txBody>
      </p:sp>
      <p:sp>
        <p:nvSpPr>
          <p:cNvPr id="47" name="Text 49">
            <a:extLst>
              <a:ext uri="{FF2B5EF4-FFF2-40B4-BE49-F238E27FC236}">
                <a16:creationId xmlns:a16="http://schemas.microsoft.com/office/drawing/2014/main" id="{B8D15171-4E95-2BE0-04DB-6452E90FA10E}"/>
              </a:ext>
            </a:extLst>
          </p:cNvPr>
          <p:cNvSpPr/>
          <p:nvPr/>
        </p:nvSpPr>
        <p:spPr>
          <a:xfrm>
            <a:off x="9366306" y="3553813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s-419" sz="750" noProof="0"/>
          </a:p>
        </p:txBody>
      </p:sp>
      <p:sp>
        <p:nvSpPr>
          <p:cNvPr id="48" name="Text 7">
            <a:extLst>
              <a:ext uri="{FF2B5EF4-FFF2-40B4-BE49-F238E27FC236}">
                <a16:creationId xmlns:a16="http://schemas.microsoft.com/office/drawing/2014/main" id="{895E90A1-B35A-951A-5351-C96B17546ADF}"/>
              </a:ext>
            </a:extLst>
          </p:cNvPr>
          <p:cNvSpPr/>
          <p:nvPr/>
        </p:nvSpPr>
        <p:spPr>
          <a:xfrm>
            <a:off x="6879415" y="3415177"/>
            <a:ext cx="426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600" b="1" kern="0" spc="267" noProof="0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Entregable: Cambio ejecutado</a:t>
            </a:r>
            <a:endParaRPr lang="es-419" sz="1600" noProof="0">
              <a:latin typeface="Roboto" pitchFamily="2" charset="0"/>
              <a:ea typeface="Roboto" pitchFamily="2" charset="0"/>
            </a:endParaRPr>
          </a:p>
        </p:txBody>
      </p:sp>
      <p:sp>
        <p:nvSpPr>
          <p:cNvPr id="56" name="Text 11">
            <a:extLst>
              <a:ext uri="{FF2B5EF4-FFF2-40B4-BE49-F238E27FC236}">
                <a16:creationId xmlns:a16="http://schemas.microsoft.com/office/drawing/2014/main" id="{6D7C87F8-71CF-A134-F517-989F12632FEB}"/>
              </a:ext>
            </a:extLst>
          </p:cNvPr>
          <p:cNvSpPr/>
          <p:nvPr/>
        </p:nvSpPr>
        <p:spPr>
          <a:xfrm>
            <a:off x="6846207" y="953551"/>
            <a:ext cx="44338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600" b="1" kern="0" spc="267" noProof="0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ACTORES QUE INTERVIENEN</a:t>
            </a:r>
            <a:endParaRPr lang="es-419" sz="1600" noProof="0">
              <a:latin typeface="Roboto" pitchFamily="2" charset="0"/>
              <a:ea typeface="Roboto" pitchFamily="2" charset="0"/>
            </a:endParaRPr>
          </a:p>
        </p:txBody>
      </p:sp>
      <p:sp>
        <p:nvSpPr>
          <p:cNvPr id="57" name="Shape 16">
            <a:extLst>
              <a:ext uri="{FF2B5EF4-FFF2-40B4-BE49-F238E27FC236}">
                <a16:creationId xmlns:a16="http://schemas.microsoft.com/office/drawing/2014/main" id="{56BFC51E-5926-DF20-6C4A-CC9BAB401CE3}"/>
              </a:ext>
            </a:extLst>
          </p:cNvPr>
          <p:cNvSpPr/>
          <p:nvPr/>
        </p:nvSpPr>
        <p:spPr>
          <a:xfrm>
            <a:off x="6853891" y="1390854"/>
            <a:ext cx="1944000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 anchor="ctr"/>
          <a:lstStyle/>
          <a:p>
            <a:pPr algn="ctr"/>
            <a:r>
              <a:rPr lang="es-419" sz="1200" b="1">
                <a:solidFill>
                  <a:srgbClr val="1B2A5E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Desarrolladores</a:t>
            </a:r>
          </a:p>
        </p:txBody>
      </p:sp>
      <p:sp>
        <p:nvSpPr>
          <p:cNvPr id="59" name="Shape 16">
            <a:extLst>
              <a:ext uri="{FF2B5EF4-FFF2-40B4-BE49-F238E27FC236}">
                <a16:creationId xmlns:a16="http://schemas.microsoft.com/office/drawing/2014/main" id="{849193A6-07BD-42C9-71A5-708D7CCBB449}"/>
              </a:ext>
            </a:extLst>
          </p:cNvPr>
          <p:cNvSpPr/>
          <p:nvPr/>
        </p:nvSpPr>
        <p:spPr>
          <a:xfrm>
            <a:off x="9508167" y="2887942"/>
            <a:ext cx="2290058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/>
          <a:lstStyle/>
          <a:p>
            <a:pPr algn="ctr"/>
            <a:r>
              <a:rPr lang="es-419" sz="1200" b="1" noProof="0">
                <a:solidFill>
                  <a:srgbClr val="1B2A5E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DevOps/Nube/Admin plataforma</a:t>
            </a:r>
          </a:p>
        </p:txBody>
      </p:sp>
      <p:sp>
        <p:nvSpPr>
          <p:cNvPr id="60" name="Shape 16">
            <a:extLst>
              <a:ext uri="{FF2B5EF4-FFF2-40B4-BE49-F238E27FC236}">
                <a16:creationId xmlns:a16="http://schemas.microsoft.com/office/drawing/2014/main" id="{206E2AB6-7EE1-C636-4EBC-846521DDBCF3}"/>
              </a:ext>
            </a:extLst>
          </p:cNvPr>
          <p:cNvSpPr/>
          <p:nvPr/>
        </p:nvSpPr>
        <p:spPr>
          <a:xfrm>
            <a:off x="6853891" y="1897350"/>
            <a:ext cx="1944000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/>
          <a:lstStyle/>
          <a:p>
            <a:pPr algn="ctr"/>
            <a:r>
              <a:rPr lang="es-419" sz="1200" b="1" noProof="0">
                <a:solidFill>
                  <a:srgbClr val="1B2A5E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Seguridad</a:t>
            </a:r>
          </a:p>
        </p:txBody>
      </p:sp>
      <p:pic>
        <p:nvPicPr>
          <p:cNvPr id="61" name="Picture 2">
            <a:extLst>
              <a:ext uri="{FF2B5EF4-FFF2-40B4-BE49-F238E27FC236}">
                <a16:creationId xmlns:a16="http://schemas.microsoft.com/office/drawing/2014/main" id="{D6F63210-6075-76C2-A1D9-2934AA46B9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5157" y="196371"/>
            <a:ext cx="868630" cy="580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 24">
            <a:extLst>
              <a:ext uri="{FF2B5EF4-FFF2-40B4-BE49-F238E27FC236}">
                <a16:creationId xmlns:a16="http://schemas.microsoft.com/office/drawing/2014/main" id="{87D66C91-F0E9-FE0E-426A-625A1086428E}"/>
              </a:ext>
            </a:extLst>
          </p:cNvPr>
          <p:cNvSpPr/>
          <p:nvPr/>
        </p:nvSpPr>
        <p:spPr>
          <a:xfrm>
            <a:off x="1367993" y="3381434"/>
            <a:ext cx="453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1200" noProof="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Registra el comité de cambios con toda la documentación requerida.</a:t>
            </a:r>
            <a:endParaRPr lang="es-419" sz="1200" noProof="0">
              <a:solidFill>
                <a:schemeClr val="tx2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</p:txBody>
      </p:sp>
      <p:sp>
        <p:nvSpPr>
          <p:cNvPr id="9" name="Text 27">
            <a:extLst>
              <a:ext uri="{FF2B5EF4-FFF2-40B4-BE49-F238E27FC236}">
                <a16:creationId xmlns:a16="http://schemas.microsoft.com/office/drawing/2014/main" id="{965BD3E3-57EE-A1A6-4ED5-19A11D110001}"/>
              </a:ext>
            </a:extLst>
          </p:cNvPr>
          <p:cNvSpPr/>
          <p:nvPr/>
        </p:nvSpPr>
        <p:spPr>
          <a:xfrm>
            <a:off x="1367993" y="3869622"/>
            <a:ext cx="453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Elaborar matriz de riesgos y plan de pruebas de despliegue.</a:t>
            </a:r>
            <a:endParaRPr lang="es-419" sz="1200" noProof="0">
              <a:solidFill>
                <a:schemeClr val="tx2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</p:txBody>
      </p:sp>
      <p:sp>
        <p:nvSpPr>
          <p:cNvPr id="10" name="Text 30">
            <a:extLst>
              <a:ext uri="{FF2B5EF4-FFF2-40B4-BE49-F238E27FC236}">
                <a16:creationId xmlns:a16="http://schemas.microsoft.com/office/drawing/2014/main" id="{7270FA92-FEC9-9ED7-B55E-D14D395B6A80}"/>
              </a:ext>
            </a:extLst>
          </p:cNvPr>
          <p:cNvSpPr/>
          <p:nvPr/>
        </p:nvSpPr>
        <p:spPr>
          <a:xfrm>
            <a:off x="1367994" y="4383210"/>
            <a:ext cx="453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Aprobación de ciberseguridad, seguridad del negocio e ingeniería de software para llevar el cambio a </a:t>
            </a:r>
            <a:r>
              <a:rPr lang="es-419" sz="1200" noProof="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sustentación en comité de cambios.</a:t>
            </a:r>
          </a:p>
        </p:txBody>
      </p:sp>
      <p:sp>
        <p:nvSpPr>
          <p:cNvPr id="11" name="Text 36">
            <a:extLst>
              <a:ext uri="{FF2B5EF4-FFF2-40B4-BE49-F238E27FC236}">
                <a16:creationId xmlns:a16="http://schemas.microsoft.com/office/drawing/2014/main" id="{E9CD971B-C706-94CD-8D71-A9B8852ACF7A}"/>
              </a:ext>
            </a:extLst>
          </p:cNvPr>
          <p:cNvSpPr/>
          <p:nvPr/>
        </p:nvSpPr>
        <p:spPr>
          <a:xfrm>
            <a:off x="1381709" y="4886130"/>
            <a:ext cx="453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Despliegue con nube, DevOps, seguridad, administradores de plataforma y otros. </a:t>
            </a:r>
            <a:endParaRPr lang="es-419" sz="1200" noProof="0">
              <a:solidFill>
                <a:schemeClr val="tx2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</p:txBody>
      </p:sp>
      <p:sp>
        <p:nvSpPr>
          <p:cNvPr id="13" name="Text 39">
            <a:extLst>
              <a:ext uri="{FF2B5EF4-FFF2-40B4-BE49-F238E27FC236}">
                <a16:creationId xmlns:a16="http://schemas.microsoft.com/office/drawing/2014/main" id="{C64B0E16-DB06-5FB6-2F41-AAF7B2043BF5}"/>
              </a:ext>
            </a:extLst>
          </p:cNvPr>
          <p:cNvSpPr/>
          <p:nvPr/>
        </p:nvSpPr>
        <p:spPr>
          <a:xfrm>
            <a:off x="1367993" y="5355887"/>
            <a:ext cx="411840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s-419" sz="120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B0333A54-3B79-F2F6-2742-C193AF0F51E5}"/>
              </a:ext>
            </a:extLst>
          </p:cNvPr>
          <p:cNvSpPr/>
          <p:nvPr/>
        </p:nvSpPr>
        <p:spPr>
          <a:xfrm>
            <a:off x="8889375" y="1398907"/>
            <a:ext cx="1944000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/>
          <a:lstStyle/>
          <a:p>
            <a:pPr algn="ctr"/>
            <a:r>
              <a:rPr lang="es-419" sz="1200" b="1">
                <a:solidFill>
                  <a:srgbClr val="1B2A5E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Especialista Técnico</a:t>
            </a:r>
            <a:endParaRPr lang="es-419" sz="1200" b="1" noProof="0">
              <a:solidFill>
                <a:srgbClr val="1B2A5E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8FBB5501-69E9-3785-4549-E2B9406FF235}"/>
              </a:ext>
            </a:extLst>
          </p:cNvPr>
          <p:cNvSpPr>
            <a:spLocks noChangeAspect="1"/>
          </p:cNvSpPr>
          <p:nvPr/>
        </p:nvSpPr>
        <p:spPr>
          <a:xfrm>
            <a:off x="705513" y="725269"/>
            <a:ext cx="720000" cy="720000"/>
          </a:xfrm>
          <a:prstGeom prst="ellipse">
            <a:avLst/>
          </a:prstGeom>
          <a:solidFill>
            <a:srgbClr val="1B2A5E"/>
          </a:solidFill>
          <a:ln/>
        </p:spPr>
        <p:txBody>
          <a:bodyPr anchor="ctr"/>
          <a:lstStyle/>
          <a:p>
            <a:pPr algn="ctr"/>
            <a:r>
              <a:rPr lang="es-419" sz="3600">
                <a:solidFill>
                  <a:schemeClr val="bg1"/>
                </a:solidFill>
                <a:latin typeface="Roboto Bk" pitchFamily="2" charset="0"/>
                <a:ea typeface="Roboto Bk" pitchFamily="2" charset="0"/>
              </a:rPr>
              <a:t>7</a:t>
            </a:r>
            <a:endParaRPr lang="es-419" sz="3600" noProof="0">
              <a:solidFill>
                <a:schemeClr val="bg1"/>
              </a:solidFill>
              <a:latin typeface="Roboto Bk" pitchFamily="2" charset="0"/>
              <a:ea typeface="Roboto Bk" pitchFamily="2" charset="0"/>
            </a:endParaRPr>
          </a:p>
        </p:txBody>
      </p:sp>
      <p:sp>
        <p:nvSpPr>
          <p:cNvPr id="20" name="Text 2">
            <a:extLst>
              <a:ext uri="{FF2B5EF4-FFF2-40B4-BE49-F238E27FC236}">
                <a16:creationId xmlns:a16="http://schemas.microsoft.com/office/drawing/2014/main" id="{FEFC0E8C-DD21-6ABB-6457-80690C1D77A1}"/>
              </a:ext>
            </a:extLst>
          </p:cNvPr>
          <p:cNvSpPr/>
          <p:nvPr/>
        </p:nvSpPr>
        <p:spPr>
          <a:xfrm>
            <a:off x="1586696" y="658549"/>
            <a:ext cx="4968108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3733" b="1" noProof="0">
                <a:solidFill>
                  <a:srgbClr val="1B2A5E"/>
                </a:solidFill>
                <a:latin typeface="Roboto Bk" pitchFamily="2" charset="0"/>
                <a:ea typeface="Roboto Bk" pitchFamily="2" charset="0"/>
                <a:cs typeface="Cambria" pitchFamily="34" charset="-120"/>
              </a:rPr>
              <a:t>Paso a producción</a:t>
            </a:r>
            <a:endParaRPr lang="es-419" sz="3733" noProof="0">
              <a:latin typeface="Roboto Bk" pitchFamily="2" charset="0"/>
              <a:ea typeface="Roboto Bk" pitchFamily="2" charset="0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FDC86E2C-DD06-4E97-6097-27FD683873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27837"/>
            <a:ext cx="1584859" cy="424846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3" name="Shape 34">
            <a:extLst>
              <a:ext uri="{FF2B5EF4-FFF2-40B4-BE49-F238E27FC236}">
                <a16:creationId xmlns:a16="http://schemas.microsoft.com/office/drawing/2014/main" id="{CC0C7B26-8C67-8C0F-28FF-BEF586044FD1}"/>
              </a:ext>
            </a:extLst>
          </p:cNvPr>
          <p:cNvSpPr/>
          <p:nvPr/>
        </p:nvSpPr>
        <p:spPr>
          <a:xfrm>
            <a:off x="879445" y="5800116"/>
            <a:ext cx="288000" cy="288000"/>
          </a:xfrm>
          <a:prstGeom prst="ellipse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6</a:t>
            </a:r>
          </a:p>
        </p:txBody>
      </p:sp>
      <p:sp>
        <p:nvSpPr>
          <p:cNvPr id="4" name="Text 39">
            <a:extLst>
              <a:ext uri="{FF2B5EF4-FFF2-40B4-BE49-F238E27FC236}">
                <a16:creationId xmlns:a16="http://schemas.microsoft.com/office/drawing/2014/main" id="{27D24632-0C45-EB25-0339-ECBAA28F6F0C}"/>
              </a:ext>
            </a:extLst>
          </p:cNvPr>
          <p:cNvSpPr/>
          <p:nvPr/>
        </p:nvSpPr>
        <p:spPr>
          <a:xfrm>
            <a:off x="1381708" y="5344511"/>
            <a:ext cx="453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Ejecutar y validar paso a producción.</a:t>
            </a:r>
          </a:p>
        </p:txBody>
      </p:sp>
      <p:sp>
        <p:nvSpPr>
          <p:cNvPr id="14" name="Text 0">
            <a:extLst>
              <a:ext uri="{FF2B5EF4-FFF2-40B4-BE49-F238E27FC236}">
                <a16:creationId xmlns:a16="http://schemas.microsoft.com/office/drawing/2014/main" id="{59BB1D8C-CF3C-46F4-7CD5-197C093FBFE2}"/>
              </a:ext>
            </a:extLst>
          </p:cNvPr>
          <p:cNvSpPr/>
          <p:nvPr/>
        </p:nvSpPr>
        <p:spPr>
          <a:xfrm>
            <a:off x="8143876" y="167447"/>
            <a:ext cx="3095850" cy="5816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 algn="r">
              <a:defRPr/>
            </a:pPr>
            <a:r>
              <a:rPr lang="es-419" sz="1400" b="1" noProof="0">
                <a:solidFill>
                  <a:schemeClr val="bg1">
                    <a:lumMod val="85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Flujo construcción de soluciones TI </a:t>
            </a:r>
            <a:endParaRPr lang="es-419" sz="1400" noProof="0">
              <a:solidFill>
                <a:schemeClr val="bg1">
                  <a:lumMod val="85000"/>
                </a:schemeClr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15" name="Shape 34">
            <a:extLst>
              <a:ext uri="{FF2B5EF4-FFF2-40B4-BE49-F238E27FC236}">
                <a16:creationId xmlns:a16="http://schemas.microsoft.com/office/drawing/2014/main" id="{C9616AC1-7402-FFCF-5322-93AF0C602B84}"/>
              </a:ext>
            </a:extLst>
          </p:cNvPr>
          <p:cNvSpPr/>
          <p:nvPr/>
        </p:nvSpPr>
        <p:spPr>
          <a:xfrm>
            <a:off x="879445" y="6178667"/>
            <a:ext cx="288000" cy="288000"/>
          </a:xfrm>
          <a:prstGeom prst="ellipse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7</a:t>
            </a:r>
          </a:p>
        </p:txBody>
      </p:sp>
      <p:sp>
        <p:nvSpPr>
          <p:cNvPr id="18" name="Text 39">
            <a:extLst>
              <a:ext uri="{FF2B5EF4-FFF2-40B4-BE49-F238E27FC236}">
                <a16:creationId xmlns:a16="http://schemas.microsoft.com/office/drawing/2014/main" id="{1E22C2C8-E8C2-0872-E6BA-EDE5BB715B16}"/>
              </a:ext>
            </a:extLst>
          </p:cNvPr>
          <p:cNvSpPr/>
          <p:nvPr/>
        </p:nvSpPr>
        <p:spPr>
          <a:xfrm>
            <a:off x="1318902" y="6132731"/>
            <a:ext cx="517309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Diligenciar resultado del cambio en la herramienta de gestión. (</a:t>
            </a:r>
            <a:r>
              <a:rPr lang="es-419" sz="1200" err="1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Servicenow</a:t>
            </a:r>
            <a:r>
              <a:rPr lang="es-419" sz="120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) </a:t>
            </a:r>
          </a:p>
        </p:txBody>
      </p:sp>
      <p:sp>
        <p:nvSpPr>
          <p:cNvPr id="25" name="Text 39">
            <a:extLst>
              <a:ext uri="{FF2B5EF4-FFF2-40B4-BE49-F238E27FC236}">
                <a16:creationId xmlns:a16="http://schemas.microsoft.com/office/drawing/2014/main" id="{42595C4C-C2CE-64CA-1338-2B1EA64F735E}"/>
              </a:ext>
            </a:extLst>
          </p:cNvPr>
          <p:cNvSpPr/>
          <p:nvPr/>
        </p:nvSpPr>
        <p:spPr>
          <a:xfrm>
            <a:off x="1353106" y="5752092"/>
            <a:ext cx="453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Evidencias paso a producción exitosa con sus pruebas. </a:t>
            </a:r>
          </a:p>
        </p:txBody>
      </p:sp>
      <p:sp>
        <p:nvSpPr>
          <p:cNvPr id="26" name="Shape 16">
            <a:extLst>
              <a:ext uri="{FF2B5EF4-FFF2-40B4-BE49-F238E27FC236}">
                <a16:creationId xmlns:a16="http://schemas.microsoft.com/office/drawing/2014/main" id="{7B9F4C23-B9C8-9B5E-9C37-954F257F08A7}"/>
              </a:ext>
            </a:extLst>
          </p:cNvPr>
          <p:cNvSpPr/>
          <p:nvPr/>
        </p:nvSpPr>
        <p:spPr>
          <a:xfrm>
            <a:off x="6853891" y="2403846"/>
            <a:ext cx="1944000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/>
          <a:lstStyle/>
          <a:p>
            <a:pPr algn="ctr"/>
            <a:r>
              <a:rPr lang="es-419" sz="1200" b="1" noProof="0">
                <a:solidFill>
                  <a:srgbClr val="1B2A5E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Ciberinteligencia</a:t>
            </a:r>
          </a:p>
        </p:txBody>
      </p:sp>
      <p:sp>
        <p:nvSpPr>
          <p:cNvPr id="28" name="Shape 16">
            <a:extLst>
              <a:ext uri="{FF2B5EF4-FFF2-40B4-BE49-F238E27FC236}">
                <a16:creationId xmlns:a16="http://schemas.microsoft.com/office/drawing/2014/main" id="{95B5C7E4-D991-773B-C37A-EF6E5D2ECACF}"/>
              </a:ext>
            </a:extLst>
          </p:cNvPr>
          <p:cNvSpPr/>
          <p:nvPr/>
        </p:nvSpPr>
        <p:spPr>
          <a:xfrm>
            <a:off x="8889375" y="2403846"/>
            <a:ext cx="1944000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/>
          <a:lstStyle/>
          <a:p>
            <a:pPr algn="ctr"/>
            <a:r>
              <a:rPr lang="es-419" sz="1200" b="1">
                <a:solidFill>
                  <a:srgbClr val="1B2A5E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Ingeniería del software</a:t>
            </a:r>
            <a:endParaRPr lang="es-419" sz="1200" b="1" noProof="0">
              <a:solidFill>
                <a:srgbClr val="1B2A5E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29" name="Shape 16">
            <a:extLst>
              <a:ext uri="{FF2B5EF4-FFF2-40B4-BE49-F238E27FC236}">
                <a16:creationId xmlns:a16="http://schemas.microsoft.com/office/drawing/2014/main" id="{238D1ECC-8B58-EDC8-7602-7A9F57CA736D}"/>
              </a:ext>
            </a:extLst>
          </p:cNvPr>
          <p:cNvSpPr/>
          <p:nvPr/>
        </p:nvSpPr>
        <p:spPr>
          <a:xfrm>
            <a:off x="6777691" y="2893272"/>
            <a:ext cx="2594937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/>
          <a:lstStyle/>
          <a:p>
            <a:pPr algn="ctr"/>
            <a:r>
              <a:rPr lang="es-419" sz="1200" b="1" noProof="0">
                <a:solidFill>
                  <a:srgbClr val="1B2A5E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Especialista de gobierno y gestión TI </a:t>
            </a:r>
          </a:p>
        </p:txBody>
      </p:sp>
      <p:sp>
        <p:nvSpPr>
          <p:cNvPr id="31" name="Shape 16">
            <a:extLst>
              <a:ext uri="{FF2B5EF4-FFF2-40B4-BE49-F238E27FC236}">
                <a16:creationId xmlns:a16="http://schemas.microsoft.com/office/drawing/2014/main" id="{DCF362E1-791C-10CD-8FC5-E057F8300353}"/>
              </a:ext>
            </a:extLst>
          </p:cNvPr>
          <p:cNvSpPr/>
          <p:nvPr/>
        </p:nvSpPr>
        <p:spPr>
          <a:xfrm>
            <a:off x="8889375" y="1902011"/>
            <a:ext cx="1944000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/>
          <a:lstStyle/>
          <a:p>
            <a:pPr algn="ctr"/>
            <a:r>
              <a:rPr lang="es-419" sz="1200" b="1" noProof="0">
                <a:solidFill>
                  <a:srgbClr val="1B2A5E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Líder Técnico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44438903-DE39-E97B-B451-32861E1DABC1}"/>
              </a:ext>
            </a:extLst>
          </p:cNvPr>
          <p:cNvSpPr txBox="1"/>
          <p:nvPr/>
        </p:nvSpPr>
        <p:spPr>
          <a:xfrm>
            <a:off x="6851925" y="5112888"/>
            <a:ext cx="5354237" cy="138499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171450" indent="-171450">
              <a:buFont typeface="Wingdings"/>
              <a:buChar char="ü"/>
            </a:pPr>
            <a:r>
              <a:rPr lang="es-CO" sz="1200" i="1">
                <a:solidFill>
                  <a:schemeClr val="tx2">
                    <a:lumMod val="50000"/>
                  </a:schemeClr>
                </a:solidFill>
                <a:latin typeface="Roboto"/>
                <a:ea typeface="Roboto"/>
                <a:cs typeface="Calibri"/>
              </a:rPr>
              <a:t>El Líder Técnico valida que se hayan cumplido los criterios técnicos, de calidad, controles y aprobaciones requeridas para ejecutar el paso a producción. El equipo ejecuta la liberación según el proceso definido</a:t>
            </a:r>
            <a:endParaRPr lang="en-US"/>
          </a:p>
          <a:p>
            <a:pPr marL="171450" indent="-171450">
              <a:buFont typeface="Wingdings"/>
              <a:buChar char="ü"/>
            </a:pPr>
            <a:r>
              <a:rPr lang="es-CO" sz="1200" i="1">
                <a:solidFill>
                  <a:schemeClr val="tx2">
                    <a:lumMod val="50000"/>
                  </a:schemeClr>
                </a:solidFill>
                <a:latin typeface="Roboto"/>
                <a:ea typeface="Roboto"/>
                <a:cs typeface="Calibri"/>
              </a:rPr>
              <a:t>El líder  de célula  es  informado y debe  estar al tanto del resultado del paso a producción- Planes   de  acción  y correcciones</a:t>
            </a:r>
          </a:p>
          <a:p>
            <a:pPr marL="171450" indent="-171450">
              <a:buFont typeface="Wingdings"/>
              <a:buChar char="ü"/>
            </a:pPr>
            <a:r>
              <a:rPr lang="es-CO" sz="1200" i="1">
                <a:solidFill>
                  <a:schemeClr val="tx2">
                    <a:lumMod val="50000"/>
                  </a:schemeClr>
                </a:solidFill>
                <a:latin typeface="Roboto"/>
                <a:ea typeface="Roboto"/>
                <a:cs typeface="Calibri"/>
              </a:rPr>
              <a:t>El dueño del cambio orquesta la creación de tareas, pruebas antes y después de la salida a producción, en conjunto con el negocio.</a:t>
            </a:r>
          </a:p>
        </p:txBody>
      </p:sp>
    </p:spTree>
    <p:extLst>
      <p:ext uri="{BB962C8B-B14F-4D97-AF65-F5344CB8AC3E}">
        <p14:creationId xmlns:p14="http://schemas.microsoft.com/office/powerpoint/2010/main" val="16039521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6128AE-5A18-15FA-80AC-3F4ACCC83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>
            <a:extLst>
              <a:ext uri="{FF2B5EF4-FFF2-40B4-BE49-F238E27FC236}">
                <a16:creationId xmlns:a16="http://schemas.microsoft.com/office/drawing/2014/main" id="{5478419D-E5B0-CE52-92BF-4ABCF81B1E2F}"/>
              </a:ext>
            </a:extLst>
          </p:cNvPr>
          <p:cNvSpPr/>
          <p:nvPr/>
        </p:nvSpPr>
        <p:spPr>
          <a:xfrm>
            <a:off x="731520" y="134278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600" b="1" kern="0" spc="267" noProof="0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EN QUÉ CONSISTE</a:t>
            </a:r>
            <a:endParaRPr lang="es-419" sz="1600" noProof="0">
              <a:latin typeface="Roboto" pitchFamily="2" charset="0"/>
              <a:ea typeface="Roboto" pitchFamily="2" charset="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42D33FF-5588-CEB5-6E7B-3EDB4FFC3988}"/>
              </a:ext>
            </a:extLst>
          </p:cNvPr>
          <p:cNvSpPr/>
          <p:nvPr/>
        </p:nvSpPr>
        <p:spPr>
          <a:xfrm>
            <a:off x="705513" y="1808039"/>
            <a:ext cx="5786727" cy="1311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es-CO" sz="140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La estabilización es realizada por el responsable de la iniciativa una vez implementado el cambio en producción, asegurando su correcto funcionamiento y la ausencia de impactos en la operación durante un periodo objetivo de 15 a 20 días. Finalizada esta fase, se da paso al proceso de Gestión de Entregas, el cual es asumido por el área de soporte TI de la compañía.</a:t>
            </a:r>
            <a:endParaRPr lang="es-ES" sz="1400">
              <a:solidFill>
                <a:schemeClr val="tx2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770CFA86-69F8-4216-D92A-EE7BEA3605ED}"/>
              </a:ext>
            </a:extLst>
          </p:cNvPr>
          <p:cNvSpPr/>
          <p:nvPr/>
        </p:nvSpPr>
        <p:spPr>
          <a:xfrm>
            <a:off x="6862811" y="4051490"/>
            <a:ext cx="4815840" cy="1502771"/>
          </a:xfrm>
          <a:prstGeom prst="roundRect">
            <a:avLst>
              <a:gd name="adj" fmla="val 3902"/>
            </a:avLst>
          </a:prstGeom>
          <a:solidFill>
            <a:srgbClr val="EEF4FC"/>
          </a:solidFill>
          <a:ln/>
        </p:spPr>
        <p:txBody>
          <a:bodyPr anchor="ctr"/>
          <a:lstStyle/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419" sz="1500" noProof="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Documentación del entregable a la operación en la wiki. </a:t>
            </a: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419" sz="150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Formación conocimiento técnico para soporte de incidentes y solicitudes. </a:t>
            </a: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419" sz="1500" noProof="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Atención operación de incidentes nivel 1 y 2. </a:t>
            </a: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419" sz="1500" b="1">
                <a:solidFill>
                  <a:schemeClr val="tx2">
                    <a:lumMod val="50000"/>
                  </a:schemeClr>
                </a:solidFill>
                <a:highlight>
                  <a:srgbClr val="FFFF00"/>
                </a:highlight>
                <a:latin typeface="Roboto" pitchFamily="2" charset="0"/>
                <a:ea typeface="Roboto" pitchFamily="2" charset="0"/>
                <a:cs typeface="Calibri" pitchFamily="34" charset="-120"/>
              </a:rPr>
              <a:t>Deuda  técnica  - Problemas - Incidentes</a:t>
            </a:r>
            <a:endParaRPr lang="es-419" sz="1500" b="1" noProof="0">
              <a:solidFill>
                <a:schemeClr val="tx2">
                  <a:lumMod val="50000"/>
                </a:schemeClr>
              </a:solidFill>
              <a:highlight>
                <a:srgbClr val="FFFF00"/>
              </a:highlight>
              <a:latin typeface="Roboto" pitchFamily="2" charset="0"/>
              <a:ea typeface="Roboto" pitchFamily="2" charset="0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26634E8C-8B3E-429B-2214-B67FA604DD78}"/>
              </a:ext>
            </a:extLst>
          </p:cNvPr>
          <p:cNvSpPr/>
          <p:nvPr/>
        </p:nvSpPr>
        <p:spPr>
          <a:xfrm>
            <a:off x="6069993" y="121765"/>
            <a:ext cx="4267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s-419" sz="1400" i="1" noProof="0">
              <a:solidFill>
                <a:srgbClr val="5B6B82"/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F3DA91A5-1BF2-66DD-7D35-398A49253342}"/>
              </a:ext>
            </a:extLst>
          </p:cNvPr>
          <p:cNvSpPr/>
          <p:nvPr/>
        </p:nvSpPr>
        <p:spPr>
          <a:xfrm>
            <a:off x="705513" y="3190240"/>
            <a:ext cx="536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600" b="1" kern="0" spc="267" noProof="0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ACTIVIDADES CLAVE</a:t>
            </a:r>
            <a:endParaRPr lang="es-419" sz="1600" noProof="0">
              <a:latin typeface="Roboto" pitchFamily="2" charset="0"/>
              <a:ea typeface="Roboto" pitchFamily="2" charset="0"/>
            </a:endParaRPr>
          </a:p>
        </p:txBody>
      </p:sp>
      <p:sp>
        <p:nvSpPr>
          <p:cNvPr id="27" name="Shape 22">
            <a:extLst>
              <a:ext uri="{FF2B5EF4-FFF2-40B4-BE49-F238E27FC236}">
                <a16:creationId xmlns:a16="http://schemas.microsoft.com/office/drawing/2014/main" id="{43AE5C2F-0C4F-5E7C-2DE3-62D87E9EAA88}"/>
              </a:ext>
            </a:extLst>
          </p:cNvPr>
          <p:cNvSpPr/>
          <p:nvPr/>
        </p:nvSpPr>
        <p:spPr>
          <a:xfrm>
            <a:off x="879445" y="3686574"/>
            <a:ext cx="288000" cy="288000"/>
          </a:xfrm>
          <a:prstGeom prst="ellipse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1</a:t>
            </a:r>
          </a:p>
        </p:txBody>
      </p:sp>
      <p:sp>
        <p:nvSpPr>
          <p:cNvPr id="30" name="Shape 25">
            <a:extLst>
              <a:ext uri="{FF2B5EF4-FFF2-40B4-BE49-F238E27FC236}">
                <a16:creationId xmlns:a16="http://schemas.microsoft.com/office/drawing/2014/main" id="{1B8D7D32-D668-1E27-A72D-0CCBEDF8A3AD}"/>
              </a:ext>
            </a:extLst>
          </p:cNvPr>
          <p:cNvSpPr/>
          <p:nvPr/>
        </p:nvSpPr>
        <p:spPr>
          <a:xfrm>
            <a:off x="879445" y="4160520"/>
            <a:ext cx="288000" cy="288000"/>
          </a:xfrm>
          <a:prstGeom prst="ellipse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2</a:t>
            </a:r>
          </a:p>
        </p:txBody>
      </p:sp>
      <p:sp>
        <p:nvSpPr>
          <p:cNvPr id="33" name="Shape 28">
            <a:extLst>
              <a:ext uri="{FF2B5EF4-FFF2-40B4-BE49-F238E27FC236}">
                <a16:creationId xmlns:a16="http://schemas.microsoft.com/office/drawing/2014/main" id="{0258750D-9E09-8AB6-C7B3-CB4C1798D07B}"/>
              </a:ext>
            </a:extLst>
          </p:cNvPr>
          <p:cNvSpPr/>
          <p:nvPr/>
        </p:nvSpPr>
        <p:spPr>
          <a:xfrm>
            <a:off x="879445" y="4636008"/>
            <a:ext cx="288000" cy="288000"/>
          </a:xfrm>
          <a:prstGeom prst="ellipse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3</a:t>
            </a:r>
          </a:p>
        </p:txBody>
      </p:sp>
      <p:sp>
        <p:nvSpPr>
          <p:cNvPr id="36" name="Shape 31">
            <a:extLst>
              <a:ext uri="{FF2B5EF4-FFF2-40B4-BE49-F238E27FC236}">
                <a16:creationId xmlns:a16="http://schemas.microsoft.com/office/drawing/2014/main" id="{BB8AE21F-DB42-053D-9226-FE19299B864C}"/>
              </a:ext>
            </a:extLst>
          </p:cNvPr>
          <p:cNvSpPr/>
          <p:nvPr/>
        </p:nvSpPr>
        <p:spPr>
          <a:xfrm>
            <a:off x="879445" y="5111496"/>
            <a:ext cx="288000" cy="288000"/>
          </a:xfrm>
          <a:prstGeom prst="ellipse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4</a:t>
            </a:r>
          </a:p>
        </p:txBody>
      </p:sp>
      <p:sp>
        <p:nvSpPr>
          <p:cNvPr id="39" name="Shape 34">
            <a:extLst>
              <a:ext uri="{FF2B5EF4-FFF2-40B4-BE49-F238E27FC236}">
                <a16:creationId xmlns:a16="http://schemas.microsoft.com/office/drawing/2014/main" id="{DA359252-CD78-A195-F988-C3BDDBA68B9B}"/>
              </a:ext>
            </a:extLst>
          </p:cNvPr>
          <p:cNvSpPr/>
          <p:nvPr/>
        </p:nvSpPr>
        <p:spPr>
          <a:xfrm>
            <a:off x="879445" y="5586984"/>
            <a:ext cx="288000" cy="288000"/>
          </a:xfrm>
          <a:prstGeom prst="ellipse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5</a:t>
            </a:r>
          </a:p>
        </p:txBody>
      </p:sp>
      <p:sp>
        <p:nvSpPr>
          <p:cNvPr id="47" name="Text 49">
            <a:extLst>
              <a:ext uri="{FF2B5EF4-FFF2-40B4-BE49-F238E27FC236}">
                <a16:creationId xmlns:a16="http://schemas.microsoft.com/office/drawing/2014/main" id="{E21DE815-9D63-D94E-AA76-3268D4D48C30}"/>
              </a:ext>
            </a:extLst>
          </p:cNvPr>
          <p:cNvSpPr/>
          <p:nvPr/>
        </p:nvSpPr>
        <p:spPr>
          <a:xfrm>
            <a:off x="9366306" y="3553813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s-419" sz="750" noProof="0"/>
          </a:p>
        </p:txBody>
      </p:sp>
      <p:sp>
        <p:nvSpPr>
          <p:cNvPr id="48" name="Text 7">
            <a:extLst>
              <a:ext uri="{FF2B5EF4-FFF2-40B4-BE49-F238E27FC236}">
                <a16:creationId xmlns:a16="http://schemas.microsoft.com/office/drawing/2014/main" id="{58D4D02D-B524-28AB-3B89-1A90D4C25C3D}"/>
              </a:ext>
            </a:extLst>
          </p:cNvPr>
          <p:cNvSpPr/>
          <p:nvPr/>
        </p:nvSpPr>
        <p:spPr>
          <a:xfrm>
            <a:off x="6913142" y="3596258"/>
            <a:ext cx="4715177" cy="2999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600" b="1" kern="0" spc="267" noProof="0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Entregable: Servicio iniciativas table para soporte en producción. </a:t>
            </a:r>
            <a:endParaRPr lang="es-419" sz="1600" noProof="0">
              <a:latin typeface="Roboto" pitchFamily="2" charset="0"/>
              <a:ea typeface="Roboto" pitchFamily="2" charset="0"/>
            </a:endParaRPr>
          </a:p>
        </p:txBody>
      </p:sp>
      <p:sp>
        <p:nvSpPr>
          <p:cNvPr id="56" name="Text 11">
            <a:extLst>
              <a:ext uri="{FF2B5EF4-FFF2-40B4-BE49-F238E27FC236}">
                <a16:creationId xmlns:a16="http://schemas.microsoft.com/office/drawing/2014/main" id="{B1BA00B7-59DC-1CA6-9189-A9861B2BF565}"/>
              </a:ext>
            </a:extLst>
          </p:cNvPr>
          <p:cNvSpPr/>
          <p:nvPr/>
        </p:nvSpPr>
        <p:spPr>
          <a:xfrm>
            <a:off x="6846207" y="1342788"/>
            <a:ext cx="44338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600" b="1" kern="0" spc="267" noProof="0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ACTORES QUE INTERVIENEN</a:t>
            </a:r>
            <a:endParaRPr lang="es-419" sz="1600" noProof="0">
              <a:latin typeface="Roboto" pitchFamily="2" charset="0"/>
              <a:ea typeface="Roboto" pitchFamily="2" charset="0"/>
            </a:endParaRPr>
          </a:p>
        </p:txBody>
      </p:sp>
      <p:sp>
        <p:nvSpPr>
          <p:cNvPr id="57" name="Shape 16">
            <a:extLst>
              <a:ext uri="{FF2B5EF4-FFF2-40B4-BE49-F238E27FC236}">
                <a16:creationId xmlns:a16="http://schemas.microsoft.com/office/drawing/2014/main" id="{6D56D86F-5EAF-CD94-6B1D-7328A8CEDAB5}"/>
              </a:ext>
            </a:extLst>
          </p:cNvPr>
          <p:cNvSpPr/>
          <p:nvPr/>
        </p:nvSpPr>
        <p:spPr>
          <a:xfrm>
            <a:off x="6853891" y="1867104"/>
            <a:ext cx="1901952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rgbClr val="1B2A5E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Líder </a:t>
            </a:r>
            <a:r>
              <a:rPr lang="es-419" sz="1200" b="1">
                <a:solidFill>
                  <a:srgbClr val="1B2A5E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técnico</a:t>
            </a:r>
            <a:endParaRPr lang="es-419" sz="1200" b="1" noProof="0">
              <a:solidFill>
                <a:srgbClr val="1B2A5E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59" name="Shape 16">
            <a:extLst>
              <a:ext uri="{FF2B5EF4-FFF2-40B4-BE49-F238E27FC236}">
                <a16:creationId xmlns:a16="http://schemas.microsoft.com/office/drawing/2014/main" id="{DBD23EC3-D4D1-B89B-C460-15305D0E4861}"/>
              </a:ext>
            </a:extLst>
          </p:cNvPr>
          <p:cNvSpPr/>
          <p:nvPr/>
        </p:nvSpPr>
        <p:spPr>
          <a:xfrm>
            <a:off x="6853891" y="2340983"/>
            <a:ext cx="1893032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rgbClr val="1B2A5E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Especialista técnico</a:t>
            </a:r>
          </a:p>
        </p:txBody>
      </p:sp>
      <p:sp>
        <p:nvSpPr>
          <p:cNvPr id="60" name="Shape 16">
            <a:extLst>
              <a:ext uri="{FF2B5EF4-FFF2-40B4-BE49-F238E27FC236}">
                <a16:creationId xmlns:a16="http://schemas.microsoft.com/office/drawing/2014/main" id="{808F13B7-F4C7-038C-6BB9-E61D6B84FA88}"/>
              </a:ext>
            </a:extLst>
          </p:cNvPr>
          <p:cNvSpPr/>
          <p:nvPr/>
        </p:nvSpPr>
        <p:spPr>
          <a:xfrm>
            <a:off x="8839524" y="2320359"/>
            <a:ext cx="2245196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 anchor="ctr"/>
          <a:lstStyle/>
          <a:p>
            <a:pPr algn="ctr"/>
            <a:r>
              <a:rPr lang="es-419" sz="1200" b="1">
                <a:solidFill>
                  <a:srgbClr val="1B2A5E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Ingeniero de infraestructura</a:t>
            </a:r>
            <a:endParaRPr lang="es-419" sz="1200" b="1" noProof="0">
              <a:solidFill>
                <a:srgbClr val="1B2A5E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pic>
        <p:nvPicPr>
          <p:cNvPr id="61" name="Picture 2">
            <a:extLst>
              <a:ext uri="{FF2B5EF4-FFF2-40B4-BE49-F238E27FC236}">
                <a16:creationId xmlns:a16="http://schemas.microsoft.com/office/drawing/2014/main" id="{35516994-722A-0AB9-B25D-58F0571A3F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5157" y="166391"/>
            <a:ext cx="868630" cy="580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 24">
            <a:extLst>
              <a:ext uri="{FF2B5EF4-FFF2-40B4-BE49-F238E27FC236}">
                <a16:creationId xmlns:a16="http://schemas.microsoft.com/office/drawing/2014/main" id="{C9AE0B9D-6FFB-4BFD-6CBF-F03F5C6ED8B0}"/>
              </a:ext>
            </a:extLst>
          </p:cNvPr>
          <p:cNvSpPr/>
          <p:nvPr/>
        </p:nvSpPr>
        <p:spPr>
          <a:xfrm>
            <a:off x="1367993" y="3610034"/>
            <a:ext cx="4680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Monitoreo </a:t>
            </a:r>
            <a:r>
              <a:rPr lang="es-419" sz="1200" err="1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post-despliegue</a:t>
            </a:r>
            <a:r>
              <a:rPr lang="es-419" sz="120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: logs, métricas y alertas  (</a:t>
            </a:r>
            <a:r>
              <a:rPr lang="es-419" sz="1200" err="1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Instana</a:t>
            </a:r>
            <a:r>
              <a:rPr lang="es-419" sz="120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, torre de control).</a:t>
            </a:r>
            <a:endParaRPr lang="es-419" sz="1200" noProof="0">
              <a:solidFill>
                <a:schemeClr val="tx2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</p:txBody>
      </p:sp>
      <p:sp>
        <p:nvSpPr>
          <p:cNvPr id="9" name="Text 27">
            <a:extLst>
              <a:ext uri="{FF2B5EF4-FFF2-40B4-BE49-F238E27FC236}">
                <a16:creationId xmlns:a16="http://schemas.microsoft.com/office/drawing/2014/main" id="{7C81B9D4-0A87-AF17-97CF-BAE7879FBFEC}"/>
              </a:ext>
            </a:extLst>
          </p:cNvPr>
          <p:cNvSpPr/>
          <p:nvPr/>
        </p:nvSpPr>
        <p:spPr>
          <a:xfrm>
            <a:off x="1367992" y="4085522"/>
            <a:ext cx="4680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Atención de incidentes (incluyendo horas nocturnas, madrugadas y fines de semana).</a:t>
            </a:r>
            <a:endParaRPr lang="es-419" sz="1200" noProof="0">
              <a:solidFill>
                <a:schemeClr val="tx2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</p:txBody>
      </p:sp>
      <p:sp>
        <p:nvSpPr>
          <p:cNvPr id="10" name="Text 30">
            <a:extLst>
              <a:ext uri="{FF2B5EF4-FFF2-40B4-BE49-F238E27FC236}">
                <a16:creationId xmlns:a16="http://schemas.microsoft.com/office/drawing/2014/main" id="{580672FA-3ED6-FB23-298C-6B14B520C6FB}"/>
              </a:ext>
            </a:extLst>
          </p:cNvPr>
          <p:cNvSpPr/>
          <p:nvPr/>
        </p:nvSpPr>
        <p:spPr>
          <a:xfrm>
            <a:off x="1367993" y="4561010"/>
            <a:ext cx="4680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Análisis de causa raíz de incidentes y documentación de soluciones.</a:t>
            </a:r>
            <a:endParaRPr lang="es-419" sz="1200">
              <a:solidFill>
                <a:schemeClr val="tx2">
                  <a:lumMod val="50000"/>
                </a:schemeClr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11" name="Text 36">
            <a:extLst>
              <a:ext uri="{FF2B5EF4-FFF2-40B4-BE49-F238E27FC236}">
                <a16:creationId xmlns:a16="http://schemas.microsoft.com/office/drawing/2014/main" id="{DD614D85-31E6-E9D8-0F1C-E2490CCA6557}"/>
              </a:ext>
            </a:extLst>
          </p:cNvPr>
          <p:cNvSpPr/>
          <p:nvPr/>
        </p:nvSpPr>
        <p:spPr>
          <a:xfrm>
            <a:off x="1367993" y="5063930"/>
            <a:ext cx="4680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Documentación técnica para entrega a Operación TI (Wiki, manual primeros auxilios).</a:t>
            </a:r>
            <a:endParaRPr lang="es-419" sz="1200">
              <a:solidFill>
                <a:schemeClr val="tx2">
                  <a:lumMod val="50000"/>
                </a:schemeClr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13" name="Text 39">
            <a:extLst>
              <a:ext uri="{FF2B5EF4-FFF2-40B4-BE49-F238E27FC236}">
                <a16:creationId xmlns:a16="http://schemas.microsoft.com/office/drawing/2014/main" id="{3BAC94B0-3ED3-1DF4-E196-FBC714BE5826}"/>
              </a:ext>
            </a:extLst>
          </p:cNvPr>
          <p:cNvSpPr/>
          <p:nvPr/>
        </p:nvSpPr>
        <p:spPr>
          <a:xfrm>
            <a:off x="1367992" y="5533687"/>
            <a:ext cx="4680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Documentación funcional con Líder de célula.</a:t>
            </a:r>
            <a:endParaRPr lang="es-419" sz="1200">
              <a:solidFill>
                <a:schemeClr val="tx2">
                  <a:lumMod val="50000"/>
                </a:schemeClr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4B356954-4AFB-9F27-DA3E-7FFC8BF9F4DA}"/>
              </a:ext>
            </a:extLst>
          </p:cNvPr>
          <p:cNvSpPr/>
          <p:nvPr/>
        </p:nvSpPr>
        <p:spPr>
          <a:xfrm>
            <a:off x="8843337" y="1825061"/>
            <a:ext cx="2251820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 anchor="ctr"/>
          <a:lstStyle/>
          <a:p>
            <a:pPr algn="ctr"/>
            <a:r>
              <a:rPr lang="es-419" sz="1200" b="1">
                <a:solidFill>
                  <a:srgbClr val="1B2A5E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Ingeniero de operaciones</a:t>
            </a:r>
            <a:endParaRPr lang="es-419" sz="1200" b="1" noProof="0">
              <a:solidFill>
                <a:srgbClr val="1B2A5E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AB607D6B-98E8-73F1-B447-4E89EA07D4C7}"/>
              </a:ext>
            </a:extLst>
          </p:cNvPr>
          <p:cNvSpPr>
            <a:spLocks noChangeAspect="1"/>
          </p:cNvSpPr>
          <p:nvPr/>
        </p:nvSpPr>
        <p:spPr>
          <a:xfrm>
            <a:off x="705513" y="369669"/>
            <a:ext cx="720000" cy="720000"/>
          </a:xfrm>
          <a:prstGeom prst="ellipse">
            <a:avLst/>
          </a:prstGeom>
          <a:solidFill>
            <a:srgbClr val="2E5FA3"/>
          </a:solidFill>
          <a:ln/>
        </p:spPr>
        <p:txBody>
          <a:bodyPr anchor="ctr"/>
          <a:lstStyle/>
          <a:p>
            <a:pPr algn="ctr"/>
            <a:r>
              <a:rPr lang="es-419" sz="3600">
                <a:solidFill>
                  <a:schemeClr val="bg1"/>
                </a:solidFill>
                <a:latin typeface="Roboto Bk" pitchFamily="2" charset="0"/>
                <a:ea typeface="Roboto Bk" pitchFamily="2" charset="0"/>
              </a:rPr>
              <a:t>8</a:t>
            </a:r>
            <a:endParaRPr lang="es-419" sz="3600" noProof="0">
              <a:solidFill>
                <a:schemeClr val="bg1"/>
              </a:solidFill>
              <a:latin typeface="Roboto Bk" pitchFamily="2" charset="0"/>
              <a:ea typeface="Roboto Bk" pitchFamily="2" charset="0"/>
            </a:endParaRPr>
          </a:p>
        </p:txBody>
      </p:sp>
      <p:sp>
        <p:nvSpPr>
          <p:cNvPr id="20" name="Text 2">
            <a:extLst>
              <a:ext uri="{FF2B5EF4-FFF2-40B4-BE49-F238E27FC236}">
                <a16:creationId xmlns:a16="http://schemas.microsoft.com/office/drawing/2014/main" id="{4F675527-4B38-C2AD-9E17-E7C588FDD55B}"/>
              </a:ext>
            </a:extLst>
          </p:cNvPr>
          <p:cNvSpPr/>
          <p:nvPr/>
        </p:nvSpPr>
        <p:spPr>
          <a:xfrm>
            <a:off x="1586696" y="302949"/>
            <a:ext cx="5538004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3733" b="1" noProof="0">
                <a:solidFill>
                  <a:srgbClr val="2E5FA3"/>
                </a:solidFill>
                <a:latin typeface="Roboto Bk" pitchFamily="2" charset="0"/>
                <a:ea typeface="Roboto Bk" pitchFamily="2" charset="0"/>
                <a:cs typeface="Cambria" pitchFamily="34" charset="-120"/>
              </a:rPr>
              <a:t>Estabilización y entrega</a:t>
            </a:r>
            <a:endParaRPr lang="es-419" sz="3733" noProof="0">
              <a:solidFill>
                <a:srgbClr val="2E5FA3"/>
              </a:solidFill>
              <a:latin typeface="Roboto Bk" pitchFamily="2" charset="0"/>
              <a:ea typeface="Roboto Bk" pitchFamily="2" charset="0"/>
            </a:endParaRPr>
          </a:p>
        </p:txBody>
      </p:sp>
      <p:sp>
        <p:nvSpPr>
          <p:cNvPr id="4" name="Shape 34">
            <a:extLst>
              <a:ext uri="{FF2B5EF4-FFF2-40B4-BE49-F238E27FC236}">
                <a16:creationId xmlns:a16="http://schemas.microsoft.com/office/drawing/2014/main" id="{F66D7854-7AC0-6E9F-B2CD-D2F03CDE813B}"/>
              </a:ext>
            </a:extLst>
          </p:cNvPr>
          <p:cNvSpPr/>
          <p:nvPr/>
        </p:nvSpPr>
        <p:spPr>
          <a:xfrm>
            <a:off x="893161" y="6056741"/>
            <a:ext cx="288000" cy="288000"/>
          </a:xfrm>
          <a:prstGeom prst="ellipse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6</a:t>
            </a:r>
            <a:endParaRPr lang="es-419" sz="1200" b="1" noProof="0">
              <a:solidFill>
                <a:schemeClr val="bg1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14" name="Text 39">
            <a:extLst>
              <a:ext uri="{FF2B5EF4-FFF2-40B4-BE49-F238E27FC236}">
                <a16:creationId xmlns:a16="http://schemas.microsoft.com/office/drawing/2014/main" id="{C1758195-205F-04A6-A14A-20B4A7AEAE46}"/>
              </a:ext>
            </a:extLst>
          </p:cNvPr>
          <p:cNvSpPr/>
          <p:nvPr/>
        </p:nvSpPr>
        <p:spPr>
          <a:xfrm>
            <a:off x="1367992" y="6003444"/>
            <a:ext cx="4680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Proceso formal de entrega y transferencia de conocimiento a Operación TI</a:t>
            </a:r>
            <a:endParaRPr lang="es-419" sz="1200">
              <a:solidFill>
                <a:schemeClr val="tx2">
                  <a:lumMod val="50000"/>
                </a:schemeClr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15" name="Text 0">
            <a:extLst>
              <a:ext uri="{FF2B5EF4-FFF2-40B4-BE49-F238E27FC236}">
                <a16:creationId xmlns:a16="http://schemas.microsoft.com/office/drawing/2014/main" id="{54F7D97B-5B41-C322-7F4E-A4CB9C618057}"/>
              </a:ext>
            </a:extLst>
          </p:cNvPr>
          <p:cNvSpPr/>
          <p:nvPr/>
        </p:nvSpPr>
        <p:spPr>
          <a:xfrm>
            <a:off x="8143876" y="167447"/>
            <a:ext cx="3095850" cy="5816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 algn="r">
              <a:defRPr/>
            </a:pPr>
            <a:r>
              <a:rPr lang="es-419" sz="1400" b="1" noProof="0">
                <a:solidFill>
                  <a:schemeClr val="bg1">
                    <a:lumMod val="85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Flujo construcción de soluciones TI </a:t>
            </a:r>
            <a:endParaRPr lang="es-419" sz="1400" noProof="0">
              <a:solidFill>
                <a:schemeClr val="bg1">
                  <a:lumMod val="85000"/>
                </a:schemeClr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2" name="Shape 16">
            <a:extLst>
              <a:ext uri="{FF2B5EF4-FFF2-40B4-BE49-F238E27FC236}">
                <a16:creationId xmlns:a16="http://schemas.microsoft.com/office/drawing/2014/main" id="{807400B6-5DEE-2E36-C716-086EAF0B4DD1}"/>
              </a:ext>
            </a:extLst>
          </p:cNvPr>
          <p:cNvSpPr/>
          <p:nvPr/>
        </p:nvSpPr>
        <p:spPr>
          <a:xfrm>
            <a:off x="6853891" y="2845345"/>
            <a:ext cx="3108231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rgbClr val="1B2A5E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Analista de gobierno y gestión TI 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52CAC931-744A-5105-8D97-EB7588D75CE9}"/>
              </a:ext>
            </a:extLst>
          </p:cNvPr>
          <p:cNvSpPr txBox="1"/>
          <p:nvPr/>
        </p:nvSpPr>
        <p:spPr>
          <a:xfrm>
            <a:off x="6862811" y="5605636"/>
            <a:ext cx="476550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419" b="1">
                <a:solidFill>
                  <a:srgbClr val="1B2A5E"/>
                </a:solidFill>
                <a:highlight>
                  <a:srgbClr val="FFFF00"/>
                </a:highlight>
                <a:latin typeface="Roboto Bk" pitchFamily="2" charset="0"/>
                <a:ea typeface="Roboto Bk" pitchFamily="2" charset="0"/>
                <a:cs typeface="Cambria" pitchFamily="34" charset="-120"/>
              </a:rPr>
              <a:t>Acá puede salir: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s-419" sz="1600" b="1">
                <a:solidFill>
                  <a:srgbClr val="1B2A5E"/>
                </a:solidFill>
                <a:highlight>
                  <a:srgbClr val="FFFF00"/>
                </a:highlight>
                <a:latin typeface="Roboto Bk" pitchFamily="2" charset="0"/>
              </a:rPr>
              <a:t>Documentación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s-419" sz="1600" b="1">
                <a:solidFill>
                  <a:srgbClr val="1B2A5E"/>
                </a:solidFill>
                <a:highlight>
                  <a:srgbClr val="FFFF00"/>
                </a:highlight>
                <a:latin typeface="Roboto Bk" pitchFamily="2" charset="0"/>
              </a:rPr>
              <a:t>Socialización  para la  entrega</a:t>
            </a:r>
          </a:p>
          <a:p>
            <a:pPr algn="ctr"/>
            <a:endParaRPr lang="es-CO" sz="100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280650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FD834FC1-BCAD-A75C-A84C-E4C0522F98B3}"/>
              </a:ext>
            </a:extLst>
          </p:cNvPr>
          <p:cNvSpPr txBox="1"/>
          <p:nvPr/>
        </p:nvSpPr>
        <p:spPr>
          <a:xfrm>
            <a:off x="757362" y="1293507"/>
            <a:ext cx="6094674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419" sz="1500" b="1">
                <a:solidFill>
                  <a:schemeClr val="tx2">
                    <a:lumMod val="50000"/>
                  </a:schemeClr>
                </a:solidFill>
                <a:highlight>
                  <a:srgbClr val="FFFF00"/>
                </a:highlight>
                <a:latin typeface="Roboto" pitchFamily="2" charset="0"/>
                <a:ea typeface="Roboto" pitchFamily="2" charset="0"/>
                <a:cs typeface="Calibri" pitchFamily="34" charset="-120"/>
              </a:rPr>
              <a:t>Tipos de  Deuda  técnica  </a:t>
            </a: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419" sz="1500" b="1" noProof="0">
                <a:solidFill>
                  <a:schemeClr val="tx2">
                    <a:lumMod val="50000"/>
                  </a:schemeClr>
                </a:solidFill>
                <a:highlight>
                  <a:srgbClr val="FFFF00"/>
                </a:highlight>
                <a:latin typeface="Roboto" pitchFamily="2" charset="0"/>
                <a:ea typeface="Roboto" pitchFamily="2" charset="0"/>
                <a:cs typeface="Calibri" pitchFamily="34" charset="-120"/>
              </a:rPr>
              <a:t>La  conoce el  </a:t>
            </a:r>
            <a:r>
              <a:rPr lang="es-419" sz="1500" b="1" noProof="0" err="1">
                <a:solidFill>
                  <a:schemeClr val="tx2">
                    <a:lumMod val="50000"/>
                  </a:schemeClr>
                </a:solidFill>
                <a:highlight>
                  <a:srgbClr val="FFFF00"/>
                </a:highlight>
                <a:latin typeface="Roboto" pitchFamily="2" charset="0"/>
                <a:ea typeface="Roboto" pitchFamily="2" charset="0"/>
                <a:cs typeface="Calibri" pitchFamily="34" charset="-120"/>
              </a:rPr>
              <a:t>lider</a:t>
            </a:r>
            <a:r>
              <a:rPr lang="es-419" sz="1500" b="1" noProof="0">
                <a:solidFill>
                  <a:schemeClr val="tx2">
                    <a:lumMod val="50000"/>
                  </a:schemeClr>
                </a:solidFill>
                <a:highlight>
                  <a:srgbClr val="FFFF00"/>
                </a:highlight>
                <a:latin typeface="Roboto" pitchFamily="2" charset="0"/>
                <a:ea typeface="Roboto" pitchFamily="2" charset="0"/>
                <a:cs typeface="Calibri" pitchFamily="34" charset="-120"/>
              </a:rPr>
              <a:t>  </a:t>
            </a:r>
            <a:r>
              <a:rPr lang="es-419" sz="1500" b="1">
                <a:solidFill>
                  <a:schemeClr val="tx2">
                    <a:lumMod val="50000"/>
                  </a:schemeClr>
                </a:solidFill>
                <a:highlight>
                  <a:srgbClr val="FFFF00"/>
                </a:highlight>
                <a:latin typeface="Roboto" pitchFamily="2" charset="0"/>
                <a:ea typeface="Roboto" pitchFamily="2" charset="0"/>
                <a:cs typeface="Calibri" pitchFamily="34" charset="-120"/>
              </a:rPr>
              <a:t>Técnico y se la   baje al negocio</a:t>
            </a: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419" sz="1500" b="1">
                <a:solidFill>
                  <a:schemeClr val="tx2">
                    <a:lumMod val="50000"/>
                  </a:schemeClr>
                </a:solidFill>
                <a:highlight>
                  <a:srgbClr val="FFFF00"/>
                </a:highlight>
                <a:latin typeface="Roboto" pitchFamily="2" charset="0"/>
                <a:ea typeface="Roboto" pitchFamily="2" charset="0"/>
                <a:cs typeface="Calibri" pitchFamily="34" charset="-120"/>
              </a:rPr>
              <a:t>- identificarla  se debe priorizar</a:t>
            </a:r>
          </a:p>
        </p:txBody>
      </p:sp>
    </p:spTree>
    <p:extLst>
      <p:ext uri="{BB962C8B-B14F-4D97-AF65-F5344CB8AC3E}">
        <p14:creationId xmlns:p14="http://schemas.microsoft.com/office/powerpoint/2010/main" val="11088740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4F8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BC86BB-A49C-F754-BA77-8969CF657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AF82CC4-D451-9107-BF33-94F0F09660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1226" y="2855029"/>
            <a:ext cx="2374407" cy="770251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1389F233-215F-91CC-310D-5CAD198E03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8276" y="1813106"/>
            <a:ext cx="2378916" cy="770251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41" name="Imagen 40">
            <a:extLst>
              <a:ext uri="{FF2B5EF4-FFF2-40B4-BE49-F238E27FC236}">
                <a16:creationId xmlns:a16="http://schemas.microsoft.com/office/drawing/2014/main" id="{6512180C-63BD-4263-F383-7BB78091EB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378" y="859494"/>
            <a:ext cx="2167146" cy="770251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55" name="Imagen 54">
            <a:extLst>
              <a:ext uri="{FF2B5EF4-FFF2-40B4-BE49-F238E27FC236}">
                <a16:creationId xmlns:a16="http://schemas.microsoft.com/office/drawing/2014/main" id="{C27B55A5-867A-73AE-51AD-731B3303F3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28254" y="5068852"/>
            <a:ext cx="1910048" cy="51201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56" name="Imagen 55">
            <a:extLst>
              <a:ext uri="{FF2B5EF4-FFF2-40B4-BE49-F238E27FC236}">
                <a16:creationId xmlns:a16="http://schemas.microsoft.com/office/drawing/2014/main" id="{F5852633-C342-3918-C36E-936ADE5DC93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28254" y="4034935"/>
            <a:ext cx="2195848" cy="508741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cxnSp>
        <p:nvCxnSpPr>
          <p:cNvPr id="57" name="Conector: angular 56">
            <a:extLst>
              <a:ext uri="{FF2B5EF4-FFF2-40B4-BE49-F238E27FC236}">
                <a16:creationId xmlns:a16="http://schemas.microsoft.com/office/drawing/2014/main" id="{D597297C-5792-945B-BB35-E2CB15E49A93}"/>
              </a:ext>
            </a:extLst>
          </p:cNvPr>
          <p:cNvCxnSpPr>
            <a:cxnSpLocks/>
            <a:endCxn id="4" idx="1"/>
          </p:cNvCxnSpPr>
          <p:nvPr/>
        </p:nvCxnSpPr>
        <p:spPr>
          <a:xfrm rot="16200000" flipH="1">
            <a:off x="960760" y="1620715"/>
            <a:ext cx="588307" cy="566726"/>
          </a:xfrm>
          <a:prstGeom prst="bentConnector2">
            <a:avLst/>
          </a:prstGeom>
          <a:ln>
            <a:solidFill>
              <a:srgbClr val="1B2A5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ector: angular 60">
            <a:extLst>
              <a:ext uri="{FF2B5EF4-FFF2-40B4-BE49-F238E27FC236}">
                <a16:creationId xmlns:a16="http://schemas.microsoft.com/office/drawing/2014/main" id="{57204CFB-E78E-451B-D027-F6813FB93359}"/>
              </a:ext>
            </a:extLst>
          </p:cNvPr>
          <p:cNvCxnSpPr>
            <a:cxnSpLocks/>
            <a:endCxn id="3" idx="1"/>
          </p:cNvCxnSpPr>
          <p:nvPr/>
        </p:nvCxnSpPr>
        <p:spPr>
          <a:xfrm rot="16200000" flipH="1">
            <a:off x="1806460" y="2765389"/>
            <a:ext cx="649508" cy="300024"/>
          </a:xfrm>
          <a:prstGeom prst="bentConnector2">
            <a:avLst/>
          </a:prstGeom>
          <a:ln>
            <a:solidFill>
              <a:srgbClr val="1B2A5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ector: angular 62">
            <a:extLst>
              <a:ext uri="{FF2B5EF4-FFF2-40B4-BE49-F238E27FC236}">
                <a16:creationId xmlns:a16="http://schemas.microsoft.com/office/drawing/2014/main" id="{4C40292E-A356-D6BA-B09B-1EDEA20B0CF1}"/>
              </a:ext>
            </a:extLst>
          </p:cNvPr>
          <p:cNvCxnSpPr>
            <a:cxnSpLocks/>
            <a:endCxn id="56" idx="1"/>
          </p:cNvCxnSpPr>
          <p:nvPr/>
        </p:nvCxnSpPr>
        <p:spPr>
          <a:xfrm rot="16200000" flipH="1">
            <a:off x="2586220" y="3747272"/>
            <a:ext cx="664026" cy="420041"/>
          </a:xfrm>
          <a:prstGeom prst="bentConnector2">
            <a:avLst/>
          </a:prstGeom>
          <a:ln>
            <a:solidFill>
              <a:srgbClr val="1B2A5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ector: angular 72">
            <a:extLst>
              <a:ext uri="{FF2B5EF4-FFF2-40B4-BE49-F238E27FC236}">
                <a16:creationId xmlns:a16="http://schemas.microsoft.com/office/drawing/2014/main" id="{CA188E3D-970A-CEDF-4048-923A98AE85C4}"/>
              </a:ext>
            </a:extLst>
          </p:cNvPr>
          <p:cNvCxnSpPr>
            <a:cxnSpLocks/>
            <a:endCxn id="55" idx="1"/>
          </p:cNvCxnSpPr>
          <p:nvPr/>
        </p:nvCxnSpPr>
        <p:spPr>
          <a:xfrm rot="16200000" flipH="1">
            <a:off x="2146808" y="4343414"/>
            <a:ext cx="1542853" cy="420040"/>
          </a:xfrm>
          <a:prstGeom prst="bentConnector2">
            <a:avLst/>
          </a:prstGeom>
          <a:ln>
            <a:solidFill>
              <a:srgbClr val="1B2A5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ector: angular 73">
            <a:extLst>
              <a:ext uri="{FF2B5EF4-FFF2-40B4-BE49-F238E27FC236}">
                <a16:creationId xmlns:a16="http://schemas.microsoft.com/office/drawing/2014/main" id="{886BF72E-27F8-E528-F747-A273993C05E6}"/>
              </a:ext>
            </a:extLst>
          </p:cNvPr>
          <p:cNvCxnSpPr>
            <a:cxnSpLocks/>
            <a:endCxn id="5" idx="1"/>
          </p:cNvCxnSpPr>
          <p:nvPr/>
        </p:nvCxnSpPr>
        <p:spPr>
          <a:xfrm rot="16200000" flipH="1">
            <a:off x="2409998" y="5485388"/>
            <a:ext cx="1013668" cy="422842"/>
          </a:xfrm>
          <a:prstGeom prst="bentConnector4">
            <a:avLst>
              <a:gd name="adj1" fmla="val 50000"/>
              <a:gd name="adj2" fmla="val 154423"/>
            </a:avLst>
          </a:prstGeom>
          <a:ln>
            <a:solidFill>
              <a:srgbClr val="1B2A5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CuadroTexto 78">
            <a:extLst>
              <a:ext uri="{FF2B5EF4-FFF2-40B4-BE49-F238E27FC236}">
                <a16:creationId xmlns:a16="http://schemas.microsoft.com/office/drawing/2014/main" id="{51910E71-8A21-0250-1C79-F9BCBB10A5B5}"/>
              </a:ext>
            </a:extLst>
          </p:cNvPr>
          <p:cNvSpPr txBox="1"/>
          <p:nvPr/>
        </p:nvSpPr>
        <p:spPr>
          <a:xfrm>
            <a:off x="2755199" y="967620"/>
            <a:ext cx="862606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419" sz="1500" noProof="0">
                <a:latin typeface="Roboto" panose="02000000000000000000" pitchFamily="2" charset="0"/>
                <a:ea typeface="Roboto" panose="02000000000000000000" pitchFamily="2" charset="0"/>
              </a:rPr>
              <a:t>Se usa para registrar </a:t>
            </a:r>
            <a:r>
              <a:rPr lang="es-419" sz="1500" b="1" noProof="0">
                <a:latin typeface="Roboto" panose="02000000000000000000" pitchFamily="2" charset="0"/>
                <a:ea typeface="Roboto" panose="02000000000000000000" pitchFamily="2" charset="0"/>
              </a:rPr>
              <a:t>nuestros </a:t>
            </a:r>
            <a:r>
              <a:rPr lang="es-419" sz="1500" b="1" noProof="0" err="1">
                <a:latin typeface="Roboto" panose="02000000000000000000" pitchFamily="2" charset="0"/>
                <a:ea typeface="Roboto" panose="02000000000000000000" pitchFamily="2" charset="0"/>
              </a:rPr>
              <a:t>OKRS</a:t>
            </a:r>
            <a:r>
              <a:rPr lang="es-419" sz="1500" b="1" noProof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s-419" sz="1500" noProof="0">
                <a:latin typeface="Roboto" panose="02000000000000000000" pitchFamily="2" charset="0"/>
                <a:ea typeface="Roboto" panose="02000000000000000000" pitchFamily="2" charset="0"/>
              </a:rPr>
              <a:t>de Célula/COE/</a:t>
            </a:r>
            <a:r>
              <a:rPr lang="es-419" sz="1500" noProof="0" err="1">
                <a:latin typeface="Roboto" panose="02000000000000000000" pitchFamily="2" charset="0"/>
                <a:ea typeface="Roboto" panose="02000000000000000000" pitchFamily="2" charset="0"/>
              </a:rPr>
              <a:t>SMT</a:t>
            </a:r>
            <a:r>
              <a:rPr lang="es-419" sz="1500" noProof="0">
                <a:latin typeface="Roboto" panose="02000000000000000000" pitchFamily="2" charset="0"/>
                <a:ea typeface="Roboto" panose="02000000000000000000" pitchFamily="2" charset="0"/>
              </a:rPr>
              <a:t> garantizando que sean visibles para todos miembros de equipo y la alineación con la estrategia de la compañía. </a:t>
            </a:r>
          </a:p>
        </p:txBody>
      </p:sp>
      <p:sp>
        <p:nvSpPr>
          <p:cNvPr id="81" name="CuadroTexto 80">
            <a:extLst>
              <a:ext uri="{FF2B5EF4-FFF2-40B4-BE49-F238E27FC236}">
                <a16:creationId xmlns:a16="http://schemas.microsoft.com/office/drawing/2014/main" id="{6DD2FF81-BCD8-7968-DA08-B90CEFD71A40}"/>
              </a:ext>
            </a:extLst>
          </p:cNvPr>
          <p:cNvSpPr txBox="1"/>
          <p:nvPr/>
        </p:nvSpPr>
        <p:spPr>
          <a:xfrm>
            <a:off x="4083277" y="1923531"/>
            <a:ext cx="775629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419" sz="1500" noProof="0">
                <a:latin typeface="Roboto" panose="02000000000000000000" pitchFamily="2" charset="0"/>
                <a:ea typeface="Roboto" panose="02000000000000000000" pitchFamily="2" charset="0"/>
              </a:rPr>
              <a:t>Se usa para registrar </a:t>
            </a:r>
            <a:r>
              <a:rPr lang="es-419" sz="1500" b="1" noProof="0">
                <a:latin typeface="Roboto" panose="02000000000000000000" pitchFamily="2" charset="0"/>
                <a:ea typeface="Roboto" panose="02000000000000000000" pitchFamily="2" charset="0"/>
              </a:rPr>
              <a:t>las iniciativas </a:t>
            </a:r>
            <a:r>
              <a:rPr lang="es-419" sz="1500" noProof="0">
                <a:latin typeface="Roboto" panose="02000000000000000000" pitchFamily="2" charset="0"/>
                <a:ea typeface="Roboto" panose="02000000000000000000" pitchFamily="2" charset="0"/>
              </a:rPr>
              <a:t>que nos proponemos lograr durante el Q. Se incluye una descripción corta para garantizar el entendimiento de todo el equipo.</a:t>
            </a:r>
          </a:p>
        </p:txBody>
      </p:sp>
      <p:sp>
        <p:nvSpPr>
          <p:cNvPr id="83" name="CuadroTexto 82">
            <a:extLst>
              <a:ext uri="{FF2B5EF4-FFF2-40B4-BE49-F238E27FC236}">
                <a16:creationId xmlns:a16="http://schemas.microsoft.com/office/drawing/2014/main" id="{662BFAFD-6719-75C4-3180-457BC0A65DDE}"/>
              </a:ext>
            </a:extLst>
          </p:cNvPr>
          <p:cNvSpPr txBox="1"/>
          <p:nvPr/>
        </p:nvSpPr>
        <p:spPr>
          <a:xfrm>
            <a:off x="4779458" y="2847739"/>
            <a:ext cx="7060117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419" sz="1500" noProof="0">
                <a:latin typeface="Roboto" panose="02000000000000000000" pitchFamily="2" charset="0"/>
                <a:ea typeface="Roboto" panose="02000000000000000000" pitchFamily="2" charset="0"/>
              </a:rPr>
              <a:t>Se usa para registrar los </a:t>
            </a:r>
            <a:r>
              <a:rPr lang="es-419" sz="1500" b="1" noProof="0">
                <a:latin typeface="Roboto" panose="02000000000000000000" pitchFamily="2" charset="0"/>
                <a:ea typeface="Roboto" panose="02000000000000000000" pitchFamily="2" charset="0"/>
              </a:rPr>
              <a:t>incrementos de valor, entregables, funcionalidades de nuestra iniciativa. </a:t>
            </a:r>
            <a:r>
              <a:rPr lang="es-419" sz="1500" noProof="0">
                <a:latin typeface="Roboto" panose="02000000000000000000" pitchFamily="2" charset="0"/>
                <a:ea typeface="Roboto" panose="02000000000000000000" pitchFamily="2" charset="0"/>
              </a:rPr>
              <a:t>Esto nos permite detallar como estamos abordando la iniciativa y generar un </a:t>
            </a:r>
            <a:r>
              <a:rPr lang="es-419" sz="1500" noProof="0" err="1">
                <a:latin typeface="Roboto" panose="02000000000000000000" pitchFamily="2" charset="0"/>
                <a:ea typeface="Roboto" panose="02000000000000000000" pitchFamily="2" charset="0"/>
              </a:rPr>
              <a:t>roadmap</a:t>
            </a:r>
            <a:r>
              <a:rPr lang="es-419" sz="1500" noProof="0">
                <a:latin typeface="Roboto" panose="02000000000000000000" pitchFamily="2" charset="0"/>
                <a:ea typeface="Roboto" panose="02000000000000000000" pitchFamily="2" charset="0"/>
              </a:rPr>
              <a:t>. </a:t>
            </a:r>
          </a:p>
        </p:txBody>
      </p:sp>
      <p:sp>
        <p:nvSpPr>
          <p:cNvPr id="85" name="CuadroTexto 84">
            <a:extLst>
              <a:ext uri="{FF2B5EF4-FFF2-40B4-BE49-F238E27FC236}">
                <a16:creationId xmlns:a16="http://schemas.microsoft.com/office/drawing/2014/main" id="{FC42FC97-EFE5-455C-44E7-3EA562179FA1}"/>
              </a:ext>
            </a:extLst>
          </p:cNvPr>
          <p:cNvSpPr txBox="1"/>
          <p:nvPr/>
        </p:nvSpPr>
        <p:spPr>
          <a:xfrm>
            <a:off x="5318664" y="3866337"/>
            <a:ext cx="6520911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419" sz="1500" noProof="0">
                <a:latin typeface="Roboto" panose="02000000000000000000" pitchFamily="2" charset="0"/>
                <a:ea typeface="Roboto" panose="02000000000000000000" pitchFamily="2" charset="0"/>
              </a:rPr>
              <a:t>Se usa para demandar las áreas </a:t>
            </a:r>
            <a:r>
              <a:rPr lang="es-419" sz="1500" b="1" noProof="0">
                <a:latin typeface="Roboto" panose="02000000000000000000" pitchFamily="2" charset="0"/>
                <a:ea typeface="Roboto" panose="02000000000000000000" pitchFamily="2" charset="0"/>
              </a:rPr>
              <a:t>habilitadoras. </a:t>
            </a:r>
            <a:r>
              <a:rPr lang="es-419" sz="1500" noProof="0">
                <a:latin typeface="Roboto" panose="02000000000000000000" pitchFamily="2" charset="0"/>
                <a:ea typeface="Roboto" panose="02000000000000000000" pitchFamily="2" charset="0"/>
              </a:rPr>
              <a:t>Son actividades que van más allá de una tarea y que por su complejidad demandan </a:t>
            </a:r>
            <a:r>
              <a:rPr lang="es-419" sz="1500">
                <a:latin typeface="Roboto" panose="02000000000000000000" pitchFamily="2" charset="0"/>
                <a:ea typeface="Roboto" panose="02000000000000000000" pitchFamily="2" charset="0"/>
              </a:rPr>
              <a:t>un</a:t>
            </a:r>
            <a:r>
              <a:rPr lang="es-419" sz="1500" noProof="0">
                <a:latin typeface="Roboto" panose="02000000000000000000" pitchFamily="2" charset="0"/>
                <a:ea typeface="Roboto" panose="02000000000000000000" pitchFamily="2" charset="0"/>
              </a:rPr>
              <a:t> esfuerzo mayor por parte de </a:t>
            </a:r>
            <a:r>
              <a:rPr lang="es-419" sz="1500">
                <a:latin typeface="Roboto" panose="02000000000000000000" pitchFamily="2" charset="0"/>
                <a:ea typeface="Roboto" panose="02000000000000000000" pitchFamily="2" charset="0"/>
              </a:rPr>
              <a:t>una</a:t>
            </a:r>
            <a:r>
              <a:rPr lang="es-419" sz="1500" noProof="0">
                <a:latin typeface="Roboto" panose="02000000000000000000" pitchFamily="2" charset="0"/>
                <a:ea typeface="Roboto" panose="02000000000000000000" pitchFamily="2" charset="0"/>
              </a:rPr>
              <a:t> Célula/</a:t>
            </a:r>
            <a:r>
              <a:rPr lang="es-419" sz="1500" noProof="0" err="1">
                <a:latin typeface="Roboto" panose="02000000000000000000" pitchFamily="2" charset="0"/>
                <a:ea typeface="Roboto" panose="02000000000000000000" pitchFamily="2" charset="0"/>
              </a:rPr>
              <a:t>CoE</a:t>
            </a:r>
            <a:r>
              <a:rPr lang="es-419" sz="1500" noProof="0">
                <a:latin typeface="Roboto" panose="02000000000000000000" pitchFamily="2" charset="0"/>
                <a:ea typeface="Roboto" panose="02000000000000000000" pitchFamily="2" charset="0"/>
              </a:rPr>
              <a:t>/</a:t>
            </a:r>
            <a:r>
              <a:rPr lang="es-419" sz="1500" noProof="0" err="1">
                <a:latin typeface="Roboto" panose="02000000000000000000" pitchFamily="2" charset="0"/>
                <a:ea typeface="Roboto" panose="02000000000000000000" pitchFamily="2" charset="0"/>
              </a:rPr>
              <a:t>SMT</a:t>
            </a:r>
            <a:r>
              <a:rPr lang="es-419" sz="1500" noProof="0">
                <a:latin typeface="Roboto" panose="02000000000000000000" pitchFamily="2" charset="0"/>
                <a:ea typeface="Roboto" panose="02000000000000000000" pitchFamily="2" charset="0"/>
              </a:rPr>
              <a:t>. </a:t>
            </a:r>
            <a:endParaRPr lang="es-419" sz="1500" noProof="0"/>
          </a:p>
        </p:txBody>
      </p:sp>
      <p:sp>
        <p:nvSpPr>
          <p:cNvPr id="88" name="CuadroTexto 87">
            <a:extLst>
              <a:ext uri="{FF2B5EF4-FFF2-40B4-BE49-F238E27FC236}">
                <a16:creationId xmlns:a16="http://schemas.microsoft.com/office/drawing/2014/main" id="{FC549F47-F41E-CF2F-3894-A02BCC333D2F}"/>
              </a:ext>
            </a:extLst>
          </p:cNvPr>
          <p:cNvSpPr txBox="1"/>
          <p:nvPr/>
        </p:nvSpPr>
        <p:spPr>
          <a:xfrm>
            <a:off x="5318664" y="4932446"/>
            <a:ext cx="6578059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419" sz="1500">
                <a:latin typeface="Roboto" panose="02000000000000000000" pitchFamily="2" charset="0"/>
                <a:ea typeface="Roboto" panose="02000000000000000000" pitchFamily="2" charset="0"/>
              </a:rPr>
              <a:t>Se usa para describir </a:t>
            </a:r>
            <a:r>
              <a:rPr lang="es-419" sz="1500" b="1" noProof="0">
                <a:latin typeface="Roboto" panose="02000000000000000000" pitchFamily="2" charset="0"/>
                <a:ea typeface="Roboto" panose="02000000000000000000" pitchFamily="2" charset="0"/>
              </a:rPr>
              <a:t>las historias de usuario</a:t>
            </a:r>
            <a:r>
              <a:rPr lang="es-419" sz="1500" noProof="0">
                <a:latin typeface="Roboto" panose="02000000000000000000" pitchFamily="2" charset="0"/>
                <a:ea typeface="Roboto" panose="02000000000000000000" pitchFamily="2" charset="0"/>
              </a:rPr>
              <a:t>, que son  una descripción simple y suficiente de una necesidad, explicada desde la perspectiva del cliente o usuario.</a:t>
            </a:r>
          </a:p>
        </p:txBody>
      </p:sp>
      <p:pic>
        <p:nvPicPr>
          <p:cNvPr id="91" name="Picture 2">
            <a:extLst>
              <a:ext uri="{FF2B5EF4-FFF2-40B4-BE49-F238E27FC236}">
                <a16:creationId xmlns:a16="http://schemas.microsoft.com/office/drawing/2014/main" id="{BB569319-9971-FB5A-4FAB-6E9B825D03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88622" y="186100"/>
            <a:ext cx="868630" cy="580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7" name="CuadroTexto 86">
            <a:extLst>
              <a:ext uri="{FF2B5EF4-FFF2-40B4-BE49-F238E27FC236}">
                <a16:creationId xmlns:a16="http://schemas.microsoft.com/office/drawing/2014/main" id="{AC0BE1D1-B527-3631-D3BA-F5C327A65936}"/>
              </a:ext>
            </a:extLst>
          </p:cNvPr>
          <p:cNvSpPr txBox="1"/>
          <p:nvPr/>
        </p:nvSpPr>
        <p:spPr>
          <a:xfrm>
            <a:off x="5318664" y="6079429"/>
            <a:ext cx="652091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419" sz="1500" noProof="0">
                <a:latin typeface="Roboto" panose="02000000000000000000" pitchFamily="2" charset="0"/>
                <a:ea typeface="Roboto" panose="02000000000000000000" pitchFamily="2" charset="0"/>
              </a:rPr>
              <a:t>Este </a:t>
            </a:r>
            <a:r>
              <a:rPr lang="es-419" sz="1500" err="1">
                <a:latin typeface="Roboto" panose="02000000000000000000" pitchFamily="2" charset="0"/>
                <a:ea typeface="Roboto" panose="02000000000000000000" pitchFamily="2" charset="0"/>
              </a:rPr>
              <a:t>item</a:t>
            </a:r>
            <a:r>
              <a:rPr lang="es-419" sz="150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s-419" sz="1500" noProof="0">
                <a:latin typeface="Roboto" panose="02000000000000000000" pitchFamily="2" charset="0"/>
                <a:ea typeface="Roboto" panose="02000000000000000000" pitchFamily="2" charset="0"/>
              </a:rPr>
              <a:t>se usa para registrar los casos de prueba realizados por el equipo de </a:t>
            </a:r>
            <a:r>
              <a:rPr lang="es-419" sz="1500" noProof="0" err="1">
                <a:latin typeface="Roboto" panose="02000000000000000000" pitchFamily="2" charset="0"/>
                <a:ea typeface="Roboto" panose="02000000000000000000" pitchFamily="2" charset="0"/>
              </a:rPr>
              <a:t>QA</a:t>
            </a:r>
            <a:r>
              <a:rPr lang="es-419" sz="1500" noProof="0"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</p:txBody>
      </p:sp>
      <p:sp>
        <p:nvSpPr>
          <p:cNvPr id="95" name="Text 0">
            <a:extLst>
              <a:ext uri="{FF2B5EF4-FFF2-40B4-BE49-F238E27FC236}">
                <a16:creationId xmlns:a16="http://schemas.microsoft.com/office/drawing/2014/main" id="{02B80764-7BC2-9EBE-032A-63529A4D2C61}"/>
              </a:ext>
            </a:extLst>
          </p:cNvPr>
          <p:cNvSpPr/>
          <p:nvPr/>
        </p:nvSpPr>
        <p:spPr>
          <a:xfrm>
            <a:off x="312673" y="145653"/>
            <a:ext cx="7541208" cy="5816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>
              <a:defRPr/>
            </a:pPr>
            <a:r>
              <a:rPr lang="es-419" sz="3600" b="1" noProof="0">
                <a:solidFill>
                  <a:srgbClr val="1E2761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Estructura</a:t>
            </a:r>
            <a:endParaRPr lang="es-419" sz="3600" noProof="0">
              <a:solidFill>
                <a:prstClr val="black"/>
              </a:solidFill>
              <a:latin typeface="Roboto" pitchFamily="2" charset="0"/>
              <a:ea typeface="Roboto" pitchFamily="2" charset="0"/>
            </a:endParaRPr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7F8B3002-F0AA-A3CD-20E9-CFE7F27BDC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69040" y="4062934"/>
            <a:ext cx="846542" cy="846542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284C898F-450C-211A-CC98-EC9CFFA558C4}"/>
              </a:ext>
            </a:extLst>
          </p:cNvPr>
          <p:cNvSpPr txBox="1"/>
          <p:nvPr/>
        </p:nvSpPr>
        <p:spPr>
          <a:xfrm>
            <a:off x="422307" y="4955529"/>
            <a:ext cx="17400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419" sz="1800" b="1" noProof="0">
                <a:latin typeface="Roboto" pitchFamily="2" charset="0"/>
                <a:ea typeface="Roboto" pitchFamily="2" charset="0"/>
                <a:cs typeface="Calibri" pitchFamily="34" charset="-120"/>
              </a:rPr>
              <a:t>Azure DevOps</a:t>
            </a:r>
            <a:endParaRPr lang="es-419"/>
          </a:p>
        </p:txBody>
      </p:sp>
      <p:cxnSp>
        <p:nvCxnSpPr>
          <p:cNvPr id="8" name="Conector: angular 7">
            <a:extLst>
              <a:ext uri="{FF2B5EF4-FFF2-40B4-BE49-F238E27FC236}">
                <a16:creationId xmlns:a16="http://schemas.microsoft.com/office/drawing/2014/main" id="{2DCE2049-7AF0-7FDC-9625-E967CC106DB0}"/>
              </a:ext>
            </a:extLst>
          </p:cNvPr>
          <p:cNvCxnSpPr>
            <a:cxnSpLocks/>
            <a:stCxn id="55" idx="2"/>
            <a:endCxn id="5" idx="0"/>
          </p:cNvCxnSpPr>
          <p:nvPr/>
        </p:nvCxnSpPr>
        <p:spPr>
          <a:xfrm rot="5400000">
            <a:off x="3845363" y="5713727"/>
            <a:ext cx="370773" cy="105058"/>
          </a:xfrm>
          <a:prstGeom prst="bentConnector4">
            <a:avLst>
              <a:gd name="adj1" fmla="val 50000"/>
              <a:gd name="adj2" fmla="val 244106"/>
            </a:avLst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Imagen 4">
            <a:extLst>
              <a:ext uri="{FF2B5EF4-FFF2-40B4-BE49-F238E27FC236}">
                <a16:creationId xmlns:a16="http://schemas.microsoft.com/office/drawing/2014/main" id="{CE85614B-4E55-3A03-F0A4-BC889C52CAB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28253" y="5951643"/>
            <a:ext cx="1699934" cy="5040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273040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bg>
      <p:bgPr>
        <a:solidFill>
          <a:srgbClr val="F4F8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21125A-1CB0-7C9D-13B6-66B113746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Rectángulo: esquinas superiores redondeadas 159">
            <a:extLst>
              <a:ext uri="{FF2B5EF4-FFF2-40B4-BE49-F238E27FC236}">
                <a16:creationId xmlns:a16="http://schemas.microsoft.com/office/drawing/2014/main" id="{EAE2F600-E7EE-5811-1169-EBE095316A81}"/>
              </a:ext>
            </a:extLst>
          </p:cNvPr>
          <p:cNvSpPr/>
          <p:nvPr/>
        </p:nvSpPr>
        <p:spPr>
          <a:xfrm rot="16200000">
            <a:off x="9948841" y="604861"/>
            <a:ext cx="1832019" cy="2679692"/>
          </a:xfrm>
          <a:prstGeom prst="round2SameRect">
            <a:avLst>
              <a:gd name="adj1" fmla="val 11154"/>
              <a:gd name="adj2" fmla="val 0"/>
            </a:avLst>
          </a:prstGeom>
          <a:solidFill>
            <a:srgbClr val="F5F5F5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pic>
        <p:nvPicPr>
          <p:cNvPr id="91" name="Picture 2">
            <a:extLst>
              <a:ext uri="{FF2B5EF4-FFF2-40B4-BE49-F238E27FC236}">
                <a16:creationId xmlns:a16="http://schemas.microsoft.com/office/drawing/2014/main" id="{813826D2-49AD-1FC5-8005-FE15D7534A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5157" y="342804"/>
            <a:ext cx="868630" cy="580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5" name="Text 0">
            <a:extLst>
              <a:ext uri="{FF2B5EF4-FFF2-40B4-BE49-F238E27FC236}">
                <a16:creationId xmlns:a16="http://schemas.microsoft.com/office/drawing/2014/main" id="{C0570A15-76D8-E864-4BB1-7A4761007092}"/>
              </a:ext>
            </a:extLst>
          </p:cNvPr>
          <p:cNvSpPr/>
          <p:nvPr/>
        </p:nvSpPr>
        <p:spPr>
          <a:xfrm>
            <a:off x="312674" y="202099"/>
            <a:ext cx="7541208" cy="5816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>
              <a:defRPr/>
            </a:pPr>
            <a:r>
              <a:rPr lang="es-419" sz="3600" b="1" noProof="0">
                <a:solidFill>
                  <a:srgbClr val="1E2761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Estructura Azure DevOps</a:t>
            </a:r>
            <a:endParaRPr lang="es-419" sz="3600" noProof="0">
              <a:solidFill>
                <a:prstClr val="black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79AE93E4-DCB3-B781-454E-74D462828F8C}"/>
              </a:ext>
            </a:extLst>
          </p:cNvPr>
          <p:cNvSpPr txBox="1"/>
          <p:nvPr/>
        </p:nvSpPr>
        <p:spPr>
          <a:xfrm>
            <a:off x="7193601" y="4377914"/>
            <a:ext cx="8340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100">
                <a:solidFill>
                  <a:schemeClr val="bg1">
                    <a:lumMod val="65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Tested By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8A496FBA-EFFA-4AD1-54E2-F185EE2BDB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2860" y="1628123"/>
            <a:ext cx="1519305" cy="540000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0ECA981A-68B3-9CFB-4C9C-80E73422363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17960"/>
          <a:stretch>
            <a:fillRect/>
          </a:stretch>
        </p:blipFill>
        <p:spPr>
          <a:xfrm>
            <a:off x="5448400" y="2529161"/>
            <a:ext cx="1368225" cy="540000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EDE92D0D-6D1D-0901-A638-05B0CD05C8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0215" y="3447006"/>
            <a:ext cx="1664595" cy="540000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B40BD2CE-2A13-C8F7-B3C6-7DE29F02634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27958" y="4383093"/>
            <a:ext cx="2014410" cy="540000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3CFC15B9-084E-E262-B04E-238775F43B6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08926" y="4383093"/>
            <a:ext cx="2330790" cy="540000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43" name="Imagen 42">
            <a:extLst>
              <a:ext uri="{FF2B5EF4-FFF2-40B4-BE49-F238E27FC236}">
                <a16:creationId xmlns:a16="http://schemas.microsoft.com/office/drawing/2014/main" id="{97A6AFB6-6440-E2A2-7495-4ED60A9A25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6719" y="1628123"/>
            <a:ext cx="1519308" cy="540000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55" name="CuadroTexto 54">
            <a:extLst>
              <a:ext uri="{FF2B5EF4-FFF2-40B4-BE49-F238E27FC236}">
                <a16:creationId xmlns:a16="http://schemas.microsoft.com/office/drawing/2014/main" id="{A48ECFC6-56AA-1DF4-B620-DC7540A93306}"/>
              </a:ext>
            </a:extLst>
          </p:cNvPr>
          <p:cNvSpPr txBox="1"/>
          <p:nvPr/>
        </p:nvSpPr>
        <p:spPr>
          <a:xfrm>
            <a:off x="3207473" y="1360314"/>
            <a:ext cx="11777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100" err="1">
                <a:solidFill>
                  <a:schemeClr val="accent1">
                    <a:lumMod val="50000"/>
                  </a:schemeClr>
                </a:solidFill>
                <a:latin typeface="Roboto Bk" pitchFamily="2" charset="0"/>
                <a:ea typeface="Roboto Bk" pitchFamily="2" charset="0"/>
              </a:rPr>
              <a:t>Eq</a:t>
            </a:r>
            <a:r>
              <a:rPr lang="es-CO" sz="1100">
                <a:solidFill>
                  <a:schemeClr val="accent1">
                    <a:lumMod val="50000"/>
                  </a:schemeClr>
                </a:solidFill>
                <a:latin typeface="Roboto Bk" pitchFamily="2" charset="0"/>
                <a:ea typeface="Roboto Bk" pitchFamily="2" charset="0"/>
              </a:rPr>
              <a:t>. Habilitador</a:t>
            </a:r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A03076A6-A55B-F805-3CE8-2903DBDBEFCD}"/>
              </a:ext>
            </a:extLst>
          </p:cNvPr>
          <p:cNvSpPr txBox="1"/>
          <p:nvPr/>
        </p:nvSpPr>
        <p:spPr>
          <a:xfrm>
            <a:off x="5543613" y="1360314"/>
            <a:ext cx="11777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100">
                <a:solidFill>
                  <a:schemeClr val="accent1">
                    <a:lumMod val="50000"/>
                  </a:schemeClr>
                </a:solidFill>
                <a:latin typeface="Roboto Bk" pitchFamily="2" charset="0"/>
                <a:ea typeface="Roboto Bk" pitchFamily="2" charset="0"/>
              </a:rPr>
              <a:t>Equipo Negocio</a:t>
            </a:r>
          </a:p>
        </p:txBody>
      </p:sp>
      <p:pic>
        <p:nvPicPr>
          <p:cNvPr id="61" name="Imagen 60">
            <a:extLst>
              <a:ext uri="{FF2B5EF4-FFF2-40B4-BE49-F238E27FC236}">
                <a16:creationId xmlns:a16="http://schemas.microsoft.com/office/drawing/2014/main" id="{65822EA2-71F3-0179-7643-639A13B6A302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r="40915"/>
          <a:stretch>
            <a:fillRect/>
          </a:stretch>
        </p:blipFill>
        <p:spPr>
          <a:xfrm>
            <a:off x="3021893" y="5959773"/>
            <a:ext cx="1603695" cy="540000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67" name="Imagen 66">
            <a:extLst>
              <a:ext uri="{FF2B5EF4-FFF2-40B4-BE49-F238E27FC236}">
                <a16:creationId xmlns:a16="http://schemas.microsoft.com/office/drawing/2014/main" id="{6BB36BDE-AFC7-D67A-E461-FE1D76A4A1B5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r="37822"/>
          <a:stretch>
            <a:fillRect/>
          </a:stretch>
        </p:blipFill>
        <p:spPr>
          <a:xfrm>
            <a:off x="5335674" y="5959773"/>
            <a:ext cx="1603695" cy="540000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70" name="Imagen 69">
            <a:extLst>
              <a:ext uri="{FF2B5EF4-FFF2-40B4-BE49-F238E27FC236}">
                <a16:creationId xmlns:a16="http://schemas.microsoft.com/office/drawing/2014/main" id="{983C2C3F-8BDF-C838-4A68-66240559E52E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r="41525"/>
          <a:stretch>
            <a:fillRect/>
          </a:stretch>
        </p:blipFill>
        <p:spPr>
          <a:xfrm>
            <a:off x="9860532" y="2130190"/>
            <a:ext cx="1260289" cy="460527"/>
          </a:xfrm>
          <a:prstGeom prst="rect">
            <a:avLst/>
          </a:prstGeom>
        </p:spPr>
      </p:pic>
      <p:pic>
        <p:nvPicPr>
          <p:cNvPr id="72" name="Imagen 71">
            <a:extLst>
              <a:ext uri="{FF2B5EF4-FFF2-40B4-BE49-F238E27FC236}">
                <a16:creationId xmlns:a16="http://schemas.microsoft.com/office/drawing/2014/main" id="{A97C8BA7-0BEE-A0ED-2BDA-D39475C377EE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r="41621"/>
          <a:stretch>
            <a:fillRect/>
          </a:stretch>
        </p:blipFill>
        <p:spPr>
          <a:xfrm>
            <a:off x="7649456" y="5959773"/>
            <a:ext cx="1512343" cy="540000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74" name="Imagen 73">
            <a:extLst>
              <a:ext uri="{FF2B5EF4-FFF2-40B4-BE49-F238E27FC236}">
                <a16:creationId xmlns:a16="http://schemas.microsoft.com/office/drawing/2014/main" id="{48943E28-3635-B69C-23B4-EC0D3220A010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r="8902"/>
          <a:stretch>
            <a:fillRect/>
          </a:stretch>
        </p:blipFill>
        <p:spPr>
          <a:xfrm>
            <a:off x="9860532" y="1677217"/>
            <a:ext cx="2103255" cy="454386"/>
          </a:xfrm>
          <a:prstGeom prst="rect">
            <a:avLst/>
          </a:prstGeom>
        </p:spPr>
      </p:pic>
      <p:cxnSp>
        <p:nvCxnSpPr>
          <p:cNvPr id="52" name="Conector recto de flecha 218">
            <a:extLst>
              <a:ext uri="{FF2B5EF4-FFF2-40B4-BE49-F238E27FC236}">
                <a16:creationId xmlns:a16="http://schemas.microsoft.com/office/drawing/2014/main" id="{A9492D58-B98C-10EC-3E75-A37595EE2F9A}"/>
              </a:ext>
            </a:extLst>
          </p:cNvPr>
          <p:cNvCxnSpPr>
            <a:cxnSpLocks/>
            <a:stCxn id="20" idx="1"/>
            <a:endCxn id="43" idx="1"/>
          </p:cNvCxnSpPr>
          <p:nvPr/>
        </p:nvCxnSpPr>
        <p:spPr>
          <a:xfrm rot="10800000" flipH="1">
            <a:off x="2008925" y="1898123"/>
            <a:ext cx="1027793" cy="2754970"/>
          </a:xfrm>
          <a:prstGeom prst="bentConnector3">
            <a:avLst>
              <a:gd name="adj1" fmla="val -22242"/>
            </a:avLst>
          </a:prstGeom>
          <a:ln w="19050">
            <a:solidFill>
              <a:schemeClr val="bg1">
                <a:lumMod val="75000"/>
              </a:schemeClr>
            </a:solidFill>
            <a:prstDash val="sysDash"/>
            <a:headEnd type="oval" w="med" len="med"/>
            <a:tailEnd type="stealth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Conector recto de flecha 81">
            <a:extLst>
              <a:ext uri="{FF2B5EF4-FFF2-40B4-BE49-F238E27FC236}">
                <a16:creationId xmlns:a16="http://schemas.microsoft.com/office/drawing/2014/main" id="{824E9A7D-DBE8-186D-C62D-0FDE633834C7}"/>
              </a:ext>
            </a:extLst>
          </p:cNvPr>
          <p:cNvCxnSpPr>
            <a:cxnSpLocks/>
            <a:stCxn id="8" idx="2"/>
            <a:endCxn id="14" idx="0"/>
          </p:cNvCxnSpPr>
          <p:nvPr/>
        </p:nvCxnSpPr>
        <p:spPr>
          <a:xfrm>
            <a:off x="6132513" y="2168123"/>
            <a:ext cx="0" cy="361038"/>
          </a:xfrm>
          <a:prstGeom prst="straightConnector1">
            <a:avLst/>
          </a:prstGeom>
          <a:ln w="19050">
            <a:solidFill>
              <a:schemeClr val="bg1">
                <a:lumMod val="75000"/>
              </a:schemeClr>
            </a:solidFill>
            <a:prstDash val="sysDash"/>
            <a:headEnd type="oval" w="med" len="med"/>
            <a:tailEnd type="stealth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3" name="Conector recto de flecha 82">
            <a:extLst>
              <a:ext uri="{FF2B5EF4-FFF2-40B4-BE49-F238E27FC236}">
                <a16:creationId xmlns:a16="http://schemas.microsoft.com/office/drawing/2014/main" id="{788DF388-7D07-DC54-CCA3-FC0B9519F927}"/>
              </a:ext>
            </a:extLst>
          </p:cNvPr>
          <p:cNvCxnSpPr>
            <a:cxnSpLocks/>
            <a:stCxn id="14" idx="2"/>
            <a:endCxn id="16" idx="0"/>
          </p:cNvCxnSpPr>
          <p:nvPr/>
        </p:nvCxnSpPr>
        <p:spPr>
          <a:xfrm>
            <a:off x="6132513" y="3069161"/>
            <a:ext cx="0" cy="377845"/>
          </a:xfrm>
          <a:prstGeom prst="straightConnector1">
            <a:avLst/>
          </a:prstGeom>
          <a:ln w="19050">
            <a:solidFill>
              <a:schemeClr val="bg1">
                <a:lumMod val="75000"/>
              </a:schemeClr>
            </a:solidFill>
            <a:prstDash val="sysDash"/>
            <a:headEnd type="oval" w="med" len="med"/>
            <a:tailEnd type="stealth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7" name="Conector recto de flecha 218">
            <a:extLst>
              <a:ext uri="{FF2B5EF4-FFF2-40B4-BE49-F238E27FC236}">
                <a16:creationId xmlns:a16="http://schemas.microsoft.com/office/drawing/2014/main" id="{DC778439-22E4-9C69-40FF-BE477FBEA664}"/>
              </a:ext>
            </a:extLst>
          </p:cNvPr>
          <p:cNvCxnSpPr>
            <a:cxnSpLocks/>
            <a:stCxn id="16" idx="2"/>
            <a:endCxn id="20" idx="0"/>
          </p:cNvCxnSpPr>
          <p:nvPr/>
        </p:nvCxnSpPr>
        <p:spPr>
          <a:xfrm rot="5400000">
            <a:off x="4455374" y="2705953"/>
            <a:ext cx="396087" cy="2958192"/>
          </a:xfrm>
          <a:prstGeom prst="bentConnector3">
            <a:avLst>
              <a:gd name="adj1" fmla="val 50000"/>
            </a:avLst>
          </a:prstGeom>
          <a:ln w="19050">
            <a:solidFill>
              <a:schemeClr val="bg1">
                <a:lumMod val="75000"/>
              </a:schemeClr>
            </a:solidFill>
            <a:prstDash val="sysDash"/>
            <a:headEnd type="oval" w="med" len="med"/>
            <a:tailEnd type="stealth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4" name="Conector recto de flecha 218">
            <a:extLst>
              <a:ext uri="{FF2B5EF4-FFF2-40B4-BE49-F238E27FC236}">
                <a16:creationId xmlns:a16="http://schemas.microsoft.com/office/drawing/2014/main" id="{D440AE4C-8227-03B4-8EB1-400B1DAB146D}"/>
              </a:ext>
            </a:extLst>
          </p:cNvPr>
          <p:cNvCxnSpPr>
            <a:cxnSpLocks/>
          </p:cNvCxnSpPr>
          <p:nvPr/>
        </p:nvCxnSpPr>
        <p:spPr>
          <a:xfrm rot="5400000">
            <a:off x="5937058" y="4182460"/>
            <a:ext cx="390909" cy="1"/>
          </a:xfrm>
          <a:prstGeom prst="bentConnector3">
            <a:avLst>
              <a:gd name="adj1" fmla="val 50000"/>
            </a:avLst>
          </a:prstGeom>
          <a:ln w="19050">
            <a:solidFill>
              <a:schemeClr val="bg1">
                <a:lumMod val="75000"/>
              </a:schemeClr>
            </a:solidFill>
            <a:prstDash val="sysDash"/>
            <a:headEnd type="oval" w="med" len="med"/>
            <a:tailEnd type="stealth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0" name="Conector recto de flecha 218">
            <a:extLst>
              <a:ext uri="{FF2B5EF4-FFF2-40B4-BE49-F238E27FC236}">
                <a16:creationId xmlns:a16="http://schemas.microsoft.com/office/drawing/2014/main" id="{18BADCBF-AA0C-3AD0-5EB7-0DBE21DE7544}"/>
              </a:ext>
            </a:extLst>
          </p:cNvPr>
          <p:cNvCxnSpPr>
            <a:cxnSpLocks/>
            <a:stCxn id="19" idx="2"/>
            <a:endCxn id="61" idx="0"/>
          </p:cNvCxnSpPr>
          <p:nvPr/>
        </p:nvCxnSpPr>
        <p:spPr>
          <a:xfrm rot="5400000">
            <a:off x="4461112" y="4285722"/>
            <a:ext cx="1036680" cy="2311422"/>
          </a:xfrm>
          <a:prstGeom prst="bentConnector3">
            <a:avLst>
              <a:gd name="adj1" fmla="val 50000"/>
            </a:avLst>
          </a:prstGeom>
          <a:ln w="19050">
            <a:solidFill>
              <a:schemeClr val="bg1">
                <a:lumMod val="75000"/>
              </a:schemeClr>
            </a:solidFill>
            <a:prstDash val="sysDash"/>
            <a:headEnd type="oval" w="med" len="med"/>
            <a:tailEnd type="stealth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3" name="Conector recto de flecha 218">
            <a:extLst>
              <a:ext uri="{FF2B5EF4-FFF2-40B4-BE49-F238E27FC236}">
                <a16:creationId xmlns:a16="http://schemas.microsoft.com/office/drawing/2014/main" id="{1E24EA87-F038-78A1-380E-687A84D5FEAD}"/>
              </a:ext>
            </a:extLst>
          </p:cNvPr>
          <p:cNvCxnSpPr>
            <a:cxnSpLocks/>
            <a:stCxn id="19" idx="2"/>
            <a:endCxn id="67" idx="0"/>
          </p:cNvCxnSpPr>
          <p:nvPr/>
        </p:nvCxnSpPr>
        <p:spPr>
          <a:xfrm rot="16200000" flipH="1">
            <a:off x="5618002" y="5440253"/>
            <a:ext cx="1036680" cy="2359"/>
          </a:xfrm>
          <a:prstGeom prst="bentConnector3">
            <a:avLst>
              <a:gd name="adj1" fmla="val 50000"/>
            </a:avLst>
          </a:prstGeom>
          <a:ln w="19050">
            <a:solidFill>
              <a:schemeClr val="bg1">
                <a:lumMod val="75000"/>
              </a:schemeClr>
            </a:solidFill>
            <a:prstDash val="sysDash"/>
            <a:headEnd type="oval" w="med" len="med"/>
            <a:tailEnd type="stealth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6" name="Conector recto de flecha 218">
            <a:extLst>
              <a:ext uri="{FF2B5EF4-FFF2-40B4-BE49-F238E27FC236}">
                <a16:creationId xmlns:a16="http://schemas.microsoft.com/office/drawing/2014/main" id="{F6A15440-FB2E-2AFD-AC7D-4783155B916F}"/>
              </a:ext>
            </a:extLst>
          </p:cNvPr>
          <p:cNvCxnSpPr>
            <a:cxnSpLocks/>
            <a:stCxn id="20" idx="2"/>
          </p:cNvCxnSpPr>
          <p:nvPr/>
        </p:nvCxnSpPr>
        <p:spPr>
          <a:xfrm rot="16200000" flipH="1">
            <a:off x="2782455" y="5314959"/>
            <a:ext cx="1036679" cy="252946"/>
          </a:xfrm>
          <a:prstGeom prst="bentConnector3">
            <a:avLst>
              <a:gd name="adj1" fmla="val 50000"/>
            </a:avLst>
          </a:prstGeom>
          <a:ln w="19050">
            <a:solidFill>
              <a:schemeClr val="bg1">
                <a:lumMod val="75000"/>
              </a:schemeClr>
            </a:solidFill>
            <a:prstDash val="sysDash"/>
            <a:headEnd type="oval" w="med" len="med"/>
            <a:tailEnd type="stealth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CuadroTexto 53">
            <a:extLst>
              <a:ext uri="{FF2B5EF4-FFF2-40B4-BE49-F238E27FC236}">
                <a16:creationId xmlns:a16="http://schemas.microsoft.com/office/drawing/2014/main" id="{E2DAB62F-8B45-AF6F-1187-E8A1F8D4F366}"/>
              </a:ext>
            </a:extLst>
          </p:cNvPr>
          <p:cNvSpPr txBox="1"/>
          <p:nvPr/>
        </p:nvSpPr>
        <p:spPr>
          <a:xfrm rot="16200000">
            <a:off x="1103550" y="3047816"/>
            <a:ext cx="107677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algn="ctr">
              <a:defRPr sz="110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defRPr>
            </a:lvl1pPr>
          </a:lstStyle>
          <a:p>
            <a:r>
              <a:rPr lang="es-CO" err="1">
                <a:solidFill>
                  <a:schemeClr val="bg1">
                    <a:lumMod val="65000"/>
                  </a:schemeClr>
                </a:solidFill>
              </a:rPr>
              <a:t>Contribute</a:t>
            </a:r>
            <a:r>
              <a:rPr lang="es-CO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s-CO" err="1">
                <a:solidFill>
                  <a:schemeClr val="bg1">
                    <a:lumMod val="65000"/>
                  </a:schemeClr>
                </a:solidFill>
              </a:rPr>
              <a:t>to</a:t>
            </a:r>
            <a:endParaRPr lang="es-CO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53" name="CuadroTexto 152">
            <a:extLst>
              <a:ext uri="{FF2B5EF4-FFF2-40B4-BE49-F238E27FC236}">
                <a16:creationId xmlns:a16="http://schemas.microsoft.com/office/drawing/2014/main" id="{A7AE5122-8B39-CC4E-034A-6F1ABCCD423B}"/>
              </a:ext>
            </a:extLst>
          </p:cNvPr>
          <p:cNvSpPr txBox="1"/>
          <p:nvPr/>
        </p:nvSpPr>
        <p:spPr>
          <a:xfrm>
            <a:off x="6132511" y="2225754"/>
            <a:ext cx="5327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100">
                <a:solidFill>
                  <a:schemeClr val="bg1">
                    <a:lumMod val="65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Child</a:t>
            </a:r>
          </a:p>
        </p:txBody>
      </p:sp>
      <p:sp>
        <p:nvSpPr>
          <p:cNvPr id="154" name="CuadroTexto 153">
            <a:extLst>
              <a:ext uri="{FF2B5EF4-FFF2-40B4-BE49-F238E27FC236}">
                <a16:creationId xmlns:a16="http://schemas.microsoft.com/office/drawing/2014/main" id="{BF863E28-6B6B-50E4-6211-1B2B97714FFD}"/>
              </a:ext>
            </a:extLst>
          </p:cNvPr>
          <p:cNvSpPr txBox="1"/>
          <p:nvPr/>
        </p:nvSpPr>
        <p:spPr>
          <a:xfrm>
            <a:off x="6132511" y="3125580"/>
            <a:ext cx="5327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100">
                <a:solidFill>
                  <a:schemeClr val="bg1">
                    <a:lumMod val="65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Child</a:t>
            </a:r>
          </a:p>
        </p:txBody>
      </p:sp>
      <p:sp>
        <p:nvSpPr>
          <p:cNvPr id="155" name="CuadroTexto 154">
            <a:extLst>
              <a:ext uri="{FF2B5EF4-FFF2-40B4-BE49-F238E27FC236}">
                <a16:creationId xmlns:a16="http://schemas.microsoft.com/office/drawing/2014/main" id="{D822C4A7-1C48-D988-8673-4BE009BAAD2E}"/>
              </a:ext>
            </a:extLst>
          </p:cNvPr>
          <p:cNvSpPr txBox="1"/>
          <p:nvPr/>
        </p:nvSpPr>
        <p:spPr>
          <a:xfrm>
            <a:off x="4374825" y="3920850"/>
            <a:ext cx="5327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100">
                <a:solidFill>
                  <a:schemeClr val="bg1">
                    <a:lumMod val="65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Child</a:t>
            </a:r>
          </a:p>
        </p:txBody>
      </p:sp>
      <p:sp>
        <p:nvSpPr>
          <p:cNvPr id="156" name="CuadroTexto 155">
            <a:extLst>
              <a:ext uri="{FF2B5EF4-FFF2-40B4-BE49-F238E27FC236}">
                <a16:creationId xmlns:a16="http://schemas.microsoft.com/office/drawing/2014/main" id="{9D90DEC5-13F3-4BEA-A0D2-526904D11A50}"/>
              </a:ext>
            </a:extLst>
          </p:cNvPr>
          <p:cNvSpPr txBox="1"/>
          <p:nvPr/>
        </p:nvSpPr>
        <p:spPr>
          <a:xfrm>
            <a:off x="2889735" y="5536497"/>
            <a:ext cx="5327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100">
                <a:solidFill>
                  <a:schemeClr val="bg1">
                    <a:lumMod val="65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Child</a:t>
            </a:r>
          </a:p>
        </p:txBody>
      </p:sp>
      <p:sp>
        <p:nvSpPr>
          <p:cNvPr id="157" name="CuadroTexto 156">
            <a:extLst>
              <a:ext uri="{FF2B5EF4-FFF2-40B4-BE49-F238E27FC236}">
                <a16:creationId xmlns:a16="http://schemas.microsoft.com/office/drawing/2014/main" id="{DC4ADDBA-319B-1A9F-E941-2B78552F1C18}"/>
              </a:ext>
            </a:extLst>
          </p:cNvPr>
          <p:cNvSpPr txBox="1"/>
          <p:nvPr/>
        </p:nvSpPr>
        <p:spPr>
          <a:xfrm>
            <a:off x="5594017" y="5580394"/>
            <a:ext cx="5327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100">
                <a:solidFill>
                  <a:schemeClr val="bg1">
                    <a:lumMod val="65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Child</a:t>
            </a:r>
          </a:p>
        </p:txBody>
      </p:sp>
      <p:sp>
        <p:nvSpPr>
          <p:cNvPr id="158" name="CuadroTexto 157">
            <a:extLst>
              <a:ext uri="{FF2B5EF4-FFF2-40B4-BE49-F238E27FC236}">
                <a16:creationId xmlns:a16="http://schemas.microsoft.com/office/drawing/2014/main" id="{98C6254D-8F79-448F-BF3A-A3751AAAB0A5}"/>
              </a:ext>
            </a:extLst>
          </p:cNvPr>
          <p:cNvSpPr txBox="1"/>
          <p:nvPr/>
        </p:nvSpPr>
        <p:spPr>
          <a:xfrm>
            <a:off x="3860134" y="5538943"/>
            <a:ext cx="5327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100">
                <a:solidFill>
                  <a:schemeClr val="bg1">
                    <a:lumMod val="65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Child</a:t>
            </a:r>
          </a:p>
        </p:txBody>
      </p:sp>
      <p:sp>
        <p:nvSpPr>
          <p:cNvPr id="159" name="Text 11">
            <a:extLst>
              <a:ext uri="{FF2B5EF4-FFF2-40B4-BE49-F238E27FC236}">
                <a16:creationId xmlns:a16="http://schemas.microsoft.com/office/drawing/2014/main" id="{872883C9-7659-94C4-11E6-E89209D5EF50}"/>
              </a:ext>
            </a:extLst>
          </p:cNvPr>
          <p:cNvSpPr/>
          <p:nvPr/>
        </p:nvSpPr>
        <p:spPr>
          <a:xfrm>
            <a:off x="9860532" y="1189542"/>
            <a:ext cx="1820356" cy="36576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s-419" sz="1600" b="1" kern="0" spc="267" noProof="0">
                <a:solidFill>
                  <a:srgbClr val="0070C0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Otros </a:t>
            </a:r>
            <a:r>
              <a:rPr lang="es-419" sz="1600" b="1" kern="0" spc="267" noProof="0" err="1">
                <a:solidFill>
                  <a:srgbClr val="0070C0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Items</a:t>
            </a:r>
            <a:endParaRPr lang="es-419" sz="1600" noProof="0">
              <a:solidFill>
                <a:srgbClr val="0070C0"/>
              </a:solidFill>
              <a:latin typeface="Roboto" pitchFamily="2" charset="0"/>
              <a:ea typeface="Roboto" pitchFamily="2" charset="0"/>
            </a:endParaRPr>
          </a:p>
        </p:txBody>
      </p:sp>
      <p:cxnSp>
        <p:nvCxnSpPr>
          <p:cNvPr id="165" name="Conector recto de flecha 218">
            <a:extLst>
              <a:ext uri="{FF2B5EF4-FFF2-40B4-BE49-F238E27FC236}">
                <a16:creationId xmlns:a16="http://schemas.microsoft.com/office/drawing/2014/main" id="{29564BA3-DA54-84E8-67EB-EC86EFD2FBA2}"/>
              </a:ext>
            </a:extLst>
          </p:cNvPr>
          <p:cNvCxnSpPr>
            <a:cxnSpLocks/>
            <a:stCxn id="16" idx="2"/>
            <a:endCxn id="5" idx="0"/>
          </p:cNvCxnSpPr>
          <p:nvPr/>
        </p:nvCxnSpPr>
        <p:spPr>
          <a:xfrm rot="16200000" flipH="1">
            <a:off x="7297217" y="2822302"/>
            <a:ext cx="396087" cy="2725494"/>
          </a:xfrm>
          <a:prstGeom prst="bentConnector4">
            <a:avLst>
              <a:gd name="adj1" fmla="val 50000"/>
              <a:gd name="adj2" fmla="val 107680"/>
            </a:avLst>
          </a:prstGeom>
          <a:ln w="19050">
            <a:solidFill>
              <a:schemeClr val="bg1">
                <a:lumMod val="75000"/>
              </a:schemeClr>
            </a:solidFill>
            <a:prstDash val="sysDash"/>
            <a:headEnd type="oval" w="med" len="med"/>
            <a:tailEnd type="stealth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2" name="Conector recto de flecha 218">
            <a:extLst>
              <a:ext uri="{FF2B5EF4-FFF2-40B4-BE49-F238E27FC236}">
                <a16:creationId xmlns:a16="http://schemas.microsoft.com/office/drawing/2014/main" id="{B71F0066-A201-B2DB-D343-49E41BF2202C}"/>
              </a:ext>
            </a:extLst>
          </p:cNvPr>
          <p:cNvCxnSpPr>
            <a:cxnSpLocks/>
            <a:stCxn id="19" idx="2"/>
            <a:endCxn id="72" idx="0"/>
          </p:cNvCxnSpPr>
          <p:nvPr/>
        </p:nvCxnSpPr>
        <p:spPr>
          <a:xfrm rot="16200000" flipH="1">
            <a:off x="6752055" y="4306200"/>
            <a:ext cx="1036680" cy="2270465"/>
          </a:xfrm>
          <a:prstGeom prst="bentConnector3">
            <a:avLst>
              <a:gd name="adj1" fmla="val 50000"/>
            </a:avLst>
          </a:prstGeom>
          <a:ln w="19050">
            <a:solidFill>
              <a:schemeClr val="bg1">
                <a:lumMod val="75000"/>
              </a:schemeClr>
            </a:solidFill>
            <a:prstDash val="sysDash"/>
            <a:headEnd type="oval" w="med" len="med"/>
            <a:tailEnd type="stealth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5" name="CuadroTexto 174">
            <a:extLst>
              <a:ext uri="{FF2B5EF4-FFF2-40B4-BE49-F238E27FC236}">
                <a16:creationId xmlns:a16="http://schemas.microsoft.com/office/drawing/2014/main" id="{68F19347-E433-06C9-5504-8664CF8B2E50}"/>
              </a:ext>
            </a:extLst>
          </p:cNvPr>
          <p:cNvSpPr txBox="1"/>
          <p:nvPr/>
        </p:nvSpPr>
        <p:spPr>
          <a:xfrm>
            <a:off x="7848164" y="5580394"/>
            <a:ext cx="5327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100">
                <a:solidFill>
                  <a:schemeClr val="bg1">
                    <a:lumMod val="65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Child</a:t>
            </a:r>
          </a:p>
        </p:txBody>
      </p:sp>
      <p:sp>
        <p:nvSpPr>
          <p:cNvPr id="176" name="CuadroTexto 175">
            <a:extLst>
              <a:ext uri="{FF2B5EF4-FFF2-40B4-BE49-F238E27FC236}">
                <a16:creationId xmlns:a16="http://schemas.microsoft.com/office/drawing/2014/main" id="{09E3D99D-2B33-0B8F-1216-AA1747C4F28D}"/>
              </a:ext>
            </a:extLst>
          </p:cNvPr>
          <p:cNvSpPr txBox="1"/>
          <p:nvPr/>
        </p:nvSpPr>
        <p:spPr>
          <a:xfrm>
            <a:off x="7344246" y="3890564"/>
            <a:ext cx="5327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100">
                <a:solidFill>
                  <a:schemeClr val="bg1">
                    <a:lumMod val="65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Child</a:t>
            </a:r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B12376A3-63E7-5D54-57C6-1CC9B7C392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755355" y="163505"/>
            <a:ext cx="754316" cy="754316"/>
          </a:xfrm>
          <a:prstGeom prst="rect">
            <a:avLst/>
          </a:prstGeom>
        </p:spPr>
      </p:pic>
      <p:grpSp>
        <p:nvGrpSpPr>
          <p:cNvPr id="4" name="Grupo 3">
            <a:extLst>
              <a:ext uri="{FF2B5EF4-FFF2-40B4-BE49-F238E27FC236}">
                <a16:creationId xmlns:a16="http://schemas.microsoft.com/office/drawing/2014/main" id="{EC20523C-8261-33E4-D2D1-30F63A3D2AB9}"/>
              </a:ext>
            </a:extLst>
          </p:cNvPr>
          <p:cNvGrpSpPr/>
          <p:nvPr/>
        </p:nvGrpSpPr>
        <p:grpSpPr>
          <a:xfrm>
            <a:off x="312674" y="991173"/>
            <a:ext cx="1177799" cy="563305"/>
            <a:chOff x="314192" y="955061"/>
            <a:chExt cx="1177799" cy="563305"/>
          </a:xfrm>
        </p:grpSpPr>
        <p:sp>
          <p:nvSpPr>
            <p:cNvPr id="3" name="Rectángulo: esquinas redondeadas 2">
              <a:extLst>
                <a:ext uri="{FF2B5EF4-FFF2-40B4-BE49-F238E27FC236}">
                  <a16:creationId xmlns:a16="http://schemas.microsoft.com/office/drawing/2014/main" id="{03889DC3-48C1-7260-1811-915596ACB1D4}"/>
                </a:ext>
              </a:extLst>
            </p:cNvPr>
            <p:cNvSpPr/>
            <p:nvPr/>
          </p:nvSpPr>
          <p:spPr>
            <a:xfrm>
              <a:off x="314192" y="955061"/>
              <a:ext cx="1177799" cy="563305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/>
            </a:p>
          </p:txBody>
        </p:sp>
        <p:cxnSp>
          <p:nvCxnSpPr>
            <p:cNvPr id="149" name="Conector recto de flecha 148">
              <a:extLst>
                <a:ext uri="{FF2B5EF4-FFF2-40B4-BE49-F238E27FC236}">
                  <a16:creationId xmlns:a16="http://schemas.microsoft.com/office/drawing/2014/main" id="{74C7A0FD-ABC1-9E2E-AE06-B62BB61B0F2C}"/>
                </a:ext>
              </a:extLst>
            </p:cNvPr>
            <p:cNvCxnSpPr>
              <a:cxnSpLocks/>
            </p:cNvCxnSpPr>
            <p:nvPr/>
          </p:nvCxnSpPr>
          <p:spPr>
            <a:xfrm>
              <a:off x="437373" y="1356884"/>
              <a:ext cx="931437" cy="0"/>
            </a:xfrm>
            <a:prstGeom prst="straightConnector1">
              <a:avLst/>
            </a:prstGeom>
            <a:ln w="19050">
              <a:solidFill>
                <a:schemeClr val="bg1">
                  <a:lumMod val="75000"/>
                </a:schemeClr>
              </a:solidFill>
              <a:prstDash val="sysDash"/>
              <a:headEnd type="oval" w="sm" len="sm"/>
              <a:tailEnd type="stealth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52" name="CuadroTexto 151">
              <a:extLst>
                <a:ext uri="{FF2B5EF4-FFF2-40B4-BE49-F238E27FC236}">
                  <a16:creationId xmlns:a16="http://schemas.microsoft.com/office/drawing/2014/main" id="{C8380602-F05B-2929-87D3-BC55DCCB51B1}"/>
                </a:ext>
              </a:extLst>
            </p:cNvPr>
            <p:cNvSpPr txBox="1"/>
            <p:nvPr/>
          </p:nvSpPr>
          <p:spPr>
            <a:xfrm>
              <a:off x="486057" y="1046755"/>
              <a:ext cx="83406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100">
                  <a:solidFill>
                    <a:schemeClr val="bg1">
                      <a:lumMod val="65000"/>
                    </a:schemeClr>
                  </a:solidFill>
                  <a:latin typeface="Roboto Condensed" panose="02000000000000000000" pitchFamily="2" charset="0"/>
                  <a:ea typeface="Roboto Condensed" panose="02000000000000000000" pitchFamily="2" charset="0"/>
                  <a:cs typeface="Roboto Condensed" panose="02000000000000000000" pitchFamily="2" charset="0"/>
                </a:rPr>
                <a:t>Relación</a:t>
              </a:r>
            </a:p>
          </p:txBody>
        </p:sp>
      </p:grpSp>
      <p:pic>
        <p:nvPicPr>
          <p:cNvPr id="5" name="Imagen 4">
            <a:extLst>
              <a:ext uri="{FF2B5EF4-FFF2-40B4-BE49-F238E27FC236}">
                <a16:creationId xmlns:a16="http://schemas.microsoft.com/office/drawing/2014/main" id="{94063DD3-BE38-EBB8-9026-4756FF42EE70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947328" y="4383093"/>
            <a:ext cx="1821358" cy="540000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cxnSp>
        <p:nvCxnSpPr>
          <p:cNvPr id="117" name="Conector recto de flecha 116">
            <a:extLst>
              <a:ext uri="{FF2B5EF4-FFF2-40B4-BE49-F238E27FC236}">
                <a16:creationId xmlns:a16="http://schemas.microsoft.com/office/drawing/2014/main" id="{0BC506CF-48D5-C906-93AF-278F9D1CBCF9}"/>
              </a:ext>
            </a:extLst>
          </p:cNvPr>
          <p:cNvCxnSpPr>
            <a:cxnSpLocks/>
            <a:stCxn id="5" idx="1"/>
            <a:endCxn id="19" idx="3"/>
          </p:cNvCxnSpPr>
          <p:nvPr/>
        </p:nvCxnSpPr>
        <p:spPr>
          <a:xfrm flipH="1">
            <a:off x="7142368" y="4653093"/>
            <a:ext cx="804960" cy="0"/>
          </a:xfrm>
          <a:prstGeom prst="straightConnector1">
            <a:avLst/>
          </a:prstGeom>
          <a:ln w="19050">
            <a:solidFill>
              <a:schemeClr val="bg1">
                <a:lumMod val="75000"/>
              </a:schemeClr>
            </a:solidFill>
            <a:prstDash val="sysDash"/>
            <a:headEnd type="oval" w="med" len="med"/>
            <a:tailEnd type="stealth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84833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4F8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A7FA58-A003-7CC2-4866-43D4B6B86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Rectángulo: esquinas superiores redondeadas 159">
            <a:extLst>
              <a:ext uri="{FF2B5EF4-FFF2-40B4-BE49-F238E27FC236}">
                <a16:creationId xmlns:a16="http://schemas.microsoft.com/office/drawing/2014/main" id="{05C69BCF-EE26-43A5-C605-0017C5076D6E}"/>
              </a:ext>
            </a:extLst>
          </p:cNvPr>
          <p:cNvSpPr/>
          <p:nvPr/>
        </p:nvSpPr>
        <p:spPr>
          <a:xfrm rot="16200000">
            <a:off x="9948841" y="604861"/>
            <a:ext cx="1832019" cy="2679692"/>
          </a:xfrm>
          <a:prstGeom prst="round2SameRect">
            <a:avLst>
              <a:gd name="adj1" fmla="val 11154"/>
              <a:gd name="adj2" fmla="val 0"/>
            </a:avLst>
          </a:prstGeom>
          <a:solidFill>
            <a:srgbClr val="F5F5F5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pic>
        <p:nvPicPr>
          <p:cNvPr id="91" name="Picture 2">
            <a:extLst>
              <a:ext uri="{FF2B5EF4-FFF2-40B4-BE49-F238E27FC236}">
                <a16:creationId xmlns:a16="http://schemas.microsoft.com/office/drawing/2014/main" id="{E07CCE01-A26C-3C8F-8EEF-2AD9981C45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5157" y="342804"/>
            <a:ext cx="868630" cy="580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5" name="Text 0">
            <a:extLst>
              <a:ext uri="{FF2B5EF4-FFF2-40B4-BE49-F238E27FC236}">
                <a16:creationId xmlns:a16="http://schemas.microsoft.com/office/drawing/2014/main" id="{5D0683D5-CC0B-BD23-FC30-8BFEE5232B56}"/>
              </a:ext>
            </a:extLst>
          </p:cNvPr>
          <p:cNvSpPr/>
          <p:nvPr/>
        </p:nvSpPr>
        <p:spPr>
          <a:xfrm>
            <a:off x="312674" y="202099"/>
            <a:ext cx="7541208" cy="5816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>
              <a:defRPr/>
            </a:pPr>
            <a:r>
              <a:rPr lang="es-419" sz="3600" b="1" noProof="0">
                <a:solidFill>
                  <a:srgbClr val="1E2761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Estructura Azure DevOps</a:t>
            </a:r>
            <a:endParaRPr lang="es-419" sz="3600" noProof="0">
              <a:solidFill>
                <a:prstClr val="black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B48ED2EC-D191-654F-31B1-BBD8D4C051D2}"/>
              </a:ext>
            </a:extLst>
          </p:cNvPr>
          <p:cNvSpPr txBox="1"/>
          <p:nvPr/>
        </p:nvSpPr>
        <p:spPr>
          <a:xfrm>
            <a:off x="7193601" y="4377914"/>
            <a:ext cx="8340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100">
                <a:solidFill>
                  <a:schemeClr val="bg1">
                    <a:lumMod val="65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Tested By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BDCE4E4B-2D3B-39B8-EE6B-617931B1C3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2860" y="1628123"/>
            <a:ext cx="1519305" cy="540000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E42604D3-F06B-F14E-5345-DCDE99301B4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17960"/>
          <a:stretch>
            <a:fillRect/>
          </a:stretch>
        </p:blipFill>
        <p:spPr>
          <a:xfrm>
            <a:off x="5448400" y="2529161"/>
            <a:ext cx="1368225" cy="540000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008191A5-2C9F-5825-F22E-9D1182145E8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0215" y="3447006"/>
            <a:ext cx="1664595" cy="540000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08E52517-182D-C486-D730-4EEB0B63BC8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27958" y="4383093"/>
            <a:ext cx="2014410" cy="540000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D6CF7A28-2E9E-C928-5DE7-43EDC1B271C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08926" y="4383093"/>
            <a:ext cx="2330790" cy="540000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43" name="Imagen 42">
            <a:extLst>
              <a:ext uri="{FF2B5EF4-FFF2-40B4-BE49-F238E27FC236}">
                <a16:creationId xmlns:a16="http://schemas.microsoft.com/office/drawing/2014/main" id="{E09C75E6-5EE7-BF44-1668-90DE1DBAC6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6719" y="1628123"/>
            <a:ext cx="1519308" cy="540000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55" name="CuadroTexto 54">
            <a:extLst>
              <a:ext uri="{FF2B5EF4-FFF2-40B4-BE49-F238E27FC236}">
                <a16:creationId xmlns:a16="http://schemas.microsoft.com/office/drawing/2014/main" id="{0C7AC4E2-FD96-5C0B-E3A6-AC2AAB26885B}"/>
              </a:ext>
            </a:extLst>
          </p:cNvPr>
          <p:cNvSpPr txBox="1"/>
          <p:nvPr/>
        </p:nvSpPr>
        <p:spPr>
          <a:xfrm>
            <a:off x="3207473" y="1360314"/>
            <a:ext cx="11777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100" err="1">
                <a:solidFill>
                  <a:schemeClr val="accent1">
                    <a:lumMod val="50000"/>
                  </a:schemeClr>
                </a:solidFill>
                <a:latin typeface="Roboto Bk" pitchFamily="2" charset="0"/>
                <a:ea typeface="Roboto Bk" pitchFamily="2" charset="0"/>
              </a:rPr>
              <a:t>Eq</a:t>
            </a:r>
            <a:r>
              <a:rPr lang="es-CO" sz="1100">
                <a:solidFill>
                  <a:schemeClr val="accent1">
                    <a:lumMod val="50000"/>
                  </a:schemeClr>
                </a:solidFill>
                <a:latin typeface="Roboto Bk" pitchFamily="2" charset="0"/>
                <a:ea typeface="Roboto Bk" pitchFamily="2" charset="0"/>
              </a:rPr>
              <a:t>. Habilitador</a:t>
            </a:r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78D0D382-4678-2D99-9EB2-BE2250599E05}"/>
              </a:ext>
            </a:extLst>
          </p:cNvPr>
          <p:cNvSpPr txBox="1"/>
          <p:nvPr/>
        </p:nvSpPr>
        <p:spPr>
          <a:xfrm>
            <a:off x="5543613" y="1360314"/>
            <a:ext cx="11777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100">
                <a:solidFill>
                  <a:schemeClr val="accent1">
                    <a:lumMod val="50000"/>
                  </a:schemeClr>
                </a:solidFill>
                <a:latin typeface="Roboto Bk" pitchFamily="2" charset="0"/>
                <a:ea typeface="Roboto Bk" pitchFamily="2" charset="0"/>
              </a:rPr>
              <a:t>Equipo Negocio</a:t>
            </a:r>
          </a:p>
        </p:txBody>
      </p:sp>
      <p:pic>
        <p:nvPicPr>
          <p:cNvPr id="61" name="Imagen 60">
            <a:extLst>
              <a:ext uri="{FF2B5EF4-FFF2-40B4-BE49-F238E27FC236}">
                <a16:creationId xmlns:a16="http://schemas.microsoft.com/office/drawing/2014/main" id="{9DA462CB-B283-4698-F41D-A7B9ADC3E294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r="40915"/>
          <a:stretch>
            <a:fillRect/>
          </a:stretch>
        </p:blipFill>
        <p:spPr>
          <a:xfrm>
            <a:off x="3021893" y="5959773"/>
            <a:ext cx="1603695" cy="540000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67" name="Imagen 66">
            <a:extLst>
              <a:ext uri="{FF2B5EF4-FFF2-40B4-BE49-F238E27FC236}">
                <a16:creationId xmlns:a16="http://schemas.microsoft.com/office/drawing/2014/main" id="{CF76CD10-C157-106A-BF44-056CA488D729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r="37822"/>
          <a:stretch>
            <a:fillRect/>
          </a:stretch>
        </p:blipFill>
        <p:spPr>
          <a:xfrm>
            <a:off x="5335674" y="5959773"/>
            <a:ext cx="1603695" cy="540000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70" name="Imagen 69">
            <a:extLst>
              <a:ext uri="{FF2B5EF4-FFF2-40B4-BE49-F238E27FC236}">
                <a16:creationId xmlns:a16="http://schemas.microsoft.com/office/drawing/2014/main" id="{2FFFA301-2D26-4CF0-2802-973C3F8D4039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r="41525"/>
          <a:stretch>
            <a:fillRect/>
          </a:stretch>
        </p:blipFill>
        <p:spPr>
          <a:xfrm>
            <a:off x="9860532" y="2130190"/>
            <a:ext cx="1260289" cy="460527"/>
          </a:xfrm>
          <a:prstGeom prst="rect">
            <a:avLst/>
          </a:prstGeom>
        </p:spPr>
      </p:pic>
      <p:pic>
        <p:nvPicPr>
          <p:cNvPr id="72" name="Imagen 71">
            <a:extLst>
              <a:ext uri="{FF2B5EF4-FFF2-40B4-BE49-F238E27FC236}">
                <a16:creationId xmlns:a16="http://schemas.microsoft.com/office/drawing/2014/main" id="{794FA95E-DE8A-2EB6-6217-7148FCE01787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r="41621"/>
          <a:stretch>
            <a:fillRect/>
          </a:stretch>
        </p:blipFill>
        <p:spPr>
          <a:xfrm>
            <a:off x="7649456" y="5959773"/>
            <a:ext cx="1512343" cy="540000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74" name="Imagen 73">
            <a:extLst>
              <a:ext uri="{FF2B5EF4-FFF2-40B4-BE49-F238E27FC236}">
                <a16:creationId xmlns:a16="http://schemas.microsoft.com/office/drawing/2014/main" id="{E33DD36A-FE98-95DD-1040-9B4BD5719459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r="8902"/>
          <a:stretch>
            <a:fillRect/>
          </a:stretch>
        </p:blipFill>
        <p:spPr>
          <a:xfrm>
            <a:off x="9860532" y="1677217"/>
            <a:ext cx="2103255" cy="454386"/>
          </a:xfrm>
          <a:prstGeom prst="rect">
            <a:avLst/>
          </a:prstGeom>
        </p:spPr>
      </p:pic>
      <p:cxnSp>
        <p:nvCxnSpPr>
          <p:cNvPr id="52" name="Conector recto de flecha 218">
            <a:extLst>
              <a:ext uri="{FF2B5EF4-FFF2-40B4-BE49-F238E27FC236}">
                <a16:creationId xmlns:a16="http://schemas.microsoft.com/office/drawing/2014/main" id="{6B51BA19-2084-6CCC-749A-574804B6C57A}"/>
              </a:ext>
            </a:extLst>
          </p:cNvPr>
          <p:cNvCxnSpPr>
            <a:cxnSpLocks/>
            <a:stCxn id="20" idx="1"/>
            <a:endCxn id="43" idx="1"/>
          </p:cNvCxnSpPr>
          <p:nvPr/>
        </p:nvCxnSpPr>
        <p:spPr>
          <a:xfrm rot="10800000" flipH="1">
            <a:off x="2008925" y="1898123"/>
            <a:ext cx="1027793" cy="2754970"/>
          </a:xfrm>
          <a:prstGeom prst="bentConnector3">
            <a:avLst>
              <a:gd name="adj1" fmla="val -22242"/>
            </a:avLst>
          </a:prstGeom>
          <a:ln w="19050">
            <a:solidFill>
              <a:schemeClr val="bg1">
                <a:lumMod val="75000"/>
              </a:schemeClr>
            </a:solidFill>
            <a:prstDash val="sysDash"/>
            <a:headEnd type="oval" w="med" len="med"/>
            <a:tailEnd type="stealth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Conector recto de flecha 81">
            <a:extLst>
              <a:ext uri="{FF2B5EF4-FFF2-40B4-BE49-F238E27FC236}">
                <a16:creationId xmlns:a16="http://schemas.microsoft.com/office/drawing/2014/main" id="{57B497E8-05DA-4500-9FD4-7151834CCAFF}"/>
              </a:ext>
            </a:extLst>
          </p:cNvPr>
          <p:cNvCxnSpPr>
            <a:cxnSpLocks/>
            <a:stCxn id="8" idx="2"/>
            <a:endCxn id="14" idx="0"/>
          </p:cNvCxnSpPr>
          <p:nvPr/>
        </p:nvCxnSpPr>
        <p:spPr>
          <a:xfrm>
            <a:off x="6132513" y="2168123"/>
            <a:ext cx="0" cy="361038"/>
          </a:xfrm>
          <a:prstGeom prst="straightConnector1">
            <a:avLst/>
          </a:prstGeom>
          <a:ln w="19050">
            <a:solidFill>
              <a:schemeClr val="bg1">
                <a:lumMod val="75000"/>
              </a:schemeClr>
            </a:solidFill>
            <a:prstDash val="sysDash"/>
            <a:headEnd type="oval" w="med" len="med"/>
            <a:tailEnd type="stealth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3" name="Conector recto de flecha 82">
            <a:extLst>
              <a:ext uri="{FF2B5EF4-FFF2-40B4-BE49-F238E27FC236}">
                <a16:creationId xmlns:a16="http://schemas.microsoft.com/office/drawing/2014/main" id="{70F20BDB-52B7-A936-09CD-DD92C9FB1D18}"/>
              </a:ext>
            </a:extLst>
          </p:cNvPr>
          <p:cNvCxnSpPr>
            <a:cxnSpLocks/>
            <a:stCxn id="14" idx="2"/>
            <a:endCxn id="16" idx="0"/>
          </p:cNvCxnSpPr>
          <p:nvPr/>
        </p:nvCxnSpPr>
        <p:spPr>
          <a:xfrm>
            <a:off x="6132513" y="3069161"/>
            <a:ext cx="0" cy="377845"/>
          </a:xfrm>
          <a:prstGeom prst="straightConnector1">
            <a:avLst/>
          </a:prstGeom>
          <a:ln w="19050">
            <a:solidFill>
              <a:schemeClr val="bg1">
                <a:lumMod val="75000"/>
              </a:schemeClr>
            </a:solidFill>
            <a:prstDash val="sysDash"/>
            <a:headEnd type="oval" w="med" len="med"/>
            <a:tailEnd type="stealth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7" name="Conector recto de flecha 218">
            <a:extLst>
              <a:ext uri="{FF2B5EF4-FFF2-40B4-BE49-F238E27FC236}">
                <a16:creationId xmlns:a16="http://schemas.microsoft.com/office/drawing/2014/main" id="{E812A6A2-61D8-5C73-64A1-907E664542DB}"/>
              </a:ext>
            </a:extLst>
          </p:cNvPr>
          <p:cNvCxnSpPr>
            <a:cxnSpLocks/>
            <a:stCxn id="16" idx="2"/>
            <a:endCxn id="20" idx="0"/>
          </p:cNvCxnSpPr>
          <p:nvPr/>
        </p:nvCxnSpPr>
        <p:spPr>
          <a:xfrm rot="5400000">
            <a:off x="4455374" y="2705953"/>
            <a:ext cx="396087" cy="2958192"/>
          </a:xfrm>
          <a:prstGeom prst="bentConnector3">
            <a:avLst>
              <a:gd name="adj1" fmla="val 50000"/>
            </a:avLst>
          </a:prstGeom>
          <a:ln w="19050">
            <a:solidFill>
              <a:schemeClr val="bg1">
                <a:lumMod val="75000"/>
              </a:schemeClr>
            </a:solidFill>
            <a:prstDash val="sysDash"/>
            <a:headEnd type="oval" w="med" len="med"/>
            <a:tailEnd type="stealth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4" name="Conector recto de flecha 218">
            <a:extLst>
              <a:ext uri="{FF2B5EF4-FFF2-40B4-BE49-F238E27FC236}">
                <a16:creationId xmlns:a16="http://schemas.microsoft.com/office/drawing/2014/main" id="{0B373E8C-161B-5A5A-5A61-D2EB5ECE39DD}"/>
              </a:ext>
            </a:extLst>
          </p:cNvPr>
          <p:cNvCxnSpPr>
            <a:cxnSpLocks/>
          </p:cNvCxnSpPr>
          <p:nvPr/>
        </p:nvCxnSpPr>
        <p:spPr>
          <a:xfrm rot="5400000">
            <a:off x="5937058" y="4182460"/>
            <a:ext cx="390909" cy="1"/>
          </a:xfrm>
          <a:prstGeom prst="bentConnector3">
            <a:avLst>
              <a:gd name="adj1" fmla="val 50000"/>
            </a:avLst>
          </a:prstGeom>
          <a:ln w="19050">
            <a:solidFill>
              <a:schemeClr val="bg1">
                <a:lumMod val="75000"/>
              </a:schemeClr>
            </a:solidFill>
            <a:prstDash val="sysDash"/>
            <a:headEnd type="oval" w="med" len="med"/>
            <a:tailEnd type="stealth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0" name="Conector recto de flecha 218">
            <a:extLst>
              <a:ext uri="{FF2B5EF4-FFF2-40B4-BE49-F238E27FC236}">
                <a16:creationId xmlns:a16="http://schemas.microsoft.com/office/drawing/2014/main" id="{FB45579E-A7D3-1812-860B-E12FE90426B3}"/>
              </a:ext>
            </a:extLst>
          </p:cNvPr>
          <p:cNvCxnSpPr>
            <a:cxnSpLocks/>
            <a:stCxn id="19" idx="2"/>
            <a:endCxn id="61" idx="0"/>
          </p:cNvCxnSpPr>
          <p:nvPr/>
        </p:nvCxnSpPr>
        <p:spPr>
          <a:xfrm rot="5400000">
            <a:off x="4461112" y="4285722"/>
            <a:ext cx="1036680" cy="2311422"/>
          </a:xfrm>
          <a:prstGeom prst="bentConnector3">
            <a:avLst>
              <a:gd name="adj1" fmla="val 50000"/>
            </a:avLst>
          </a:prstGeom>
          <a:ln w="19050">
            <a:solidFill>
              <a:schemeClr val="bg1">
                <a:lumMod val="75000"/>
              </a:schemeClr>
            </a:solidFill>
            <a:prstDash val="sysDash"/>
            <a:headEnd type="oval" w="med" len="med"/>
            <a:tailEnd type="stealth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3" name="Conector recto de flecha 218">
            <a:extLst>
              <a:ext uri="{FF2B5EF4-FFF2-40B4-BE49-F238E27FC236}">
                <a16:creationId xmlns:a16="http://schemas.microsoft.com/office/drawing/2014/main" id="{FB0F10C3-1366-B853-6340-C43FCC3F8B37}"/>
              </a:ext>
            </a:extLst>
          </p:cNvPr>
          <p:cNvCxnSpPr>
            <a:cxnSpLocks/>
            <a:stCxn id="19" idx="2"/>
            <a:endCxn id="67" idx="0"/>
          </p:cNvCxnSpPr>
          <p:nvPr/>
        </p:nvCxnSpPr>
        <p:spPr>
          <a:xfrm rot="16200000" flipH="1">
            <a:off x="5618002" y="5440253"/>
            <a:ext cx="1036680" cy="2359"/>
          </a:xfrm>
          <a:prstGeom prst="bentConnector3">
            <a:avLst>
              <a:gd name="adj1" fmla="val 50000"/>
            </a:avLst>
          </a:prstGeom>
          <a:ln w="19050">
            <a:solidFill>
              <a:schemeClr val="bg1">
                <a:lumMod val="75000"/>
              </a:schemeClr>
            </a:solidFill>
            <a:prstDash val="sysDash"/>
            <a:headEnd type="oval" w="med" len="med"/>
            <a:tailEnd type="stealth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6" name="Conector recto de flecha 218">
            <a:extLst>
              <a:ext uri="{FF2B5EF4-FFF2-40B4-BE49-F238E27FC236}">
                <a16:creationId xmlns:a16="http://schemas.microsoft.com/office/drawing/2014/main" id="{6D9BAF2A-BC21-AF57-D7FA-0C02CC56310A}"/>
              </a:ext>
            </a:extLst>
          </p:cNvPr>
          <p:cNvCxnSpPr>
            <a:cxnSpLocks/>
            <a:stCxn id="20" idx="2"/>
          </p:cNvCxnSpPr>
          <p:nvPr/>
        </p:nvCxnSpPr>
        <p:spPr>
          <a:xfrm rot="16200000" flipH="1">
            <a:off x="2782455" y="5314959"/>
            <a:ext cx="1036679" cy="252946"/>
          </a:xfrm>
          <a:prstGeom prst="bentConnector3">
            <a:avLst>
              <a:gd name="adj1" fmla="val 50000"/>
            </a:avLst>
          </a:prstGeom>
          <a:ln w="19050">
            <a:solidFill>
              <a:schemeClr val="bg1">
                <a:lumMod val="75000"/>
              </a:schemeClr>
            </a:solidFill>
            <a:prstDash val="sysDash"/>
            <a:headEnd type="oval" w="med" len="med"/>
            <a:tailEnd type="stealth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CuadroTexto 53">
            <a:extLst>
              <a:ext uri="{FF2B5EF4-FFF2-40B4-BE49-F238E27FC236}">
                <a16:creationId xmlns:a16="http://schemas.microsoft.com/office/drawing/2014/main" id="{420E1ACE-2E7E-C8A3-07D7-1FC40ABD8FEF}"/>
              </a:ext>
            </a:extLst>
          </p:cNvPr>
          <p:cNvSpPr txBox="1"/>
          <p:nvPr/>
        </p:nvSpPr>
        <p:spPr>
          <a:xfrm rot="16200000">
            <a:off x="1103550" y="3047816"/>
            <a:ext cx="107677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algn="ctr">
              <a:defRPr sz="110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defRPr>
            </a:lvl1pPr>
          </a:lstStyle>
          <a:p>
            <a:r>
              <a:rPr lang="es-CO" err="1">
                <a:solidFill>
                  <a:schemeClr val="bg1">
                    <a:lumMod val="65000"/>
                  </a:schemeClr>
                </a:solidFill>
              </a:rPr>
              <a:t>Contribute</a:t>
            </a:r>
            <a:r>
              <a:rPr lang="es-CO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s-CO" err="1">
                <a:solidFill>
                  <a:schemeClr val="bg1">
                    <a:lumMod val="65000"/>
                  </a:schemeClr>
                </a:solidFill>
              </a:rPr>
              <a:t>to</a:t>
            </a:r>
            <a:endParaRPr lang="es-CO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53" name="CuadroTexto 152">
            <a:extLst>
              <a:ext uri="{FF2B5EF4-FFF2-40B4-BE49-F238E27FC236}">
                <a16:creationId xmlns:a16="http://schemas.microsoft.com/office/drawing/2014/main" id="{E9FEF8E8-691E-9CA4-7DAB-26AE98917296}"/>
              </a:ext>
            </a:extLst>
          </p:cNvPr>
          <p:cNvSpPr txBox="1"/>
          <p:nvPr/>
        </p:nvSpPr>
        <p:spPr>
          <a:xfrm>
            <a:off x="6132511" y="2225754"/>
            <a:ext cx="5327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100">
                <a:solidFill>
                  <a:schemeClr val="bg1">
                    <a:lumMod val="65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Child</a:t>
            </a:r>
          </a:p>
        </p:txBody>
      </p:sp>
      <p:sp>
        <p:nvSpPr>
          <p:cNvPr id="154" name="CuadroTexto 153">
            <a:extLst>
              <a:ext uri="{FF2B5EF4-FFF2-40B4-BE49-F238E27FC236}">
                <a16:creationId xmlns:a16="http://schemas.microsoft.com/office/drawing/2014/main" id="{447A4C6F-6BB5-78C4-2C89-61500C080816}"/>
              </a:ext>
            </a:extLst>
          </p:cNvPr>
          <p:cNvSpPr txBox="1"/>
          <p:nvPr/>
        </p:nvSpPr>
        <p:spPr>
          <a:xfrm>
            <a:off x="6132511" y="3125580"/>
            <a:ext cx="5327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100">
                <a:solidFill>
                  <a:schemeClr val="bg1">
                    <a:lumMod val="65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Child</a:t>
            </a:r>
          </a:p>
        </p:txBody>
      </p:sp>
      <p:sp>
        <p:nvSpPr>
          <p:cNvPr id="155" name="CuadroTexto 154">
            <a:extLst>
              <a:ext uri="{FF2B5EF4-FFF2-40B4-BE49-F238E27FC236}">
                <a16:creationId xmlns:a16="http://schemas.microsoft.com/office/drawing/2014/main" id="{7D93C207-8A15-8ED8-8C52-789413C81302}"/>
              </a:ext>
            </a:extLst>
          </p:cNvPr>
          <p:cNvSpPr txBox="1"/>
          <p:nvPr/>
        </p:nvSpPr>
        <p:spPr>
          <a:xfrm>
            <a:off x="4374825" y="3920850"/>
            <a:ext cx="5327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100">
                <a:solidFill>
                  <a:schemeClr val="bg1">
                    <a:lumMod val="65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Child</a:t>
            </a:r>
          </a:p>
        </p:txBody>
      </p:sp>
      <p:sp>
        <p:nvSpPr>
          <p:cNvPr id="156" name="CuadroTexto 155">
            <a:extLst>
              <a:ext uri="{FF2B5EF4-FFF2-40B4-BE49-F238E27FC236}">
                <a16:creationId xmlns:a16="http://schemas.microsoft.com/office/drawing/2014/main" id="{7DCE20F7-7A5E-89DA-DC7A-0E6478924B4B}"/>
              </a:ext>
            </a:extLst>
          </p:cNvPr>
          <p:cNvSpPr txBox="1"/>
          <p:nvPr/>
        </p:nvSpPr>
        <p:spPr>
          <a:xfrm>
            <a:off x="2889735" y="5536497"/>
            <a:ext cx="5327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100">
                <a:solidFill>
                  <a:schemeClr val="bg1">
                    <a:lumMod val="65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Child</a:t>
            </a:r>
          </a:p>
        </p:txBody>
      </p:sp>
      <p:sp>
        <p:nvSpPr>
          <p:cNvPr id="157" name="CuadroTexto 156">
            <a:extLst>
              <a:ext uri="{FF2B5EF4-FFF2-40B4-BE49-F238E27FC236}">
                <a16:creationId xmlns:a16="http://schemas.microsoft.com/office/drawing/2014/main" id="{BB3C6BA6-F69E-48A2-AA07-05B75DA482E9}"/>
              </a:ext>
            </a:extLst>
          </p:cNvPr>
          <p:cNvSpPr txBox="1"/>
          <p:nvPr/>
        </p:nvSpPr>
        <p:spPr>
          <a:xfrm>
            <a:off x="5594017" y="5580394"/>
            <a:ext cx="5327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100">
                <a:solidFill>
                  <a:schemeClr val="bg1">
                    <a:lumMod val="65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Child</a:t>
            </a:r>
          </a:p>
        </p:txBody>
      </p:sp>
      <p:sp>
        <p:nvSpPr>
          <p:cNvPr id="158" name="CuadroTexto 157">
            <a:extLst>
              <a:ext uri="{FF2B5EF4-FFF2-40B4-BE49-F238E27FC236}">
                <a16:creationId xmlns:a16="http://schemas.microsoft.com/office/drawing/2014/main" id="{85A81AD5-0FBA-844F-0F70-9F375FA6533A}"/>
              </a:ext>
            </a:extLst>
          </p:cNvPr>
          <p:cNvSpPr txBox="1"/>
          <p:nvPr/>
        </p:nvSpPr>
        <p:spPr>
          <a:xfrm>
            <a:off x="3860134" y="5538943"/>
            <a:ext cx="5327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100">
                <a:solidFill>
                  <a:schemeClr val="bg1">
                    <a:lumMod val="65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Child</a:t>
            </a:r>
          </a:p>
        </p:txBody>
      </p:sp>
      <p:sp>
        <p:nvSpPr>
          <p:cNvPr id="159" name="Text 11">
            <a:extLst>
              <a:ext uri="{FF2B5EF4-FFF2-40B4-BE49-F238E27FC236}">
                <a16:creationId xmlns:a16="http://schemas.microsoft.com/office/drawing/2014/main" id="{790399F2-55B4-E8D4-8737-DB4B581C1CF0}"/>
              </a:ext>
            </a:extLst>
          </p:cNvPr>
          <p:cNvSpPr/>
          <p:nvPr/>
        </p:nvSpPr>
        <p:spPr>
          <a:xfrm>
            <a:off x="9860532" y="1189542"/>
            <a:ext cx="1820356" cy="36576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s-419" sz="1600" b="1" kern="0" spc="267" noProof="0">
                <a:solidFill>
                  <a:srgbClr val="0070C0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Otros </a:t>
            </a:r>
            <a:r>
              <a:rPr lang="es-419" sz="1600" b="1" kern="0" spc="267" noProof="0" err="1">
                <a:solidFill>
                  <a:srgbClr val="0070C0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Items</a:t>
            </a:r>
            <a:endParaRPr lang="es-419" sz="1600" noProof="0">
              <a:solidFill>
                <a:srgbClr val="0070C0"/>
              </a:solidFill>
              <a:latin typeface="Roboto" pitchFamily="2" charset="0"/>
              <a:ea typeface="Roboto" pitchFamily="2" charset="0"/>
            </a:endParaRPr>
          </a:p>
        </p:txBody>
      </p:sp>
      <p:cxnSp>
        <p:nvCxnSpPr>
          <p:cNvPr id="165" name="Conector recto de flecha 218">
            <a:extLst>
              <a:ext uri="{FF2B5EF4-FFF2-40B4-BE49-F238E27FC236}">
                <a16:creationId xmlns:a16="http://schemas.microsoft.com/office/drawing/2014/main" id="{D0EEF8B8-13D0-D132-5156-2BD87916C56E}"/>
              </a:ext>
            </a:extLst>
          </p:cNvPr>
          <p:cNvCxnSpPr>
            <a:cxnSpLocks/>
            <a:stCxn id="16" idx="2"/>
            <a:endCxn id="5" idx="0"/>
          </p:cNvCxnSpPr>
          <p:nvPr/>
        </p:nvCxnSpPr>
        <p:spPr>
          <a:xfrm rot="16200000" flipH="1">
            <a:off x="7297217" y="2822302"/>
            <a:ext cx="396087" cy="2725494"/>
          </a:xfrm>
          <a:prstGeom prst="bentConnector4">
            <a:avLst>
              <a:gd name="adj1" fmla="val 50000"/>
              <a:gd name="adj2" fmla="val 107680"/>
            </a:avLst>
          </a:prstGeom>
          <a:ln w="19050">
            <a:solidFill>
              <a:schemeClr val="bg1">
                <a:lumMod val="75000"/>
              </a:schemeClr>
            </a:solidFill>
            <a:prstDash val="sysDash"/>
            <a:headEnd type="oval" w="med" len="med"/>
            <a:tailEnd type="stealth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2" name="Conector recto de flecha 218">
            <a:extLst>
              <a:ext uri="{FF2B5EF4-FFF2-40B4-BE49-F238E27FC236}">
                <a16:creationId xmlns:a16="http://schemas.microsoft.com/office/drawing/2014/main" id="{F2717F19-C3D6-8325-87F2-08FA97FDC23C}"/>
              </a:ext>
            </a:extLst>
          </p:cNvPr>
          <p:cNvCxnSpPr>
            <a:cxnSpLocks/>
            <a:stCxn id="19" idx="2"/>
            <a:endCxn id="72" idx="0"/>
          </p:cNvCxnSpPr>
          <p:nvPr/>
        </p:nvCxnSpPr>
        <p:spPr>
          <a:xfrm rot="16200000" flipH="1">
            <a:off x="6752055" y="4306200"/>
            <a:ext cx="1036680" cy="2270465"/>
          </a:xfrm>
          <a:prstGeom prst="bentConnector3">
            <a:avLst>
              <a:gd name="adj1" fmla="val 50000"/>
            </a:avLst>
          </a:prstGeom>
          <a:ln w="19050">
            <a:solidFill>
              <a:schemeClr val="bg1">
                <a:lumMod val="75000"/>
              </a:schemeClr>
            </a:solidFill>
            <a:prstDash val="sysDash"/>
            <a:headEnd type="oval" w="med" len="med"/>
            <a:tailEnd type="stealth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5" name="CuadroTexto 174">
            <a:extLst>
              <a:ext uri="{FF2B5EF4-FFF2-40B4-BE49-F238E27FC236}">
                <a16:creationId xmlns:a16="http://schemas.microsoft.com/office/drawing/2014/main" id="{1235C91B-F891-CF6B-76B1-14DAE6B25A23}"/>
              </a:ext>
            </a:extLst>
          </p:cNvPr>
          <p:cNvSpPr txBox="1"/>
          <p:nvPr/>
        </p:nvSpPr>
        <p:spPr>
          <a:xfrm>
            <a:off x="7848164" y="5580394"/>
            <a:ext cx="5327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100">
                <a:solidFill>
                  <a:schemeClr val="bg1">
                    <a:lumMod val="65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Child</a:t>
            </a:r>
          </a:p>
        </p:txBody>
      </p:sp>
      <p:sp>
        <p:nvSpPr>
          <p:cNvPr id="176" name="CuadroTexto 175">
            <a:extLst>
              <a:ext uri="{FF2B5EF4-FFF2-40B4-BE49-F238E27FC236}">
                <a16:creationId xmlns:a16="http://schemas.microsoft.com/office/drawing/2014/main" id="{20498100-E27E-4695-6523-C481AC58AE0C}"/>
              </a:ext>
            </a:extLst>
          </p:cNvPr>
          <p:cNvSpPr txBox="1"/>
          <p:nvPr/>
        </p:nvSpPr>
        <p:spPr>
          <a:xfrm>
            <a:off x="7344246" y="3890564"/>
            <a:ext cx="5327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100">
                <a:solidFill>
                  <a:schemeClr val="bg1">
                    <a:lumMod val="65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Child</a:t>
            </a:r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DFA3AB94-C3DE-81A2-39DD-F150920E44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755355" y="163505"/>
            <a:ext cx="754316" cy="754316"/>
          </a:xfrm>
          <a:prstGeom prst="rect">
            <a:avLst/>
          </a:prstGeom>
        </p:spPr>
      </p:pic>
      <p:grpSp>
        <p:nvGrpSpPr>
          <p:cNvPr id="4" name="Grupo 3">
            <a:extLst>
              <a:ext uri="{FF2B5EF4-FFF2-40B4-BE49-F238E27FC236}">
                <a16:creationId xmlns:a16="http://schemas.microsoft.com/office/drawing/2014/main" id="{EFD7F61D-8CD7-6C79-38B7-B10B723EF2F5}"/>
              </a:ext>
            </a:extLst>
          </p:cNvPr>
          <p:cNvGrpSpPr/>
          <p:nvPr/>
        </p:nvGrpSpPr>
        <p:grpSpPr>
          <a:xfrm>
            <a:off x="312674" y="991173"/>
            <a:ext cx="1177799" cy="563305"/>
            <a:chOff x="314192" y="955061"/>
            <a:chExt cx="1177799" cy="563305"/>
          </a:xfrm>
        </p:grpSpPr>
        <p:sp>
          <p:nvSpPr>
            <p:cNvPr id="3" name="Rectángulo: esquinas redondeadas 2">
              <a:extLst>
                <a:ext uri="{FF2B5EF4-FFF2-40B4-BE49-F238E27FC236}">
                  <a16:creationId xmlns:a16="http://schemas.microsoft.com/office/drawing/2014/main" id="{9FA25678-F5F5-1532-80A1-7D0E42B5967A}"/>
                </a:ext>
              </a:extLst>
            </p:cNvPr>
            <p:cNvSpPr/>
            <p:nvPr/>
          </p:nvSpPr>
          <p:spPr>
            <a:xfrm>
              <a:off x="314192" y="955061"/>
              <a:ext cx="1177799" cy="563305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/>
            </a:p>
          </p:txBody>
        </p:sp>
        <p:cxnSp>
          <p:nvCxnSpPr>
            <p:cNvPr id="149" name="Conector recto de flecha 148">
              <a:extLst>
                <a:ext uri="{FF2B5EF4-FFF2-40B4-BE49-F238E27FC236}">
                  <a16:creationId xmlns:a16="http://schemas.microsoft.com/office/drawing/2014/main" id="{6E03DF01-CBA8-E240-9C46-6ACB3C7C95E8}"/>
                </a:ext>
              </a:extLst>
            </p:cNvPr>
            <p:cNvCxnSpPr>
              <a:cxnSpLocks/>
            </p:cNvCxnSpPr>
            <p:nvPr/>
          </p:nvCxnSpPr>
          <p:spPr>
            <a:xfrm>
              <a:off x="437373" y="1356884"/>
              <a:ext cx="931437" cy="0"/>
            </a:xfrm>
            <a:prstGeom prst="straightConnector1">
              <a:avLst/>
            </a:prstGeom>
            <a:ln w="19050">
              <a:solidFill>
                <a:schemeClr val="bg1">
                  <a:lumMod val="75000"/>
                </a:schemeClr>
              </a:solidFill>
              <a:prstDash val="sysDash"/>
              <a:headEnd type="oval" w="sm" len="sm"/>
              <a:tailEnd type="stealth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52" name="CuadroTexto 151">
              <a:extLst>
                <a:ext uri="{FF2B5EF4-FFF2-40B4-BE49-F238E27FC236}">
                  <a16:creationId xmlns:a16="http://schemas.microsoft.com/office/drawing/2014/main" id="{D649BBCC-E01F-26AA-33D8-1F420BDF2AA9}"/>
                </a:ext>
              </a:extLst>
            </p:cNvPr>
            <p:cNvSpPr txBox="1"/>
            <p:nvPr/>
          </p:nvSpPr>
          <p:spPr>
            <a:xfrm>
              <a:off x="486057" y="1046755"/>
              <a:ext cx="83406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100">
                  <a:solidFill>
                    <a:schemeClr val="bg1">
                      <a:lumMod val="65000"/>
                    </a:schemeClr>
                  </a:solidFill>
                  <a:latin typeface="Roboto Condensed" panose="02000000000000000000" pitchFamily="2" charset="0"/>
                  <a:ea typeface="Roboto Condensed" panose="02000000000000000000" pitchFamily="2" charset="0"/>
                  <a:cs typeface="Roboto Condensed" panose="02000000000000000000" pitchFamily="2" charset="0"/>
                </a:rPr>
                <a:t>Relación</a:t>
              </a:r>
            </a:p>
          </p:txBody>
        </p:sp>
      </p:grpSp>
      <p:pic>
        <p:nvPicPr>
          <p:cNvPr id="5" name="Imagen 4">
            <a:extLst>
              <a:ext uri="{FF2B5EF4-FFF2-40B4-BE49-F238E27FC236}">
                <a16:creationId xmlns:a16="http://schemas.microsoft.com/office/drawing/2014/main" id="{CC6CFFFF-A4AE-41C5-E5F5-4096C4DB1DF9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947328" y="4383093"/>
            <a:ext cx="1821358" cy="540000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cxnSp>
        <p:nvCxnSpPr>
          <p:cNvPr id="117" name="Conector recto de flecha 116">
            <a:extLst>
              <a:ext uri="{FF2B5EF4-FFF2-40B4-BE49-F238E27FC236}">
                <a16:creationId xmlns:a16="http://schemas.microsoft.com/office/drawing/2014/main" id="{C59C95D6-9471-0554-622D-0E8856DBE088}"/>
              </a:ext>
            </a:extLst>
          </p:cNvPr>
          <p:cNvCxnSpPr>
            <a:cxnSpLocks/>
            <a:stCxn id="5" idx="1"/>
            <a:endCxn id="19" idx="3"/>
          </p:cNvCxnSpPr>
          <p:nvPr/>
        </p:nvCxnSpPr>
        <p:spPr>
          <a:xfrm flipH="1">
            <a:off x="7142368" y="4653093"/>
            <a:ext cx="804960" cy="0"/>
          </a:xfrm>
          <a:prstGeom prst="straightConnector1">
            <a:avLst/>
          </a:prstGeom>
          <a:ln w="19050">
            <a:solidFill>
              <a:schemeClr val="bg1">
                <a:lumMod val="75000"/>
              </a:schemeClr>
            </a:solidFill>
            <a:prstDash val="sysDash"/>
            <a:headEnd type="oval" w="med" len="med"/>
            <a:tailEnd type="stealth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21033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8217874-6E1C-1AAC-B08A-E2E195749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0B9E824-DD43-BEAC-67C9-A86784D6ECE0}"/>
              </a:ext>
            </a:extLst>
          </p:cNvPr>
          <p:cNvSpPr/>
          <p:nvPr/>
        </p:nvSpPr>
        <p:spPr>
          <a:xfrm>
            <a:off x="441921" y="305231"/>
            <a:ext cx="7541208" cy="5816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3733" b="1">
                <a:solidFill>
                  <a:srgbClr val="1B2A5E"/>
                </a:solidFill>
                <a:latin typeface="Roboto Bk" pitchFamily="2" charset="0"/>
                <a:ea typeface="Roboto Bk" pitchFamily="2" charset="0"/>
              </a:rPr>
              <a:t>Estado de la </a:t>
            </a:r>
            <a:r>
              <a:rPr lang="es-419" sz="3733" b="1" err="1">
                <a:solidFill>
                  <a:srgbClr val="1B2A5E"/>
                </a:solidFill>
                <a:latin typeface="Roboto Bk" pitchFamily="2" charset="0"/>
                <a:ea typeface="Roboto Bk" pitchFamily="2" charset="0"/>
              </a:rPr>
              <a:t>Feature</a:t>
            </a:r>
            <a:endParaRPr lang="es-419" sz="3733" b="1">
              <a:solidFill>
                <a:srgbClr val="1B2A5E"/>
              </a:solidFill>
              <a:latin typeface="Roboto Bk" pitchFamily="2" charset="0"/>
              <a:ea typeface="Roboto Bk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1FF698-A24A-4585-9259-9EDE76276B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5157" y="196371"/>
            <a:ext cx="868630" cy="580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1265379D-DCF3-0A65-4513-E4C8FB3AE54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8478" b="13705"/>
          <a:stretch>
            <a:fillRect/>
          </a:stretch>
        </p:blipFill>
        <p:spPr>
          <a:xfrm>
            <a:off x="746556" y="1104441"/>
            <a:ext cx="2220712" cy="488551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4" name="Text 2">
            <a:extLst>
              <a:ext uri="{FF2B5EF4-FFF2-40B4-BE49-F238E27FC236}">
                <a16:creationId xmlns:a16="http://schemas.microsoft.com/office/drawing/2014/main" id="{E0753517-4458-7455-1FCD-6D1986FF3F38}"/>
              </a:ext>
            </a:extLst>
          </p:cNvPr>
          <p:cNvSpPr/>
          <p:nvPr/>
        </p:nvSpPr>
        <p:spPr>
          <a:xfrm>
            <a:off x="3010023" y="1954324"/>
            <a:ext cx="4709437" cy="5816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400" noProof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Estado por defecto al momento de la </a:t>
            </a:r>
            <a:r>
              <a:rPr lang="es-419" sz="1400" noProof="0" err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creaci</a:t>
            </a:r>
            <a:r>
              <a:rPr lang="es-419" sz="1400" err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ón</a:t>
            </a:r>
            <a:r>
              <a:rPr lang="es-419" sz="140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del</a:t>
            </a:r>
            <a:r>
              <a:rPr lang="es-419" sz="1400" noProof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</a:t>
            </a:r>
            <a:r>
              <a:rPr lang="es-419" sz="1400" noProof="0" err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work</a:t>
            </a:r>
            <a:r>
              <a:rPr lang="es-419" sz="1400" noProof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</a:t>
            </a:r>
            <a:r>
              <a:rPr lang="es-419" sz="1400" noProof="0" err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item</a:t>
            </a:r>
            <a:r>
              <a:rPr lang="es-419" sz="1400" noProof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.</a:t>
            </a:r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BF223505-435B-716B-86EE-8036B326524D}"/>
              </a:ext>
            </a:extLst>
          </p:cNvPr>
          <p:cNvSpPr/>
          <p:nvPr/>
        </p:nvSpPr>
        <p:spPr>
          <a:xfrm>
            <a:off x="3010023" y="2919038"/>
            <a:ext cx="4709436" cy="5816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400" noProof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Se usa en la contextualización y entendimiento de la necesidad. En este estado se debe construir el DOR.</a:t>
            </a:r>
          </a:p>
        </p:txBody>
      </p:sp>
      <p:sp>
        <p:nvSpPr>
          <p:cNvPr id="9" name="Flecha: pentágono 8">
            <a:extLst>
              <a:ext uri="{FF2B5EF4-FFF2-40B4-BE49-F238E27FC236}">
                <a16:creationId xmlns:a16="http://schemas.microsoft.com/office/drawing/2014/main" id="{EFAA239E-6C76-AD44-C7A5-7B29BF896353}"/>
              </a:ext>
            </a:extLst>
          </p:cNvPr>
          <p:cNvSpPr/>
          <p:nvPr/>
        </p:nvSpPr>
        <p:spPr>
          <a:xfrm rot="5400000">
            <a:off x="1356743" y="1476601"/>
            <a:ext cx="972000" cy="1752600"/>
          </a:xfrm>
          <a:prstGeom prst="homePlate">
            <a:avLst>
              <a:gd name="adj" fmla="val 24390"/>
            </a:avLst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419" sz="1600" b="1">
                <a:latin typeface="Roboto" pitchFamily="2" charset="0"/>
                <a:ea typeface="Roboto" pitchFamily="2" charset="0"/>
              </a:rPr>
              <a:t>Nuevo</a:t>
            </a:r>
          </a:p>
        </p:txBody>
      </p:sp>
      <p:sp>
        <p:nvSpPr>
          <p:cNvPr id="10" name="Flecha: cheurón 9">
            <a:extLst>
              <a:ext uri="{FF2B5EF4-FFF2-40B4-BE49-F238E27FC236}">
                <a16:creationId xmlns:a16="http://schemas.microsoft.com/office/drawing/2014/main" id="{08F32AA9-6B48-54C2-4B1C-73CFDAED1BB7}"/>
              </a:ext>
            </a:extLst>
          </p:cNvPr>
          <p:cNvSpPr/>
          <p:nvPr/>
        </p:nvSpPr>
        <p:spPr>
          <a:xfrm rot="5400000">
            <a:off x="1356743" y="2378032"/>
            <a:ext cx="972000" cy="1752600"/>
          </a:xfrm>
          <a:prstGeom prst="chevron">
            <a:avLst>
              <a:gd name="adj" fmla="val 21951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419" sz="1600" b="1">
                <a:latin typeface="Roboto" pitchFamily="2" charset="0"/>
                <a:ea typeface="Roboto" pitchFamily="2" charset="0"/>
              </a:rPr>
              <a:t>Entendimiento</a:t>
            </a:r>
          </a:p>
        </p:txBody>
      </p:sp>
      <p:sp>
        <p:nvSpPr>
          <p:cNvPr id="11" name="Flecha: cheurón 10">
            <a:extLst>
              <a:ext uri="{FF2B5EF4-FFF2-40B4-BE49-F238E27FC236}">
                <a16:creationId xmlns:a16="http://schemas.microsoft.com/office/drawing/2014/main" id="{AA703CCF-077D-987F-7A1A-615E69A42F75}"/>
              </a:ext>
            </a:extLst>
          </p:cNvPr>
          <p:cNvSpPr/>
          <p:nvPr/>
        </p:nvSpPr>
        <p:spPr>
          <a:xfrm rot="5400000">
            <a:off x="1356743" y="3279463"/>
            <a:ext cx="972000" cy="1752600"/>
          </a:xfrm>
          <a:prstGeom prst="chevron">
            <a:avLst>
              <a:gd name="adj" fmla="val 21951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419" sz="1600" b="1">
                <a:latin typeface="Roboto" pitchFamily="2" charset="0"/>
                <a:ea typeface="Roboto" pitchFamily="2" charset="0"/>
              </a:rPr>
              <a:t>En Progreso</a:t>
            </a:r>
          </a:p>
        </p:txBody>
      </p:sp>
      <p:sp>
        <p:nvSpPr>
          <p:cNvPr id="12" name="Flecha: cheurón 11">
            <a:extLst>
              <a:ext uri="{FF2B5EF4-FFF2-40B4-BE49-F238E27FC236}">
                <a16:creationId xmlns:a16="http://schemas.microsoft.com/office/drawing/2014/main" id="{280E210B-896F-D3E9-5161-D6C847828CB1}"/>
              </a:ext>
            </a:extLst>
          </p:cNvPr>
          <p:cNvSpPr/>
          <p:nvPr/>
        </p:nvSpPr>
        <p:spPr>
          <a:xfrm rot="5400000">
            <a:off x="1342574" y="4180894"/>
            <a:ext cx="972000" cy="1752600"/>
          </a:xfrm>
          <a:prstGeom prst="chevron">
            <a:avLst>
              <a:gd name="adj" fmla="val 21951"/>
            </a:avLst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419" sz="1600" b="1">
                <a:latin typeface="Roboto" pitchFamily="2" charset="0"/>
                <a:ea typeface="Roboto" pitchFamily="2" charset="0"/>
              </a:rPr>
              <a:t>Finalizado</a:t>
            </a:r>
          </a:p>
        </p:txBody>
      </p:sp>
      <p:sp>
        <p:nvSpPr>
          <p:cNvPr id="14" name="Flecha: cheurón 13">
            <a:extLst>
              <a:ext uri="{FF2B5EF4-FFF2-40B4-BE49-F238E27FC236}">
                <a16:creationId xmlns:a16="http://schemas.microsoft.com/office/drawing/2014/main" id="{21421C6E-5118-9F6B-693F-CFCF51330E3D}"/>
              </a:ext>
            </a:extLst>
          </p:cNvPr>
          <p:cNvSpPr/>
          <p:nvPr/>
        </p:nvSpPr>
        <p:spPr>
          <a:xfrm rot="5400000">
            <a:off x="1342574" y="5082324"/>
            <a:ext cx="972000" cy="1752600"/>
          </a:xfrm>
          <a:prstGeom prst="chevron">
            <a:avLst>
              <a:gd name="adj" fmla="val 21951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419" sz="1600" b="1">
                <a:latin typeface="Roboto" pitchFamily="2" charset="0"/>
                <a:ea typeface="Roboto" pitchFamily="2" charset="0"/>
              </a:rPr>
              <a:t>Cancelado</a:t>
            </a:r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50E1B5E5-2C1B-14D7-200C-EEC62C4CFDC2}"/>
              </a:ext>
            </a:extLst>
          </p:cNvPr>
          <p:cNvSpPr/>
          <p:nvPr/>
        </p:nvSpPr>
        <p:spPr>
          <a:xfrm>
            <a:off x="3010023" y="3801789"/>
            <a:ext cx="4709436" cy="5816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400" noProof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Este estado indica que la necesidad se esta trabajando, es decir, se esta construyendo la solución.</a:t>
            </a:r>
          </a:p>
        </p:txBody>
      </p:sp>
      <p:sp>
        <p:nvSpPr>
          <p:cNvPr id="18" name="Text 2">
            <a:extLst>
              <a:ext uri="{FF2B5EF4-FFF2-40B4-BE49-F238E27FC236}">
                <a16:creationId xmlns:a16="http://schemas.microsoft.com/office/drawing/2014/main" id="{C278BF3D-373A-E12B-D555-F8F4BF626407}"/>
              </a:ext>
            </a:extLst>
          </p:cNvPr>
          <p:cNvSpPr/>
          <p:nvPr/>
        </p:nvSpPr>
        <p:spPr>
          <a:xfrm>
            <a:off x="3010023" y="4737221"/>
            <a:ext cx="4709436" cy="5816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400" noProof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Indica que </a:t>
            </a:r>
            <a:r>
              <a:rPr lang="es-419" sz="140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el Work </a:t>
            </a:r>
            <a:r>
              <a:rPr lang="es-419" sz="1400" err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Item</a:t>
            </a:r>
            <a:r>
              <a:rPr lang="es-419" sz="140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fue finalizado exitosamente.</a:t>
            </a:r>
            <a:endParaRPr lang="es-419" sz="1400" noProof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CA2B9F48-2495-5454-5A0E-C57448CD7E99}"/>
              </a:ext>
            </a:extLst>
          </p:cNvPr>
          <p:cNvSpPr/>
          <p:nvPr/>
        </p:nvSpPr>
        <p:spPr>
          <a:xfrm>
            <a:off x="3010023" y="5667799"/>
            <a:ext cx="4709436" cy="5816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400" noProof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Se usa cuando el Work </a:t>
            </a:r>
            <a:r>
              <a:rPr lang="es-419" sz="1400" noProof="0" err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Item</a:t>
            </a:r>
            <a:r>
              <a:rPr lang="es-419" sz="1400" noProof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fue </a:t>
            </a:r>
            <a:r>
              <a:rPr lang="es-419" sz="1400" noProof="0" err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despriorizado</a:t>
            </a:r>
            <a:r>
              <a:rPr lang="es-419" sz="1400" noProof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e indica que no fue atendido.</a:t>
            </a:r>
          </a:p>
        </p:txBody>
      </p:sp>
      <p:sp>
        <p:nvSpPr>
          <p:cNvPr id="24" name="Text 11">
            <a:extLst>
              <a:ext uri="{FF2B5EF4-FFF2-40B4-BE49-F238E27FC236}">
                <a16:creationId xmlns:a16="http://schemas.microsoft.com/office/drawing/2014/main" id="{E8B198E3-150A-500F-DA58-C5282DEF4A52}"/>
              </a:ext>
            </a:extLst>
          </p:cNvPr>
          <p:cNvSpPr/>
          <p:nvPr/>
        </p:nvSpPr>
        <p:spPr>
          <a:xfrm>
            <a:off x="8215796" y="1953357"/>
            <a:ext cx="3546344" cy="365760"/>
          </a:xfrm>
          <a:prstGeom prst="round2SameRect">
            <a:avLst>
              <a:gd name="adj1" fmla="val 31579"/>
              <a:gd name="adj2" fmla="val 0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s-419" sz="1100" b="1" kern="0" spc="267" noProof="0">
                <a:solidFill>
                  <a:srgbClr val="2E5FA3"/>
                </a:solidFill>
                <a:latin typeface="Roboto Bk" pitchFamily="2" charset="0"/>
                <a:ea typeface="Roboto Bk" pitchFamily="2" charset="0"/>
                <a:cs typeface="Calibri" pitchFamily="34" charset="-120"/>
              </a:rPr>
              <a:t>¿Quién crea y actualiza el </a:t>
            </a:r>
            <a:r>
              <a:rPr lang="es-419" sz="1100" b="1" kern="0" spc="267" noProof="0" err="1">
                <a:solidFill>
                  <a:srgbClr val="2E5FA3"/>
                </a:solidFill>
                <a:latin typeface="Roboto Bk" pitchFamily="2" charset="0"/>
                <a:ea typeface="Roboto Bk" pitchFamily="2" charset="0"/>
                <a:cs typeface="Calibri" pitchFamily="34" charset="-120"/>
              </a:rPr>
              <a:t>work</a:t>
            </a:r>
            <a:r>
              <a:rPr lang="es-419" sz="1100" b="1" kern="0" spc="267" noProof="0">
                <a:solidFill>
                  <a:srgbClr val="2E5FA3"/>
                </a:solidFill>
                <a:latin typeface="Roboto Bk" pitchFamily="2" charset="0"/>
                <a:ea typeface="Roboto Bk" pitchFamily="2" charset="0"/>
                <a:cs typeface="Calibri" pitchFamily="34" charset="-120"/>
              </a:rPr>
              <a:t> </a:t>
            </a:r>
            <a:r>
              <a:rPr lang="es-419" sz="1100" b="1" kern="0" spc="267" noProof="0" err="1">
                <a:solidFill>
                  <a:srgbClr val="2E5FA3"/>
                </a:solidFill>
                <a:latin typeface="Roboto Bk" pitchFamily="2" charset="0"/>
                <a:ea typeface="Roboto Bk" pitchFamily="2" charset="0"/>
                <a:cs typeface="Calibri" pitchFamily="34" charset="-120"/>
              </a:rPr>
              <a:t>item</a:t>
            </a:r>
            <a:r>
              <a:rPr lang="es-419" sz="1100" b="1" kern="0" spc="267" noProof="0">
                <a:solidFill>
                  <a:srgbClr val="2E5FA3"/>
                </a:solidFill>
                <a:latin typeface="Roboto Bk" pitchFamily="2" charset="0"/>
                <a:ea typeface="Roboto Bk" pitchFamily="2" charset="0"/>
                <a:cs typeface="Calibri" pitchFamily="34" charset="-120"/>
              </a:rPr>
              <a:t> en Azure?</a:t>
            </a:r>
            <a:endParaRPr lang="es-419" sz="1100" noProof="0">
              <a:latin typeface="Roboto Bk" pitchFamily="2" charset="0"/>
              <a:ea typeface="Roboto Bk" pitchFamily="2" charset="0"/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EBF5964E-6F83-4285-FAF6-8D957B7D8775}"/>
              </a:ext>
            </a:extLst>
          </p:cNvPr>
          <p:cNvSpPr txBox="1"/>
          <p:nvPr/>
        </p:nvSpPr>
        <p:spPr>
          <a:xfrm>
            <a:off x="8215796" y="2315681"/>
            <a:ext cx="3546344" cy="52322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anchor="ctr">
            <a:spAutoFit/>
          </a:bodyPr>
          <a:lstStyle/>
          <a:p>
            <a:pPr algn="just" fontAlgn="t"/>
            <a:r>
              <a:rPr lang="es-419" sz="1400" noProof="0"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rPr>
              <a:t>Es responsabilidad del </a:t>
            </a:r>
            <a:r>
              <a:rPr lang="es-419" sz="1400" b="1" noProof="0"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rPr>
              <a:t>Líder de célula </a:t>
            </a:r>
            <a:r>
              <a:rPr lang="es-419" sz="1400" noProof="0"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rPr>
              <a:t>garantizar que su backlog este actualizado.</a:t>
            </a:r>
          </a:p>
        </p:txBody>
      </p:sp>
      <p:sp>
        <p:nvSpPr>
          <p:cNvPr id="27" name="Abrir corchete 26">
            <a:extLst>
              <a:ext uri="{FF2B5EF4-FFF2-40B4-BE49-F238E27FC236}">
                <a16:creationId xmlns:a16="http://schemas.microsoft.com/office/drawing/2014/main" id="{47710527-BAD7-BB61-F2CE-653AAB4DDEFD}"/>
              </a:ext>
            </a:extLst>
          </p:cNvPr>
          <p:cNvSpPr/>
          <p:nvPr/>
        </p:nvSpPr>
        <p:spPr>
          <a:xfrm>
            <a:off x="654069" y="3187077"/>
            <a:ext cx="290982" cy="1832613"/>
          </a:xfrm>
          <a:prstGeom prst="leftBracket">
            <a:avLst>
              <a:gd name="adj" fmla="val 0"/>
            </a:avLst>
          </a:prstGeom>
          <a:ln>
            <a:solidFill>
              <a:srgbClr val="0070C0"/>
            </a:solidFill>
            <a:headEnd type="diamond" w="sm" len="sm"/>
            <a:tailEnd type="diamond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10B9F65A-0967-7166-CC77-E43C5DE2B878}"/>
              </a:ext>
            </a:extLst>
          </p:cNvPr>
          <p:cNvSpPr txBox="1"/>
          <p:nvPr/>
        </p:nvSpPr>
        <p:spPr>
          <a:xfrm rot="16200000">
            <a:off x="-10573" y="4012226"/>
            <a:ext cx="1313774" cy="20048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/>
          <a:p>
            <a:pPr algn="ctr"/>
            <a:r>
              <a:rPr lang="es-419" sz="1200" b="1" noProof="0">
                <a:latin typeface="Roboto" pitchFamily="2" charset="0"/>
                <a:ea typeface="Roboto" pitchFamily="2" charset="0"/>
              </a:rPr>
              <a:t>Time </a:t>
            </a:r>
            <a:r>
              <a:rPr lang="es-419" sz="1200" b="1" noProof="0" err="1">
                <a:latin typeface="Roboto" pitchFamily="2" charset="0"/>
                <a:ea typeface="Roboto" pitchFamily="2" charset="0"/>
              </a:rPr>
              <a:t>to</a:t>
            </a:r>
            <a:r>
              <a:rPr lang="es-419" sz="1200" b="1" noProof="0">
                <a:latin typeface="Roboto" pitchFamily="2" charset="0"/>
                <a:ea typeface="Roboto" pitchFamily="2" charset="0"/>
              </a:rPr>
              <a:t> </a:t>
            </a:r>
            <a:r>
              <a:rPr lang="es-419" sz="1200" b="1" noProof="0" err="1">
                <a:latin typeface="Roboto" pitchFamily="2" charset="0"/>
                <a:ea typeface="Roboto" pitchFamily="2" charset="0"/>
              </a:rPr>
              <a:t>market</a:t>
            </a:r>
            <a:endParaRPr lang="es-419" sz="1200"/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2CF9A50C-A2BC-55A6-1384-61D52328DC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14629" y="209730"/>
            <a:ext cx="468000" cy="468000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A80E77FE-716A-F971-7679-315E49B69A6A}"/>
              </a:ext>
            </a:extLst>
          </p:cNvPr>
          <p:cNvSpPr txBox="1"/>
          <p:nvPr/>
        </p:nvSpPr>
        <p:spPr>
          <a:xfrm>
            <a:off x="10026104" y="305231"/>
            <a:ext cx="126133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419" sz="1200" b="1" noProof="0">
                <a:latin typeface="Roboto" pitchFamily="2" charset="0"/>
                <a:ea typeface="Roboto" pitchFamily="2" charset="0"/>
                <a:cs typeface="Calibri" pitchFamily="34" charset="-120"/>
              </a:rPr>
              <a:t>Azure DevOps</a:t>
            </a:r>
            <a:endParaRPr lang="es-419" sz="1200"/>
          </a:p>
        </p:txBody>
      </p:sp>
    </p:spTree>
    <p:extLst>
      <p:ext uri="{BB962C8B-B14F-4D97-AF65-F5344CB8AC3E}">
        <p14:creationId xmlns:p14="http://schemas.microsoft.com/office/powerpoint/2010/main" val="41609268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8EC3CD7-404E-E3E0-C876-9C6D11CEE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78E4E1E6-CFE6-3645-31D4-630B93CB300E}"/>
              </a:ext>
            </a:extLst>
          </p:cNvPr>
          <p:cNvSpPr/>
          <p:nvPr/>
        </p:nvSpPr>
        <p:spPr>
          <a:xfrm>
            <a:off x="441921" y="305231"/>
            <a:ext cx="7541208" cy="5816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3733" b="1">
                <a:solidFill>
                  <a:srgbClr val="1B2A5E"/>
                </a:solidFill>
                <a:latin typeface="Roboto Bk" pitchFamily="2" charset="0"/>
                <a:ea typeface="Roboto Bk" pitchFamily="2" charset="0"/>
              </a:rPr>
              <a:t>Estado de la Historia de Usuario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94F75FD3-F5A0-9F1E-2DE4-F29CEB3389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5157" y="196371"/>
            <a:ext cx="868630" cy="580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CFFE8F3B-6D09-BA3E-669A-252D4CBDA26D}"/>
              </a:ext>
            </a:extLst>
          </p:cNvPr>
          <p:cNvSpPr/>
          <p:nvPr/>
        </p:nvSpPr>
        <p:spPr>
          <a:xfrm>
            <a:off x="3010023" y="1866900"/>
            <a:ext cx="4709437" cy="5816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400" noProof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Estado por defecto al momento de la creaci</a:t>
            </a:r>
            <a:r>
              <a:rPr lang="es-419" sz="1400" err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ón</a:t>
            </a:r>
            <a:r>
              <a:rPr lang="es-419" sz="140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del</a:t>
            </a:r>
            <a:r>
              <a:rPr lang="es-419" sz="1400" noProof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</a:t>
            </a:r>
            <a:r>
              <a:rPr lang="es-419" sz="1400" noProof="0" err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work</a:t>
            </a:r>
            <a:r>
              <a:rPr lang="es-419" sz="1400" noProof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</a:t>
            </a:r>
            <a:r>
              <a:rPr lang="es-419" sz="1400" noProof="0" err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item</a:t>
            </a:r>
            <a:r>
              <a:rPr lang="es-419" sz="1400" noProof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.</a:t>
            </a:r>
          </a:p>
        </p:txBody>
      </p:sp>
      <p:sp>
        <p:nvSpPr>
          <p:cNvPr id="13" name="Text 2">
            <a:extLst>
              <a:ext uri="{FF2B5EF4-FFF2-40B4-BE49-F238E27FC236}">
                <a16:creationId xmlns:a16="http://schemas.microsoft.com/office/drawing/2014/main" id="{6A1267F8-2F8C-23EE-7D60-37A824A47BB7}"/>
              </a:ext>
            </a:extLst>
          </p:cNvPr>
          <p:cNvSpPr/>
          <p:nvPr/>
        </p:nvSpPr>
        <p:spPr>
          <a:xfrm>
            <a:off x="3010024" y="2363060"/>
            <a:ext cx="4709436" cy="5816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400" noProof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Se usa en el entendimiento y refinamiento de la necesidad.</a:t>
            </a:r>
          </a:p>
        </p:txBody>
      </p:sp>
      <p:sp>
        <p:nvSpPr>
          <p:cNvPr id="14" name="Flecha: pentágono 13">
            <a:extLst>
              <a:ext uri="{FF2B5EF4-FFF2-40B4-BE49-F238E27FC236}">
                <a16:creationId xmlns:a16="http://schemas.microsoft.com/office/drawing/2014/main" id="{2D051A06-D321-8E56-A021-2C420B213E68}"/>
              </a:ext>
            </a:extLst>
          </p:cNvPr>
          <p:cNvSpPr/>
          <p:nvPr/>
        </p:nvSpPr>
        <p:spPr>
          <a:xfrm rot="5400000">
            <a:off x="1567043" y="1290901"/>
            <a:ext cx="576000" cy="1728000"/>
          </a:xfrm>
          <a:prstGeom prst="homePlate">
            <a:avLst>
              <a:gd name="adj" fmla="val 24390"/>
            </a:avLst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419" sz="1600" b="1">
                <a:latin typeface="Roboto" pitchFamily="2" charset="0"/>
                <a:ea typeface="Roboto" pitchFamily="2" charset="0"/>
              </a:rPr>
              <a:t>Nuevo</a:t>
            </a:r>
          </a:p>
        </p:txBody>
      </p:sp>
      <p:sp>
        <p:nvSpPr>
          <p:cNvPr id="15" name="Flecha: cheurón 14">
            <a:extLst>
              <a:ext uri="{FF2B5EF4-FFF2-40B4-BE49-F238E27FC236}">
                <a16:creationId xmlns:a16="http://schemas.microsoft.com/office/drawing/2014/main" id="{7F82CC88-E855-38DB-AAC1-F2582EEF3FA9}"/>
              </a:ext>
            </a:extLst>
          </p:cNvPr>
          <p:cNvSpPr/>
          <p:nvPr/>
        </p:nvSpPr>
        <p:spPr>
          <a:xfrm rot="5400000">
            <a:off x="1567043" y="1863782"/>
            <a:ext cx="576000" cy="1728000"/>
          </a:xfrm>
          <a:prstGeom prst="chevron">
            <a:avLst>
              <a:gd name="adj" fmla="val 21951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419" sz="1600" b="1">
                <a:latin typeface="Roboto" pitchFamily="2" charset="0"/>
                <a:ea typeface="Roboto" pitchFamily="2" charset="0"/>
              </a:rPr>
              <a:t>Entendimiento</a:t>
            </a:r>
          </a:p>
        </p:txBody>
      </p:sp>
      <p:sp>
        <p:nvSpPr>
          <p:cNvPr id="17" name="Flecha: cheurón 16">
            <a:extLst>
              <a:ext uri="{FF2B5EF4-FFF2-40B4-BE49-F238E27FC236}">
                <a16:creationId xmlns:a16="http://schemas.microsoft.com/office/drawing/2014/main" id="{1E41FC77-0B08-48B0-F37C-1BE671532D32}"/>
              </a:ext>
            </a:extLst>
          </p:cNvPr>
          <p:cNvSpPr/>
          <p:nvPr/>
        </p:nvSpPr>
        <p:spPr>
          <a:xfrm rot="5400000">
            <a:off x="1567043" y="2436663"/>
            <a:ext cx="576000" cy="1728000"/>
          </a:xfrm>
          <a:prstGeom prst="chevron">
            <a:avLst>
              <a:gd name="adj" fmla="val 21951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419" sz="1600" b="1">
                <a:latin typeface="Roboto" pitchFamily="2" charset="0"/>
                <a:ea typeface="Roboto" pitchFamily="2" charset="0"/>
              </a:rPr>
              <a:t>En Progreso</a:t>
            </a:r>
          </a:p>
        </p:txBody>
      </p:sp>
      <p:sp>
        <p:nvSpPr>
          <p:cNvPr id="18" name="Flecha: cheurón 17">
            <a:extLst>
              <a:ext uri="{FF2B5EF4-FFF2-40B4-BE49-F238E27FC236}">
                <a16:creationId xmlns:a16="http://schemas.microsoft.com/office/drawing/2014/main" id="{5C31A66F-BFC7-2D95-9E61-A3EF1E623B9E}"/>
              </a:ext>
            </a:extLst>
          </p:cNvPr>
          <p:cNvSpPr/>
          <p:nvPr/>
        </p:nvSpPr>
        <p:spPr>
          <a:xfrm rot="5400000">
            <a:off x="1567043" y="4728187"/>
            <a:ext cx="576000" cy="1728000"/>
          </a:xfrm>
          <a:prstGeom prst="chevron">
            <a:avLst>
              <a:gd name="adj" fmla="val 21951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419" sz="1600" b="1" err="1">
                <a:latin typeface="Roboto" pitchFamily="2" charset="0"/>
                <a:ea typeface="Roboto" pitchFamily="2" charset="0"/>
              </a:rPr>
              <a:t>Closed</a:t>
            </a:r>
            <a:endParaRPr lang="es-419" sz="1600" b="1">
              <a:latin typeface="Roboto" pitchFamily="2" charset="0"/>
              <a:ea typeface="Roboto" pitchFamily="2" charset="0"/>
            </a:endParaRPr>
          </a:p>
        </p:txBody>
      </p:sp>
      <p:sp>
        <p:nvSpPr>
          <p:cNvPr id="19" name="Flecha: cheurón 18">
            <a:extLst>
              <a:ext uri="{FF2B5EF4-FFF2-40B4-BE49-F238E27FC236}">
                <a16:creationId xmlns:a16="http://schemas.microsoft.com/office/drawing/2014/main" id="{00A3E81E-30B0-1B53-646F-6EB8F968CB63}"/>
              </a:ext>
            </a:extLst>
          </p:cNvPr>
          <p:cNvSpPr/>
          <p:nvPr/>
        </p:nvSpPr>
        <p:spPr>
          <a:xfrm rot="5400000">
            <a:off x="1567043" y="5301070"/>
            <a:ext cx="576000" cy="1728000"/>
          </a:xfrm>
          <a:prstGeom prst="chevron">
            <a:avLst>
              <a:gd name="adj" fmla="val 21951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419" sz="1600" b="1">
                <a:latin typeface="Roboto" pitchFamily="2" charset="0"/>
                <a:ea typeface="Roboto" pitchFamily="2" charset="0"/>
              </a:rPr>
              <a:t>Cancelado</a:t>
            </a:r>
          </a:p>
        </p:txBody>
      </p:sp>
      <p:sp>
        <p:nvSpPr>
          <p:cNvPr id="21" name="Text 2">
            <a:extLst>
              <a:ext uri="{FF2B5EF4-FFF2-40B4-BE49-F238E27FC236}">
                <a16:creationId xmlns:a16="http://schemas.microsoft.com/office/drawing/2014/main" id="{CEA8615B-616F-5E22-F5AE-4E5D4FAA3CAC}"/>
              </a:ext>
            </a:extLst>
          </p:cNvPr>
          <p:cNvSpPr/>
          <p:nvPr/>
        </p:nvSpPr>
        <p:spPr>
          <a:xfrm>
            <a:off x="3010024" y="2917618"/>
            <a:ext cx="4709436" cy="5816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400" noProof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Este estado indica que la necesidad se esta trabajando, es decir, se esta construyendo la solución.</a:t>
            </a:r>
          </a:p>
        </p:txBody>
      </p:sp>
      <p:sp>
        <p:nvSpPr>
          <p:cNvPr id="22" name="Text 2">
            <a:extLst>
              <a:ext uri="{FF2B5EF4-FFF2-40B4-BE49-F238E27FC236}">
                <a16:creationId xmlns:a16="http://schemas.microsoft.com/office/drawing/2014/main" id="{2292A02B-9EE6-AD1C-D53C-AA9EF25712D1}"/>
              </a:ext>
            </a:extLst>
          </p:cNvPr>
          <p:cNvSpPr/>
          <p:nvPr/>
        </p:nvSpPr>
        <p:spPr>
          <a:xfrm>
            <a:off x="3138586" y="3822488"/>
            <a:ext cx="4580873" cy="1186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es-419" sz="1400" noProof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Estos estados son usados en aquellas historias de usuario que </a:t>
            </a:r>
            <a:r>
              <a:rPr lang="es-419" sz="1400" b="1" noProof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tienen desarrollo + </a:t>
            </a:r>
            <a:r>
              <a:rPr lang="es-419" sz="1400" b="1" noProof="0" err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QA</a:t>
            </a:r>
            <a:r>
              <a:rPr lang="es-419" sz="1400" b="1" noProof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</a:t>
            </a:r>
            <a:r>
              <a:rPr lang="es-419" sz="1400" noProof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en la solución.</a:t>
            </a:r>
          </a:p>
          <a:p>
            <a:pPr algn="just"/>
            <a:r>
              <a:rPr lang="es-419" sz="140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Las historias de usuario que no tienen tecnología, no hacen uso de estos estados, por lo tanto después puede pasar de estado</a:t>
            </a:r>
          </a:p>
          <a:p>
            <a:pPr algn="just"/>
            <a:r>
              <a:rPr lang="es-419" sz="1400" i="1"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rPr>
              <a:t>En Progreso </a:t>
            </a:r>
            <a:r>
              <a:rPr lang="es-419" sz="140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a </a:t>
            </a:r>
            <a:r>
              <a:rPr lang="es-419" sz="1400" i="1"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rPr>
              <a:t>Finalizado</a:t>
            </a:r>
            <a:r>
              <a:rPr lang="es-419" sz="140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.</a:t>
            </a:r>
            <a:endParaRPr lang="es-419" sz="1400" noProof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23" name="Text 2">
            <a:extLst>
              <a:ext uri="{FF2B5EF4-FFF2-40B4-BE49-F238E27FC236}">
                <a16:creationId xmlns:a16="http://schemas.microsoft.com/office/drawing/2014/main" id="{66DE246F-A14F-5D41-7D19-2E55512E4682}"/>
              </a:ext>
            </a:extLst>
          </p:cNvPr>
          <p:cNvSpPr/>
          <p:nvPr/>
        </p:nvSpPr>
        <p:spPr>
          <a:xfrm>
            <a:off x="3010023" y="5235829"/>
            <a:ext cx="4709436" cy="5816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400" noProof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Indica que </a:t>
            </a:r>
            <a:r>
              <a:rPr lang="es-419" sz="140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la historia de usuario fue finalizado exitosamente.</a:t>
            </a:r>
            <a:endParaRPr lang="es-419" sz="1400" noProof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25" name="Text 2">
            <a:extLst>
              <a:ext uri="{FF2B5EF4-FFF2-40B4-BE49-F238E27FC236}">
                <a16:creationId xmlns:a16="http://schemas.microsoft.com/office/drawing/2014/main" id="{593ABEE5-E010-A9D3-8850-F9AF9FAA9C0E}"/>
              </a:ext>
            </a:extLst>
          </p:cNvPr>
          <p:cNvSpPr/>
          <p:nvPr/>
        </p:nvSpPr>
        <p:spPr>
          <a:xfrm>
            <a:off x="3010023" y="5838118"/>
            <a:ext cx="4709436" cy="5816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400" noProof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Se usa cuando la historia de usuario fue </a:t>
            </a:r>
            <a:r>
              <a:rPr lang="es-419" sz="1400" noProof="0" err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des-priorizada</a:t>
            </a:r>
            <a:r>
              <a:rPr lang="es-419" sz="1400" noProof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o cancelada y por tanto no se trabajar</a:t>
            </a:r>
            <a:r>
              <a:rPr lang="es-419" sz="140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á.</a:t>
            </a:r>
            <a:endParaRPr lang="es-419" sz="1400" noProof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32" name="Text 11">
            <a:extLst>
              <a:ext uri="{FF2B5EF4-FFF2-40B4-BE49-F238E27FC236}">
                <a16:creationId xmlns:a16="http://schemas.microsoft.com/office/drawing/2014/main" id="{2222E411-4ABC-95F6-2594-3AF8B147ECDE}"/>
              </a:ext>
            </a:extLst>
          </p:cNvPr>
          <p:cNvSpPr/>
          <p:nvPr/>
        </p:nvSpPr>
        <p:spPr>
          <a:xfrm>
            <a:off x="8203699" y="1129969"/>
            <a:ext cx="3546344" cy="365760"/>
          </a:xfrm>
          <a:prstGeom prst="round2SameRect">
            <a:avLst>
              <a:gd name="adj1" fmla="val 31579"/>
              <a:gd name="adj2" fmla="val 0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s-419" sz="1100" b="1" kern="0" spc="267" noProof="0">
                <a:solidFill>
                  <a:srgbClr val="2E5FA3"/>
                </a:solidFill>
                <a:latin typeface="Roboto Bk" pitchFamily="2" charset="0"/>
                <a:ea typeface="Roboto Bk" pitchFamily="2" charset="0"/>
                <a:cs typeface="Calibri" pitchFamily="34" charset="-120"/>
              </a:rPr>
              <a:t>¿Quién crea</a:t>
            </a:r>
            <a:r>
              <a:rPr lang="es-419" sz="1100" b="1" kern="0" spc="267">
                <a:solidFill>
                  <a:srgbClr val="2E5FA3"/>
                </a:solidFill>
                <a:latin typeface="Roboto Bk" pitchFamily="2" charset="0"/>
                <a:ea typeface="Roboto Bk" pitchFamily="2" charset="0"/>
                <a:cs typeface="Calibri" pitchFamily="34" charset="-120"/>
              </a:rPr>
              <a:t> y actualiza</a:t>
            </a:r>
            <a:r>
              <a:rPr lang="es-419" sz="1100" b="1" kern="0" spc="267" noProof="0">
                <a:solidFill>
                  <a:srgbClr val="2E5FA3"/>
                </a:solidFill>
                <a:latin typeface="Roboto Bk" pitchFamily="2" charset="0"/>
                <a:ea typeface="Roboto Bk" pitchFamily="2" charset="0"/>
                <a:cs typeface="Calibri" pitchFamily="34" charset="-120"/>
              </a:rPr>
              <a:t> el </a:t>
            </a:r>
            <a:r>
              <a:rPr lang="es-419" sz="1100" b="1" kern="0" spc="267" noProof="0" err="1">
                <a:solidFill>
                  <a:srgbClr val="2E5FA3"/>
                </a:solidFill>
                <a:latin typeface="Roboto Bk" pitchFamily="2" charset="0"/>
                <a:ea typeface="Roboto Bk" pitchFamily="2" charset="0"/>
                <a:cs typeface="Calibri" pitchFamily="34" charset="-120"/>
              </a:rPr>
              <a:t>work</a:t>
            </a:r>
            <a:r>
              <a:rPr lang="es-419" sz="1100" b="1" kern="0" spc="267" noProof="0">
                <a:solidFill>
                  <a:srgbClr val="2E5FA3"/>
                </a:solidFill>
                <a:latin typeface="Roboto Bk" pitchFamily="2" charset="0"/>
                <a:ea typeface="Roboto Bk" pitchFamily="2" charset="0"/>
                <a:cs typeface="Calibri" pitchFamily="34" charset="-120"/>
              </a:rPr>
              <a:t> </a:t>
            </a:r>
            <a:r>
              <a:rPr lang="es-419" sz="1100" b="1" kern="0" spc="267" noProof="0" err="1">
                <a:solidFill>
                  <a:srgbClr val="2E5FA3"/>
                </a:solidFill>
                <a:latin typeface="Roboto Bk" pitchFamily="2" charset="0"/>
                <a:ea typeface="Roboto Bk" pitchFamily="2" charset="0"/>
                <a:cs typeface="Calibri" pitchFamily="34" charset="-120"/>
              </a:rPr>
              <a:t>item</a:t>
            </a:r>
            <a:r>
              <a:rPr lang="es-419" sz="1100" b="1" kern="0" spc="267" noProof="0">
                <a:solidFill>
                  <a:srgbClr val="2E5FA3"/>
                </a:solidFill>
                <a:latin typeface="Roboto Bk" pitchFamily="2" charset="0"/>
                <a:ea typeface="Roboto Bk" pitchFamily="2" charset="0"/>
                <a:cs typeface="Calibri" pitchFamily="34" charset="-120"/>
              </a:rPr>
              <a:t> en Azure?</a:t>
            </a:r>
            <a:endParaRPr lang="es-419" sz="1100" noProof="0">
              <a:latin typeface="Roboto Bk" pitchFamily="2" charset="0"/>
              <a:ea typeface="Roboto Bk" pitchFamily="2" charset="0"/>
            </a:endParaRP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7EA3A2B0-AB5D-C775-7785-39C4AFD8E436}"/>
              </a:ext>
            </a:extLst>
          </p:cNvPr>
          <p:cNvSpPr txBox="1"/>
          <p:nvPr/>
        </p:nvSpPr>
        <p:spPr>
          <a:xfrm>
            <a:off x="8203699" y="1492783"/>
            <a:ext cx="3546344" cy="203132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anchor="ctr">
            <a:spAutoFit/>
          </a:bodyPr>
          <a:lstStyle/>
          <a:p>
            <a:pPr algn="just" fontAlgn="t"/>
            <a:r>
              <a:rPr lang="es-419" sz="1400" noProof="0"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rPr>
              <a:t>Es responsabilidad del </a:t>
            </a:r>
            <a:r>
              <a:rPr lang="es-419" sz="1400" b="1" noProof="0"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rPr>
              <a:t>Líder de célula </a:t>
            </a:r>
            <a:r>
              <a:rPr lang="es-419" sz="1400" noProof="0"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rPr>
              <a:t>garantizar que su backlog permanezca actualizado.</a:t>
            </a:r>
          </a:p>
          <a:p>
            <a:pPr algn="just" fontAlgn="t"/>
            <a:r>
              <a:rPr lang="es-419" sz="1400"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rPr>
              <a:t>Sin embargo, este </a:t>
            </a:r>
            <a:r>
              <a:rPr lang="es-419" sz="1400" err="1"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rPr>
              <a:t>work</a:t>
            </a:r>
            <a:r>
              <a:rPr lang="es-419" sz="1400"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rPr>
              <a:t> </a:t>
            </a:r>
            <a:r>
              <a:rPr lang="es-419" sz="1400" err="1"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rPr>
              <a:t>item</a:t>
            </a:r>
            <a:r>
              <a:rPr lang="es-419" sz="1400"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rPr>
              <a:t> también puede ser creado por la persona que va a trabajar en ella (asignad@), previa conversación con el líder de célula.</a:t>
            </a:r>
          </a:p>
          <a:p>
            <a:pPr algn="just" fontAlgn="t"/>
            <a:r>
              <a:rPr lang="es-419" sz="1400"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rPr>
              <a:t>Es responsabilidad de la persona que está asignad@ como responsable de la </a:t>
            </a:r>
            <a:r>
              <a:rPr lang="es-419" sz="1400" err="1"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rPr>
              <a:t>HU</a:t>
            </a:r>
            <a:r>
              <a:rPr lang="es-419" sz="1400"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rPr>
              <a:t> actualizar </a:t>
            </a:r>
            <a:r>
              <a:rPr lang="es-419" sz="1400" b="1"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rPr>
              <a:t>la información </a:t>
            </a:r>
            <a:r>
              <a:rPr lang="es-419" sz="1400"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rPr>
              <a:t>y </a:t>
            </a:r>
            <a:r>
              <a:rPr lang="es-419" sz="1400" b="1"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rPr>
              <a:t>el estado </a:t>
            </a:r>
            <a:r>
              <a:rPr lang="es-419" sz="1400"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rPr>
              <a:t>de la misma.</a:t>
            </a:r>
          </a:p>
        </p:txBody>
      </p:sp>
      <p:sp>
        <p:nvSpPr>
          <p:cNvPr id="35" name="Abrir corchete 34">
            <a:extLst>
              <a:ext uri="{FF2B5EF4-FFF2-40B4-BE49-F238E27FC236}">
                <a16:creationId xmlns:a16="http://schemas.microsoft.com/office/drawing/2014/main" id="{5F582CD0-2C0A-2472-7D7B-EE73734B1E96}"/>
              </a:ext>
            </a:extLst>
          </p:cNvPr>
          <p:cNvSpPr/>
          <p:nvPr/>
        </p:nvSpPr>
        <p:spPr>
          <a:xfrm>
            <a:off x="571500" y="2695575"/>
            <a:ext cx="423518" cy="2857500"/>
          </a:xfrm>
          <a:prstGeom prst="leftBracket">
            <a:avLst>
              <a:gd name="adj" fmla="val 0"/>
            </a:avLst>
          </a:prstGeom>
          <a:ln>
            <a:solidFill>
              <a:srgbClr val="0070C0"/>
            </a:solidFill>
            <a:headEnd type="diamond" w="sm" len="sm"/>
            <a:tailEnd type="diamond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731C2349-85BB-C592-B495-1787544B5939}"/>
              </a:ext>
            </a:extLst>
          </p:cNvPr>
          <p:cNvSpPr txBox="1"/>
          <p:nvPr/>
        </p:nvSpPr>
        <p:spPr>
          <a:xfrm rot="16200000">
            <a:off x="120485" y="4016325"/>
            <a:ext cx="902030" cy="216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/>
          <a:p>
            <a:pPr algn="ctr"/>
            <a:r>
              <a:rPr lang="es-419" sz="1200" b="1" noProof="0" err="1">
                <a:latin typeface="Roboto" pitchFamily="2" charset="0"/>
                <a:ea typeface="Roboto" pitchFamily="2" charset="0"/>
              </a:rPr>
              <a:t>Cycle</a:t>
            </a:r>
            <a:r>
              <a:rPr lang="es-419" sz="1200" b="1" noProof="0">
                <a:latin typeface="Roboto" pitchFamily="2" charset="0"/>
                <a:ea typeface="Roboto" pitchFamily="2" charset="0"/>
              </a:rPr>
              <a:t> time</a:t>
            </a:r>
            <a:endParaRPr lang="es-419" sz="1200"/>
          </a:p>
        </p:txBody>
      </p:sp>
      <p:pic>
        <p:nvPicPr>
          <p:cNvPr id="39" name="Imagen 38">
            <a:extLst>
              <a:ext uri="{FF2B5EF4-FFF2-40B4-BE49-F238E27FC236}">
                <a16:creationId xmlns:a16="http://schemas.microsoft.com/office/drawing/2014/main" id="{0AB22B31-E162-EE9C-4DEF-3D6E1778DD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702" y="1039589"/>
            <a:ext cx="2207235" cy="591683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40" name="Flecha: cheurón 39">
            <a:extLst>
              <a:ext uri="{FF2B5EF4-FFF2-40B4-BE49-F238E27FC236}">
                <a16:creationId xmlns:a16="http://schemas.microsoft.com/office/drawing/2014/main" id="{C6E4E83D-C896-03A0-DEDD-F02044931058}"/>
              </a:ext>
            </a:extLst>
          </p:cNvPr>
          <p:cNvSpPr/>
          <p:nvPr/>
        </p:nvSpPr>
        <p:spPr>
          <a:xfrm rot="5400000">
            <a:off x="1567043" y="3009544"/>
            <a:ext cx="576000" cy="1728000"/>
          </a:xfrm>
          <a:prstGeom prst="chevron">
            <a:avLst>
              <a:gd name="adj" fmla="val 21951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419" sz="1600" b="1">
                <a:latin typeface="Roboto" pitchFamily="2" charset="0"/>
                <a:ea typeface="Roboto" pitchFamily="2" charset="0"/>
              </a:rPr>
              <a:t>Listo para </a:t>
            </a:r>
            <a:r>
              <a:rPr lang="es-419" sz="1600" b="1" err="1">
                <a:latin typeface="Roboto" pitchFamily="2" charset="0"/>
                <a:ea typeface="Roboto" pitchFamily="2" charset="0"/>
              </a:rPr>
              <a:t>QA</a:t>
            </a:r>
            <a:endParaRPr lang="es-419" sz="1600" b="1">
              <a:latin typeface="Roboto" pitchFamily="2" charset="0"/>
              <a:ea typeface="Roboto" pitchFamily="2" charset="0"/>
            </a:endParaRPr>
          </a:p>
        </p:txBody>
      </p:sp>
      <p:sp>
        <p:nvSpPr>
          <p:cNvPr id="41" name="Flecha: cheurón 40">
            <a:extLst>
              <a:ext uri="{FF2B5EF4-FFF2-40B4-BE49-F238E27FC236}">
                <a16:creationId xmlns:a16="http://schemas.microsoft.com/office/drawing/2014/main" id="{DACE55AB-D992-F80C-37FE-67CA1B542182}"/>
              </a:ext>
            </a:extLst>
          </p:cNvPr>
          <p:cNvSpPr/>
          <p:nvPr/>
        </p:nvSpPr>
        <p:spPr>
          <a:xfrm rot="5400000">
            <a:off x="1567043" y="3582425"/>
            <a:ext cx="576000" cy="1728000"/>
          </a:xfrm>
          <a:prstGeom prst="chevron">
            <a:avLst>
              <a:gd name="adj" fmla="val 21951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419" sz="1600" b="1">
                <a:latin typeface="Roboto" pitchFamily="2" charset="0"/>
                <a:ea typeface="Roboto" pitchFamily="2" charset="0"/>
              </a:rPr>
              <a:t>En Pruebas</a:t>
            </a:r>
          </a:p>
        </p:txBody>
      </p:sp>
      <p:sp>
        <p:nvSpPr>
          <p:cNvPr id="42" name="Flecha: cheurón 41">
            <a:extLst>
              <a:ext uri="{FF2B5EF4-FFF2-40B4-BE49-F238E27FC236}">
                <a16:creationId xmlns:a16="http://schemas.microsoft.com/office/drawing/2014/main" id="{E7ABD21D-F50A-53BB-4652-5D4DBECD6556}"/>
              </a:ext>
            </a:extLst>
          </p:cNvPr>
          <p:cNvSpPr/>
          <p:nvPr/>
        </p:nvSpPr>
        <p:spPr>
          <a:xfrm rot="5400000">
            <a:off x="1567043" y="4155306"/>
            <a:ext cx="576000" cy="1728000"/>
          </a:xfrm>
          <a:prstGeom prst="chevron">
            <a:avLst>
              <a:gd name="adj" fmla="val 21951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419" sz="1600" b="1">
                <a:latin typeface="Roboto" pitchFamily="2" charset="0"/>
                <a:ea typeface="Roboto" pitchFamily="2" charset="0"/>
              </a:rPr>
              <a:t>Listo para </a:t>
            </a:r>
            <a:r>
              <a:rPr lang="es-419" sz="1600" b="1" err="1">
                <a:latin typeface="Roboto" pitchFamily="2" charset="0"/>
                <a:ea typeface="Roboto" pitchFamily="2" charset="0"/>
              </a:rPr>
              <a:t>Prod</a:t>
            </a:r>
            <a:endParaRPr lang="es-419" sz="1600" b="1">
              <a:latin typeface="Roboto" pitchFamily="2" charset="0"/>
              <a:ea typeface="Roboto" pitchFamily="2" charset="0"/>
            </a:endParaRPr>
          </a:p>
        </p:txBody>
      </p:sp>
      <p:sp>
        <p:nvSpPr>
          <p:cNvPr id="43" name="Abrir corchete 42">
            <a:extLst>
              <a:ext uri="{FF2B5EF4-FFF2-40B4-BE49-F238E27FC236}">
                <a16:creationId xmlns:a16="http://schemas.microsoft.com/office/drawing/2014/main" id="{39F83A1A-27BC-4698-A44C-55D7C8DA4872}"/>
              </a:ext>
            </a:extLst>
          </p:cNvPr>
          <p:cNvSpPr/>
          <p:nvPr/>
        </p:nvSpPr>
        <p:spPr>
          <a:xfrm flipH="1">
            <a:off x="2711223" y="3833053"/>
            <a:ext cx="298799" cy="1157007"/>
          </a:xfrm>
          <a:prstGeom prst="leftBracket">
            <a:avLst>
              <a:gd name="adj" fmla="val 0"/>
            </a:avLst>
          </a:prstGeom>
          <a:ln>
            <a:solidFill>
              <a:srgbClr val="0070C0"/>
            </a:solidFill>
            <a:headEnd type="diamond" w="sm" len="sm"/>
            <a:tailEnd type="diamond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grpSp>
        <p:nvGrpSpPr>
          <p:cNvPr id="69" name="Grupo 68">
            <a:extLst>
              <a:ext uri="{FF2B5EF4-FFF2-40B4-BE49-F238E27FC236}">
                <a16:creationId xmlns:a16="http://schemas.microsoft.com/office/drawing/2014/main" id="{885F0B80-E7BE-85D5-0A89-7FBDCDD37EAA}"/>
              </a:ext>
            </a:extLst>
          </p:cNvPr>
          <p:cNvGrpSpPr/>
          <p:nvPr/>
        </p:nvGrpSpPr>
        <p:grpSpPr>
          <a:xfrm>
            <a:off x="8010438" y="3892550"/>
            <a:ext cx="4044257" cy="1282700"/>
            <a:chOff x="8010438" y="3892550"/>
            <a:chExt cx="4044257" cy="1282700"/>
          </a:xfrm>
        </p:grpSpPr>
        <p:sp>
          <p:nvSpPr>
            <p:cNvPr id="46" name="Rectángulo 45">
              <a:extLst>
                <a:ext uri="{FF2B5EF4-FFF2-40B4-BE49-F238E27FC236}">
                  <a16:creationId xmlns:a16="http://schemas.microsoft.com/office/drawing/2014/main" id="{DF9E4A6E-C89C-839C-3BDE-854980040F2D}"/>
                </a:ext>
              </a:extLst>
            </p:cNvPr>
            <p:cNvSpPr/>
            <p:nvPr/>
          </p:nvSpPr>
          <p:spPr>
            <a:xfrm>
              <a:off x="8010438" y="3892550"/>
              <a:ext cx="4044257" cy="1282700"/>
            </a:xfrm>
            <a:prstGeom prst="rect">
              <a:avLst/>
            </a:prstGeom>
            <a:solidFill>
              <a:srgbClr val="FCFCFC"/>
            </a:solidFill>
            <a:ln w="9525">
              <a:solidFill>
                <a:srgbClr val="1B2A5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000"/>
            </a:p>
          </p:txBody>
        </p:sp>
        <p:cxnSp>
          <p:nvCxnSpPr>
            <p:cNvPr id="48" name="Conector recto 47">
              <a:extLst>
                <a:ext uri="{FF2B5EF4-FFF2-40B4-BE49-F238E27FC236}">
                  <a16:creationId xmlns:a16="http://schemas.microsoft.com/office/drawing/2014/main" id="{A49DFC06-A046-C917-11F2-78AC6E6D6389}"/>
                </a:ext>
              </a:extLst>
            </p:cNvPr>
            <p:cNvCxnSpPr>
              <a:cxnSpLocks/>
            </p:cNvCxnSpPr>
            <p:nvPr/>
          </p:nvCxnSpPr>
          <p:spPr>
            <a:xfrm>
              <a:off x="8087100" y="4405075"/>
              <a:ext cx="3856442" cy="0"/>
            </a:xfrm>
            <a:prstGeom prst="line">
              <a:avLst/>
            </a:prstGeom>
            <a:ln w="3175">
              <a:solidFill>
                <a:srgbClr val="1B2A5E">
                  <a:alpha val="54902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CuadroTexto 48">
              <a:extLst>
                <a:ext uri="{FF2B5EF4-FFF2-40B4-BE49-F238E27FC236}">
                  <a16:creationId xmlns:a16="http://schemas.microsoft.com/office/drawing/2014/main" id="{AD565B8D-D54B-DE50-A59F-5313148F1A76}"/>
                </a:ext>
              </a:extLst>
            </p:cNvPr>
            <p:cNvSpPr txBox="1"/>
            <p:nvPr/>
          </p:nvSpPr>
          <p:spPr>
            <a:xfrm>
              <a:off x="8191018" y="3957240"/>
              <a:ext cx="375998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sz="1000" b="1" err="1">
                  <a:solidFill>
                    <a:srgbClr val="1E2761"/>
                  </a:solidFill>
                  <a:latin typeface="Roboto" pitchFamily="2" charset="0"/>
                  <a:ea typeface="Roboto" pitchFamily="2" charset="0"/>
                  <a:cs typeface="Calibri" pitchFamily="34" charset="-120"/>
                </a:rPr>
                <a:t>Type</a:t>
              </a:r>
              <a:br>
                <a:rPr lang="es-CO" sz="1000">
                  <a:latin typeface="Roboto" pitchFamily="2" charset="0"/>
                  <a:ea typeface="Roboto" pitchFamily="2" charset="0"/>
                </a:rPr>
              </a:br>
              <a:r>
                <a:rPr lang="en-US" sz="1000">
                  <a:solidFill>
                    <a:srgbClr val="3F4652"/>
                  </a:solidFill>
                  <a:latin typeface="Roboto" pitchFamily="2" charset="0"/>
                  <a:ea typeface="Roboto" pitchFamily="2" charset="0"/>
                </a:rPr>
                <a:t>Integration, Cloud Front, Cloud Back, Legacy, AS400, RPA</a:t>
              </a:r>
              <a:endParaRPr lang="es-CO" sz="1000"/>
            </a:p>
          </p:txBody>
        </p:sp>
        <p:cxnSp>
          <p:nvCxnSpPr>
            <p:cNvPr id="50" name="Conector recto 49">
              <a:extLst>
                <a:ext uri="{FF2B5EF4-FFF2-40B4-BE49-F238E27FC236}">
                  <a16:creationId xmlns:a16="http://schemas.microsoft.com/office/drawing/2014/main" id="{AA5DF3B2-EEDF-0A54-91AB-C8DE6A27718E}"/>
                </a:ext>
              </a:extLst>
            </p:cNvPr>
            <p:cNvCxnSpPr>
              <a:cxnSpLocks/>
            </p:cNvCxnSpPr>
            <p:nvPr/>
          </p:nvCxnSpPr>
          <p:spPr>
            <a:xfrm>
              <a:off x="8087100" y="4737325"/>
              <a:ext cx="3856442" cy="0"/>
            </a:xfrm>
            <a:prstGeom prst="line">
              <a:avLst/>
            </a:prstGeom>
            <a:ln w="3175">
              <a:solidFill>
                <a:srgbClr val="1B2A5E">
                  <a:alpha val="54902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ector recto 52">
              <a:extLst>
                <a:ext uri="{FF2B5EF4-FFF2-40B4-BE49-F238E27FC236}">
                  <a16:creationId xmlns:a16="http://schemas.microsoft.com/office/drawing/2014/main" id="{ED450975-8F1E-457C-8304-28F2764CB7E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53367" y="4411556"/>
              <a:ext cx="7577" cy="763694"/>
            </a:xfrm>
            <a:prstGeom prst="line">
              <a:avLst/>
            </a:prstGeom>
            <a:ln w="3175">
              <a:solidFill>
                <a:srgbClr val="1B2A5E">
                  <a:alpha val="54902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55" name="Gráfico 54" descr="Bloquear con relleno sólido">
              <a:extLst>
                <a:ext uri="{FF2B5EF4-FFF2-40B4-BE49-F238E27FC236}">
                  <a16:creationId xmlns:a16="http://schemas.microsoft.com/office/drawing/2014/main" id="{1B467448-906C-05F6-6D6E-43BAD9C9307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043734" y="4768884"/>
              <a:ext cx="216873" cy="218249"/>
            </a:xfrm>
            <a:prstGeom prst="rect">
              <a:avLst/>
            </a:prstGeom>
          </p:spPr>
        </p:pic>
        <p:pic>
          <p:nvPicPr>
            <p:cNvPr id="56" name="Gráfico 55" descr="Calendario giratorio con relleno sólido">
              <a:extLst>
                <a:ext uri="{FF2B5EF4-FFF2-40B4-BE49-F238E27FC236}">
                  <a16:creationId xmlns:a16="http://schemas.microsoft.com/office/drawing/2014/main" id="{76372299-88EE-9028-1299-286A6FC29B1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054952" y="4463922"/>
              <a:ext cx="193550" cy="194779"/>
            </a:xfrm>
            <a:prstGeom prst="rect">
              <a:avLst/>
            </a:prstGeom>
          </p:spPr>
        </p:pic>
        <p:pic>
          <p:nvPicPr>
            <p:cNvPr id="57" name="Gráfico 56" descr="Etiqueta con relleno sólido">
              <a:extLst>
                <a:ext uri="{FF2B5EF4-FFF2-40B4-BE49-F238E27FC236}">
                  <a16:creationId xmlns:a16="http://schemas.microsoft.com/office/drawing/2014/main" id="{0930E2BE-28E6-A472-7C51-7694B0F9B5D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041403" y="3961675"/>
              <a:ext cx="214562" cy="215924"/>
            </a:xfrm>
            <a:prstGeom prst="rect">
              <a:avLst/>
            </a:prstGeom>
          </p:spPr>
        </p:pic>
        <p:sp>
          <p:nvSpPr>
            <p:cNvPr id="58" name="CuadroTexto 57">
              <a:extLst>
                <a:ext uri="{FF2B5EF4-FFF2-40B4-BE49-F238E27FC236}">
                  <a16:creationId xmlns:a16="http://schemas.microsoft.com/office/drawing/2014/main" id="{2EA5BC8B-D4EA-38C4-3C5A-2BCF9C31ECF6}"/>
                </a:ext>
              </a:extLst>
            </p:cNvPr>
            <p:cNvSpPr txBox="1"/>
            <p:nvPr/>
          </p:nvSpPr>
          <p:spPr>
            <a:xfrm>
              <a:off x="8255964" y="4439796"/>
              <a:ext cx="139740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sz="1000" b="1" err="1">
                  <a:solidFill>
                    <a:srgbClr val="1E2761"/>
                  </a:solidFill>
                  <a:latin typeface="Roboto" pitchFamily="2" charset="0"/>
                  <a:ea typeface="Roboto" pitchFamily="2" charset="0"/>
                  <a:cs typeface="Calibri" pitchFamily="34" charset="-120"/>
                </a:rPr>
                <a:t>Production</a:t>
              </a:r>
              <a:r>
                <a:rPr lang="es-CO" sz="1000" b="1">
                  <a:solidFill>
                    <a:srgbClr val="1E2761"/>
                  </a:solidFill>
                  <a:latin typeface="Roboto" pitchFamily="2" charset="0"/>
                  <a:ea typeface="Roboto" pitchFamily="2" charset="0"/>
                  <a:cs typeface="Calibri" pitchFamily="34" charset="-120"/>
                </a:rPr>
                <a:t> date</a:t>
              </a:r>
            </a:p>
          </p:txBody>
        </p:sp>
        <p:sp>
          <p:nvSpPr>
            <p:cNvPr id="59" name="CuadroTexto 58">
              <a:extLst>
                <a:ext uri="{FF2B5EF4-FFF2-40B4-BE49-F238E27FC236}">
                  <a16:creationId xmlns:a16="http://schemas.microsoft.com/office/drawing/2014/main" id="{335DCD3E-EE59-A571-3F04-AE841487C863}"/>
                </a:ext>
              </a:extLst>
            </p:cNvPr>
            <p:cNvSpPr txBox="1"/>
            <p:nvPr/>
          </p:nvSpPr>
          <p:spPr>
            <a:xfrm>
              <a:off x="9660944" y="4445585"/>
              <a:ext cx="229005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sz="1000">
                  <a:solidFill>
                    <a:srgbClr val="3F4652"/>
                  </a:solidFill>
                  <a:latin typeface="Roboto" pitchFamily="2" charset="0"/>
                  <a:ea typeface="Roboto" pitchFamily="2" charset="0"/>
                </a:rPr>
                <a:t>Fecha paso a producción</a:t>
              </a:r>
            </a:p>
          </p:txBody>
        </p:sp>
        <p:sp>
          <p:nvSpPr>
            <p:cNvPr id="64" name="CuadroTexto 63">
              <a:extLst>
                <a:ext uri="{FF2B5EF4-FFF2-40B4-BE49-F238E27FC236}">
                  <a16:creationId xmlns:a16="http://schemas.microsoft.com/office/drawing/2014/main" id="{18FD9555-9710-7E50-9B6D-399A3357BCCA}"/>
                </a:ext>
              </a:extLst>
            </p:cNvPr>
            <p:cNvSpPr txBox="1"/>
            <p:nvPr/>
          </p:nvSpPr>
          <p:spPr>
            <a:xfrm>
              <a:off x="8268182" y="4764641"/>
              <a:ext cx="103069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>
                <a:defRPr sz="1000" b="1">
                  <a:solidFill>
                    <a:srgbClr val="1E2761"/>
                  </a:solidFill>
                  <a:latin typeface="Roboto" pitchFamily="2" charset="0"/>
                  <a:ea typeface="Roboto" pitchFamily="2" charset="0"/>
                  <a:cs typeface="Calibri" pitchFamily="34" charset="-120"/>
                </a:defRPr>
              </a:lvl1pPr>
            </a:lstStyle>
            <a:p>
              <a:r>
                <a:rPr lang="es-CO"/>
                <a:t>Block</a:t>
              </a:r>
            </a:p>
          </p:txBody>
        </p:sp>
        <p:sp>
          <p:nvSpPr>
            <p:cNvPr id="65" name="CuadroTexto 64">
              <a:extLst>
                <a:ext uri="{FF2B5EF4-FFF2-40B4-BE49-F238E27FC236}">
                  <a16:creationId xmlns:a16="http://schemas.microsoft.com/office/drawing/2014/main" id="{06E09ABD-71FF-7B43-789F-C14C2C6AEE2A}"/>
                </a:ext>
              </a:extLst>
            </p:cNvPr>
            <p:cNvSpPr txBox="1"/>
            <p:nvPr/>
          </p:nvSpPr>
          <p:spPr>
            <a:xfrm>
              <a:off x="9668522" y="4743114"/>
              <a:ext cx="189483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sz="1000">
                  <a:solidFill>
                    <a:srgbClr val="3F4652"/>
                  </a:solidFill>
                  <a:latin typeface="Roboto" pitchFamily="2" charset="0"/>
                  <a:ea typeface="Roboto" pitchFamily="2" charset="0"/>
                </a:rPr>
                <a:t>¿Está bloqueado?</a:t>
              </a:r>
              <a:br>
                <a:rPr lang="es-CO" sz="1000">
                  <a:solidFill>
                    <a:srgbClr val="3F4652"/>
                  </a:solidFill>
                  <a:latin typeface="Roboto" pitchFamily="2" charset="0"/>
                  <a:ea typeface="Roboto" pitchFamily="2" charset="0"/>
                </a:rPr>
              </a:br>
              <a:r>
                <a:rPr lang="es-CO" sz="1000">
                  <a:solidFill>
                    <a:srgbClr val="3F4652"/>
                  </a:solidFill>
                  <a:latin typeface="Roboto" pitchFamily="2" charset="0"/>
                  <a:ea typeface="Roboto" pitchFamily="2" charset="0"/>
                </a:rPr>
                <a:t>YES/NO</a:t>
              </a:r>
            </a:p>
          </p:txBody>
        </p:sp>
      </p:grpSp>
      <p:pic>
        <p:nvPicPr>
          <p:cNvPr id="30" name="Gráfico 29">
            <a:extLst>
              <a:ext uri="{FF2B5EF4-FFF2-40B4-BE49-F238E27FC236}">
                <a16:creationId xmlns:a16="http://schemas.microsoft.com/office/drawing/2014/main" id="{C85EE944-A799-6016-FEB2-C7060C098C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614629" y="209730"/>
            <a:ext cx="468000" cy="468000"/>
          </a:xfrm>
          <a:prstGeom prst="rect">
            <a:avLst/>
          </a:prstGeom>
        </p:spPr>
      </p:pic>
      <p:sp>
        <p:nvSpPr>
          <p:cNvPr id="31" name="CuadroTexto 30">
            <a:extLst>
              <a:ext uri="{FF2B5EF4-FFF2-40B4-BE49-F238E27FC236}">
                <a16:creationId xmlns:a16="http://schemas.microsoft.com/office/drawing/2014/main" id="{E0B59CBC-5E59-0D90-2EF8-035736F90E67}"/>
              </a:ext>
            </a:extLst>
          </p:cNvPr>
          <p:cNvSpPr txBox="1"/>
          <p:nvPr/>
        </p:nvSpPr>
        <p:spPr>
          <a:xfrm>
            <a:off x="10026104" y="305231"/>
            <a:ext cx="126133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419" sz="1200" b="1" noProof="0">
                <a:latin typeface="Roboto" pitchFamily="2" charset="0"/>
                <a:ea typeface="Roboto" pitchFamily="2" charset="0"/>
                <a:cs typeface="Calibri" pitchFamily="34" charset="-120"/>
              </a:rPr>
              <a:t>Azure DevOps</a:t>
            </a:r>
            <a:endParaRPr lang="es-419" sz="1200"/>
          </a:p>
        </p:txBody>
      </p:sp>
    </p:spTree>
    <p:extLst>
      <p:ext uri="{BB962C8B-B14F-4D97-AF65-F5344CB8AC3E}">
        <p14:creationId xmlns:p14="http://schemas.microsoft.com/office/powerpoint/2010/main" val="12135637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29F6AA4-E959-10AB-15D1-8E5CF6382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569F070-56CC-4BB1-E345-8EA95BABD543}"/>
              </a:ext>
            </a:extLst>
          </p:cNvPr>
          <p:cNvSpPr/>
          <p:nvPr/>
        </p:nvSpPr>
        <p:spPr>
          <a:xfrm>
            <a:off x="441921" y="305231"/>
            <a:ext cx="7541208" cy="5816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3733" b="1">
                <a:solidFill>
                  <a:srgbClr val="1B2A5E"/>
                </a:solidFill>
                <a:latin typeface="Roboto Bk" pitchFamily="2" charset="0"/>
                <a:ea typeface="Roboto Bk" pitchFamily="2" charset="0"/>
              </a:rPr>
              <a:t>Estado de los habilitadores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1A4037-8BB7-01D4-DA8C-41440BCF17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5157" y="196371"/>
            <a:ext cx="868630" cy="580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1858BE26-4DD7-7C6E-8D1B-6E8EC5FE90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304" y="1044607"/>
            <a:ext cx="2510540" cy="581649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33" name="Text 2">
            <a:extLst>
              <a:ext uri="{FF2B5EF4-FFF2-40B4-BE49-F238E27FC236}">
                <a16:creationId xmlns:a16="http://schemas.microsoft.com/office/drawing/2014/main" id="{D52266FC-8809-D2B7-20AA-423455CF96EF}"/>
              </a:ext>
            </a:extLst>
          </p:cNvPr>
          <p:cNvSpPr/>
          <p:nvPr/>
        </p:nvSpPr>
        <p:spPr>
          <a:xfrm>
            <a:off x="3010023" y="1710786"/>
            <a:ext cx="4709437" cy="5816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400" noProof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Estado por defecto al momento de la </a:t>
            </a:r>
            <a:r>
              <a:rPr lang="es-419" sz="1400" noProof="0" err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creaci</a:t>
            </a:r>
            <a:r>
              <a:rPr lang="es-419" sz="1400" err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ón</a:t>
            </a:r>
            <a:r>
              <a:rPr lang="es-419" sz="140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del</a:t>
            </a:r>
            <a:r>
              <a:rPr lang="es-419" sz="1400" noProof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</a:t>
            </a:r>
            <a:r>
              <a:rPr lang="es-419" sz="1400" noProof="0" err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work</a:t>
            </a:r>
            <a:r>
              <a:rPr lang="es-419" sz="1400" noProof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</a:t>
            </a:r>
            <a:r>
              <a:rPr lang="es-419" sz="1400" noProof="0" err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item</a:t>
            </a:r>
            <a:r>
              <a:rPr lang="es-419" sz="1400" noProof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.</a:t>
            </a: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E6BA8B61-B765-FC4F-EA40-9F334D663943}"/>
              </a:ext>
            </a:extLst>
          </p:cNvPr>
          <p:cNvSpPr/>
          <p:nvPr/>
        </p:nvSpPr>
        <p:spPr>
          <a:xfrm>
            <a:off x="3010024" y="2587946"/>
            <a:ext cx="4709436" cy="5816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400" noProof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Se usa en la contextualización y entendimiento de la necesidad.</a:t>
            </a:r>
          </a:p>
        </p:txBody>
      </p:sp>
      <p:sp>
        <p:nvSpPr>
          <p:cNvPr id="13" name="Flecha: pentágono 12">
            <a:extLst>
              <a:ext uri="{FF2B5EF4-FFF2-40B4-BE49-F238E27FC236}">
                <a16:creationId xmlns:a16="http://schemas.microsoft.com/office/drawing/2014/main" id="{203B492D-651C-48AB-2510-96DDC8E35FCC}"/>
              </a:ext>
            </a:extLst>
          </p:cNvPr>
          <p:cNvSpPr/>
          <p:nvPr/>
        </p:nvSpPr>
        <p:spPr>
          <a:xfrm rot="5400000">
            <a:off x="1446743" y="1230487"/>
            <a:ext cx="792000" cy="1752600"/>
          </a:xfrm>
          <a:prstGeom prst="homePlate">
            <a:avLst>
              <a:gd name="adj" fmla="val 24390"/>
            </a:avLst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419" sz="1600" b="1">
                <a:latin typeface="Roboto" pitchFamily="2" charset="0"/>
                <a:ea typeface="Roboto" pitchFamily="2" charset="0"/>
              </a:rPr>
              <a:t>Nuevo</a:t>
            </a:r>
          </a:p>
        </p:txBody>
      </p:sp>
      <p:sp>
        <p:nvSpPr>
          <p:cNvPr id="15" name="Flecha: cheurón 14">
            <a:extLst>
              <a:ext uri="{FF2B5EF4-FFF2-40B4-BE49-F238E27FC236}">
                <a16:creationId xmlns:a16="http://schemas.microsoft.com/office/drawing/2014/main" id="{4380FA80-006A-4FE3-7CC6-58B56E05A2CA}"/>
              </a:ext>
            </a:extLst>
          </p:cNvPr>
          <p:cNvSpPr/>
          <p:nvPr/>
        </p:nvSpPr>
        <p:spPr>
          <a:xfrm rot="5400000">
            <a:off x="1446743" y="2032521"/>
            <a:ext cx="792000" cy="1752600"/>
          </a:xfrm>
          <a:prstGeom prst="chevron">
            <a:avLst>
              <a:gd name="adj" fmla="val 21951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419" sz="1600" b="1">
                <a:latin typeface="Roboto" pitchFamily="2" charset="0"/>
                <a:ea typeface="Roboto" pitchFamily="2" charset="0"/>
              </a:rPr>
              <a:t>Entendimiento</a:t>
            </a:r>
          </a:p>
        </p:txBody>
      </p:sp>
      <p:sp>
        <p:nvSpPr>
          <p:cNvPr id="17" name="Flecha: cheurón 16">
            <a:extLst>
              <a:ext uri="{FF2B5EF4-FFF2-40B4-BE49-F238E27FC236}">
                <a16:creationId xmlns:a16="http://schemas.microsoft.com/office/drawing/2014/main" id="{6933501A-04A1-67BA-37D1-A7CEE136648D}"/>
              </a:ext>
            </a:extLst>
          </p:cNvPr>
          <p:cNvSpPr/>
          <p:nvPr/>
        </p:nvSpPr>
        <p:spPr>
          <a:xfrm rot="5400000">
            <a:off x="1446743" y="2834555"/>
            <a:ext cx="792000" cy="1752600"/>
          </a:xfrm>
          <a:prstGeom prst="chevron">
            <a:avLst>
              <a:gd name="adj" fmla="val 21951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419" sz="1600" b="1">
                <a:latin typeface="Roboto" pitchFamily="2" charset="0"/>
                <a:ea typeface="Roboto" pitchFamily="2" charset="0"/>
              </a:rPr>
              <a:t>En Progreso</a:t>
            </a:r>
          </a:p>
        </p:txBody>
      </p:sp>
      <p:sp>
        <p:nvSpPr>
          <p:cNvPr id="19" name="Flecha: cheurón 18">
            <a:extLst>
              <a:ext uri="{FF2B5EF4-FFF2-40B4-BE49-F238E27FC236}">
                <a16:creationId xmlns:a16="http://schemas.microsoft.com/office/drawing/2014/main" id="{AC49CF0B-CD88-455B-55D3-0E03BE127E07}"/>
              </a:ext>
            </a:extLst>
          </p:cNvPr>
          <p:cNvSpPr/>
          <p:nvPr/>
        </p:nvSpPr>
        <p:spPr>
          <a:xfrm rot="5400000">
            <a:off x="1446743" y="3636589"/>
            <a:ext cx="792000" cy="1752600"/>
          </a:xfrm>
          <a:prstGeom prst="chevron">
            <a:avLst>
              <a:gd name="adj" fmla="val 21951"/>
            </a:avLst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419" sz="1600" b="1">
                <a:latin typeface="Roboto" pitchFamily="2" charset="0"/>
                <a:ea typeface="Roboto" pitchFamily="2" charset="0"/>
              </a:rPr>
              <a:t>Entregado</a:t>
            </a:r>
          </a:p>
        </p:txBody>
      </p:sp>
      <p:sp>
        <p:nvSpPr>
          <p:cNvPr id="21" name="Flecha: cheurón 20">
            <a:extLst>
              <a:ext uri="{FF2B5EF4-FFF2-40B4-BE49-F238E27FC236}">
                <a16:creationId xmlns:a16="http://schemas.microsoft.com/office/drawing/2014/main" id="{21D7647A-41CA-4867-EF6F-A9FB04C5EE23}"/>
              </a:ext>
            </a:extLst>
          </p:cNvPr>
          <p:cNvSpPr/>
          <p:nvPr/>
        </p:nvSpPr>
        <p:spPr>
          <a:xfrm rot="5400000">
            <a:off x="1446743" y="4438623"/>
            <a:ext cx="792000" cy="1752600"/>
          </a:xfrm>
          <a:prstGeom prst="chevron">
            <a:avLst>
              <a:gd name="adj" fmla="val 21951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419" sz="1600" b="1">
                <a:latin typeface="Roboto" pitchFamily="2" charset="0"/>
                <a:ea typeface="Roboto" pitchFamily="2" charset="0"/>
              </a:rPr>
              <a:t>Finalizado</a:t>
            </a:r>
          </a:p>
        </p:txBody>
      </p:sp>
      <p:sp>
        <p:nvSpPr>
          <p:cNvPr id="23" name="Flecha: cheurón 22">
            <a:extLst>
              <a:ext uri="{FF2B5EF4-FFF2-40B4-BE49-F238E27FC236}">
                <a16:creationId xmlns:a16="http://schemas.microsoft.com/office/drawing/2014/main" id="{0A45A7EF-570E-014E-DF34-A3AF68A59191}"/>
              </a:ext>
            </a:extLst>
          </p:cNvPr>
          <p:cNvSpPr/>
          <p:nvPr/>
        </p:nvSpPr>
        <p:spPr>
          <a:xfrm rot="5400000">
            <a:off x="1446743" y="5240656"/>
            <a:ext cx="792000" cy="1752600"/>
          </a:xfrm>
          <a:prstGeom prst="chevron">
            <a:avLst>
              <a:gd name="adj" fmla="val 21951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419" sz="1600" b="1">
                <a:latin typeface="Roboto" pitchFamily="2" charset="0"/>
                <a:ea typeface="Roboto" pitchFamily="2" charset="0"/>
              </a:rPr>
              <a:t>Cancelado</a:t>
            </a: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9E82C8BB-2940-6B78-D660-2108C77545E2}"/>
              </a:ext>
            </a:extLst>
          </p:cNvPr>
          <p:cNvSpPr/>
          <p:nvPr/>
        </p:nvSpPr>
        <p:spPr>
          <a:xfrm>
            <a:off x="3010023" y="3364996"/>
            <a:ext cx="4709436" cy="5816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400" noProof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Este estado indica que la necesidad se esta trabajando, es decir, se esta construyendo la solución.</a:t>
            </a:r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047ECA87-18B1-3299-5D93-8A0DE9D25C0A}"/>
              </a:ext>
            </a:extLst>
          </p:cNvPr>
          <p:cNvSpPr/>
          <p:nvPr/>
        </p:nvSpPr>
        <p:spPr>
          <a:xfrm>
            <a:off x="3010023" y="4148936"/>
            <a:ext cx="4709436" cy="5816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400" noProof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Se usa para indicar que la solución fue entregada al solicitante para que este revise y valide si cumple con las condiciones (DoD) solicitadas.</a:t>
            </a:r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02FC65D0-3F81-A1F5-2691-8530EAD86C76}"/>
              </a:ext>
            </a:extLst>
          </p:cNvPr>
          <p:cNvSpPr/>
          <p:nvPr/>
        </p:nvSpPr>
        <p:spPr>
          <a:xfrm>
            <a:off x="3010023" y="4915260"/>
            <a:ext cx="4709436" cy="5816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400" noProof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Indica que </a:t>
            </a:r>
            <a:r>
              <a:rPr lang="es-419" sz="140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el Work </a:t>
            </a:r>
            <a:r>
              <a:rPr lang="es-419" sz="1400" err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Item</a:t>
            </a:r>
            <a:r>
              <a:rPr lang="es-419" sz="140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fue finalizado exitosamente.</a:t>
            </a:r>
            <a:endParaRPr lang="es-419" sz="1400" noProof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8CF4ED80-4E09-26AA-4F7E-1FD9F3B700A3}"/>
              </a:ext>
            </a:extLst>
          </p:cNvPr>
          <p:cNvSpPr/>
          <p:nvPr/>
        </p:nvSpPr>
        <p:spPr>
          <a:xfrm>
            <a:off x="3010023" y="5764959"/>
            <a:ext cx="4709436" cy="5816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400" noProof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Se usa cuando el Work </a:t>
            </a:r>
            <a:r>
              <a:rPr lang="es-419" sz="1400" noProof="0" err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Item</a:t>
            </a:r>
            <a:r>
              <a:rPr lang="es-419" sz="1400" noProof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fue </a:t>
            </a:r>
            <a:r>
              <a:rPr lang="es-419" sz="1400" noProof="0" err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despriorizado</a:t>
            </a:r>
            <a:r>
              <a:rPr lang="es-419" sz="1400" noProof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e indica que no fue atendido.</a:t>
            </a:r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3AD209A8-D493-9570-F5DE-DFE158552065}"/>
              </a:ext>
            </a:extLst>
          </p:cNvPr>
          <p:cNvSpPr/>
          <p:nvPr/>
        </p:nvSpPr>
        <p:spPr>
          <a:xfrm>
            <a:off x="8226255" y="1078885"/>
            <a:ext cx="3546344" cy="365760"/>
          </a:xfrm>
          <a:prstGeom prst="round2SameRect">
            <a:avLst>
              <a:gd name="adj1" fmla="val 31579"/>
              <a:gd name="adj2" fmla="val 0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s-419" sz="1100" b="1" kern="0" spc="267" noProof="0">
                <a:solidFill>
                  <a:srgbClr val="2E5FA3"/>
                </a:solidFill>
                <a:latin typeface="Roboto Bk" pitchFamily="2" charset="0"/>
                <a:ea typeface="Roboto Bk" pitchFamily="2" charset="0"/>
                <a:cs typeface="Calibri" pitchFamily="34" charset="-120"/>
              </a:rPr>
              <a:t>¿Quién crea y actualiza el </a:t>
            </a:r>
            <a:r>
              <a:rPr lang="es-419" sz="1100" b="1" kern="0" spc="267" noProof="0" err="1">
                <a:solidFill>
                  <a:srgbClr val="2E5FA3"/>
                </a:solidFill>
                <a:latin typeface="Roboto Bk" pitchFamily="2" charset="0"/>
                <a:ea typeface="Roboto Bk" pitchFamily="2" charset="0"/>
                <a:cs typeface="Calibri" pitchFamily="34" charset="-120"/>
              </a:rPr>
              <a:t>work</a:t>
            </a:r>
            <a:r>
              <a:rPr lang="es-419" sz="1100" b="1" kern="0" spc="267" noProof="0">
                <a:solidFill>
                  <a:srgbClr val="2E5FA3"/>
                </a:solidFill>
                <a:latin typeface="Roboto Bk" pitchFamily="2" charset="0"/>
                <a:ea typeface="Roboto Bk" pitchFamily="2" charset="0"/>
                <a:cs typeface="Calibri" pitchFamily="34" charset="-120"/>
              </a:rPr>
              <a:t> </a:t>
            </a:r>
            <a:r>
              <a:rPr lang="es-419" sz="1100" b="1" kern="0" spc="267" noProof="0" err="1">
                <a:solidFill>
                  <a:srgbClr val="2E5FA3"/>
                </a:solidFill>
                <a:latin typeface="Roboto Bk" pitchFamily="2" charset="0"/>
                <a:ea typeface="Roboto Bk" pitchFamily="2" charset="0"/>
                <a:cs typeface="Calibri" pitchFamily="34" charset="-120"/>
              </a:rPr>
              <a:t>item</a:t>
            </a:r>
            <a:r>
              <a:rPr lang="es-419" sz="1100" b="1" kern="0" spc="267" noProof="0">
                <a:solidFill>
                  <a:srgbClr val="2E5FA3"/>
                </a:solidFill>
                <a:latin typeface="Roboto Bk" pitchFamily="2" charset="0"/>
                <a:ea typeface="Roboto Bk" pitchFamily="2" charset="0"/>
                <a:cs typeface="Calibri" pitchFamily="34" charset="-120"/>
              </a:rPr>
              <a:t> en Azure?</a:t>
            </a:r>
            <a:endParaRPr lang="es-419" sz="1100" noProof="0">
              <a:latin typeface="Roboto Bk" pitchFamily="2" charset="0"/>
              <a:ea typeface="Roboto Bk" pitchFamily="2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FB6FFAD4-D550-00C4-C565-FCC3D1C8E5D6}"/>
              </a:ext>
            </a:extLst>
          </p:cNvPr>
          <p:cNvSpPr txBox="1"/>
          <p:nvPr/>
        </p:nvSpPr>
        <p:spPr>
          <a:xfrm>
            <a:off x="8226255" y="1434612"/>
            <a:ext cx="3546344" cy="203132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anchor="ctr">
            <a:spAutoFit/>
          </a:bodyPr>
          <a:lstStyle/>
          <a:p>
            <a:pPr algn="just" fontAlgn="t"/>
            <a:r>
              <a:rPr lang="es-419" sz="1400" noProof="0"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rPr>
              <a:t>Es responsabilidad del </a:t>
            </a:r>
            <a:r>
              <a:rPr lang="es-419" sz="1400" b="1" noProof="0"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rPr>
              <a:t>Líder de célula </a:t>
            </a:r>
            <a:r>
              <a:rPr lang="es-419" sz="1400" noProof="0"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rPr>
              <a:t>garantizar que su backlog, incluyendo las historias habilitadoras sean creadas.</a:t>
            </a:r>
          </a:p>
          <a:p>
            <a:pPr algn="just" fontAlgn="t"/>
            <a:r>
              <a:rPr lang="es-419" sz="1400"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rPr>
              <a:t>Sin embargo, esta también puede ser creada por quien va a trabajar en ella (asignad@), previa conversación con el líder de célula.</a:t>
            </a:r>
          </a:p>
          <a:p>
            <a:pPr algn="just" fontAlgn="t"/>
            <a:r>
              <a:rPr lang="es-419" sz="1400"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rPr>
              <a:t>Es responsabilidad de la persona que esta trabajando en la solución (asignad@) actualizar la información y el estado de sus </a:t>
            </a:r>
            <a:r>
              <a:rPr lang="es-419" sz="1400" err="1"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rPr>
              <a:t>work</a:t>
            </a:r>
            <a:r>
              <a:rPr lang="es-419" sz="1400"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rPr>
              <a:t> ítems</a:t>
            </a:r>
            <a:endParaRPr lang="es-419" sz="1400" noProof="0">
              <a:latin typeface="Roboto Condensed Light" panose="02000000000000000000" pitchFamily="2" charset="0"/>
              <a:ea typeface="Roboto Condensed Light" panose="02000000000000000000" pitchFamily="2" charset="0"/>
              <a:cs typeface="Roboto Condensed Light" panose="02000000000000000000" pitchFamily="2" charset="0"/>
            </a:endParaRPr>
          </a:p>
        </p:txBody>
      </p:sp>
      <p:sp>
        <p:nvSpPr>
          <p:cNvPr id="18" name="Abrir corchete 17">
            <a:extLst>
              <a:ext uri="{FF2B5EF4-FFF2-40B4-BE49-F238E27FC236}">
                <a16:creationId xmlns:a16="http://schemas.microsoft.com/office/drawing/2014/main" id="{408D1059-2F4D-BFD6-345A-836B1E8A2320}"/>
              </a:ext>
            </a:extLst>
          </p:cNvPr>
          <p:cNvSpPr/>
          <p:nvPr/>
        </p:nvSpPr>
        <p:spPr>
          <a:xfrm>
            <a:off x="675461" y="2841087"/>
            <a:ext cx="290982" cy="2444750"/>
          </a:xfrm>
          <a:prstGeom prst="leftBracket">
            <a:avLst>
              <a:gd name="adj" fmla="val 0"/>
            </a:avLst>
          </a:prstGeom>
          <a:ln>
            <a:solidFill>
              <a:srgbClr val="0070C0"/>
            </a:solidFill>
            <a:headEnd type="diamond" w="sm" len="sm"/>
            <a:tailEnd type="diamond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2F02CF2F-382A-A6A6-3CF9-60C2836E1E8A}"/>
              </a:ext>
            </a:extLst>
          </p:cNvPr>
          <p:cNvSpPr txBox="1"/>
          <p:nvPr/>
        </p:nvSpPr>
        <p:spPr>
          <a:xfrm rot="16200000">
            <a:off x="225606" y="3955462"/>
            <a:ext cx="902030" cy="216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/>
          <a:p>
            <a:pPr algn="ctr"/>
            <a:r>
              <a:rPr lang="es-419" sz="1200" b="1" noProof="0" err="1">
                <a:latin typeface="Roboto" pitchFamily="2" charset="0"/>
                <a:ea typeface="Roboto" pitchFamily="2" charset="0"/>
              </a:rPr>
              <a:t>Cycle</a:t>
            </a:r>
            <a:r>
              <a:rPr lang="es-419" sz="1200" b="1" noProof="0">
                <a:latin typeface="Roboto" pitchFamily="2" charset="0"/>
                <a:ea typeface="Roboto" pitchFamily="2" charset="0"/>
              </a:rPr>
              <a:t> time</a:t>
            </a:r>
            <a:endParaRPr lang="es-419" sz="1200"/>
          </a:p>
        </p:txBody>
      </p:sp>
      <p:grpSp>
        <p:nvGrpSpPr>
          <p:cNvPr id="32" name="Grupo 31">
            <a:extLst>
              <a:ext uri="{FF2B5EF4-FFF2-40B4-BE49-F238E27FC236}">
                <a16:creationId xmlns:a16="http://schemas.microsoft.com/office/drawing/2014/main" id="{13DF7D23-6562-E701-EF0E-BC3229ACF762}"/>
              </a:ext>
            </a:extLst>
          </p:cNvPr>
          <p:cNvGrpSpPr/>
          <p:nvPr/>
        </p:nvGrpSpPr>
        <p:grpSpPr>
          <a:xfrm>
            <a:off x="7960608" y="3890778"/>
            <a:ext cx="4077638" cy="2036221"/>
            <a:chOff x="8010439" y="4397106"/>
            <a:chExt cx="4077638" cy="2036221"/>
          </a:xfrm>
        </p:grpSpPr>
        <p:sp>
          <p:nvSpPr>
            <p:cNvPr id="77" name="Rectángulo 76">
              <a:extLst>
                <a:ext uri="{FF2B5EF4-FFF2-40B4-BE49-F238E27FC236}">
                  <a16:creationId xmlns:a16="http://schemas.microsoft.com/office/drawing/2014/main" id="{E62A94F3-298F-8063-168E-C6FA1F45B275}"/>
                </a:ext>
              </a:extLst>
            </p:cNvPr>
            <p:cNvSpPr/>
            <p:nvPr/>
          </p:nvSpPr>
          <p:spPr>
            <a:xfrm>
              <a:off x="8010439" y="4402006"/>
              <a:ext cx="4077638" cy="2031321"/>
            </a:xfrm>
            <a:prstGeom prst="rect">
              <a:avLst/>
            </a:prstGeom>
            <a:solidFill>
              <a:srgbClr val="FCFCFC"/>
            </a:solidFill>
            <a:ln w="9525">
              <a:solidFill>
                <a:srgbClr val="1B2A5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000"/>
            </a:p>
          </p:txBody>
        </p:sp>
        <p:cxnSp>
          <p:nvCxnSpPr>
            <p:cNvPr id="78" name="Conector recto 77">
              <a:extLst>
                <a:ext uri="{FF2B5EF4-FFF2-40B4-BE49-F238E27FC236}">
                  <a16:creationId xmlns:a16="http://schemas.microsoft.com/office/drawing/2014/main" id="{0487944D-F0BE-28A2-8C53-C5714463E3F1}"/>
                </a:ext>
              </a:extLst>
            </p:cNvPr>
            <p:cNvCxnSpPr>
              <a:cxnSpLocks/>
            </p:cNvCxnSpPr>
            <p:nvPr/>
          </p:nvCxnSpPr>
          <p:spPr>
            <a:xfrm>
              <a:off x="8105725" y="4397106"/>
              <a:ext cx="3419505" cy="0"/>
            </a:xfrm>
            <a:prstGeom prst="line">
              <a:avLst/>
            </a:prstGeom>
            <a:ln w="3175">
              <a:solidFill>
                <a:srgbClr val="C5CCD6">
                  <a:alpha val="65098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Conector recto 78">
              <a:extLst>
                <a:ext uri="{FF2B5EF4-FFF2-40B4-BE49-F238E27FC236}">
                  <a16:creationId xmlns:a16="http://schemas.microsoft.com/office/drawing/2014/main" id="{B6736461-5272-C260-A2B1-5F7F7155855B}"/>
                </a:ext>
              </a:extLst>
            </p:cNvPr>
            <p:cNvCxnSpPr>
              <a:cxnSpLocks/>
            </p:cNvCxnSpPr>
            <p:nvPr/>
          </p:nvCxnSpPr>
          <p:spPr>
            <a:xfrm>
              <a:off x="8105725" y="4991499"/>
              <a:ext cx="3419505" cy="0"/>
            </a:xfrm>
            <a:prstGeom prst="line">
              <a:avLst/>
            </a:prstGeom>
            <a:ln w="3175">
              <a:solidFill>
                <a:srgbClr val="1B2A5E">
                  <a:alpha val="65098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CuadroTexto 79">
              <a:extLst>
                <a:ext uri="{FF2B5EF4-FFF2-40B4-BE49-F238E27FC236}">
                  <a16:creationId xmlns:a16="http://schemas.microsoft.com/office/drawing/2014/main" id="{99BEDD70-8A12-A871-9D1E-917281414C53}"/>
                </a:ext>
              </a:extLst>
            </p:cNvPr>
            <p:cNvSpPr txBox="1"/>
            <p:nvPr/>
          </p:nvSpPr>
          <p:spPr>
            <a:xfrm>
              <a:off x="8247707" y="4441436"/>
              <a:ext cx="3768580" cy="5693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sz="1000" b="1" err="1">
                  <a:solidFill>
                    <a:srgbClr val="1E2761"/>
                  </a:solidFill>
                  <a:latin typeface="Roboto" pitchFamily="2" charset="0"/>
                  <a:ea typeface="Roboto" pitchFamily="2" charset="0"/>
                  <a:cs typeface="Calibri" pitchFamily="34" charset="-120"/>
                </a:rPr>
                <a:t>Type</a:t>
              </a:r>
              <a:br>
                <a:rPr lang="es-CO" sz="1000">
                  <a:latin typeface="Roboto" pitchFamily="2" charset="0"/>
                  <a:ea typeface="Roboto" pitchFamily="2" charset="0"/>
                </a:rPr>
              </a:br>
              <a:r>
                <a:rPr lang="es-CO" sz="1000" err="1">
                  <a:solidFill>
                    <a:srgbClr val="3F4652"/>
                  </a:solidFill>
                  <a:latin typeface="Roboto" pitchFamily="2" charset="0"/>
                  <a:ea typeface="Roboto" pitchFamily="2" charset="0"/>
                </a:rPr>
                <a:t>Solution</a:t>
              </a:r>
              <a:r>
                <a:rPr lang="es-CO" sz="1000">
                  <a:solidFill>
                    <a:srgbClr val="3F4652"/>
                  </a:solidFill>
                  <a:latin typeface="Roboto" pitchFamily="2" charset="0"/>
                  <a:ea typeface="Roboto" pitchFamily="2" charset="0"/>
                </a:rPr>
                <a:t>, </a:t>
              </a:r>
              <a:r>
                <a:rPr lang="es-CO" sz="1000" err="1">
                  <a:solidFill>
                    <a:srgbClr val="3F4652"/>
                  </a:solidFill>
                  <a:latin typeface="Roboto" pitchFamily="2" charset="0"/>
                  <a:ea typeface="Roboto" pitchFamily="2" charset="0"/>
                </a:rPr>
                <a:t>integration</a:t>
              </a:r>
              <a:r>
                <a:rPr lang="es-CO" sz="1000">
                  <a:solidFill>
                    <a:srgbClr val="3F4652"/>
                  </a:solidFill>
                  <a:latin typeface="Roboto" pitchFamily="2" charset="0"/>
                  <a:ea typeface="Roboto" pitchFamily="2" charset="0"/>
                </a:rPr>
                <a:t>, Security, </a:t>
              </a:r>
              <a:r>
                <a:rPr lang="es-CO" sz="1000" err="1">
                  <a:solidFill>
                    <a:srgbClr val="3F4652"/>
                  </a:solidFill>
                  <a:latin typeface="Roboto" pitchFamily="2" charset="0"/>
                  <a:ea typeface="Roboto" pitchFamily="2" charset="0"/>
                </a:rPr>
                <a:t>Infraestructure</a:t>
              </a:r>
              <a:r>
                <a:rPr lang="es-CO" sz="1000">
                  <a:solidFill>
                    <a:srgbClr val="3F4652"/>
                  </a:solidFill>
                  <a:latin typeface="Roboto" pitchFamily="2" charset="0"/>
                  <a:ea typeface="Roboto" pitchFamily="2" charset="0"/>
                </a:rPr>
                <a:t>, Cloud, DevOps, servers</a:t>
              </a:r>
            </a:p>
          </p:txBody>
        </p:sp>
        <p:cxnSp>
          <p:nvCxnSpPr>
            <p:cNvPr id="81" name="Conector recto 80">
              <a:extLst>
                <a:ext uri="{FF2B5EF4-FFF2-40B4-BE49-F238E27FC236}">
                  <a16:creationId xmlns:a16="http://schemas.microsoft.com/office/drawing/2014/main" id="{388507F8-3CC1-D81C-CB9D-0BBD2F2E5853}"/>
                </a:ext>
              </a:extLst>
            </p:cNvPr>
            <p:cNvCxnSpPr>
              <a:cxnSpLocks/>
            </p:cNvCxnSpPr>
            <p:nvPr/>
          </p:nvCxnSpPr>
          <p:spPr>
            <a:xfrm>
              <a:off x="8105725" y="5267396"/>
              <a:ext cx="3419505" cy="0"/>
            </a:xfrm>
            <a:prstGeom prst="line">
              <a:avLst/>
            </a:prstGeom>
            <a:ln w="3175">
              <a:solidFill>
                <a:srgbClr val="1B2A5E">
                  <a:alpha val="65098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Conector recto 81">
              <a:extLst>
                <a:ext uri="{FF2B5EF4-FFF2-40B4-BE49-F238E27FC236}">
                  <a16:creationId xmlns:a16="http://schemas.microsoft.com/office/drawing/2014/main" id="{39E74A49-A60F-D9C7-5BF4-CC80A4691668}"/>
                </a:ext>
              </a:extLst>
            </p:cNvPr>
            <p:cNvCxnSpPr>
              <a:cxnSpLocks/>
            </p:cNvCxnSpPr>
            <p:nvPr/>
          </p:nvCxnSpPr>
          <p:spPr>
            <a:xfrm>
              <a:off x="8105725" y="5551959"/>
              <a:ext cx="3419505" cy="0"/>
            </a:xfrm>
            <a:prstGeom prst="line">
              <a:avLst/>
            </a:prstGeom>
            <a:ln w="3175">
              <a:solidFill>
                <a:srgbClr val="1B2A5E">
                  <a:alpha val="65098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Conector recto 82">
              <a:extLst>
                <a:ext uri="{FF2B5EF4-FFF2-40B4-BE49-F238E27FC236}">
                  <a16:creationId xmlns:a16="http://schemas.microsoft.com/office/drawing/2014/main" id="{1C632521-2CA0-7388-62D6-7E4ABA75410B}"/>
                </a:ext>
              </a:extLst>
            </p:cNvPr>
            <p:cNvCxnSpPr>
              <a:cxnSpLocks/>
            </p:cNvCxnSpPr>
            <p:nvPr/>
          </p:nvCxnSpPr>
          <p:spPr>
            <a:xfrm>
              <a:off x="8105725" y="5984516"/>
              <a:ext cx="3419505" cy="0"/>
            </a:xfrm>
            <a:prstGeom prst="line">
              <a:avLst/>
            </a:prstGeom>
            <a:ln w="3175">
              <a:solidFill>
                <a:srgbClr val="1B2A5E">
                  <a:alpha val="65098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Conector recto 83">
              <a:extLst>
                <a:ext uri="{FF2B5EF4-FFF2-40B4-BE49-F238E27FC236}">
                  <a16:creationId xmlns:a16="http://schemas.microsoft.com/office/drawing/2014/main" id="{E6F76C5E-690C-A1A0-09C9-0EA6445249F7}"/>
                </a:ext>
              </a:extLst>
            </p:cNvPr>
            <p:cNvCxnSpPr>
              <a:cxnSpLocks/>
            </p:cNvCxnSpPr>
            <p:nvPr/>
          </p:nvCxnSpPr>
          <p:spPr>
            <a:xfrm>
              <a:off x="9772735" y="4991499"/>
              <a:ext cx="0" cy="1441828"/>
            </a:xfrm>
            <a:prstGeom prst="line">
              <a:avLst/>
            </a:prstGeom>
            <a:ln w="3175">
              <a:solidFill>
                <a:srgbClr val="1B2A5E">
                  <a:alpha val="65098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86" name="Gráfico 85" descr="Casilla marcada con relleno sólido">
              <a:extLst>
                <a:ext uri="{FF2B5EF4-FFF2-40B4-BE49-F238E27FC236}">
                  <a16:creationId xmlns:a16="http://schemas.microsoft.com/office/drawing/2014/main" id="{0C318A39-5293-CEDF-6D9F-3CEACD82D39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063023" y="5596302"/>
              <a:ext cx="190251" cy="190274"/>
            </a:xfrm>
            <a:prstGeom prst="rect">
              <a:avLst/>
            </a:prstGeom>
          </p:spPr>
        </p:pic>
        <p:pic>
          <p:nvPicPr>
            <p:cNvPr id="87" name="Gráfico 86" descr="Bloquear con relleno sólido">
              <a:extLst>
                <a:ext uri="{FF2B5EF4-FFF2-40B4-BE49-F238E27FC236}">
                  <a16:creationId xmlns:a16="http://schemas.microsoft.com/office/drawing/2014/main" id="{E0B90BBF-8FE0-874B-F101-D005BCF2707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063023" y="6058726"/>
              <a:ext cx="192301" cy="192324"/>
            </a:xfrm>
            <a:prstGeom prst="rect">
              <a:avLst/>
            </a:prstGeom>
          </p:spPr>
        </p:pic>
        <p:pic>
          <p:nvPicPr>
            <p:cNvPr id="88" name="Gráfico 87" descr="Calendario giratorio con relleno sólido">
              <a:extLst>
                <a:ext uri="{FF2B5EF4-FFF2-40B4-BE49-F238E27FC236}">
                  <a16:creationId xmlns:a16="http://schemas.microsoft.com/office/drawing/2014/main" id="{6A358CEE-6696-7407-A458-F77B861E36A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084277" y="5025516"/>
              <a:ext cx="171620" cy="171641"/>
            </a:xfrm>
            <a:prstGeom prst="rect">
              <a:avLst/>
            </a:prstGeom>
          </p:spPr>
        </p:pic>
        <p:pic>
          <p:nvPicPr>
            <p:cNvPr id="89" name="Gráfico 88" descr="Etiqueta con relleno sólido">
              <a:extLst>
                <a:ext uri="{FF2B5EF4-FFF2-40B4-BE49-F238E27FC236}">
                  <a16:creationId xmlns:a16="http://schemas.microsoft.com/office/drawing/2014/main" id="{23DC44B8-91C1-FAF1-46D0-0A9BFCCB7BB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085731" y="4476350"/>
              <a:ext cx="190252" cy="190275"/>
            </a:xfrm>
            <a:prstGeom prst="rect">
              <a:avLst/>
            </a:prstGeom>
          </p:spPr>
        </p:pic>
        <p:sp>
          <p:nvSpPr>
            <p:cNvPr id="90" name="CuadroTexto 89">
              <a:extLst>
                <a:ext uri="{FF2B5EF4-FFF2-40B4-BE49-F238E27FC236}">
                  <a16:creationId xmlns:a16="http://schemas.microsoft.com/office/drawing/2014/main" id="{FC703F71-C333-550E-61F6-E91AFB42C75B}"/>
                </a:ext>
              </a:extLst>
            </p:cNvPr>
            <p:cNvSpPr txBox="1"/>
            <p:nvPr/>
          </p:nvSpPr>
          <p:spPr>
            <a:xfrm>
              <a:off x="8282257" y="5004254"/>
              <a:ext cx="138050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sz="1000" b="1">
                  <a:solidFill>
                    <a:srgbClr val="1E2761"/>
                  </a:solidFill>
                  <a:latin typeface="Roboto" pitchFamily="2" charset="0"/>
                  <a:ea typeface="Roboto" pitchFamily="2" charset="0"/>
                  <a:cs typeface="Calibri" pitchFamily="34" charset="-120"/>
                </a:rPr>
                <a:t>Target</a:t>
              </a:r>
              <a:r>
                <a:rPr lang="es-CO" sz="1000" b="1">
                  <a:solidFill>
                    <a:srgbClr val="1F6ACB"/>
                  </a:solidFill>
                  <a:latin typeface="Roboto" pitchFamily="2" charset="0"/>
                  <a:ea typeface="Roboto" pitchFamily="2" charset="0"/>
                </a:rPr>
                <a:t> </a:t>
              </a:r>
              <a:r>
                <a:rPr lang="es-CO" sz="1000" b="1">
                  <a:solidFill>
                    <a:srgbClr val="1E2761"/>
                  </a:solidFill>
                  <a:latin typeface="Roboto" pitchFamily="2" charset="0"/>
                  <a:ea typeface="Roboto" pitchFamily="2" charset="0"/>
                  <a:cs typeface="Calibri" pitchFamily="34" charset="-120"/>
                </a:rPr>
                <a:t>date</a:t>
              </a:r>
            </a:p>
          </p:txBody>
        </p:sp>
        <p:sp>
          <p:nvSpPr>
            <p:cNvPr id="92" name="CuadroTexto 91">
              <a:extLst>
                <a:ext uri="{FF2B5EF4-FFF2-40B4-BE49-F238E27FC236}">
                  <a16:creationId xmlns:a16="http://schemas.microsoft.com/office/drawing/2014/main" id="{99B6556F-48B9-DEE7-67EA-FC6779D3B02A}"/>
                </a:ext>
              </a:extLst>
            </p:cNvPr>
            <p:cNvSpPr txBox="1"/>
            <p:nvPr/>
          </p:nvSpPr>
          <p:spPr>
            <a:xfrm>
              <a:off x="9796639" y="5000863"/>
              <a:ext cx="135396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sz="1000">
                  <a:solidFill>
                    <a:srgbClr val="3F4652"/>
                  </a:solidFill>
                  <a:latin typeface="Roboto" pitchFamily="2" charset="0"/>
                  <a:ea typeface="Roboto" pitchFamily="2" charset="0"/>
                </a:rPr>
                <a:t>Fecha objetivo</a:t>
              </a:r>
            </a:p>
          </p:txBody>
        </p:sp>
        <p:pic>
          <p:nvPicPr>
            <p:cNvPr id="93" name="Gráfico 92" descr="Calendario giratorio con relleno sólido">
              <a:extLst>
                <a:ext uri="{FF2B5EF4-FFF2-40B4-BE49-F238E27FC236}">
                  <a16:creationId xmlns:a16="http://schemas.microsoft.com/office/drawing/2014/main" id="{2DA07948-5E01-A3D9-D9EC-277B9B20524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084277" y="5323371"/>
              <a:ext cx="171620" cy="171641"/>
            </a:xfrm>
            <a:prstGeom prst="rect">
              <a:avLst/>
            </a:prstGeom>
          </p:spPr>
        </p:pic>
        <p:sp>
          <p:nvSpPr>
            <p:cNvPr id="94" name="CuadroTexto 93">
              <a:extLst>
                <a:ext uri="{FF2B5EF4-FFF2-40B4-BE49-F238E27FC236}">
                  <a16:creationId xmlns:a16="http://schemas.microsoft.com/office/drawing/2014/main" id="{8CA7633D-A274-C440-437E-7FFAA9197285}"/>
                </a:ext>
              </a:extLst>
            </p:cNvPr>
            <p:cNvSpPr txBox="1"/>
            <p:nvPr/>
          </p:nvSpPr>
          <p:spPr>
            <a:xfrm>
              <a:off x="8282601" y="5272609"/>
              <a:ext cx="11279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>
                <a:defRPr sz="1000" b="1">
                  <a:solidFill>
                    <a:srgbClr val="1E2761"/>
                  </a:solidFill>
                  <a:latin typeface="Roboto" pitchFamily="2" charset="0"/>
                  <a:ea typeface="Roboto" pitchFamily="2" charset="0"/>
                  <a:cs typeface="Calibri" pitchFamily="34" charset="-120"/>
                </a:defRPr>
              </a:lvl1pPr>
            </a:lstStyle>
            <a:p>
              <a:r>
                <a:rPr lang="es-CO" err="1"/>
                <a:t>Finish</a:t>
              </a:r>
              <a:r>
                <a:rPr lang="es-CO"/>
                <a:t> date</a:t>
              </a:r>
            </a:p>
          </p:txBody>
        </p:sp>
        <p:sp>
          <p:nvSpPr>
            <p:cNvPr id="96" name="CuadroTexto 95">
              <a:extLst>
                <a:ext uri="{FF2B5EF4-FFF2-40B4-BE49-F238E27FC236}">
                  <a16:creationId xmlns:a16="http://schemas.microsoft.com/office/drawing/2014/main" id="{F52A55B5-92E9-CA21-937F-2B7252ECEF21}"/>
                </a:ext>
              </a:extLst>
            </p:cNvPr>
            <p:cNvSpPr txBox="1"/>
            <p:nvPr/>
          </p:nvSpPr>
          <p:spPr>
            <a:xfrm>
              <a:off x="9793056" y="5286095"/>
              <a:ext cx="165232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sz="1000">
                  <a:solidFill>
                    <a:srgbClr val="3F4652"/>
                  </a:solidFill>
                  <a:latin typeface="Roboto" pitchFamily="2" charset="0"/>
                  <a:ea typeface="Roboto" pitchFamily="2" charset="0"/>
                </a:rPr>
                <a:t>Fecha de finalización</a:t>
              </a:r>
            </a:p>
          </p:txBody>
        </p:sp>
        <p:sp>
          <p:nvSpPr>
            <p:cNvPr id="97" name="CuadroTexto 96">
              <a:extLst>
                <a:ext uri="{FF2B5EF4-FFF2-40B4-BE49-F238E27FC236}">
                  <a16:creationId xmlns:a16="http://schemas.microsoft.com/office/drawing/2014/main" id="{99EED41A-9FCE-A23D-280D-2B2B1EF1001A}"/>
                </a:ext>
              </a:extLst>
            </p:cNvPr>
            <p:cNvSpPr txBox="1"/>
            <p:nvPr/>
          </p:nvSpPr>
          <p:spPr>
            <a:xfrm>
              <a:off x="8282257" y="5577318"/>
              <a:ext cx="149914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>
                <a:defRPr sz="1000" b="1">
                  <a:solidFill>
                    <a:srgbClr val="1E2761"/>
                  </a:solidFill>
                  <a:latin typeface="Roboto" pitchFamily="2" charset="0"/>
                  <a:ea typeface="Roboto" pitchFamily="2" charset="0"/>
                  <a:cs typeface="Calibri" pitchFamily="34" charset="-120"/>
                </a:defRPr>
              </a:lvl1pPr>
            </a:lstStyle>
            <a:p>
              <a:r>
                <a:rPr lang="es-CO"/>
                <a:t>Complete </a:t>
              </a:r>
              <a:r>
                <a:rPr lang="es-CO" err="1"/>
                <a:t>requirement</a:t>
              </a:r>
              <a:endParaRPr lang="es-CO"/>
            </a:p>
          </p:txBody>
        </p:sp>
        <p:sp>
          <p:nvSpPr>
            <p:cNvPr id="98" name="CuadroTexto 97">
              <a:extLst>
                <a:ext uri="{FF2B5EF4-FFF2-40B4-BE49-F238E27FC236}">
                  <a16:creationId xmlns:a16="http://schemas.microsoft.com/office/drawing/2014/main" id="{55996312-3E01-7AF8-8B71-F3FC2486DE38}"/>
                </a:ext>
              </a:extLst>
            </p:cNvPr>
            <p:cNvSpPr txBox="1"/>
            <p:nvPr/>
          </p:nvSpPr>
          <p:spPr>
            <a:xfrm>
              <a:off x="9789845" y="5567829"/>
              <a:ext cx="214180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sz="1000">
                  <a:solidFill>
                    <a:srgbClr val="3F4652"/>
                  </a:solidFill>
                  <a:latin typeface="Roboto" pitchFamily="2" charset="0"/>
                  <a:ea typeface="Roboto" pitchFamily="2" charset="0"/>
                </a:rPr>
                <a:t>¿El requerimiento esta completo?</a:t>
              </a:r>
              <a:br>
                <a:rPr lang="es-CO" sz="1000">
                  <a:solidFill>
                    <a:srgbClr val="3F4652"/>
                  </a:solidFill>
                  <a:latin typeface="Roboto" pitchFamily="2" charset="0"/>
                  <a:ea typeface="Roboto" pitchFamily="2" charset="0"/>
                </a:rPr>
              </a:br>
              <a:r>
                <a:rPr lang="es-CO" sz="1000">
                  <a:solidFill>
                    <a:srgbClr val="3F4652"/>
                  </a:solidFill>
                  <a:latin typeface="Roboto" pitchFamily="2" charset="0"/>
                  <a:ea typeface="Roboto" pitchFamily="2" charset="0"/>
                </a:rPr>
                <a:t>YES/NO</a:t>
              </a:r>
            </a:p>
          </p:txBody>
        </p:sp>
        <p:sp>
          <p:nvSpPr>
            <p:cNvPr id="99" name="CuadroTexto 98">
              <a:extLst>
                <a:ext uri="{FF2B5EF4-FFF2-40B4-BE49-F238E27FC236}">
                  <a16:creationId xmlns:a16="http://schemas.microsoft.com/office/drawing/2014/main" id="{B41F6370-754E-E6A9-B116-D503C79C51D3}"/>
                </a:ext>
              </a:extLst>
            </p:cNvPr>
            <p:cNvSpPr txBox="1"/>
            <p:nvPr/>
          </p:nvSpPr>
          <p:spPr>
            <a:xfrm>
              <a:off x="8280585" y="6015280"/>
              <a:ext cx="98826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>
                <a:defRPr sz="1000" b="1">
                  <a:solidFill>
                    <a:srgbClr val="1E2761"/>
                  </a:solidFill>
                  <a:latin typeface="Roboto" pitchFamily="2" charset="0"/>
                  <a:ea typeface="Roboto" pitchFamily="2" charset="0"/>
                  <a:cs typeface="Calibri" pitchFamily="34" charset="-120"/>
                </a:defRPr>
              </a:lvl1pPr>
            </a:lstStyle>
            <a:p>
              <a:r>
                <a:rPr lang="es-CO"/>
                <a:t>Block</a:t>
              </a:r>
            </a:p>
          </p:txBody>
        </p:sp>
        <p:sp>
          <p:nvSpPr>
            <p:cNvPr id="100" name="CuadroTexto 99">
              <a:extLst>
                <a:ext uri="{FF2B5EF4-FFF2-40B4-BE49-F238E27FC236}">
                  <a16:creationId xmlns:a16="http://schemas.microsoft.com/office/drawing/2014/main" id="{765AB462-6D2D-4116-2632-916B9B2F94D0}"/>
                </a:ext>
              </a:extLst>
            </p:cNvPr>
            <p:cNvSpPr txBox="1"/>
            <p:nvPr/>
          </p:nvSpPr>
          <p:spPr>
            <a:xfrm>
              <a:off x="9788595" y="5998824"/>
              <a:ext cx="145809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sz="1000">
                  <a:solidFill>
                    <a:srgbClr val="3F4652"/>
                  </a:solidFill>
                  <a:latin typeface="Roboto" pitchFamily="2" charset="0"/>
                  <a:ea typeface="Roboto" pitchFamily="2" charset="0"/>
                </a:rPr>
                <a:t>¿Está bloqueado?</a:t>
              </a:r>
              <a:br>
                <a:rPr lang="es-CO" sz="1000">
                  <a:solidFill>
                    <a:srgbClr val="3F4652"/>
                  </a:solidFill>
                  <a:latin typeface="Roboto" pitchFamily="2" charset="0"/>
                  <a:ea typeface="Roboto" pitchFamily="2" charset="0"/>
                </a:rPr>
              </a:br>
              <a:r>
                <a:rPr lang="es-CO" sz="1000">
                  <a:solidFill>
                    <a:srgbClr val="3F4652"/>
                  </a:solidFill>
                  <a:latin typeface="Roboto" pitchFamily="2" charset="0"/>
                  <a:ea typeface="Roboto" pitchFamily="2" charset="0"/>
                </a:rPr>
                <a:t>YES/NO</a:t>
              </a:r>
            </a:p>
          </p:txBody>
        </p:sp>
      </p:grpSp>
      <p:pic>
        <p:nvPicPr>
          <p:cNvPr id="45" name="Gráfico 44">
            <a:extLst>
              <a:ext uri="{FF2B5EF4-FFF2-40B4-BE49-F238E27FC236}">
                <a16:creationId xmlns:a16="http://schemas.microsoft.com/office/drawing/2014/main" id="{ADBDDA85-8985-516A-EA28-499672EF0A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14629" y="209730"/>
            <a:ext cx="468000" cy="468000"/>
          </a:xfrm>
          <a:prstGeom prst="rect">
            <a:avLst/>
          </a:prstGeom>
        </p:spPr>
      </p:pic>
      <p:sp>
        <p:nvSpPr>
          <p:cNvPr id="46" name="CuadroTexto 45">
            <a:extLst>
              <a:ext uri="{FF2B5EF4-FFF2-40B4-BE49-F238E27FC236}">
                <a16:creationId xmlns:a16="http://schemas.microsoft.com/office/drawing/2014/main" id="{B3B5AB4B-BD10-1E30-1859-30369FD3D775}"/>
              </a:ext>
            </a:extLst>
          </p:cNvPr>
          <p:cNvSpPr txBox="1"/>
          <p:nvPr/>
        </p:nvSpPr>
        <p:spPr>
          <a:xfrm>
            <a:off x="10026104" y="305231"/>
            <a:ext cx="126133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419" sz="1200" b="1" noProof="0">
                <a:latin typeface="Roboto" pitchFamily="2" charset="0"/>
                <a:ea typeface="Roboto" pitchFamily="2" charset="0"/>
                <a:cs typeface="Calibri" pitchFamily="34" charset="-120"/>
              </a:rPr>
              <a:t>Azure DevOps</a:t>
            </a:r>
            <a:endParaRPr lang="es-419" sz="1200"/>
          </a:p>
        </p:txBody>
      </p:sp>
    </p:spTree>
    <p:extLst>
      <p:ext uri="{BB962C8B-B14F-4D97-AF65-F5344CB8AC3E}">
        <p14:creationId xmlns:p14="http://schemas.microsoft.com/office/powerpoint/2010/main" val="41338693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D9A7CE8-DBB0-16C2-A8D8-6B2447FA3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DACE02F-068E-85C2-A923-3F455A381764}"/>
              </a:ext>
            </a:extLst>
          </p:cNvPr>
          <p:cNvSpPr/>
          <p:nvPr/>
        </p:nvSpPr>
        <p:spPr>
          <a:xfrm>
            <a:off x="441921" y="305231"/>
            <a:ext cx="7541208" cy="5816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3733" b="1">
                <a:solidFill>
                  <a:srgbClr val="1B2A5E"/>
                </a:solidFill>
                <a:latin typeface="Roboto Bk" pitchFamily="2" charset="0"/>
                <a:ea typeface="Roboto Bk" pitchFamily="2" charset="0"/>
              </a:rPr>
              <a:t>Estado del </a:t>
            </a:r>
            <a:r>
              <a:rPr lang="es-419" sz="3733" b="1" err="1">
                <a:solidFill>
                  <a:srgbClr val="1B2A5E"/>
                </a:solidFill>
                <a:latin typeface="Roboto Bk" pitchFamily="2" charset="0"/>
                <a:ea typeface="Roboto Bk" pitchFamily="2" charset="0"/>
              </a:rPr>
              <a:t>Testing</a:t>
            </a:r>
            <a:endParaRPr lang="es-419" sz="3733" b="1">
              <a:solidFill>
                <a:srgbClr val="1B2A5E"/>
              </a:solidFill>
              <a:latin typeface="Roboto Bk" pitchFamily="2" charset="0"/>
              <a:ea typeface="Roboto Bk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66ABB5-D7A6-EA3A-AB7A-2AEDAD895C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5157" y="196371"/>
            <a:ext cx="868630" cy="580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 2">
            <a:extLst>
              <a:ext uri="{FF2B5EF4-FFF2-40B4-BE49-F238E27FC236}">
                <a16:creationId xmlns:a16="http://schemas.microsoft.com/office/drawing/2014/main" id="{F87ECDF4-F183-980F-BA4B-12B1E2A5CE02}"/>
              </a:ext>
            </a:extLst>
          </p:cNvPr>
          <p:cNvSpPr/>
          <p:nvPr/>
        </p:nvSpPr>
        <p:spPr>
          <a:xfrm>
            <a:off x="3010023" y="1798209"/>
            <a:ext cx="4709437" cy="5816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400" noProof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Estado por defecto al momento de la </a:t>
            </a:r>
            <a:r>
              <a:rPr lang="es-419" sz="1400" noProof="0" err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creaci</a:t>
            </a:r>
            <a:r>
              <a:rPr lang="es-419" sz="1400" err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ón</a:t>
            </a:r>
            <a:r>
              <a:rPr lang="es-419" sz="140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del</a:t>
            </a:r>
            <a:r>
              <a:rPr lang="es-419" sz="1400" noProof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</a:t>
            </a:r>
            <a:r>
              <a:rPr lang="es-419" sz="1400" noProof="0" err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work</a:t>
            </a:r>
            <a:r>
              <a:rPr lang="es-419" sz="1400" noProof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</a:t>
            </a:r>
            <a:r>
              <a:rPr lang="es-419" sz="1400" noProof="0" err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item</a:t>
            </a:r>
            <a:r>
              <a:rPr lang="es-419" sz="1400" noProof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.</a:t>
            </a:r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9BF64CE0-26FE-35B7-0184-5DAA9DBC818C}"/>
              </a:ext>
            </a:extLst>
          </p:cNvPr>
          <p:cNvSpPr/>
          <p:nvPr/>
        </p:nvSpPr>
        <p:spPr>
          <a:xfrm>
            <a:off x="3010023" y="2762923"/>
            <a:ext cx="4709436" cy="5816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400" noProof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Se usa en la contextualización y entendimiento de la necesidad.</a:t>
            </a:r>
          </a:p>
        </p:txBody>
      </p:sp>
      <p:sp>
        <p:nvSpPr>
          <p:cNvPr id="9" name="Flecha: pentágono 8">
            <a:extLst>
              <a:ext uri="{FF2B5EF4-FFF2-40B4-BE49-F238E27FC236}">
                <a16:creationId xmlns:a16="http://schemas.microsoft.com/office/drawing/2014/main" id="{CDD99509-E259-1B19-55DD-8F738B9033E0}"/>
              </a:ext>
            </a:extLst>
          </p:cNvPr>
          <p:cNvSpPr/>
          <p:nvPr/>
        </p:nvSpPr>
        <p:spPr>
          <a:xfrm rot="5400000">
            <a:off x="1356743" y="1320486"/>
            <a:ext cx="972000" cy="1752600"/>
          </a:xfrm>
          <a:prstGeom prst="homePlate">
            <a:avLst>
              <a:gd name="adj" fmla="val 24390"/>
            </a:avLst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419" sz="1600" b="1">
                <a:latin typeface="Roboto" pitchFamily="2" charset="0"/>
                <a:ea typeface="Roboto" pitchFamily="2" charset="0"/>
              </a:rPr>
              <a:t>Nuevo</a:t>
            </a:r>
          </a:p>
        </p:txBody>
      </p:sp>
      <p:sp>
        <p:nvSpPr>
          <p:cNvPr id="10" name="Flecha: cheurón 9">
            <a:extLst>
              <a:ext uri="{FF2B5EF4-FFF2-40B4-BE49-F238E27FC236}">
                <a16:creationId xmlns:a16="http://schemas.microsoft.com/office/drawing/2014/main" id="{70C92820-FF53-B55C-D06A-733FD63EFB51}"/>
              </a:ext>
            </a:extLst>
          </p:cNvPr>
          <p:cNvSpPr/>
          <p:nvPr/>
        </p:nvSpPr>
        <p:spPr>
          <a:xfrm rot="5400000">
            <a:off x="1356743" y="2221917"/>
            <a:ext cx="972000" cy="1752600"/>
          </a:xfrm>
          <a:prstGeom prst="chevron">
            <a:avLst>
              <a:gd name="adj" fmla="val 21951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419" sz="1600" b="1">
                <a:latin typeface="Roboto" pitchFamily="2" charset="0"/>
                <a:ea typeface="Roboto" pitchFamily="2" charset="0"/>
              </a:rPr>
              <a:t>Entendimiento</a:t>
            </a:r>
          </a:p>
        </p:txBody>
      </p:sp>
      <p:sp>
        <p:nvSpPr>
          <p:cNvPr id="12" name="Flecha: cheurón 11">
            <a:extLst>
              <a:ext uri="{FF2B5EF4-FFF2-40B4-BE49-F238E27FC236}">
                <a16:creationId xmlns:a16="http://schemas.microsoft.com/office/drawing/2014/main" id="{F3A55CE1-945C-CBEB-DC52-BE8E39CE6A06}"/>
              </a:ext>
            </a:extLst>
          </p:cNvPr>
          <p:cNvSpPr/>
          <p:nvPr/>
        </p:nvSpPr>
        <p:spPr>
          <a:xfrm rot="5400000">
            <a:off x="1356743" y="3123348"/>
            <a:ext cx="972000" cy="1752600"/>
          </a:xfrm>
          <a:prstGeom prst="chevron">
            <a:avLst>
              <a:gd name="adj" fmla="val 21951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419" sz="1600" b="1">
                <a:latin typeface="Roboto" pitchFamily="2" charset="0"/>
                <a:ea typeface="Roboto" pitchFamily="2" charset="0"/>
              </a:rPr>
              <a:t>En Progreso</a:t>
            </a:r>
          </a:p>
        </p:txBody>
      </p:sp>
      <p:sp>
        <p:nvSpPr>
          <p:cNvPr id="15" name="Flecha: cheurón 14">
            <a:extLst>
              <a:ext uri="{FF2B5EF4-FFF2-40B4-BE49-F238E27FC236}">
                <a16:creationId xmlns:a16="http://schemas.microsoft.com/office/drawing/2014/main" id="{FF57CE61-0CF0-6339-3E3E-0B171D89F00D}"/>
              </a:ext>
            </a:extLst>
          </p:cNvPr>
          <p:cNvSpPr/>
          <p:nvPr/>
        </p:nvSpPr>
        <p:spPr>
          <a:xfrm rot="5400000">
            <a:off x="1342574" y="4024779"/>
            <a:ext cx="972000" cy="1752600"/>
          </a:xfrm>
          <a:prstGeom prst="chevron">
            <a:avLst>
              <a:gd name="adj" fmla="val 21951"/>
            </a:avLst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419" sz="1600" b="1">
                <a:latin typeface="Roboto" pitchFamily="2" charset="0"/>
                <a:ea typeface="Roboto" pitchFamily="2" charset="0"/>
              </a:rPr>
              <a:t>Finalizado</a:t>
            </a:r>
          </a:p>
        </p:txBody>
      </p:sp>
      <p:sp>
        <p:nvSpPr>
          <p:cNvPr id="16" name="Flecha: cheurón 15">
            <a:extLst>
              <a:ext uri="{FF2B5EF4-FFF2-40B4-BE49-F238E27FC236}">
                <a16:creationId xmlns:a16="http://schemas.microsoft.com/office/drawing/2014/main" id="{AA1A37B4-8032-1A1F-8BDF-864B2B3744DA}"/>
              </a:ext>
            </a:extLst>
          </p:cNvPr>
          <p:cNvSpPr/>
          <p:nvPr/>
        </p:nvSpPr>
        <p:spPr>
          <a:xfrm rot="5400000">
            <a:off x="1342574" y="4926209"/>
            <a:ext cx="972000" cy="1752600"/>
          </a:xfrm>
          <a:prstGeom prst="chevron">
            <a:avLst>
              <a:gd name="adj" fmla="val 21951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419" sz="1600" b="1">
                <a:latin typeface="Roboto" pitchFamily="2" charset="0"/>
                <a:ea typeface="Roboto" pitchFamily="2" charset="0"/>
              </a:rPr>
              <a:t>Cancelado</a:t>
            </a:r>
          </a:p>
        </p:txBody>
      </p:sp>
      <p:sp>
        <p:nvSpPr>
          <p:cNvPr id="18" name="Text 2">
            <a:extLst>
              <a:ext uri="{FF2B5EF4-FFF2-40B4-BE49-F238E27FC236}">
                <a16:creationId xmlns:a16="http://schemas.microsoft.com/office/drawing/2014/main" id="{A08118FE-53F8-F85F-F193-CD05D55B3682}"/>
              </a:ext>
            </a:extLst>
          </p:cNvPr>
          <p:cNvSpPr/>
          <p:nvPr/>
        </p:nvSpPr>
        <p:spPr>
          <a:xfrm>
            <a:off x="3010023" y="3645674"/>
            <a:ext cx="4709436" cy="5816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400" noProof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Este estado indica que la necesidad se esta trabajando, es decir, se esta construyendo la solución.</a:t>
            </a:r>
          </a:p>
        </p:txBody>
      </p:sp>
      <p:sp>
        <p:nvSpPr>
          <p:cNvPr id="21" name="Text 2">
            <a:extLst>
              <a:ext uri="{FF2B5EF4-FFF2-40B4-BE49-F238E27FC236}">
                <a16:creationId xmlns:a16="http://schemas.microsoft.com/office/drawing/2014/main" id="{A78A0B9A-7F74-579F-BFDA-EA1037196EBC}"/>
              </a:ext>
            </a:extLst>
          </p:cNvPr>
          <p:cNvSpPr/>
          <p:nvPr/>
        </p:nvSpPr>
        <p:spPr>
          <a:xfrm>
            <a:off x="3010023" y="4581106"/>
            <a:ext cx="4709436" cy="5816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400" noProof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Indica que </a:t>
            </a:r>
            <a:r>
              <a:rPr lang="es-419" sz="140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el Work </a:t>
            </a:r>
            <a:r>
              <a:rPr lang="es-419" sz="1400" err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Item</a:t>
            </a:r>
            <a:r>
              <a:rPr lang="es-419" sz="140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fue finalizado exitosamente.</a:t>
            </a:r>
            <a:endParaRPr lang="es-419" sz="1400" noProof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23" name="Text 2">
            <a:extLst>
              <a:ext uri="{FF2B5EF4-FFF2-40B4-BE49-F238E27FC236}">
                <a16:creationId xmlns:a16="http://schemas.microsoft.com/office/drawing/2014/main" id="{69B47E4C-E645-03F9-3BE1-0597501EE5F9}"/>
              </a:ext>
            </a:extLst>
          </p:cNvPr>
          <p:cNvSpPr/>
          <p:nvPr/>
        </p:nvSpPr>
        <p:spPr>
          <a:xfrm>
            <a:off x="3010023" y="5511684"/>
            <a:ext cx="4709436" cy="5816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400" noProof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Se usa cuando el Work </a:t>
            </a:r>
            <a:r>
              <a:rPr lang="es-419" sz="1400" noProof="0" err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Item</a:t>
            </a:r>
            <a:r>
              <a:rPr lang="es-419" sz="1400" noProof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fue </a:t>
            </a:r>
            <a:r>
              <a:rPr lang="es-419" sz="1400" noProof="0" err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despriorizado</a:t>
            </a:r>
            <a:r>
              <a:rPr lang="es-419" sz="1400" noProof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e indica que no fue atendido.</a:t>
            </a:r>
          </a:p>
        </p:txBody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6EE3CD38-ADA9-48C3-0819-19E7AD8FFB7E}"/>
              </a:ext>
            </a:extLst>
          </p:cNvPr>
          <p:cNvSpPr/>
          <p:nvPr/>
        </p:nvSpPr>
        <p:spPr>
          <a:xfrm>
            <a:off x="8215796" y="1167606"/>
            <a:ext cx="3546344" cy="365760"/>
          </a:xfrm>
          <a:prstGeom prst="round2SameRect">
            <a:avLst>
              <a:gd name="adj1" fmla="val 31579"/>
              <a:gd name="adj2" fmla="val 0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s-419" sz="1100" b="1" kern="0" spc="267" noProof="0">
                <a:solidFill>
                  <a:srgbClr val="2E5FA3"/>
                </a:solidFill>
                <a:latin typeface="Roboto Bk" pitchFamily="2" charset="0"/>
                <a:ea typeface="Roboto Bk" pitchFamily="2" charset="0"/>
                <a:cs typeface="Calibri" pitchFamily="34" charset="-120"/>
              </a:rPr>
              <a:t>¿Quién crea y actualiza el </a:t>
            </a:r>
            <a:r>
              <a:rPr lang="es-419" sz="1100" b="1" kern="0" spc="267" noProof="0" err="1">
                <a:solidFill>
                  <a:srgbClr val="2E5FA3"/>
                </a:solidFill>
                <a:latin typeface="Roboto Bk" pitchFamily="2" charset="0"/>
                <a:ea typeface="Roboto Bk" pitchFamily="2" charset="0"/>
                <a:cs typeface="Calibri" pitchFamily="34" charset="-120"/>
              </a:rPr>
              <a:t>work</a:t>
            </a:r>
            <a:r>
              <a:rPr lang="es-419" sz="1100" b="1" kern="0" spc="267" noProof="0">
                <a:solidFill>
                  <a:srgbClr val="2E5FA3"/>
                </a:solidFill>
                <a:latin typeface="Roboto Bk" pitchFamily="2" charset="0"/>
                <a:ea typeface="Roboto Bk" pitchFamily="2" charset="0"/>
                <a:cs typeface="Calibri" pitchFamily="34" charset="-120"/>
              </a:rPr>
              <a:t> </a:t>
            </a:r>
            <a:r>
              <a:rPr lang="es-419" sz="1100" b="1" kern="0" spc="267" noProof="0" err="1">
                <a:solidFill>
                  <a:srgbClr val="2E5FA3"/>
                </a:solidFill>
                <a:latin typeface="Roboto Bk" pitchFamily="2" charset="0"/>
                <a:ea typeface="Roboto Bk" pitchFamily="2" charset="0"/>
                <a:cs typeface="Calibri" pitchFamily="34" charset="-120"/>
              </a:rPr>
              <a:t>item</a:t>
            </a:r>
            <a:r>
              <a:rPr lang="es-419" sz="1100" b="1" kern="0" spc="267" noProof="0">
                <a:solidFill>
                  <a:srgbClr val="2E5FA3"/>
                </a:solidFill>
                <a:latin typeface="Roboto Bk" pitchFamily="2" charset="0"/>
                <a:ea typeface="Roboto Bk" pitchFamily="2" charset="0"/>
                <a:cs typeface="Calibri" pitchFamily="34" charset="-120"/>
              </a:rPr>
              <a:t> en Azure?</a:t>
            </a:r>
            <a:endParaRPr lang="es-419" sz="1100" noProof="0">
              <a:latin typeface="Roboto Bk" pitchFamily="2" charset="0"/>
              <a:ea typeface="Roboto Bk" pitchFamily="2" charset="0"/>
            </a:endParaRP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097EDD12-17E3-46E9-BB9E-237585D627AE}"/>
              </a:ext>
            </a:extLst>
          </p:cNvPr>
          <p:cNvSpPr txBox="1"/>
          <p:nvPr/>
        </p:nvSpPr>
        <p:spPr>
          <a:xfrm>
            <a:off x="8215796" y="1545355"/>
            <a:ext cx="3546344" cy="203132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anchor="ctr">
            <a:spAutoFit/>
          </a:bodyPr>
          <a:lstStyle/>
          <a:p>
            <a:pPr algn="just" fontAlgn="t"/>
            <a:r>
              <a:rPr lang="es-419" sz="1400" noProof="0"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rPr>
              <a:t>Es responsabilidad del </a:t>
            </a:r>
            <a:r>
              <a:rPr lang="es-419" sz="1400" b="1" noProof="0"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rPr>
              <a:t>Líder de célula </a:t>
            </a:r>
            <a:r>
              <a:rPr lang="es-419" sz="1400" noProof="0"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rPr>
              <a:t>garantizar que su backlog, incluyendo las historias habilitadoras sean creadas.</a:t>
            </a:r>
          </a:p>
          <a:p>
            <a:pPr algn="just" fontAlgn="t"/>
            <a:r>
              <a:rPr lang="es-419" sz="1400"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rPr>
              <a:t>Sin embargo, esta también puede ser creada por quien va a trabajar en ella (asignad@), previa conversación con el líder de célula.</a:t>
            </a:r>
          </a:p>
          <a:p>
            <a:pPr algn="just" fontAlgn="t"/>
            <a:r>
              <a:rPr lang="es-419" sz="1400"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rPr>
              <a:t>Es responsabilidad de la persona que esta trabajando en la solución (asignad@) actualizar la información y el estado de sus </a:t>
            </a:r>
            <a:r>
              <a:rPr lang="es-419" sz="1400" err="1"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rPr>
              <a:t>work</a:t>
            </a:r>
            <a:r>
              <a:rPr lang="es-419" sz="1400"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rPr>
              <a:t> ítems.</a:t>
            </a:r>
          </a:p>
        </p:txBody>
      </p:sp>
      <p:sp>
        <p:nvSpPr>
          <p:cNvPr id="28" name="Abrir corchete 27">
            <a:extLst>
              <a:ext uri="{FF2B5EF4-FFF2-40B4-BE49-F238E27FC236}">
                <a16:creationId xmlns:a16="http://schemas.microsoft.com/office/drawing/2014/main" id="{57392363-B54C-A64E-A103-D5B31220E14F}"/>
              </a:ext>
            </a:extLst>
          </p:cNvPr>
          <p:cNvSpPr/>
          <p:nvPr/>
        </p:nvSpPr>
        <p:spPr>
          <a:xfrm>
            <a:off x="654069" y="3030962"/>
            <a:ext cx="290982" cy="1832613"/>
          </a:xfrm>
          <a:prstGeom prst="leftBracket">
            <a:avLst>
              <a:gd name="adj" fmla="val 0"/>
            </a:avLst>
          </a:prstGeom>
          <a:ln>
            <a:solidFill>
              <a:srgbClr val="0070C0"/>
            </a:solidFill>
            <a:headEnd type="diamond" w="sm" len="sm"/>
            <a:tailEnd type="diamond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6E296FF8-49C7-FEE1-94F9-7ADD26C251C7}"/>
              </a:ext>
            </a:extLst>
          </p:cNvPr>
          <p:cNvSpPr txBox="1"/>
          <p:nvPr/>
        </p:nvSpPr>
        <p:spPr>
          <a:xfrm rot="16200000">
            <a:off x="203054" y="3828499"/>
            <a:ext cx="902030" cy="216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/>
          <a:p>
            <a:pPr algn="ctr"/>
            <a:r>
              <a:rPr lang="es-419" sz="1200" b="1" noProof="0" err="1">
                <a:latin typeface="Roboto" pitchFamily="2" charset="0"/>
                <a:ea typeface="Roboto" pitchFamily="2" charset="0"/>
              </a:rPr>
              <a:t>Cycle</a:t>
            </a:r>
            <a:r>
              <a:rPr lang="es-419" sz="1200" b="1" noProof="0">
                <a:latin typeface="Roboto" pitchFamily="2" charset="0"/>
                <a:ea typeface="Roboto" pitchFamily="2" charset="0"/>
              </a:rPr>
              <a:t> time</a:t>
            </a:r>
            <a:endParaRPr lang="es-419" sz="1200"/>
          </a:p>
        </p:txBody>
      </p:sp>
      <p:grpSp>
        <p:nvGrpSpPr>
          <p:cNvPr id="53" name="Grupo 52">
            <a:extLst>
              <a:ext uri="{FF2B5EF4-FFF2-40B4-BE49-F238E27FC236}">
                <a16:creationId xmlns:a16="http://schemas.microsoft.com/office/drawing/2014/main" id="{249B6D68-C2C3-A8E8-75A9-455C38D8F562}"/>
              </a:ext>
            </a:extLst>
          </p:cNvPr>
          <p:cNvGrpSpPr/>
          <p:nvPr/>
        </p:nvGrpSpPr>
        <p:grpSpPr>
          <a:xfrm>
            <a:off x="7983129" y="4289201"/>
            <a:ext cx="3913596" cy="1340073"/>
            <a:chOff x="6433547" y="263131"/>
            <a:chExt cx="2648541" cy="953298"/>
          </a:xfrm>
        </p:grpSpPr>
        <p:sp>
          <p:nvSpPr>
            <p:cNvPr id="37" name="Rectángulo 36">
              <a:extLst>
                <a:ext uri="{FF2B5EF4-FFF2-40B4-BE49-F238E27FC236}">
                  <a16:creationId xmlns:a16="http://schemas.microsoft.com/office/drawing/2014/main" id="{4197F2C6-7230-E645-8A22-71555EAA4DAC}"/>
                </a:ext>
              </a:extLst>
            </p:cNvPr>
            <p:cNvSpPr/>
            <p:nvPr/>
          </p:nvSpPr>
          <p:spPr>
            <a:xfrm>
              <a:off x="6433547" y="263131"/>
              <a:ext cx="2648541" cy="953298"/>
            </a:xfrm>
            <a:prstGeom prst="rect">
              <a:avLst/>
            </a:prstGeom>
            <a:solidFill>
              <a:srgbClr val="FCFCFC"/>
            </a:solidFill>
            <a:ln w="9525">
              <a:solidFill>
                <a:srgbClr val="1B2A5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>
                <a:solidFill>
                  <a:srgbClr val="7030A0"/>
                </a:solidFill>
              </a:endParaRPr>
            </a:p>
          </p:txBody>
        </p:sp>
        <p:cxnSp>
          <p:nvCxnSpPr>
            <p:cNvPr id="39" name="Conector recto 38">
              <a:extLst>
                <a:ext uri="{FF2B5EF4-FFF2-40B4-BE49-F238E27FC236}">
                  <a16:creationId xmlns:a16="http://schemas.microsoft.com/office/drawing/2014/main" id="{EEA98246-CBB0-768B-6E13-080C78E36040}"/>
                </a:ext>
              </a:extLst>
            </p:cNvPr>
            <p:cNvCxnSpPr>
              <a:cxnSpLocks/>
            </p:cNvCxnSpPr>
            <p:nvPr/>
          </p:nvCxnSpPr>
          <p:spPr>
            <a:xfrm>
              <a:off x="6494361" y="737112"/>
              <a:ext cx="2463902" cy="2668"/>
            </a:xfrm>
            <a:prstGeom prst="line">
              <a:avLst/>
            </a:prstGeom>
            <a:ln w="3175">
              <a:solidFill>
                <a:srgbClr val="1B2A5E">
                  <a:alpha val="54902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CuadroTexto 39">
              <a:extLst>
                <a:ext uri="{FF2B5EF4-FFF2-40B4-BE49-F238E27FC236}">
                  <a16:creationId xmlns:a16="http://schemas.microsoft.com/office/drawing/2014/main" id="{B0F17A39-ECA9-56E0-DB21-283A58AAE693}"/>
                </a:ext>
              </a:extLst>
            </p:cNvPr>
            <p:cNvSpPr txBox="1"/>
            <p:nvPr/>
          </p:nvSpPr>
          <p:spPr>
            <a:xfrm>
              <a:off x="6636438" y="312493"/>
              <a:ext cx="223906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sz="1000" b="1" err="1">
                  <a:solidFill>
                    <a:srgbClr val="1B2A5E"/>
                  </a:solidFill>
                  <a:latin typeface="Roboto" pitchFamily="2" charset="0"/>
                  <a:ea typeface="Roboto" pitchFamily="2" charset="0"/>
                </a:rPr>
                <a:t>Type</a:t>
              </a:r>
              <a:br>
                <a:rPr lang="es-CO" sz="1000">
                  <a:solidFill>
                    <a:srgbClr val="7030A0"/>
                  </a:solidFill>
                  <a:latin typeface="Roboto" pitchFamily="2" charset="0"/>
                  <a:ea typeface="Roboto" pitchFamily="2" charset="0"/>
                </a:rPr>
              </a:br>
              <a:r>
                <a:rPr lang="en-US" sz="1000">
                  <a:solidFill>
                    <a:srgbClr val="3F4652"/>
                  </a:solidFill>
                  <a:latin typeface="Roboto" pitchFamily="2" charset="0"/>
                  <a:ea typeface="Roboto" pitchFamily="2" charset="0"/>
                </a:rPr>
                <a:t>Functional, Performance, Security</a:t>
              </a:r>
              <a:endParaRPr lang="es-CO" sz="1000">
                <a:solidFill>
                  <a:srgbClr val="3F4652"/>
                </a:solidFill>
              </a:endParaRPr>
            </a:p>
          </p:txBody>
        </p:sp>
        <p:pic>
          <p:nvPicPr>
            <p:cNvPr id="41" name="Gráfico 40" descr="Robot con relleno sólido">
              <a:extLst>
                <a:ext uri="{FF2B5EF4-FFF2-40B4-BE49-F238E27FC236}">
                  <a16:creationId xmlns:a16="http://schemas.microsoft.com/office/drawing/2014/main" id="{0FD9DD9E-5550-D290-111D-20CE2C68A8B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6498525" y="829398"/>
              <a:ext cx="137913" cy="141502"/>
            </a:xfrm>
            <a:prstGeom prst="rect">
              <a:avLst/>
            </a:prstGeom>
          </p:spPr>
        </p:pic>
        <p:pic>
          <p:nvPicPr>
            <p:cNvPr id="42" name="Gráfico 41" descr="Etiqueta con relleno sólido">
              <a:extLst>
                <a:ext uri="{FF2B5EF4-FFF2-40B4-BE49-F238E27FC236}">
                  <a16:creationId xmlns:a16="http://schemas.microsoft.com/office/drawing/2014/main" id="{60F5F08C-D2B2-49A5-28AE-661FB7A068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6464590" y="356768"/>
              <a:ext cx="152885" cy="156864"/>
            </a:xfrm>
            <a:prstGeom prst="rect">
              <a:avLst/>
            </a:prstGeom>
          </p:spPr>
        </p:pic>
        <p:sp>
          <p:nvSpPr>
            <p:cNvPr id="43" name="CuadroTexto 42">
              <a:extLst>
                <a:ext uri="{FF2B5EF4-FFF2-40B4-BE49-F238E27FC236}">
                  <a16:creationId xmlns:a16="http://schemas.microsoft.com/office/drawing/2014/main" id="{E57FE9E8-7B87-7257-CFD5-183544024687}"/>
                </a:ext>
              </a:extLst>
            </p:cNvPr>
            <p:cNvSpPr txBox="1"/>
            <p:nvPr/>
          </p:nvSpPr>
          <p:spPr>
            <a:xfrm>
              <a:off x="6636438" y="776498"/>
              <a:ext cx="235054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sz="1000" b="1" err="1">
                  <a:solidFill>
                    <a:srgbClr val="1B2A5E"/>
                  </a:solidFill>
                  <a:latin typeface="Roboto" pitchFamily="2" charset="0"/>
                  <a:ea typeface="Roboto" pitchFamily="2" charset="0"/>
                </a:rPr>
                <a:t>AutomationType</a:t>
              </a:r>
              <a:endParaRPr lang="es-CO" sz="1000" b="1">
                <a:solidFill>
                  <a:srgbClr val="1B2A5E"/>
                </a:solidFill>
                <a:latin typeface="Roboto" pitchFamily="2" charset="0"/>
                <a:ea typeface="Roboto" pitchFamily="2" charset="0"/>
              </a:endParaRPr>
            </a:p>
            <a:p>
              <a:r>
                <a:rPr lang="en-US" sz="1000">
                  <a:solidFill>
                    <a:srgbClr val="3F4652"/>
                  </a:solidFill>
                  <a:latin typeface="Roboto" pitchFamily="2" charset="0"/>
                  <a:ea typeface="Roboto" pitchFamily="2" charset="0"/>
                </a:rPr>
                <a:t>Manual, Automated, Semi-Automated</a:t>
              </a:r>
              <a:endParaRPr lang="es-CO" sz="1000">
                <a:solidFill>
                  <a:srgbClr val="3F4652"/>
                </a:solidFill>
                <a:latin typeface="Roboto" pitchFamily="2" charset="0"/>
                <a:ea typeface="Roboto" pitchFamily="2" charset="0"/>
              </a:endParaRPr>
            </a:p>
          </p:txBody>
        </p:sp>
      </p:grpSp>
      <p:pic>
        <p:nvPicPr>
          <p:cNvPr id="22" name="Gráfico 21">
            <a:extLst>
              <a:ext uri="{FF2B5EF4-FFF2-40B4-BE49-F238E27FC236}">
                <a16:creationId xmlns:a16="http://schemas.microsoft.com/office/drawing/2014/main" id="{C0B26569-65B5-C940-769D-23DD0760256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14629" y="209730"/>
            <a:ext cx="468000" cy="468000"/>
          </a:xfrm>
          <a:prstGeom prst="rect">
            <a:avLst/>
          </a:prstGeom>
        </p:spPr>
      </p:pic>
      <p:sp>
        <p:nvSpPr>
          <p:cNvPr id="31" name="CuadroTexto 30">
            <a:extLst>
              <a:ext uri="{FF2B5EF4-FFF2-40B4-BE49-F238E27FC236}">
                <a16:creationId xmlns:a16="http://schemas.microsoft.com/office/drawing/2014/main" id="{59965410-4CE1-ADDA-A0EE-2E05439FE5EE}"/>
              </a:ext>
            </a:extLst>
          </p:cNvPr>
          <p:cNvSpPr txBox="1"/>
          <p:nvPr/>
        </p:nvSpPr>
        <p:spPr>
          <a:xfrm>
            <a:off x="10026104" y="305231"/>
            <a:ext cx="126133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419" sz="1200" b="1" noProof="0">
                <a:latin typeface="Roboto" pitchFamily="2" charset="0"/>
                <a:ea typeface="Roboto" pitchFamily="2" charset="0"/>
                <a:cs typeface="Calibri" pitchFamily="34" charset="-120"/>
              </a:rPr>
              <a:t>Azure DevOps</a:t>
            </a:r>
            <a:endParaRPr lang="es-419" sz="120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994E3E5-C4A1-8DF2-6448-1AB88D12B4A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2776" y="1054766"/>
            <a:ext cx="1699934" cy="5040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062217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n 12">
            <a:extLst>
              <a:ext uri="{FF2B5EF4-FFF2-40B4-BE49-F238E27FC236}">
                <a16:creationId xmlns:a16="http://schemas.microsoft.com/office/drawing/2014/main" id="{51A767BB-2FB4-BA24-761F-387E48E6071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33"/>
          <a:stretch>
            <a:fillRect/>
          </a:stretch>
        </p:blipFill>
        <p:spPr>
          <a:xfrm>
            <a:off x="-9138" y="876059"/>
            <a:ext cx="12192000" cy="5981941"/>
          </a:xfrm>
          <a:prstGeom prst="rect">
            <a:avLst/>
          </a:prstGeom>
        </p:spPr>
      </p:pic>
      <p:sp>
        <p:nvSpPr>
          <p:cNvPr id="2" name="Text 2">
            <a:extLst>
              <a:ext uri="{FF2B5EF4-FFF2-40B4-BE49-F238E27FC236}">
                <a16:creationId xmlns:a16="http://schemas.microsoft.com/office/drawing/2014/main" id="{3D8B4455-820E-5B32-38E1-4F0FEA8BF6D2}"/>
              </a:ext>
            </a:extLst>
          </p:cNvPr>
          <p:cNvSpPr/>
          <p:nvPr/>
        </p:nvSpPr>
        <p:spPr>
          <a:xfrm>
            <a:off x="414567" y="-6883"/>
            <a:ext cx="5342738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3733" b="1">
                <a:solidFill>
                  <a:srgbClr val="1B2A5E"/>
                </a:solidFill>
                <a:latin typeface="Roboto Bk" pitchFamily="2" charset="0"/>
                <a:ea typeface="Roboto Bk" pitchFamily="2" charset="0"/>
              </a:rPr>
              <a:t>¿Cómo se ve en Azure?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F4253E0-5FDA-07D7-93D3-526A616146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5157" y="196371"/>
            <a:ext cx="868630" cy="580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3E911354-CF64-088E-1D5D-4F2B4BF587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2513" y="3215148"/>
            <a:ext cx="5950245" cy="265851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C4F834AC-A02B-5ACE-58FF-B8853004FE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57305" y="92241"/>
            <a:ext cx="754316" cy="754316"/>
          </a:xfrm>
          <a:prstGeom prst="rect">
            <a:avLst/>
          </a:prstGeom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C598BB2D-F7D6-884A-11A8-546AFABBCD2C}"/>
              </a:ext>
            </a:extLst>
          </p:cNvPr>
          <p:cNvSpPr/>
          <p:nvPr/>
        </p:nvSpPr>
        <p:spPr>
          <a:xfrm>
            <a:off x="4630994" y="1406013"/>
            <a:ext cx="1455868" cy="275303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2B3B256A-9628-D35C-B7C8-76F7BC3465CB}"/>
              </a:ext>
            </a:extLst>
          </p:cNvPr>
          <p:cNvSpPr/>
          <p:nvPr/>
        </p:nvSpPr>
        <p:spPr>
          <a:xfrm>
            <a:off x="10550013" y="3291348"/>
            <a:ext cx="1532745" cy="275303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B99A094-72C1-6C16-02BB-0FAF1A6215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58" y="1830504"/>
            <a:ext cx="6152756" cy="347229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4017EC8A-2E0B-E6DA-3CD2-AFD7B1E5DDD7}"/>
              </a:ext>
            </a:extLst>
          </p:cNvPr>
          <p:cNvSpPr/>
          <p:nvPr/>
        </p:nvSpPr>
        <p:spPr>
          <a:xfrm>
            <a:off x="4629569" y="1793140"/>
            <a:ext cx="1532745" cy="275303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42102910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43452A6-6C77-64A1-9796-C843C8AA1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A7B7A55D-A8E1-DC76-172B-1E067E37658C}"/>
              </a:ext>
            </a:extLst>
          </p:cNvPr>
          <p:cNvSpPr/>
          <p:nvPr/>
        </p:nvSpPr>
        <p:spPr>
          <a:xfrm>
            <a:off x="347471" y="274320"/>
            <a:ext cx="4107987" cy="196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400" b="1" kern="0" spc="180" noProof="0">
                <a:solidFill>
                  <a:srgbClr val="2D50D7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PALANCA 1  </a:t>
            </a:r>
            <a:endParaRPr lang="es-CO" sz="1400" noProof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C271A46A-DEB6-BD5D-E516-8C7BEE44283A}"/>
              </a:ext>
            </a:extLst>
          </p:cNvPr>
          <p:cNvSpPr/>
          <p:nvPr/>
        </p:nvSpPr>
        <p:spPr>
          <a:xfrm>
            <a:off x="347472" y="612648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CO" sz="2800" b="1" noProof="0">
                <a:solidFill>
                  <a:srgbClr val="101D47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Medición del </a:t>
            </a:r>
            <a:r>
              <a:rPr lang="es-CO" sz="2800" b="1" noProof="0" err="1">
                <a:solidFill>
                  <a:srgbClr val="101D47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Delivery</a:t>
            </a:r>
            <a:endParaRPr lang="es-CO" sz="2800" noProof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11" name="TextBox">
            <a:extLst>
              <a:ext uri="{FF2B5EF4-FFF2-40B4-BE49-F238E27FC236}">
                <a16:creationId xmlns:a16="http://schemas.microsoft.com/office/drawing/2014/main" id="{3FF2EBD5-DB5E-E40A-A249-1D7BE6E99A2C}"/>
              </a:ext>
            </a:extLst>
          </p:cNvPr>
          <p:cNvSpPr txBox="1"/>
          <p:nvPr/>
        </p:nvSpPr>
        <p:spPr>
          <a:xfrm>
            <a:off x="502920" y="4829625"/>
            <a:ext cx="11183112" cy="1508760"/>
          </a:xfrm>
          <a:prstGeom prst="roundRect">
            <a:avLst>
              <a:gd name="adj" fmla="val 9000"/>
            </a:avLst>
          </a:prstGeom>
          <a:solidFill>
            <a:srgbClr val="07133D"/>
          </a:solidFill>
          <a:ln>
            <a:noFill/>
          </a:ln>
        </p:spPr>
        <p:txBody>
          <a:bodyPr wrap="square" lIns="118872" tIns="82296" rIns="118872" bIns="82296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endParaRPr lang="es-CO" noProof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13" name="TextBox">
            <a:extLst>
              <a:ext uri="{FF2B5EF4-FFF2-40B4-BE49-F238E27FC236}">
                <a16:creationId xmlns:a16="http://schemas.microsoft.com/office/drawing/2014/main" id="{411A3B7A-8D96-C2BC-6209-A3A99F6E7589}"/>
              </a:ext>
            </a:extLst>
          </p:cNvPr>
          <p:cNvSpPr txBox="1"/>
          <p:nvPr/>
        </p:nvSpPr>
        <p:spPr>
          <a:xfrm>
            <a:off x="600075" y="4985073"/>
            <a:ext cx="1828800" cy="1188720"/>
          </a:xfrm>
          <a:prstGeom prst="rect">
            <a:avLst/>
          </a:prstGeom>
          <a:noFill/>
          <a:ln>
            <a:noFill/>
          </a:ln>
        </p:spPr>
        <p:txBody>
          <a:bodyPr wrap="square" lIns="118872" tIns="82296" rIns="118872" bIns="82296" anchor="ctr">
            <a:norm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es-CO" sz="1600" b="1" i="0" noProof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¿Qué necesitamos del comité?</a:t>
            </a:r>
          </a:p>
        </p:txBody>
      </p:sp>
      <p:sp>
        <p:nvSpPr>
          <p:cNvPr id="15" name="TextBox">
            <a:extLst>
              <a:ext uri="{FF2B5EF4-FFF2-40B4-BE49-F238E27FC236}">
                <a16:creationId xmlns:a16="http://schemas.microsoft.com/office/drawing/2014/main" id="{9B4412DE-5C73-7530-FC3C-9FDA3E77E6FA}"/>
              </a:ext>
            </a:extLst>
          </p:cNvPr>
          <p:cNvSpPr txBox="1"/>
          <p:nvPr/>
        </p:nvSpPr>
        <p:spPr>
          <a:xfrm>
            <a:off x="2743200" y="4985073"/>
            <a:ext cx="2926080" cy="1188720"/>
          </a:xfrm>
          <a:prstGeom prst="rect">
            <a:avLst/>
          </a:prstGeom>
          <a:noFill/>
          <a:ln>
            <a:noFill/>
          </a:ln>
        </p:spPr>
        <p:txBody>
          <a:bodyPr wrap="square" lIns="118872" tIns="82296" rIns="118872" bIns="82296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s-CO" sz="2000" b="1" i="0" noProof="0">
                <a:solidFill>
                  <a:srgbClr val="2B4CD9"/>
                </a:solidFill>
                <a:latin typeface="Roboto Black" pitchFamily="2" charset="0"/>
                <a:ea typeface="Roboto Black" pitchFamily="2" charset="0"/>
                <a:cs typeface="Roboto Condensed" panose="02000000000000000000" pitchFamily="2" charset="0"/>
              </a:rPr>
              <a:t>1  </a:t>
            </a:r>
            <a:r>
              <a:rPr lang="es-CO" sz="1600" b="1" i="0" noProof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Adoptar la métrica como práctica</a:t>
            </a:r>
          </a:p>
          <a:p>
            <a:pPr marL="0" indent="0" algn="l">
              <a:lnSpc>
                <a:spcPct val="100000"/>
              </a:lnSpc>
              <a:spcBef>
                <a:spcPts val="240"/>
              </a:spcBef>
              <a:buNone/>
            </a:pPr>
            <a:endParaRPr lang="es-CO" sz="1100" b="0" i="0" noProof="0">
              <a:solidFill>
                <a:srgbClr val="A8B8F8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  <a:p>
            <a:pPr marL="0" indent="0" algn="l">
              <a:lnSpc>
                <a:spcPct val="100000"/>
              </a:lnSpc>
              <a:spcBef>
                <a:spcPts val="240"/>
              </a:spcBef>
              <a:buNone/>
            </a:pPr>
            <a:r>
              <a:rPr lang="es-CO" sz="1200" b="0" i="0" noProof="0">
                <a:solidFill>
                  <a:srgbClr val="A8B8F8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Incorporar la revisión de </a:t>
            </a:r>
            <a:r>
              <a:rPr lang="es-CO" sz="1200" b="0" i="0" noProof="0" err="1">
                <a:solidFill>
                  <a:srgbClr val="A8B8F8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delivery</a:t>
            </a:r>
            <a:r>
              <a:rPr lang="es-CO" sz="1200" b="0" i="0" noProof="0">
                <a:solidFill>
                  <a:srgbClr val="A8B8F8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en las agendas, con cadencia y un responsable por Vicepresidencia.</a:t>
            </a:r>
          </a:p>
        </p:txBody>
      </p:sp>
      <p:sp>
        <p:nvSpPr>
          <p:cNvPr id="17" name="TextBox">
            <a:extLst>
              <a:ext uri="{FF2B5EF4-FFF2-40B4-BE49-F238E27FC236}">
                <a16:creationId xmlns:a16="http://schemas.microsoft.com/office/drawing/2014/main" id="{179A6F3A-DBCC-5827-BF84-918C471C92D9}"/>
              </a:ext>
            </a:extLst>
          </p:cNvPr>
          <p:cNvSpPr txBox="1"/>
          <p:nvPr/>
        </p:nvSpPr>
        <p:spPr>
          <a:xfrm>
            <a:off x="5715000" y="4985073"/>
            <a:ext cx="2926080" cy="1188720"/>
          </a:xfrm>
          <a:prstGeom prst="rect">
            <a:avLst/>
          </a:prstGeom>
          <a:noFill/>
          <a:ln>
            <a:noFill/>
          </a:ln>
        </p:spPr>
        <p:txBody>
          <a:bodyPr wrap="square" lIns="118872" tIns="82296" rIns="118872" bIns="82296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s-CO" sz="2000" b="1" i="0" noProof="0">
                <a:solidFill>
                  <a:srgbClr val="2B4CD9"/>
                </a:solidFill>
                <a:latin typeface="Roboto Black" pitchFamily="2" charset="0"/>
                <a:ea typeface="Roboto Black" pitchFamily="2" charset="0"/>
                <a:cs typeface="Roboto Condensed" panose="02000000000000000000" pitchFamily="2" charset="0"/>
              </a:rPr>
              <a:t>2 </a:t>
            </a:r>
            <a:r>
              <a:rPr lang="es-CO" sz="1600" b="1" i="0" noProof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 Definir metas por nivel</a:t>
            </a:r>
          </a:p>
          <a:p>
            <a:pPr marL="0" indent="0" algn="l">
              <a:lnSpc>
                <a:spcPct val="100000"/>
              </a:lnSpc>
              <a:spcBef>
                <a:spcPts val="240"/>
              </a:spcBef>
              <a:buNone/>
            </a:pPr>
            <a:endParaRPr lang="es-CO" sz="1100" b="0" i="0" noProof="0">
              <a:solidFill>
                <a:srgbClr val="A8B8F8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  <a:p>
            <a:pPr marL="0" indent="0" algn="l">
              <a:lnSpc>
                <a:spcPct val="100000"/>
              </a:lnSpc>
              <a:spcBef>
                <a:spcPts val="240"/>
              </a:spcBef>
              <a:buNone/>
            </a:pPr>
            <a:r>
              <a:rPr lang="es-CO" sz="1200" b="0" i="0" noProof="0">
                <a:solidFill>
                  <a:srgbClr val="A8B8F8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Acordar objetivos de tiempo y entregas de valor a partir de la línea base medida, para pasar de informar a gestionar.</a:t>
            </a:r>
          </a:p>
        </p:txBody>
      </p:sp>
      <p:sp>
        <p:nvSpPr>
          <p:cNvPr id="19" name="TextBox">
            <a:extLst>
              <a:ext uri="{FF2B5EF4-FFF2-40B4-BE49-F238E27FC236}">
                <a16:creationId xmlns:a16="http://schemas.microsoft.com/office/drawing/2014/main" id="{4C4CA4E1-5EE6-6EAE-7EFB-E565FF84302C}"/>
              </a:ext>
            </a:extLst>
          </p:cNvPr>
          <p:cNvSpPr txBox="1"/>
          <p:nvPr/>
        </p:nvSpPr>
        <p:spPr>
          <a:xfrm>
            <a:off x="8686800" y="4985073"/>
            <a:ext cx="2926080" cy="1188720"/>
          </a:xfrm>
          <a:prstGeom prst="rect">
            <a:avLst/>
          </a:prstGeom>
          <a:noFill/>
          <a:ln>
            <a:noFill/>
          </a:ln>
        </p:spPr>
        <p:txBody>
          <a:bodyPr wrap="square" lIns="118872" tIns="82296" rIns="118872" bIns="82296" anchor="t">
            <a:normAutofit fontScale="92500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s-CO" sz="2000" b="1" i="0" noProof="0">
                <a:solidFill>
                  <a:srgbClr val="2B4CD9"/>
                </a:solidFill>
                <a:latin typeface="Roboto Black" pitchFamily="2" charset="0"/>
                <a:ea typeface="Roboto Black" pitchFamily="2" charset="0"/>
                <a:cs typeface="Roboto Condensed" panose="02000000000000000000" pitchFamily="2" charset="0"/>
              </a:rPr>
              <a:t>3</a:t>
            </a:r>
            <a:r>
              <a:rPr lang="es-CO" sz="1600" b="1" i="0" noProof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  Resolver el trabajo envejecido</a:t>
            </a:r>
          </a:p>
          <a:p>
            <a:pPr marL="0" indent="0" algn="l">
              <a:lnSpc>
                <a:spcPct val="100000"/>
              </a:lnSpc>
              <a:spcBef>
                <a:spcPts val="240"/>
              </a:spcBef>
              <a:buNone/>
            </a:pPr>
            <a:endParaRPr lang="es-CO" sz="1100" b="0" i="0" noProof="0">
              <a:solidFill>
                <a:srgbClr val="A8B8F8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  <a:p>
            <a:pPr marL="0" indent="0" algn="l">
              <a:lnSpc>
                <a:spcPct val="100000"/>
              </a:lnSpc>
              <a:spcBef>
                <a:spcPts val="240"/>
              </a:spcBef>
              <a:buNone/>
            </a:pPr>
            <a:r>
              <a:rPr lang="es-CO" sz="1200" b="0" i="0" noProof="0">
                <a:solidFill>
                  <a:srgbClr val="A8B8F8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Dar criterio para cerrar, cancelar o </a:t>
            </a:r>
            <a:r>
              <a:rPr lang="es-CO" sz="1200" b="0" i="0" noProof="0" err="1">
                <a:solidFill>
                  <a:srgbClr val="A8B8F8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repriorizar</a:t>
            </a:r>
            <a:r>
              <a:rPr lang="es-CO" sz="1200" b="0" i="0" noProof="0">
                <a:solidFill>
                  <a:srgbClr val="A8B8F8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el backlog.</a:t>
            </a:r>
          </a:p>
        </p:txBody>
      </p:sp>
      <p:sp>
        <p:nvSpPr>
          <p:cNvPr id="23" name="Text 2">
            <a:extLst>
              <a:ext uri="{FF2B5EF4-FFF2-40B4-BE49-F238E27FC236}">
                <a16:creationId xmlns:a16="http://schemas.microsoft.com/office/drawing/2014/main" id="{7D929FED-1DB9-79B6-7E35-DC4566BDA4BB}"/>
              </a:ext>
            </a:extLst>
          </p:cNvPr>
          <p:cNvSpPr/>
          <p:nvPr/>
        </p:nvSpPr>
        <p:spPr>
          <a:xfrm>
            <a:off x="347472" y="99241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CO" sz="1400" noProof="0">
                <a:solidFill>
                  <a:srgbClr val="5B6880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Sistema de Gestión · Piloto con datos reales de Azure DevOps</a:t>
            </a:r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4BE49B49-CAE4-8937-AD13-2DBB448AD8C6}"/>
              </a:ext>
            </a:extLst>
          </p:cNvPr>
          <p:cNvSpPr/>
          <p:nvPr/>
        </p:nvSpPr>
        <p:spPr>
          <a:xfrm>
            <a:off x="347472" y="1487243"/>
            <a:ext cx="3456432" cy="3035808"/>
          </a:xfrm>
          <a:prstGeom prst="roundRect">
            <a:avLst>
              <a:gd name="adj" fmla="val 1506"/>
            </a:avLst>
          </a:prstGeom>
          <a:solidFill>
            <a:srgbClr val="FFFFFF"/>
          </a:solidFill>
          <a:ln w="10160">
            <a:solidFill>
              <a:srgbClr val="D9DFEA"/>
            </a:solidFill>
            <a:prstDash val="solid"/>
          </a:ln>
        </p:spPr>
        <p:txBody>
          <a:bodyPr/>
          <a:lstStyle/>
          <a:p>
            <a:endParaRPr lang="es-CO" noProof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E1FCCFB4-B868-66F3-99D6-524006CB90CA}"/>
              </a:ext>
            </a:extLst>
          </p:cNvPr>
          <p:cNvSpPr/>
          <p:nvPr/>
        </p:nvSpPr>
        <p:spPr>
          <a:xfrm>
            <a:off x="530352" y="1688411"/>
            <a:ext cx="429768" cy="429768"/>
          </a:xfrm>
          <a:prstGeom prst="ellipse">
            <a:avLst/>
          </a:prstGeom>
          <a:solidFill>
            <a:srgbClr val="FFFFFF"/>
          </a:solidFill>
          <a:ln w="17780">
            <a:solidFill>
              <a:srgbClr val="101D47"/>
            </a:solidFill>
            <a:prstDash val="solid"/>
          </a:ln>
        </p:spPr>
        <p:txBody>
          <a:bodyPr/>
          <a:lstStyle/>
          <a:p>
            <a:endParaRPr lang="es-CO" sz="2400" noProof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052FFE1E-3322-CE8C-B889-89490F53CF14}"/>
              </a:ext>
            </a:extLst>
          </p:cNvPr>
          <p:cNvSpPr/>
          <p:nvPr/>
        </p:nvSpPr>
        <p:spPr>
          <a:xfrm>
            <a:off x="530352" y="1853003"/>
            <a:ext cx="42976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1100" b="1" noProof="0">
                <a:solidFill>
                  <a:srgbClr val="101D47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01</a:t>
            </a:r>
            <a:endParaRPr lang="es-CO" sz="1100" noProof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18" name="Text 6">
            <a:extLst>
              <a:ext uri="{FF2B5EF4-FFF2-40B4-BE49-F238E27FC236}">
                <a16:creationId xmlns:a16="http://schemas.microsoft.com/office/drawing/2014/main" id="{5ADB7FBE-BA9F-FFAF-9AA9-D7B66374A58B}"/>
              </a:ext>
            </a:extLst>
          </p:cNvPr>
          <p:cNvSpPr/>
          <p:nvPr/>
        </p:nvSpPr>
        <p:spPr>
          <a:xfrm>
            <a:off x="1106424" y="1830143"/>
            <a:ext cx="2240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100" b="1" kern="0" spc="105" noProof="0">
                <a:solidFill>
                  <a:srgbClr val="101D47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SITUACIÓN ACTUAL</a:t>
            </a:r>
            <a:endParaRPr lang="es-CO" sz="1100" noProof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21" name="Shape 7">
            <a:extLst>
              <a:ext uri="{FF2B5EF4-FFF2-40B4-BE49-F238E27FC236}">
                <a16:creationId xmlns:a16="http://schemas.microsoft.com/office/drawing/2014/main" id="{B1F2FB61-8E56-A299-D9DE-EF22B98142C2}"/>
              </a:ext>
            </a:extLst>
          </p:cNvPr>
          <p:cNvSpPr/>
          <p:nvPr/>
        </p:nvSpPr>
        <p:spPr>
          <a:xfrm>
            <a:off x="530352" y="2246195"/>
            <a:ext cx="3090672" cy="9144"/>
          </a:xfrm>
          <a:prstGeom prst="line">
            <a:avLst/>
          </a:prstGeom>
          <a:noFill/>
          <a:ln w="11430">
            <a:solidFill>
              <a:srgbClr val="D9DFEA"/>
            </a:solidFill>
            <a:prstDash val="solid"/>
          </a:ln>
        </p:spPr>
        <p:txBody>
          <a:bodyPr/>
          <a:lstStyle/>
          <a:p>
            <a:endParaRPr lang="es-CO" noProof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6A4275C4-DAFA-684E-58A1-E9F99E784D52}"/>
              </a:ext>
            </a:extLst>
          </p:cNvPr>
          <p:cNvSpPr/>
          <p:nvPr/>
        </p:nvSpPr>
        <p:spPr>
          <a:xfrm>
            <a:off x="530352" y="2361927"/>
            <a:ext cx="2971800" cy="8118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s-CO" b="1" noProof="0">
                <a:solidFill>
                  <a:srgbClr val="101D47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No medimos el </a:t>
            </a:r>
            <a:r>
              <a:rPr lang="es-CO" b="1" noProof="0" err="1">
                <a:solidFill>
                  <a:srgbClr val="101D47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delivery</a:t>
            </a:r>
            <a:endParaRPr lang="es-CO" b="1" noProof="0">
              <a:solidFill>
                <a:srgbClr val="101D47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  <a:p>
            <a:r>
              <a:rPr lang="es-CO" sz="1400" noProof="0">
                <a:solidFill>
                  <a:srgbClr val="2B4CD9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Los datos existen en Azure DevOps, pero nadie los convierte en información para decidir</a:t>
            </a:r>
          </a:p>
        </p:txBody>
      </p:sp>
      <p:sp>
        <p:nvSpPr>
          <p:cNvPr id="26" name="Shape 9">
            <a:extLst>
              <a:ext uri="{FF2B5EF4-FFF2-40B4-BE49-F238E27FC236}">
                <a16:creationId xmlns:a16="http://schemas.microsoft.com/office/drawing/2014/main" id="{F6282111-FC1C-69F2-97BC-C4ABD5804DDA}"/>
              </a:ext>
            </a:extLst>
          </p:cNvPr>
          <p:cNvSpPr/>
          <p:nvPr/>
        </p:nvSpPr>
        <p:spPr>
          <a:xfrm>
            <a:off x="548640" y="3352619"/>
            <a:ext cx="146304" cy="146304"/>
          </a:xfrm>
          <a:prstGeom prst="ellipse">
            <a:avLst/>
          </a:prstGeom>
          <a:solidFill>
            <a:srgbClr val="AEB6C5"/>
          </a:solidFill>
          <a:ln w="12700">
            <a:solidFill>
              <a:srgbClr val="AEB6C5"/>
            </a:solidFill>
            <a:prstDash val="solid"/>
          </a:ln>
        </p:spPr>
        <p:txBody>
          <a:bodyPr/>
          <a:lstStyle/>
          <a:p>
            <a:endParaRPr lang="es-CO" noProof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28" name="Text 10">
            <a:extLst>
              <a:ext uri="{FF2B5EF4-FFF2-40B4-BE49-F238E27FC236}">
                <a16:creationId xmlns:a16="http://schemas.microsoft.com/office/drawing/2014/main" id="{DED26CAB-E7F9-DDF8-E683-DBFA6EB9A64D}"/>
              </a:ext>
            </a:extLst>
          </p:cNvPr>
          <p:cNvSpPr/>
          <p:nvPr/>
        </p:nvSpPr>
        <p:spPr>
          <a:xfrm>
            <a:off x="822960" y="3343475"/>
            <a:ext cx="26700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100" b="1" noProof="0">
                <a:solidFill>
                  <a:srgbClr val="101D47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Cada área reporta con criterios propios.</a:t>
            </a:r>
          </a:p>
        </p:txBody>
      </p:sp>
      <p:sp>
        <p:nvSpPr>
          <p:cNvPr id="30" name="Shape 11">
            <a:extLst>
              <a:ext uri="{FF2B5EF4-FFF2-40B4-BE49-F238E27FC236}">
                <a16:creationId xmlns:a16="http://schemas.microsoft.com/office/drawing/2014/main" id="{CEF2CC12-93B7-05CD-B9AB-768D9063C3FC}"/>
              </a:ext>
            </a:extLst>
          </p:cNvPr>
          <p:cNvSpPr/>
          <p:nvPr/>
        </p:nvSpPr>
        <p:spPr>
          <a:xfrm>
            <a:off x="548640" y="3736667"/>
            <a:ext cx="146304" cy="146304"/>
          </a:xfrm>
          <a:prstGeom prst="ellipse">
            <a:avLst/>
          </a:prstGeom>
          <a:solidFill>
            <a:srgbClr val="AEB6C5"/>
          </a:solidFill>
          <a:ln w="12700">
            <a:solidFill>
              <a:srgbClr val="AEB6C5"/>
            </a:solidFill>
            <a:prstDash val="solid"/>
          </a:ln>
        </p:spPr>
        <p:txBody>
          <a:bodyPr/>
          <a:lstStyle/>
          <a:p>
            <a:endParaRPr lang="es-CO" noProof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32" name="Text 12">
            <a:extLst>
              <a:ext uri="{FF2B5EF4-FFF2-40B4-BE49-F238E27FC236}">
                <a16:creationId xmlns:a16="http://schemas.microsoft.com/office/drawing/2014/main" id="{C181BFFB-0867-4768-C902-3B0F8171078B}"/>
              </a:ext>
            </a:extLst>
          </p:cNvPr>
          <p:cNvSpPr/>
          <p:nvPr/>
        </p:nvSpPr>
        <p:spPr>
          <a:xfrm>
            <a:off x="822960" y="3727523"/>
            <a:ext cx="26700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100" b="1" noProof="0">
                <a:solidFill>
                  <a:srgbClr val="101D47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Decidimos sobre percepciones, no sobre evidencia.</a:t>
            </a:r>
          </a:p>
        </p:txBody>
      </p:sp>
      <p:sp>
        <p:nvSpPr>
          <p:cNvPr id="34" name="Shape 13">
            <a:extLst>
              <a:ext uri="{FF2B5EF4-FFF2-40B4-BE49-F238E27FC236}">
                <a16:creationId xmlns:a16="http://schemas.microsoft.com/office/drawing/2014/main" id="{519130D6-09F9-39A2-C97D-AFD7B47A2813}"/>
              </a:ext>
            </a:extLst>
          </p:cNvPr>
          <p:cNvSpPr/>
          <p:nvPr/>
        </p:nvSpPr>
        <p:spPr>
          <a:xfrm>
            <a:off x="548640" y="4120715"/>
            <a:ext cx="146304" cy="146304"/>
          </a:xfrm>
          <a:prstGeom prst="ellipse">
            <a:avLst/>
          </a:prstGeom>
          <a:solidFill>
            <a:srgbClr val="AEB6C5"/>
          </a:solidFill>
          <a:ln w="12700">
            <a:solidFill>
              <a:srgbClr val="AEB6C5"/>
            </a:solidFill>
            <a:prstDash val="solid"/>
          </a:ln>
        </p:spPr>
        <p:txBody>
          <a:bodyPr/>
          <a:lstStyle/>
          <a:p>
            <a:endParaRPr lang="es-CO" noProof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36" name="Text 14">
            <a:extLst>
              <a:ext uri="{FF2B5EF4-FFF2-40B4-BE49-F238E27FC236}">
                <a16:creationId xmlns:a16="http://schemas.microsoft.com/office/drawing/2014/main" id="{2B6CE782-57F7-673F-1964-AFCA850A0216}"/>
              </a:ext>
            </a:extLst>
          </p:cNvPr>
          <p:cNvSpPr/>
          <p:nvPr/>
        </p:nvSpPr>
        <p:spPr>
          <a:xfrm>
            <a:off x="822960" y="4111571"/>
            <a:ext cx="26700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100" b="1" noProof="0">
                <a:solidFill>
                  <a:srgbClr val="101D47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El riesgo se descubre cuando ya no se puede intervenir.</a:t>
            </a:r>
          </a:p>
        </p:txBody>
      </p:sp>
      <p:sp>
        <p:nvSpPr>
          <p:cNvPr id="38" name="Shape 15">
            <a:extLst>
              <a:ext uri="{FF2B5EF4-FFF2-40B4-BE49-F238E27FC236}">
                <a16:creationId xmlns:a16="http://schemas.microsoft.com/office/drawing/2014/main" id="{200ADDF2-2360-E238-D78C-C275CBB5B3D4}"/>
              </a:ext>
            </a:extLst>
          </p:cNvPr>
          <p:cNvSpPr/>
          <p:nvPr/>
        </p:nvSpPr>
        <p:spPr>
          <a:xfrm>
            <a:off x="4169664" y="1487243"/>
            <a:ext cx="3456432" cy="3035808"/>
          </a:xfrm>
          <a:prstGeom prst="roundRect">
            <a:avLst>
              <a:gd name="adj" fmla="val 1506"/>
            </a:avLst>
          </a:prstGeom>
          <a:solidFill>
            <a:srgbClr val="FFFFFF"/>
          </a:solidFill>
          <a:ln w="10160">
            <a:solidFill>
              <a:srgbClr val="D9DFEA"/>
            </a:solidFill>
            <a:prstDash val="solid"/>
          </a:ln>
        </p:spPr>
        <p:txBody>
          <a:bodyPr/>
          <a:lstStyle/>
          <a:p>
            <a:endParaRPr lang="es-CO" noProof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40" name="Shape 16">
            <a:extLst>
              <a:ext uri="{FF2B5EF4-FFF2-40B4-BE49-F238E27FC236}">
                <a16:creationId xmlns:a16="http://schemas.microsoft.com/office/drawing/2014/main" id="{A1A46CCA-E54A-F80C-1233-D4567E5B9C44}"/>
              </a:ext>
            </a:extLst>
          </p:cNvPr>
          <p:cNvSpPr/>
          <p:nvPr/>
        </p:nvSpPr>
        <p:spPr>
          <a:xfrm>
            <a:off x="4352544" y="1688411"/>
            <a:ext cx="429768" cy="429768"/>
          </a:xfrm>
          <a:prstGeom prst="ellipse">
            <a:avLst/>
          </a:prstGeom>
          <a:solidFill>
            <a:srgbClr val="2D50D7"/>
          </a:solidFill>
          <a:ln w="17780">
            <a:solidFill>
              <a:srgbClr val="2D50D7"/>
            </a:solidFill>
            <a:prstDash val="solid"/>
          </a:ln>
        </p:spPr>
        <p:txBody>
          <a:bodyPr/>
          <a:lstStyle/>
          <a:p>
            <a:endParaRPr lang="es-CO" sz="2400" noProof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42" name="Text 17">
            <a:extLst>
              <a:ext uri="{FF2B5EF4-FFF2-40B4-BE49-F238E27FC236}">
                <a16:creationId xmlns:a16="http://schemas.microsoft.com/office/drawing/2014/main" id="{3B5B2005-0B2A-D925-48D2-E24E7A5D13F2}"/>
              </a:ext>
            </a:extLst>
          </p:cNvPr>
          <p:cNvSpPr/>
          <p:nvPr/>
        </p:nvSpPr>
        <p:spPr>
          <a:xfrm>
            <a:off x="4352544" y="1853003"/>
            <a:ext cx="42976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1100" b="1" noProof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02</a:t>
            </a:r>
            <a:endParaRPr lang="es-CO" sz="1100" noProof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44" name="Text 18">
            <a:extLst>
              <a:ext uri="{FF2B5EF4-FFF2-40B4-BE49-F238E27FC236}">
                <a16:creationId xmlns:a16="http://schemas.microsoft.com/office/drawing/2014/main" id="{3E50428E-3099-CBFD-D3CF-A3B53E30AA77}"/>
              </a:ext>
            </a:extLst>
          </p:cNvPr>
          <p:cNvSpPr/>
          <p:nvPr/>
        </p:nvSpPr>
        <p:spPr>
          <a:xfrm>
            <a:off x="4928616" y="1830143"/>
            <a:ext cx="2240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100" b="1" kern="0" spc="105" noProof="0">
                <a:solidFill>
                  <a:srgbClr val="101D47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OPORTUNIDAD </a:t>
            </a:r>
            <a:endParaRPr lang="es-CO" sz="1100" noProof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46" name="Shape 19">
            <a:extLst>
              <a:ext uri="{FF2B5EF4-FFF2-40B4-BE49-F238E27FC236}">
                <a16:creationId xmlns:a16="http://schemas.microsoft.com/office/drawing/2014/main" id="{28EBF0FA-1F11-B868-16C8-12CF07C7681D}"/>
              </a:ext>
            </a:extLst>
          </p:cNvPr>
          <p:cNvSpPr/>
          <p:nvPr/>
        </p:nvSpPr>
        <p:spPr>
          <a:xfrm>
            <a:off x="4352544" y="2246195"/>
            <a:ext cx="3090672" cy="9144"/>
          </a:xfrm>
          <a:prstGeom prst="line">
            <a:avLst/>
          </a:prstGeom>
          <a:noFill/>
          <a:ln w="11430">
            <a:solidFill>
              <a:srgbClr val="D9DFEA"/>
            </a:solidFill>
            <a:prstDash val="solid"/>
          </a:ln>
        </p:spPr>
        <p:txBody>
          <a:bodyPr/>
          <a:lstStyle/>
          <a:p>
            <a:endParaRPr lang="es-CO" noProof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50" name="Shape 21">
            <a:extLst>
              <a:ext uri="{FF2B5EF4-FFF2-40B4-BE49-F238E27FC236}">
                <a16:creationId xmlns:a16="http://schemas.microsoft.com/office/drawing/2014/main" id="{D566010A-ACDE-A6EB-C5BB-E5C187FF70BD}"/>
              </a:ext>
            </a:extLst>
          </p:cNvPr>
          <p:cNvSpPr/>
          <p:nvPr/>
        </p:nvSpPr>
        <p:spPr>
          <a:xfrm>
            <a:off x="4370832" y="3352619"/>
            <a:ext cx="146304" cy="146304"/>
          </a:xfrm>
          <a:prstGeom prst="ellipse">
            <a:avLst/>
          </a:prstGeom>
          <a:solidFill>
            <a:srgbClr val="2D50D7"/>
          </a:solidFill>
          <a:ln w="12700">
            <a:solidFill>
              <a:srgbClr val="2D50D7"/>
            </a:solidFill>
            <a:prstDash val="solid"/>
          </a:ln>
        </p:spPr>
        <p:txBody>
          <a:bodyPr/>
          <a:lstStyle/>
          <a:p>
            <a:endParaRPr lang="es-CO" noProof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52" name="Text 22">
            <a:extLst>
              <a:ext uri="{FF2B5EF4-FFF2-40B4-BE49-F238E27FC236}">
                <a16:creationId xmlns:a16="http://schemas.microsoft.com/office/drawing/2014/main" id="{C3141960-0A99-8DAA-1207-6F5A1E6A7809}"/>
              </a:ext>
            </a:extLst>
          </p:cNvPr>
          <p:cNvSpPr/>
          <p:nvPr/>
        </p:nvSpPr>
        <p:spPr>
          <a:xfrm>
            <a:off x="4645152" y="3343475"/>
            <a:ext cx="26700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100" b="1" noProof="0">
                <a:solidFill>
                  <a:srgbClr val="101D47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Ver el </a:t>
            </a:r>
            <a:r>
              <a:rPr lang="es-CO" sz="1100" b="1" noProof="0" err="1">
                <a:solidFill>
                  <a:srgbClr val="101D47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delivery</a:t>
            </a:r>
            <a:r>
              <a:rPr lang="es-CO" sz="1100" b="1" noProof="0">
                <a:solidFill>
                  <a:srgbClr val="101D47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a escala de iniciativa, no de historia.</a:t>
            </a:r>
          </a:p>
        </p:txBody>
      </p:sp>
      <p:sp>
        <p:nvSpPr>
          <p:cNvPr id="54" name="Shape 23">
            <a:extLst>
              <a:ext uri="{FF2B5EF4-FFF2-40B4-BE49-F238E27FC236}">
                <a16:creationId xmlns:a16="http://schemas.microsoft.com/office/drawing/2014/main" id="{57155FA9-1533-207C-8CFB-62DF88591914}"/>
              </a:ext>
            </a:extLst>
          </p:cNvPr>
          <p:cNvSpPr/>
          <p:nvPr/>
        </p:nvSpPr>
        <p:spPr>
          <a:xfrm>
            <a:off x="4370832" y="3736667"/>
            <a:ext cx="146304" cy="146304"/>
          </a:xfrm>
          <a:prstGeom prst="ellipse">
            <a:avLst/>
          </a:prstGeom>
          <a:solidFill>
            <a:srgbClr val="2D50D7"/>
          </a:solidFill>
          <a:ln w="12700">
            <a:solidFill>
              <a:srgbClr val="2D50D7"/>
            </a:solidFill>
            <a:prstDash val="solid"/>
          </a:ln>
        </p:spPr>
        <p:txBody>
          <a:bodyPr/>
          <a:lstStyle/>
          <a:p>
            <a:endParaRPr lang="es-CO" noProof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56" name="Text 24">
            <a:extLst>
              <a:ext uri="{FF2B5EF4-FFF2-40B4-BE49-F238E27FC236}">
                <a16:creationId xmlns:a16="http://schemas.microsoft.com/office/drawing/2014/main" id="{D8A49532-42A1-CFF7-55AF-23FE263453E2}"/>
              </a:ext>
            </a:extLst>
          </p:cNvPr>
          <p:cNvSpPr/>
          <p:nvPr/>
        </p:nvSpPr>
        <p:spPr>
          <a:xfrm>
            <a:off x="4645152" y="3727523"/>
            <a:ext cx="26700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100" b="1" noProof="0">
                <a:solidFill>
                  <a:srgbClr val="101D47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Actuar sobre la espera: la mitad del tiempo ocurre antes de activar.</a:t>
            </a:r>
          </a:p>
        </p:txBody>
      </p:sp>
      <p:sp>
        <p:nvSpPr>
          <p:cNvPr id="58" name="Shape 25">
            <a:extLst>
              <a:ext uri="{FF2B5EF4-FFF2-40B4-BE49-F238E27FC236}">
                <a16:creationId xmlns:a16="http://schemas.microsoft.com/office/drawing/2014/main" id="{51D03805-7BD7-64F7-6080-27E5E66095F1}"/>
              </a:ext>
            </a:extLst>
          </p:cNvPr>
          <p:cNvSpPr/>
          <p:nvPr/>
        </p:nvSpPr>
        <p:spPr>
          <a:xfrm>
            <a:off x="4370832" y="4120715"/>
            <a:ext cx="146304" cy="146304"/>
          </a:xfrm>
          <a:prstGeom prst="ellipse">
            <a:avLst/>
          </a:prstGeom>
          <a:solidFill>
            <a:srgbClr val="2D50D7"/>
          </a:solidFill>
          <a:ln w="12700">
            <a:solidFill>
              <a:srgbClr val="2D50D7"/>
            </a:solidFill>
            <a:prstDash val="solid"/>
          </a:ln>
        </p:spPr>
        <p:txBody>
          <a:bodyPr/>
          <a:lstStyle/>
          <a:p>
            <a:endParaRPr lang="es-CO" noProof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60" name="Text 26">
            <a:extLst>
              <a:ext uri="{FF2B5EF4-FFF2-40B4-BE49-F238E27FC236}">
                <a16:creationId xmlns:a16="http://schemas.microsoft.com/office/drawing/2014/main" id="{B5ADE7E4-E72A-F5E3-2003-217C8D128CEC}"/>
              </a:ext>
            </a:extLst>
          </p:cNvPr>
          <p:cNvSpPr/>
          <p:nvPr/>
        </p:nvSpPr>
        <p:spPr>
          <a:xfrm>
            <a:off x="4645152" y="4111571"/>
            <a:ext cx="26700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100" b="1" noProof="0">
                <a:solidFill>
                  <a:srgbClr val="101D47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Anticipar el riesgo del trabajo que hoy envejece.</a:t>
            </a:r>
          </a:p>
        </p:txBody>
      </p:sp>
      <p:sp>
        <p:nvSpPr>
          <p:cNvPr id="62" name="Shape 27">
            <a:extLst>
              <a:ext uri="{FF2B5EF4-FFF2-40B4-BE49-F238E27FC236}">
                <a16:creationId xmlns:a16="http://schemas.microsoft.com/office/drawing/2014/main" id="{32DC5A43-F993-35DE-1C82-592DB9F33A7C}"/>
              </a:ext>
            </a:extLst>
          </p:cNvPr>
          <p:cNvSpPr/>
          <p:nvPr/>
        </p:nvSpPr>
        <p:spPr>
          <a:xfrm>
            <a:off x="7991856" y="1487243"/>
            <a:ext cx="3456432" cy="3035808"/>
          </a:xfrm>
          <a:prstGeom prst="roundRect">
            <a:avLst>
              <a:gd name="adj" fmla="val 1506"/>
            </a:avLst>
          </a:prstGeom>
          <a:solidFill>
            <a:srgbClr val="EAF0FF"/>
          </a:solidFill>
          <a:ln w="17780">
            <a:solidFill>
              <a:srgbClr val="2D50D7"/>
            </a:solidFill>
            <a:prstDash val="solid"/>
          </a:ln>
        </p:spPr>
        <p:txBody>
          <a:bodyPr/>
          <a:lstStyle/>
          <a:p>
            <a:endParaRPr lang="es-CO" noProof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64" name="Shape 28">
            <a:extLst>
              <a:ext uri="{FF2B5EF4-FFF2-40B4-BE49-F238E27FC236}">
                <a16:creationId xmlns:a16="http://schemas.microsoft.com/office/drawing/2014/main" id="{760880E2-ACE6-8752-6DAD-6E161160DCC7}"/>
              </a:ext>
            </a:extLst>
          </p:cNvPr>
          <p:cNvSpPr/>
          <p:nvPr/>
        </p:nvSpPr>
        <p:spPr>
          <a:xfrm>
            <a:off x="8174736" y="1688411"/>
            <a:ext cx="429768" cy="429768"/>
          </a:xfrm>
          <a:prstGeom prst="ellipse">
            <a:avLst/>
          </a:prstGeom>
          <a:solidFill>
            <a:srgbClr val="2D50D7"/>
          </a:solidFill>
          <a:ln w="17780">
            <a:solidFill>
              <a:srgbClr val="2D50D7"/>
            </a:solidFill>
            <a:prstDash val="solid"/>
          </a:ln>
        </p:spPr>
        <p:txBody>
          <a:bodyPr/>
          <a:lstStyle/>
          <a:p>
            <a:endParaRPr lang="es-CO" sz="2400" noProof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66" name="Text 29">
            <a:extLst>
              <a:ext uri="{FF2B5EF4-FFF2-40B4-BE49-F238E27FC236}">
                <a16:creationId xmlns:a16="http://schemas.microsoft.com/office/drawing/2014/main" id="{C1F1B51D-3F1D-3D49-0892-90E3E70F213E}"/>
              </a:ext>
            </a:extLst>
          </p:cNvPr>
          <p:cNvSpPr/>
          <p:nvPr/>
        </p:nvSpPr>
        <p:spPr>
          <a:xfrm>
            <a:off x="8174736" y="1853003"/>
            <a:ext cx="42976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1100" b="1" noProof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03</a:t>
            </a:r>
            <a:endParaRPr lang="es-CO" sz="1100" noProof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68" name="Text 30">
            <a:extLst>
              <a:ext uri="{FF2B5EF4-FFF2-40B4-BE49-F238E27FC236}">
                <a16:creationId xmlns:a16="http://schemas.microsoft.com/office/drawing/2014/main" id="{ACCE52C8-AE19-F41D-CD23-2EA7429F8894}"/>
              </a:ext>
            </a:extLst>
          </p:cNvPr>
          <p:cNvSpPr/>
          <p:nvPr/>
        </p:nvSpPr>
        <p:spPr>
          <a:xfrm>
            <a:off x="8750808" y="1830143"/>
            <a:ext cx="2240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100" b="1" kern="0" spc="105" noProof="0">
                <a:solidFill>
                  <a:srgbClr val="2D50D7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TRANSFORMACIÓN</a:t>
            </a:r>
            <a:endParaRPr lang="es-CO" sz="1100" noProof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70" name="Shape 31">
            <a:extLst>
              <a:ext uri="{FF2B5EF4-FFF2-40B4-BE49-F238E27FC236}">
                <a16:creationId xmlns:a16="http://schemas.microsoft.com/office/drawing/2014/main" id="{EFA56241-C964-DFE0-DE33-6E8047D006D5}"/>
              </a:ext>
            </a:extLst>
          </p:cNvPr>
          <p:cNvSpPr/>
          <p:nvPr/>
        </p:nvSpPr>
        <p:spPr>
          <a:xfrm>
            <a:off x="8174736" y="2246195"/>
            <a:ext cx="3090672" cy="9144"/>
          </a:xfrm>
          <a:prstGeom prst="line">
            <a:avLst/>
          </a:prstGeom>
          <a:noFill/>
          <a:ln w="11430">
            <a:solidFill>
              <a:srgbClr val="D9DFEA"/>
            </a:solidFill>
            <a:prstDash val="solid"/>
          </a:ln>
        </p:spPr>
        <p:txBody>
          <a:bodyPr/>
          <a:lstStyle/>
          <a:p>
            <a:endParaRPr lang="es-CO" noProof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74" name="Shape 33">
            <a:extLst>
              <a:ext uri="{FF2B5EF4-FFF2-40B4-BE49-F238E27FC236}">
                <a16:creationId xmlns:a16="http://schemas.microsoft.com/office/drawing/2014/main" id="{606CE4F4-46C3-7BC2-C44B-D2F899D5AB16}"/>
              </a:ext>
            </a:extLst>
          </p:cNvPr>
          <p:cNvSpPr/>
          <p:nvPr/>
        </p:nvSpPr>
        <p:spPr>
          <a:xfrm>
            <a:off x="8193024" y="3352619"/>
            <a:ext cx="146304" cy="146304"/>
          </a:xfrm>
          <a:prstGeom prst="ellipse">
            <a:avLst/>
          </a:prstGeom>
          <a:solidFill>
            <a:srgbClr val="2D50D7"/>
          </a:solidFill>
          <a:ln w="12700">
            <a:solidFill>
              <a:srgbClr val="2D50D7"/>
            </a:solidFill>
            <a:prstDash val="solid"/>
          </a:ln>
        </p:spPr>
        <p:txBody>
          <a:bodyPr/>
          <a:lstStyle/>
          <a:p>
            <a:endParaRPr lang="es-CO" noProof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76" name="Text 34">
            <a:extLst>
              <a:ext uri="{FF2B5EF4-FFF2-40B4-BE49-F238E27FC236}">
                <a16:creationId xmlns:a16="http://schemas.microsoft.com/office/drawing/2014/main" id="{1CFF58D0-2C77-CB2A-777A-0F6222866A45}"/>
              </a:ext>
            </a:extLst>
          </p:cNvPr>
          <p:cNvSpPr/>
          <p:nvPr/>
        </p:nvSpPr>
        <p:spPr>
          <a:xfrm>
            <a:off x="8467344" y="3343475"/>
            <a:ext cx="26700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100" b="1" noProof="0">
                <a:solidFill>
                  <a:srgbClr val="101D47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Definiciones únicas para toda la organización.</a:t>
            </a:r>
          </a:p>
        </p:txBody>
      </p:sp>
      <p:sp>
        <p:nvSpPr>
          <p:cNvPr id="78" name="Shape 35">
            <a:extLst>
              <a:ext uri="{FF2B5EF4-FFF2-40B4-BE49-F238E27FC236}">
                <a16:creationId xmlns:a16="http://schemas.microsoft.com/office/drawing/2014/main" id="{F407849F-145E-BA14-78BE-8F13632B5BAB}"/>
              </a:ext>
            </a:extLst>
          </p:cNvPr>
          <p:cNvSpPr/>
          <p:nvPr/>
        </p:nvSpPr>
        <p:spPr>
          <a:xfrm>
            <a:off x="8193024" y="3736667"/>
            <a:ext cx="146304" cy="146304"/>
          </a:xfrm>
          <a:prstGeom prst="ellipse">
            <a:avLst/>
          </a:prstGeom>
          <a:solidFill>
            <a:srgbClr val="2D50D7"/>
          </a:solidFill>
          <a:ln w="12700">
            <a:solidFill>
              <a:srgbClr val="2D50D7"/>
            </a:solidFill>
            <a:prstDash val="solid"/>
          </a:ln>
        </p:spPr>
        <p:txBody>
          <a:bodyPr/>
          <a:lstStyle/>
          <a:p>
            <a:endParaRPr lang="es-CO" noProof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80" name="Text 36">
            <a:extLst>
              <a:ext uri="{FF2B5EF4-FFF2-40B4-BE49-F238E27FC236}">
                <a16:creationId xmlns:a16="http://schemas.microsoft.com/office/drawing/2014/main" id="{680B1E5E-EE39-7243-F571-4B7372280D88}"/>
              </a:ext>
            </a:extLst>
          </p:cNvPr>
          <p:cNvSpPr/>
          <p:nvPr/>
        </p:nvSpPr>
        <p:spPr>
          <a:xfrm>
            <a:off x="8467344" y="3727523"/>
            <a:ext cx="26700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100" b="1" noProof="0">
                <a:solidFill>
                  <a:srgbClr val="101D47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Vista ejecutiva y vista detallada del mismo dato.</a:t>
            </a:r>
          </a:p>
        </p:txBody>
      </p:sp>
      <p:sp>
        <p:nvSpPr>
          <p:cNvPr id="82" name="Shape 37">
            <a:extLst>
              <a:ext uri="{FF2B5EF4-FFF2-40B4-BE49-F238E27FC236}">
                <a16:creationId xmlns:a16="http://schemas.microsoft.com/office/drawing/2014/main" id="{DD3BBC7D-C3CE-4D04-8CC8-1BDB055D076C}"/>
              </a:ext>
            </a:extLst>
          </p:cNvPr>
          <p:cNvSpPr/>
          <p:nvPr/>
        </p:nvSpPr>
        <p:spPr>
          <a:xfrm>
            <a:off x="8193024" y="4120715"/>
            <a:ext cx="146304" cy="146304"/>
          </a:xfrm>
          <a:prstGeom prst="ellipse">
            <a:avLst/>
          </a:prstGeom>
          <a:solidFill>
            <a:srgbClr val="2D50D7"/>
          </a:solidFill>
          <a:ln w="12700">
            <a:solidFill>
              <a:srgbClr val="2D50D7"/>
            </a:solidFill>
            <a:prstDash val="solid"/>
          </a:ln>
        </p:spPr>
        <p:txBody>
          <a:bodyPr/>
          <a:lstStyle/>
          <a:p>
            <a:endParaRPr lang="es-CO" noProof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84" name="Text 38">
            <a:extLst>
              <a:ext uri="{FF2B5EF4-FFF2-40B4-BE49-F238E27FC236}">
                <a16:creationId xmlns:a16="http://schemas.microsoft.com/office/drawing/2014/main" id="{C5B141AD-FBC7-6104-9F52-F5EC7EDEA7C1}"/>
              </a:ext>
            </a:extLst>
          </p:cNvPr>
          <p:cNvSpPr/>
          <p:nvPr/>
        </p:nvSpPr>
        <p:spPr>
          <a:xfrm>
            <a:off x="8467344" y="4111571"/>
            <a:ext cx="26700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100" b="1" noProof="0">
                <a:solidFill>
                  <a:srgbClr val="101D47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Cadencia mensual con responsable por Vicepresidencia.</a:t>
            </a:r>
          </a:p>
        </p:txBody>
      </p:sp>
      <p:sp>
        <p:nvSpPr>
          <p:cNvPr id="86" name="Shape 39">
            <a:extLst>
              <a:ext uri="{FF2B5EF4-FFF2-40B4-BE49-F238E27FC236}">
                <a16:creationId xmlns:a16="http://schemas.microsoft.com/office/drawing/2014/main" id="{310CF701-2538-6FE0-ACAF-BE5FE1254EE8}"/>
              </a:ext>
            </a:extLst>
          </p:cNvPr>
          <p:cNvSpPr/>
          <p:nvPr/>
        </p:nvSpPr>
        <p:spPr>
          <a:xfrm>
            <a:off x="3895344" y="2675963"/>
            <a:ext cx="182880" cy="438912"/>
          </a:xfrm>
          <a:prstGeom prst="chevron">
            <a:avLst/>
          </a:prstGeom>
          <a:solidFill>
            <a:srgbClr val="5A9BD5"/>
          </a:solidFill>
          <a:ln w="12700">
            <a:solidFill>
              <a:srgbClr val="5A9BD5"/>
            </a:solidFill>
            <a:prstDash val="solid"/>
          </a:ln>
        </p:spPr>
        <p:txBody>
          <a:bodyPr/>
          <a:lstStyle/>
          <a:p>
            <a:endParaRPr lang="es-CO" noProof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88" name="Shape 40">
            <a:extLst>
              <a:ext uri="{FF2B5EF4-FFF2-40B4-BE49-F238E27FC236}">
                <a16:creationId xmlns:a16="http://schemas.microsoft.com/office/drawing/2014/main" id="{CDCBDEDE-7BA3-883E-2AD9-BB890634A4C1}"/>
              </a:ext>
            </a:extLst>
          </p:cNvPr>
          <p:cNvSpPr/>
          <p:nvPr/>
        </p:nvSpPr>
        <p:spPr>
          <a:xfrm>
            <a:off x="7717536" y="2675963"/>
            <a:ext cx="182880" cy="438912"/>
          </a:xfrm>
          <a:prstGeom prst="chevron">
            <a:avLst/>
          </a:prstGeom>
          <a:solidFill>
            <a:srgbClr val="5A9BD5"/>
          </a:solidFill>
          <a:ln w="12700">
            <a:solidFill>
              <a:srgbClr val="5A9BD5"/>
            </a:solidFill>
            <a:prstDash val="solid"/>
          </a:ln>
        </p:spPr>
        <p:txBody>
          <a:bodyPr/>
          <a:lstStyle/>
          <a:p>
            <a:endParaRPr lang="es-CO" noProof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90" name="Text 8">
            <a:extLst>
              <a:ext uri="{FF2B5EF4-FFF2-40B4-BE49-F238E27FC236}">
                <a16:creationId xmlns:a16="http://schemas.microsoft.com/office/drawing/2014/main" id="{34EF13B9-DC9B-537E-F306-9E3C2F1D7AB2}"/>
              </a:ext>
            </a:extLst>
          </p:cNvPr>
          <p:cNvSpPr/>
          <p:nvPr/>
        </p:nvSpPr>
        <p:spPr>
          <a:xfrm>
            <a:off x="4411980" y="2361927"/>
            <a:ext cx="2971800" cy="8118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s-CO" b="1" noProof="0">
                <a:solidFill>
                  <a:srgbClr val="101D47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Los datos están</a:t>
            </a:r>
          </a:p>
          <a:p>
            <a:r>
              <a:rPr lang="es-CO" sz="1400" noProof="0">
                <a:solidFill>
                  <a:srgbClr val="2B4CD9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Medirlo no consume capacidad de los equipos y revela palancas que hoy no usamos</a:t>
            </a:r>
          </a:p>
        </p:txBody>
      </p:sp>
      <p:sp>
        <p:nvSpPr>
          <p:cNvPr id="92" name="Text 8">
            <a:extLst>
              <a:ext uri="{FF2B5EF4-FFF2-40B4-BE49-F238E27FC236}">
                <a16:creationId xmlns:a16="http://schemas.microsoft.com/office/drawing/2014/main" id="{65D7B153-909C-1464-3181-5B2889ADA9C5}"/>
              </a:ext>
            </a:extLst>
          </p:cNvPr>
          <p:cNvSpPr/>
          <p:nvPr/>
        </p:nvSpPr>
        <p:spPr>
          <a:xfrm>
            <a:off x="8234172" y="2361927"/>
            <a:ext cx="2971800" cy="8118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s-CO" b="1" noProof="0">
                <a:solidFill>
                  <a:srgbClr val="101D47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Un sistema, no un tablero</a:t>
            </a:r>
          </a:p>
          <a:p>
            <a:r>
              <a:rPr lang="es-CO" sz="1400" noProof="0">
                <a:solidFill>
                  <a:srgbClr val="2B4CD9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Dato → métrica → conversación → decisión</a:t>
            </a:r>
          </a:p>
          <a:p>
            <a:r>
              <a:rPr lang="es-CO" sz="1400" b="1" noProof="0">
                <a:solidFill>
                  <a:srgbClr val="2B4CD9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Con cadencia fija en cada sprint.</a:t>
            </a:r>
          </a:p>
        </p:txBody>
      </p:sp>
    </p:spTree>
    <p:extLst>
      <p:ext uri="{BB962C8B-B14F-4D97-AF65-F5344CB8AC3E}">
        <p14:creationId xmlns:p14="http://schemas.microsoft.com/office/powerpoint/2010/main" val="98199068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Box"/>
          <p:cNvSpPr txBox="1"/>
          <p:nvPr/>
        </p:nvSpPr>
        <p:spPr>
          <a:xfrm>
            <a:off x="822960" y="187452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wrap="square" lIns="118872" tIns="91440" rIns="118872" bIns="9144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s-CO" sz="1400" b="1" noProof="0">
                <a:solidFill>
                  <a:srgbClr val="4DAA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· DEMO EN VIVO</a:t>
            </a:r>
          </a:p>
        </p:txBody>
      </p:sp>
      <p:sp>
        <p:nvSpPr>
          <p:cNvPr id="79" name="TextBox"/>
          <p:cNvSpPr txBox="1"/>
          <p:nvPr/>
        </p:nvSpPr>
        <p:spPr>
          <a:xfrm>
            <a:off x="822960" y="2240280"/>
            <a:ext cx="9601200" cy="1234440"/>
          </a:xfrm>
          <a:prstGeom prst="rect">
            <a:avLst/>
          </a:prstGeom>
          <a:noFill/>
          <a:ln>
            <a:noFill/>
          </a:ln>
        </p:spPr>
        <p:txBody>
          <a:bodyPr wrap="square" lIns="118872" tIns="91440" rIns="118872" bIns="9144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s-CO" sz="3200" b="1" noProof="0" err="1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Dashboard</a:t>
            </a:r>
            <a:r>
              <a:rPr lang="es-CO" sz="3200" b="1" noProof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de Métricas</a:t>
            </a:r>
          </a:p>
        </p:txBody>
      </p:sp>
      <p:sp>
        <p:nvSpPr>
          <p:cNvPr id="80" name="Shape"/>
          <p:cNvSpPr txBox="1"/>
          <p:nvPr/>
        </p:nvSpPr>
        <p:spPr>
          <a:xfrm>
            <a:off x="868680" y="3611880"/>
            <a:ext cx="3657600" cy="27432"/>
          </a:xfrm>
          <a:prstGeom prst="rect">
            <a:avLst/>
          </a:prstGeom>
          <a:solidFill>
            <a:srgbClr val="4DAAFF"/>
          </a:solidFill>
          <a:ln>
            <a:noFill/>
          </a:ln>
        </p:spPr>
        <p:txBody>
          <a:bodyPr wrap="square" lIns="118872" tIns="91440" rIns="118872" bIns="91440" anchor="t">
            <a:normAutofit fontScale="25000" lnSpcReduction="20000"/>
          </a:bodyPr>
          <a:lstStyle/>
          <a:p>
            <a:pPr>
              <a:buNone/>
            </a:pPr>
            <a:endParaRPr lang="es-CO" noProof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81" name="TextBox"/>
          <p:cNvSpPr txBox="1"/>
          <p:nvPr/>
        </p:nvSpPr>
        <p:spPr>
          <a:xfrm>
            <a:off x="822960" y="3794760"/>
            <a:ext cx="3982720" cy="457200"/>
          </a:xfrm>
          <a:prstGeom prst="rect">
            <a:avLst/>
          </a:prstGeom>
          <a:noFill/>
          <a:ln>
            <a:noFill/>
          </a:ln>
        </p:spPr>
        <p:txBody>
          <a:bodyPr wrap="square" lIns="118872" tIns="91440" rIns="118872" bIns="9144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s-CO" sz="1300" b="0" noProof="0">
                <a:solidFill>
                  <a:srgbClr val="A8B8F8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Lead time, </a:t>
            </a:r>
            <a:r>
              <a:rPr lang="es-CO" sz="1300" b="0" noProof="0" err="1">
                <a:solidFill>
                  <a:srgbClr val="A8B8F8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TTM</a:t>
            </a:r>
            <a:r>
              <a:rPr lang="es-CO" sz="1300" b="0" noProof="0">
                <a:solidFill>
                  <a:srgbClr val="A8B8F8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, </a:t>
            </a:r>
            <a:r>
              <a:rPr lang="es-CO" sz="1300" b="0" noProof="0" err="1">
                <a:solidFill>
                  <a:srgbClr val="A8B8F8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Aging</a:t>
            </a:r>
            <a:r>
              <a:rPr lang="es-CO" sz="1300" b="0" noProof="0">
                <a:solidFill>
                  <a:srgbClr val="A8B8F8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y </a:t>
            </a:r>
            <a:r>
              <a:rPr lang="es-CO" sz="1300">
                <a:solidFill>
                  <a:srgbClr val="A8B8F8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T</a:t>
            </a:r>
            <a:r>
              <a:rPr lang="es-CO" sz="1300" b="0" noProof="0" err="1">
                <a:solidFill>
                  <a:srgbClr val="A8B8F8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hroughput</a:t>
            </a:r>
            <a:r>
              <a:rPr lang="es-CO" sz="1300" b="0" noProof="0">
                <a:solidFill>
                  <a:srgbClr val="A8B8F8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en un solo tablero</a:t>
            </a:r>
          </a:p>
        </p:txBody>
      </p:sp>
      <p:sp>
        <p:nvSpPr>
          <p:cNvPr id="82" name="TextBox"/>
          <p:cNvSpPr txBox="1"/>
          <p:nvPr/>
        </p:nvSpPr>
        <p:spPr>
          <a:xfrm>
            <a:off x="822960" y="4572000"/>
            <a:ext cx="1463040" cy="384048"/>
          </a:xfrm>
          <a:prstGeom prst="roundRect">
            <a:avLst>
              <a:gd name="adj" fmla="val 9000"/>
            </a:avLst>
          </a:prstGeom>
          <a:solidFill>
            <a:srgbClr val="4DAAFF"/>
          </a:solidFill>
          <a:ln>
            <a:noFill/>
          </a:ln>
        </p:spPr>
        <p:txBody>
          <a:bodyPr wrap="square" lIns="118872" tIns="91440" rIns="118872" bIns="9144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s-CO" sz="1100" b="1" noProof="0">
                <a:solidFill>
                  <a:srgbClr val="07133D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EN VIVO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51E3CB9-5C93-BD64-7BBD-84D1F78777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2394" y="1734312"/>
            <a:ext cx="6455840" cy="3426961"/>
          </a:xfrm>
          <a:prstGeom prst="roundRect">
            <a:avLst>
              <a:gd name="adj" fmla="val 7069"/>
            </a:avLst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47B79E76-7D12-9830-D1B0-70BD6F34BBD7}"/>
              </a:ext>
            </a:extLst>
          </p:cNvPr>
          <p:cNvSpPr txBox="1"/>
          <p:nvPr/>
        </p:nvSpPr>
        <p:spPr>
          <a:xfrm>
            <a:off x="1231958" y="1964216"/>
            <a:ext cx="1764000" cy="864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 fontAlgn="t">
              <a:lnSpc>
                <a:spcPts val="1500"/>
              </a:lnSpc>
              <a:buNone/>
            </a:pPr>
            <a:r>
              <a:rPr lang="es-419" b="1" i="0" noProof="0" err="1">
                <a:effectLst/>
                <a:latin typeface="Segoe UI" panose="020B0502040204020203" pitchFamily="34" charset="0"/>
              </a:rPr>
              <a:t>Cycle</a:t>
            </a:r>
            <a:r>
              <a:rPr lang="es-419" b="1" i="0" noProof="0">
                <a:effectLst/>
                <a:latin typeface="Segoe UI" panose="020B0502040204020203" pitchFamily="34" charset="0"/>
              </a:rPr>
              <a:t> Time por etapa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F606FBA-4ACC-61D0-4AAD-A384A7D9EDEE}"/>
              </a:ext>
            </a:extLst>
          </p:cNvPr>
          <p:cNvSpPr txBox="1"/>
          <p:nvPr/>
        </p:nvSpPr>
        <p:spPr>
          <a:xfrm>
            <a:off x="1231958" y="3160412"/>
            <a:ext cx="1764000" cy="864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 fontAlgn="t">
              <a:lnSpc>
                <a:spcPts val="1500"/>
              </a:lnSpc>
              <a:buNone/>
            </a:pPr>
            <a:r>
              <a:rPr lang="es-419" b="1" i="0" noProof="0">
                <a:effectLst/>
                <a:latin typeface="Segoe UI" panose="020B0502040204020203" pitchFamily="34" charset="0"/>
              </a:rPr>
              <a:t>Lead time </a:t>
            </a:r>
            <a:r>
              <a:rPr lang="es-419" b="1" i="0" noProof="0" err="1">
                <a:effectLst/>
                <a:latin typeface="Segoe UI" panose="020B0502040204020203" pitchFamily="34" charset="0"/>
              </a:rPr>
              <a:t>end-to-end</a:t>
            </a:r>
            <a:endParaRPr lang="es-419" b="1" i="0" noProof="0">
              <a:effectLst/>
              <a:latin typeface="Segoe UI" panose="020B0502040204020203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7F90263A-EF36-20B1-21B3-DEC73057ECAA}"/>
              </a:ext>
            </a:extLst>
          </p:cNvPr>
          <p:cNvSpPr txBox="1"/>
          <p:nvPr/>
        </p:nvSpPr>
        <p:spPr>
          <a:xfrm>
            <a:off x="1231958" y="5474147"/>
            <a:ext cx="1764000" cy="864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 fontAlgn="t">
              <a:lnSpc>
                <a:spcPts val="1500"/>
              </a:lnSpc>
              <a:buNone/>
            </a:pPr>
            <a:r>
              <a:rPr lang="es-419" b="1" i="0" noProof="0" err="1">
                <a:effectLst/>
                <a:latin typeface="Segoe UI" panose="020B0502040204020203" pitchFamily="34" charset="0"/>
              </a:rPr>
              <a:t>Troughput</a:t>
            </a:r>
            <a:r>
              <a:rPr lang="es-419" b="1" i="0" noProof="0">
                <a:effectLst/>
                <a:latin typeface="Segoe UI" panose="020B0502040204020203" pitchFamily="34" charset="0"/>
              </a:rPr>
              <a:t> 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4530558E-EBC5-7EE4-7C41-8C645A45E633}"/>
              </a:ext>
            </a:extLst>
          </p:cNvPr>
          <p:cNvSpPr txBox="1"/>
          <p:nvPr/>
        </p:nvSpPr>
        <p:spPr>
          <a:xfrm>
            <a:off x="7796390" y="1282424"/>
            <a:ext cx="34146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419" sz="2000" b="1" kern="0" spc="267" noProof="0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¿Qué significa?</a:t>
            </a:r>
            <a:endParaRPr lang="es-419" sz="2000" noProof="0">
              <a:latin typeface="Roboto" pitchFamily="2" charset="0"/>
              <a:ea typeface="Roboto" pitchFamily="2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D0675EA7-EDB5-0406-3234-AF1A05759C57}"/>
              </a:ext>
            </a:extLst>
          </p:cNvPr>
          <p:cNvSpPr txBox="1"/>
          <p:nvPr/>
        </p:nvSpPr>
        <p:spPr>
          <a:xfrm>
            <a:off x="3785840" y="1269448"/>
            <a:ext cx="34146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419" sz="2000" b="1" kern="0" spc="267" noProof="0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¿Qué mide?</a:t>
            </a:r>
            <a:endParaRPr lang="es-419" sz="2000" noProof="0">
              <a:latin typeface="Roboto" pitchFamily="2" charset="0"/>
              <a:ea typeface="Roboto" pitchFamily="2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2B4849A9-CCD2-E1F3-28C9-F108EF3EF2EA}"/>
              </a:ext>
            </a:extLst>
          </p:cNvPr>
          <p:cNvSpPr txBox="1"/>
          <p:nvPr/>
        </p:nvSpPr>
        <p:spPr>
          <a:xfrm>
            <a:off x="1035415" y="1257500"/>
            <a:ext cx="215708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419" sz="2000" b="1" kern="0" spc="267" noProof="0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Métrica </a:t>
            </a:r>
            <a:endParaRPr lang="es-419" sz="2000" noProof="0">
              <a:latin typeface="Roboto" pitchFamily="2" charset="0"/>
              <a:ea typeface="Roboto" pitchFamily="2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C193BC7B-426E-7E0B-A4C6-E1A7103A14A1}"/>
              </a:ext>
            </a:extLst>
          </p:cNvPr>
          <p:cNvSpPr txBox="1"/>
          <p:nvPr/>
        </p:nvSpPr>
        <p:spPr>
          <a:xfrm>
            <a:off x="3785840" y="1964216"/>
            <a:ext cx="3420000" cy="864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just"/>
            <a:r>
              <a:rPr lang="es-419" b="0" i="0" noProof="0">
                <a:effectLst/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Para identificar tiempos de inicio y fin de cada etapa del proceso de desarrollo </a:t>
            </a:r>
            <a:endParaRPr lang="es-419" noProof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25AF89A4-7BA6-CE84-4C0A-80E46F73D72B}"/>
              </a:ext>
            </a:extLst>
          </p:cNvPr>
          <p:cNvSpPr txBox="1"/>
          <p:nvPr/>
        </p:nvSpPr>
        <p:spPr>
          <a:xfrm>
            <a:off x="3686174" y="4338496"/>
            <a:ext cx="3420000" cy="864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just"/>
            <a:r>
              <a:rPr lang="es-419" b="0" i="0" noProof="0">
                <a:effectLst/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Para identificar tiempos de inicio y fin Sobre la Entrega de valor (</a:t>
            </a:r>
            <a:r>
              <a:rPr lang="es-419" b="0" i="0" noProof="0" err="1">
                <a:effectLst/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Feature</a:t>
            </a:r>
            <a:r>
              <a:rPr lang="es-419" b="0" i="0" noProof="0">
                <a:effectLst/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) </a:t>
            </a:r>
            <a:endParaRPr lang="es-419" noProof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BDC803B8-F76F-5D4B-3310-A1161CB85CD9}"/>
              </a:ext>
            </a:extLst>
          </p:cNvPr>
          <p:cNvSpPr txBox="1"/>
          <p:nvPr/>
        </p:nvSpPr>
        <p:spPr>
          <a:xfrm>
            <a:off x="3785840" y="5474147"/>
            <a:ext cx="3420000" cy="864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just"/>
            <a:r>
              <a:rPr lang="es-419" b="0" i="0" noProof="0">
                <a:effectLst/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Cantidad de elementos terminados en periodo </a:t>
            </a:r>
            <a:endParaRPr lang="es-419" noProof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A7A89E65-CF3F-F89F-8825-37AAD6BC1672}"/>
              </a:ext>
            </a:extLst>
          </p:cNvPr>
          <p:cNvSpPr txBox="1"/>
          <p:nvPr/>
        </p:nvSpPr>
        <p:spPr>
          <a:xfrm>
            <a:off x="7796390" y="1964216"/>
            <a:ext cx="3629025" cy="864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lang="es-419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El tiempo que se toma una etapa dentro del flujo.</a:t>
            </a:r>
            <a:endParaRPr lang="es-419" noProof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1A7CFAEF-1B9C-69F7-665C-A66D4EE18993}"/>
              </a:ext>
            </a:extLst>
          </p:cNvPr>
          <p:cNvSpPr txBox="1"/>
          <p:nvPr/>
        </p:nvSpPr>
        <p:spPr>
          <a:xfrm>
            <a:off x="7796390" y="4354222"/>
            <a:ext cx="3629025" cy="864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lang="es-419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Que tan rápido la organización entrega valor al cliente (Entrega de valor iterativa e Incremental) 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26ED4D29-EEB1-9E43-6FBF-49F6E0DFDC46}"/>
              </a:ext>
            </a:extLst>
          </p:cNvPr>
          <p:cNvSpPr txBox="1"/>
          <p:nvPr/>
        </p:nvSpPr>
        <p:spPr>
          <a:xfrm>
            <a:off x="7796390" y="5474147"/>
            <a:ext cx="3629026" cy="864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lang="es-419" noProof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Muestra la capacidad productiva del equipo </a:t>
            </a:r>
            <a:endParaRPr lang="es-419" noProof="0">
              <a:highlight>
                <a:srgbClr val="FFFF00"/>
              </a:highlight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pic>
        <p:nvPicPr>
          <p:cNvPr id="23" name="Picture 2">
            <a:extLst>
              <a:ext uri="{FF2B5EF4-FFF2-40B4-BE49-F238E27FC236}">
                <a16:creationId xmlns:a16="http://schemas.microsoft.com/office/drawing/2014/main" id="{99540A9E-3FF6-73C2-22A0-F9166EE88D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5157" y="196371"/>
            <a:ext cx="868630" cy="580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4037FE97-A6B1-7338-CF4C-15779794FF7D}"/>
              </a:ext>
            </a:extLst>
          </p:cNvPr>
          <p:cNvSpPr txBox="1"/>
          <p:nvPr/>
        </p:nvSpPr>
        <p:spPr>
          <a:xfrm>
            <a:off x="1231958" y="4317280"/>
            <a:ext cx="1764000" cy="864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 fontAlgn="t">
              <a:lnSpc>
                <a:spcPts val="1500"/>
              </a:lnSpc>
              <a:buNone/>
            </a:pPr>
            <a:r>
              <a:rPr lang="es-419" b="1" i="0" noProof="0">
                <a:effectLst/>
                <a:latin typeface="Segoe UI" panose="020B0502040204020203" pitchFamily="34" charset="0"/>
              </a:rPr>
              <a:t>Time </a:t>
            </a:r>
            <a:r>
              <a:rPr lang="es-419" b="1" i="0" noProof="0" err="1">
                <a:effectLst/>
                <a:latin typeface="Segoe UI" panose="020B0502040204020203" pitchFamily="34" charset="0"/>
              </a:rPr>
              <a:t>To</a:t>
            </a:r>
            <a:r>
              <a:rPr lang="es-419" b="1" i="0" noProof="0">
                <a:effectLst/>
                <a:latin typeface="Segoe UI" panose="020B0502040204020203" pitchFamily="34" charset="0"/>
              </a:rPr>
              <a:t> </a:t>
            </a:r>
            <a:r>
              <a:rPr lang="es-419" b="1" i="0" noProof="0" err="1">
                <a:effectLst/>
                <a:latin typeface="Segoe UI" panose="020B0502040204020203" pitchFamily="34" charset="0"/>
              </a:rPr>
              <a:t>market</a:t>
            </a:r>
            <a:r>
              <a:rPr lang="es-419" b="1" i="0" noProof="0">
                <a:effectLst/>
                <a:latin typeface="Segoe UI" panose="020B0502040204020203" pitchFamily="34" charset="0"/>
              </a:rPr>
              <a:t>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66981C9-504A-FF4E-0E9A-1EA219AEE48E}"/>
              </a:ext>
            </a:extLst>
          </p:cNvPr>
          <p:cNvSpPr txBox="1"/>
          <p:nvPr/>
        </p:nvSpPr>
        <p:spPr>
          <a:xfrm>
            <a:off x="3780447" y="3134379"/>
            <a:ext cx="3420000" cy="864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just"/>
            <a:r>
              <a:rPr lang="es-419" b="0" i="0" noProof="0">
                <a:effectLst/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Para identificar tiempos de inicio y fin Sobre la Iniciativa (Épica) </a:t>
            </a:r>
            <a:endParaRPr lang="es-419" noProof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C5FFAD5-B52C-A80F-4324-537D65D51434}"/>
              </a:ext>
            </a:extLst>
          </p:cNvPr>
          <p:cNvSpPr txBox="1"/>
          <p:nvPr/>
        </p:nvSpPr>
        <p:spPr>
          <a:xfrm>
            <a:off x="7796390" y="3134379"/>
            <a:ext cx="3629025" cy="864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lang="es-419" noProof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Que tan rápido la organización entrega valor la iniciativa </a:t>
            </a:r>
            <a:endParaRPr lang="es-419" noProof="0">
              <a:highlight>
                <a:srgbClr val="FFFF00"/>
              </a:highlight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BFBC6144-5148-4658-91F5-28EF6B3B8EA5}"/>
              </a:ext>
            </a:extLst>
          </p:cNvPr>
          <p:cNvSpPr/>
          <p:nvPr/>
        </p:nvSpPr>
        <p:spPr>
          <a:xfrm>
            <a:off x="708448" y="169530"/>
            <a:ext cx="4968108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3733" b="1" noProof="0">
                <a:solidFill>
                  <a:srgbClr val="1B2A5E"/>
                </a:solidFill>
                <a:latin typeface="Roboto Bk" pitchFamily="2" charset="0"/>
                <a:ea typeface="Roboto Bk" pitchFamily="2" charset="0"/>
                <a:cs typeface="Cambria" pitchFamily="34" charset="-120"/>
              </a:rPr>
              <a:t>Métricas</a:t>
            </a:r>
            <a:endParaRPr lang="es-419" sz="3733" noProof="0">
              <a:latin typeface="Roboto Bk" pitchFamily="2" charset="0"/>
              <a:ea typeface="Roboto Bk" pitchFamily="2" charset="0"/>
            </a:endParaRPr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5B309261-4031-867B-0306-D50DFA954F85}"/>
              </a:ext>
            </a:extLst>
          </p:cNvPr>
          <p:cNvSpPr/>
          <p:nvPr/>
        </p:nvSpPr>
        <p:spPr>
          <a:xfrm>
            <a:off x="981003" y="2948280"/>
            <a:ext cx="10229994" cy="6604"/>
          </a:xfrm>
          <a:prstGeom prst="line">
            <a:avLst/>
          </a:prstGeom>
          <a:noFill/>
          <a:ln w="15875">
            <a:solidFill>
              <a:schemeClr val="bg1">
                <a:lumMod val="85000"/>
              </a:schemeClr>
            </a:solidFill>
            <a:prstDash val="solid"/>
            <a:headEnd type="oval"/>
            <a:tailEnd type="oval"/>
          </a:ln>
        </p:spPr>
        <p:txBody>
          <a:bodyPr anchor="ctr"/>
          <a:lstStyle/>
          <a:p>
            <a:pPr algn="ctr"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4" name="Shape 3">
            <a:extLst>
              <a:ext uri="{FF2B5EF4-FFF2-40B4-BE49-F238E27FC236}">
                <a16:creationId xmlns:a16="http://schemas.microsoft.com/office/drawing/2014/main" id="{F02F4789-D7C5-7311-A2E9-7B17F4C3828D}"/>
              </a:ext>
            </a:extLst>
          </p:cNvPr>
          <p:cNvSpPr/>
          <p:nvPr/>
        </p:nvSpPr>
        <p:spPr>
          <a:xfrm>
            <a:off x="981003" y="4163763"/>
            <a:ext cx="10229994" cy="6604"/>
          </a:xfrm>
          <a:prstGeom prst="line">
            <a:avLst/>
          </a:prstGeom>
          <a:noFill/>
          <a:ln w="15875">
            <a:solidFill>
              <a:schemeClr val="bg1">
                <a:lumMod val="85000"/>
              </a:schemeClr>
            </a:solidFill>
            <a:prstDash val="solid"/>
            <a:headEnd type="oval"/>
            <a:tailEnd type="oval"/>
          </a:ln>
        </p:spPr>
        <p:txBody>
          <a:bodyPr anchor="ctr"/>
          <a:lstStyle/>
          <a:p>
            <a:pPr algn="ctr"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6" name="Shape 3">
            <a:extLst>
              <a:ext uri="{FF2B5EF4-FFF2-40B4-BE49-F238E27FC236}">
                <a16:creationId xmlns:a16="http://schemas.microsoft.com/office/drawing/2014/main" id="{DE8EADBA-CCEB-13DA-755A-8B7D390400E8}"/>
              </a:ext>
            </a:extLst>
          </p:cNvPr>
          <p:cNvSpPr/>
          <p:nvPr/>
        </p:nvSpPr>
        <p:spPr>
          <a:xfrm>
            <a:off x="981003" y="5365135"/>
            <a:ext cx="10229994" cy="6604"/>
          </a:xfrm>
          <a:prstGeom prst="line">
            <a:avLst/>
          </a:prstGeom>
          <a:noFill/>
          <a:ln w="15875">
            <a:solidFill>
              <a:schemeClr val="bg1">
                <a:lumMod val="85000"/>
              </a:schemeClr>
            </a:solidFill>
            <a:prstDash val="solid"/>
            <a:headEnd type="oval"/>
            <a:tailEnd type="oval"/>
          </a:ln>
        </p:spPr>
        <p:txBody>
          <a:bodyPr anchor="ctr"/>
          <a:lstStyle/>
          <a:p>
            <a:pPr algn="ctr"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8" name="Shape 3">
            <a:extLst>
              <a:ext uri="{FF2B5EF4-FFF2-40B4-BE49-F238E27FC236}">
                <a16:creationId xmlns:a16="http://schemas.microsoft.com/office/drawing/2014/main" id="{F7AEAC02-130F-7D57-64CD-B14A697205FD}"/>
              </a:ext>
            </a:extLst>
          </p:cNvPr>
          <p:cNvSpPr/>
          <p:nvPr/>
        </p:nvSpPr>
        <p:spPr>
          <a:xfrm>
            <a:off x="981003" y="1805129"/>
            <a:ext cx="10229994" cy="6604"/>
          </a:xfrm>
          <a:prstGeom prst="line">
            <a:avLst/>
          </a:prstGeom>
          <a:noFill/>
          <a:ln w="15875">
            <a:solidFill>
              <a:schemeClr val="bg1">
                <a:lumMod val="85000"/>
              </a:schemeClr>
            </a:solidFill>
            <a:prstDash val="solid"/>
            <a:headEnd type="oval"/>
            <a:tailEnd type="oval"/>
          </a:ln>
        </p:spPr>
        <p:txBody>
          <a:bodyPr anchor="ctr"/>
          <a:lstStyle/>
          <a:p>
            <a:pPr algn="ctr"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547396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5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4C6534-6CE1-73D6-2F3D-FA0A2AF47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43A5925-E184-E1FD-02C7-F07A659F3A3B}"/>
              </a:ext>
            </a:extLst>
          </p:cNvPr>
          <p:cNvSpPr/>
          <p:nvPr/>
        </p:nvSpPr>
        <p:spPr>
          <a:xfrm>
            <a:off x="9875520" y="4754880"/>
            <a:ext cx="3901440" cy="3901440"/>
          </a:xfrm>
          <a:prstGeom prst="ellipse">
            <a:avLst/>
          </a:prstGeom>
          <a:solidFill>
            <a:srgbClr val="2E5FA3">
              <a:alpha val="45000"/>
            </a:srgbClr>
          </a:solidFill>
          <a:ln/>
        </p:spPr>
        <p:txBody>
          <a:bodyPr/>
          <a:lstStyle/>
          <a:p>
            <a:pPr marL="0" marR="0" lvl="0" indent="0" algn="l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419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CDBE276-D65D-5E35-BE0C-BA8543819CAD}"/>
              </a:ext>
            </a:extLst>
          </p:cNvPr>
          <p:cNvSpPr/>
          <p:nvPr/>
        </p:nvSpPr>
        <p:spPr>
          <a:xfrm>
            <a:off x="218173" y="351976"/>
            <a:ext cx="10485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3733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Puntos Claves </a:t>
            </a:r>
            <a:endParaRPr kumimoji="0" lang="es-419" sz="373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0D8B192-2805-CF94-7D53-98BC152AF7D4}"/>
              </a:ext>
            </a:extLst>
          </p:cNvPr>
          <p:cNvSpPr>
            <a:spLocks noChangeAspect="1"/>
          </p:cNvSpPr>
          <p:nvPr/>
        </p:nvSpPr>
        <p:spPr>
          <a:xfrm>
            <a:off x="842886" y="1516692"/>
            <a:ext cx="576000" cy="577616"/>
          </a:xfrm>
          <a:prstGeom prst="teardrop">
            <a:avLst/>
          </a:prstGeom>
          <a:solidFill>
            <a:srgbClr val="0E9594"/>
          </a:solidFill>
          <a:ln>
            <a:solidFill>
              <a:schemeClr val="bg1"/>
            </a:solidFill>
          </a:ln>
        </p:spPr>
        <p:txBody>
          <a:bodyPr anchor="ctr"/>
          <a:lstStyle/>
          <a:p>
            <a:pPr marL="0" marR="0" lvl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2000" b="0" i="0" u="none" strike="noStrike" kern="1200" cap="none" spc="0" normalizeH="0" baseline="0" noProof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Roboto Bk" pitchFamily="2" charset="0"/>
                <a:ea typeface="Roboto Bk" pitchFamily="2" charset="0"/>
              </a:rPr>
              <a:t>1</a:t>
            </a: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786DABA6-D425-CE9E-280D-B4491743EACB}"/>
              </a:ext>
            </a:extLst>
          </p:cNvPr>
          <p:cNvSpPr/>
          <p:nvPr/>
        </p:nvSpPr>
        <p:spPr>
          <a:xfrm>
            <a:off x="842888" y="2616209"/>
            <a:ext cx="576000" cy="576000"/>
          </a:xfrm>
          <a:prstGeom prst="teardrop">
            <a:avLst/>
          </a:prstGeom>
          <a:solidFill>
            <a:srgbClr val="0E9594"/>
          </a:solidFill>
          <a:ln>
            <a:solidFill>
              <a:schemeClr val="bg1"/>
            </a:solidFill>
          </a:ln>
        </p:spPr>
        <p:txBody>
          <a:bodyPr anchor="ctr"/>
          <a:lstStyle/>
          <a:p>
            <a:pPr algn="ctr" defTabSz="1219140"/>
            <a:r>
              <a:rPr lang="es-419" sz="2000">
                <a:solidFill>
                  <a:srgbClr val="FFC000"/>
                </a:solidFill>
                <a:latin typeface="Roboto Bk" pitchFamily="2" charset="0"/>
                <a:ea typeface="Roboto Bk" pitchFamily="2" charset="0"/>
              </a:rPr>
              <a:t>2</a:t>
            </a: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29A4D4D2-6C71-E56F-CE3B-62FD992C5115}"/>
              </a:ext>
            </a:extLst>
          </p:cNvPr>
          <p:cNvSpPr/>
          <p:nvPr/>
        </p:nvSpPr>
        <p:spPr>
          <a:xfrm>
            <a:off x="842888" y="3714110"/>
            <a:ext cx="576000" cy="576000"/>
          </a:xfrm>
          <a:prstGeom prst="teardrop">
            <a:avLst/>
          </a:prstGeom>
          <a:solidFill>
            <a:srgbClr val="0E9594"/>
          </a:solidFill>
          <a:ln>
            <a:solidFill>
              <a:schemeClr val="bg1"/>
            </a:solidFill>
          </a:ln>
        </p:spPr>
        <p:txBody>
          <a:bodyPr anchor="ctr"/>
          <a:lstStyle/>
          <a:p>
            <a:pPr algn="ctr" defTabSz="1219140"/>
            <a:r>
              <a:rPr lang="es-419" sz="2000">
                <a:solidFill>
                  <a:srgbClr val="FFC000"/>
                </a:solidFill>
                <a:latin typeface="Roboto Bk" pitchFamily="2" charset="0"/>
                <a:ea typeface="Roboto Bk" pitchFamily="2" charset="0"/>
              </a:rPr>
              <a:t>3</a:t>
            </a: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4E628C18-4E74-2859-5119-3F2C5A35AE84}"/>
              </a:ext>
            </a:extLst>
          </p:cNvPr>
          <p:cNvSpPr/>
          <p:nvPr/>
        </p:nvSpPr>
        <p:spPr>
          <a:xfrm>
            <a:off x="842888" y="4812012"/>
            <a:ext cx="576000" cy="576000"/>
          </a:xfrm>
          <a:prstGeom prst="teardrop">
            <a:avLst/>
          </a:prstGeom>
          <a:solidFill>
            <a:srgbClr val="0E9594"/>
          </a:solidFill>
          <a:ln>
            <a:solidFill>
              <a:schemeClr val="bg1"/>
            </a:solidFill>
          </a:ln>
        </p:spPr>
        <p:txBody>
          <a:bodyPr anchor="ctr"/>
          <a:lstStyle/>
          <a:p>
            <a:pPr algn="ctr" defTabSz="1219140"/>
            <a:r>
              <a:rPr lang="es-419" sz="2000">
                <a:solidFill>
                  <a:srgbClr val="FFC000"/>
                </a:solidFill>
                <a:latin typeface="Roboto Bk" pitchFamily="2" charset="0"/>
                <a:ea typeface="Roboto Bk" pitchFamily="2" charset="0"/>
              </a:rPr>
              <a:t>4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C9613C8-5C61-38A3-AB59-9AF312D432A9}"/>
              </a:ext>
            </a:extLst>
          </p:cNvPr>
          <p:cNvSpPr txBox="1"/>
          <p:nvPr/>
        </p:nvSpPr>
        <p:spPr>
          <a:xfrm>
            <a:off x="1539212" y="1499500"/>
            <a:ext cx="867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419" sz="16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Cuando una persona tiene asignación en una </a:t>
            </a:r>
            <a:r>
              <a:rPr lang="es-419" sz="1600">
                <a:solidFill>
                  <a:srgbClr val="FFC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célula de negocio </a:t>
            </a:r>
            <a:r>
              <a:rPr lang="es-419" sz="16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y a su vez temas en el </a:t>
            </a:r>
            <a:r>
              <a:rPr lang="es-419" sz="1600">
                <a:solidFill>
                  <a:srgbClr val="FFC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equipo interno </a:t>
            </a:r>
            <a:r>
              <a:rPr lang="es-419" sz="16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al que pertenece, debe interactuar con ambos tableros en </a:t>
            </a:r>
            <a:r>
              <a:rPr lang="es-419" sz="160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azure</a:t>
            </a:r>
            <a:r>
              <a:rPr lang="es-419" sz="16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  <a:endParaRPr lang="es-419" sz="1600" noProof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56D59A29-B265-6AE2-AF8C-0E65829BF952}"/>
              </a:ext>
            </a:extLst>
          </p:cNvPr>
          <p:cNvSpPr txBox="1"/>
          <p:nvPr/>
        </p:nvSpPr>
        <p:spPr>
          <a:xfrm>
            <a:off x="1539212" y="2611283"/>
            <a:ext cx="867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ES"/>
            </a:defPPr>
            <a:lvl1pPr algn="just">
              <a:defRPr sz="16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s-419"/>
              <a:t>Los tiempos de las métricas son calculados con base en las fechas de los </a:t>
            </a:r>
            <a:r>
              <a:rPr lang="es-419" err="1"/>
              <a:t>work</a:t>
            </a:r>
            <a:r>
              <a:rPr lang="es-419"/>
              <a:t> ítems, por lo tanto es importante hacer el </a:t>
            </a:r>
            <a:r>
              <a:rPr lang="es-419">
                <a:solidFill>
                  <a:srgbClr val="FFC000"/>
                </a:solidFill>
              </a:rPr>
              <a:t>cambio de estados </a:t>
            </a:r>
            <a:r>
              <a:rPr lang="es-419"/>
              <a:t>en cada etapa en el tiempo adecuado.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AA869D55-6706-BA02-33DE-E6C0AE18F3B6}"/>
              </a:ext>
            </a:extLst>
          </p:cNvPr>
          <p:cNvSpPr txBox="1"/>
          <p:nvPr/>
        </p:nvSpPr>
        <p:spPr>
          <a:xfrm>
            <a:off x="1539212" y="4807625"/>
            <a:ext cx="8676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s-ES"/>
            </a:defPPr>
            <a:lvl1pPr algn="just">
              <a:defRPr sz="15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s-419" sz="1600"/>
              <a:t>Si tienes dudas sobre el </a:t>
            </a:r>
            <a:r>
              <a:rPr lang="es-419" sz="1600">
                <a:solidFill>
                  <a:srgbClr val="FFC000"/>
                </a:solidFill>
              </a:rPr>
              <a:t>manejo de Azure DevOps </a:t>
            </a:r>
            <a:r>
              <a:rPr lang="es-419" sz="1600"/>
              <a:t>y el manejo de tableros  Azure, comunícate con el equipo de Diseño organizacional y agilidad </a:t>
            </a: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641B9276-F1FE-9CFC-BDA8-C5DF00DC60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83784"/>
          <a:stretch>
            <a:fillRect/>
          </a:stretch>
        </p:blipFill>
        <p:spPr>
          <a:xfrm>
            <a:off x="10811410" y="135339"/>
            <a:ext cx="1200604" cy="797349"/>
          </a:xfrm>
          <a:prstGeom prst="rect">
            <a:avLst/>
          </a:prstGeom>
        </p:spPr>
      </p:pic>
      <p:sp>
        <p:nvSpPr>
          <p:cNvPr id="26" name="CuadroTexto 25">
            <a:extLst>
              <a:ext uri="{FF2B5EF4-FFF2-40B4-BE49-F238E27FC236}">
                <a16:creationId xmlns:a16="http://schemas.microsoft.com/office/drawing/2014/main" id="{EE58E1B0-307C-E21C-9678-EE60306E4EDA}"/>
              </a:ext>
            </a:extLst>
          </p:cNvPr>
          <p:cNvSpPr txBox="1"/>
          <p:nvPr/>
        </p:nvSpPr>
        <p:spPr>
          <a:xfrm>
            <a:off x="1539212" y="3723066"/>
            <a:ext cx="8676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s-ES"/>
            </a:defPPr>
            <a:lvl1pPr algn="just">
              <a:defRPr sz="16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s-419"/>
              <a:t>Si quieres profundizar o tienes dudas sobre alguna </a:t>
            </a:r>
            <a:r>
              <a:rPr lang="es-419">
                <a:solidFill>
                  <a:srgbClr val="FFC000"/>
                </a:solidFill>
              </a:rPr>
              <a:t>etapa del flujo o sobre los estado </a:t>
            </a:r>
            <a:r>
              <a:rPr lang="es-419"/>
              <a:t>de los Work Ítems en </a:t>
            </a:r>
            <a:r>
              <a:rPr lang="es-419" err="1"/>
              <a:t>azure</a:t>
            </a:r>
            <a:r>
              <a:rPr lang="es-419"/>
              <a:t>, por favor a cada responsables que vimos en la explicación del proceso .</a:t>
            </a:r>
          </a:p>
        </p:txBody>
      </p:sp>
    </p:spTree>
    <p:extLst>
      <p:ext uri="{BB962C8B-B14F-4D97-AF65-F5344CB8AC3E}">
        <p14:creationId xmlns:p14="http://schemas.microsoft.com/office/powerpoint/2010/main" val="304508399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E3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CD8BE4-930E-7806-7C43-33029C4D5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95A9AAB-D70F-5262-FAA3-897A1DEC0E85}"/>
              </a:ext>
            </a:extLst>
          </p:cNvPr>
          <p:cNvSpPr/>
          <p:nvPr/>
        </p:nvSpPr>
        <p:spPr>
          <a:xfrm>
            <a:off x="11338560" y="6400800"/>
            <a:ext cx="73152" cy="73152"/>
          </a:xfrm>
          <a:prstGeom prst="ellipse">
            <a:avLst/>
          </a:prstGeom>
          <a:solidFill>
            <a:srgbClr val="00C9FF">
              <a:alpha val="6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419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8FE478A-8E62-8F6A-B952-B996A1F596B5}"/>
              </a:ext>
            </a:extLst>
          </p:cNvPr>
          <p:cNvSpPr/>
          <p:nvPr/>
        </p:nvSpPr>
        <p:spPr>
          <a:xfrm>
            <a:off x="11704320" y="6400800"/>
            <a:ext cx="73152" cy="73152"/>
          </a:xfrm>
          <a:prstGeom prst="ellipse">
            <a:avLst/>
          </a:prstGeom>
          <a:solidFill>
            <a:srgbClr val="00C9FF">
              <a:alpha val="6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419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B5C9AFC-4200-F532-3CD3-B82CB9B35AAB}"/>
              </a:ext>
            </a:extLst>
          </p:cNvPr>
          <p:cNvSpPr/>
          <p:nvPr/>
        </p:nvSpPr>
        <p:spPr>
          <a:xfrm>
            <a:off x="11338560" y="6126480"/>
            <a:ext cx="73152" cy="73152"/>
          </a:xfrm>
          <a:prstGeom prst="ellipse">
            <a:avLst/>
          </a:prstGeom>
          <a:solidFill>
            <a:srgbClr val="00C9FF">
              <a:alpha val="6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419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EF3E17A-5B0E-6396-F2C3-B5406D1BB052}"/>
              </a:ext>
            </a:extLst>
          </p:cNvPr>
          <p:cNvSpPr/>
          <p:nvPr/>
        </p:nvSpPr>
        <p:spPr>
          <a:xfrm>
            <a:off x="11704320" y="6126480"/>
            <a:ext cx="73152" cy="73152"/>
          </a:xfrm>
          <a:prstGeom prst="ellipse">
            <a:avLst/>
          </a:prstGeom>
          <a:solidFill>
            <a:srgbClr val="00C9FF">
              <a:alpha val="6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419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EDCFE5C5-48A1-8822-592E-27F3795E5093}"/>
              </a:ext>
            </a:extLst>
          </p:cNvPr>
          <p:cNvSpPr/>
          <p:nvPr/>
        </p:nvSpPr>
        <p:spPr>
          <a:xfrm>
            <a:off x="10972800" y="6400800"/>
            <a:ext cx="73152" cy="73152"/>
          </a:xfrm>
          <a:prstGeom prst="ellipse">
            <a:avLst/>
          </a:prstGeom>
          <a:solidFill>
            <a:srgbClr val="00C9FF">
              <a:alpha val="6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419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16257C1F-6C20-43D6-8E1E-B7DD6FEF7706}"/>
              </a:ext>
            </a:extLst>
          </p:cNvPr>
          <p:cNvSpPr/>
          <p:nvPr/>
        </p:nvSpPr>
        <p:spPr>
          <a:xfrm>
            <a:off x="10972800" y="6126480"/>
            <a:ext cx="73152" cy="73152"/>
          </a:xfrm>
          <a:prstGeom prst="ellipse">
            <a:avLst/>
          </a:prstGeom>
          <a:solidFill>
            <a:srgbClr val="00C9FF">
              <a:alpha val="6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419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47DB1FF2-E29A-B5B9-2E93-A0C18B64FAFB}"/>
              </a:ext>
            </a:extLst>
          </p:cNvPr>
          <p:cNvSpPr/>
          <p:nvPr/>
        </p:nvSpPr>
        <p:spPr>
          <a:xfrm>
            <a:off x="11338560" y="5852160"/>
            <a:ext cx="73152" cy="73152"/>
          </a:xfrm>
          <a:prstGeom prst="ellipse">
            <a:avLst/>
          </a:prstGeom>
          <a:solidFill>
            <a:srgbClr val="00C9FF">
              <a:alpha val="6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419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6DE40952-0418-CC55-E9D3-D4630C680363}"/>
              </a:ext>
            </a:extLst>
          </p:cNvPr>
          <p:cNvSpPr/>
          <p:nvPr/>
        </p:nvSpPr>
        <p:spPr>
          <a:xfrm>
            <a:off x="11704320" y="5852160"/>
            <a:ext cx="73152" cy="73152"/>
          </a:xfrm>
          <a:prstGeom prst="ellipse">
            <a:avLst/>
          </a:prstGeom>
          <a:solidFill>
            <a:srgbClr val="00C9FF">
              <a:alpha val="6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419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5BC9988C-C0AF-D85D-E2D6-0880BCC3AEEC}"/>
              </a:ext>
            </a:extLst>
          </p:cNvPr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C9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419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DFBCB160-2DF9-7EF0-5A52-FE7E5174FCA1}"/>
              </a:ext>
            </a:extLst>
          </p:cNvPr>
          <p:cNvSpPr/>
          <p:nvPr/>
        </p:nvSpPr>
        <p:spPr>
          <a:xfrm>
            <a:off x="1389333" y="2237867"/>
            <a:ext cx="8476562" cy="17108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6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Calibri" pitchFamily="34" charset="-120"/>
              </a:rPr>
              <a:t>¡</a:t>
            </a:r>
            <a:r>
              <a:rPr lang="es-419" sz="6000" b="1">
                <a:solidFill>
                  <a:srgbClr val="FFFFFF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Queremos conocer tú opinión sobre la sesión!</a:t>
            </a:r>
            <a:endParaRPr kumimoji="0" lang="es-419" sz="6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pic>
        <p:nvPicPr>
          <p:cNvPr id="29" name="Imagen 28">
            <a:extLst>
              <a:ext uri="{FF2B5EF4-FFF2-40B4-BE49-F238E27FC236}">
                <a16:creationId xmlns:a16="http://schemas.microsoft.com/office/drawing/2014/main" id="{1B1BAD3E-2C2A-98DA-A6D5-7E4A844C48E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83784"/>
          <a:stretch>
            <a:fillRect/>
          </a:stretch>
        </p:blipFill>
        <p:spPr>
          <a:xfrm>
            <a:off x="10811410" y="135339"/>
            <a:ext cx="1200604" cy="797349"/>
          </a:xfrm>
          <a:prstGeom prst="rect">
            <a:avLst/>
          </a:prstGeom>
        </p:spPr>
      </p:pic>
      <p:sp>
        <p:nvSpPr>
          <p:cNvPr id="16" name="CuadroTexto 15">
            <a:hlinkClick r:id="rId4"/>
            <a:extLst>
              <a:ext uri="{FF2B5EF4-FFF2-40B4-BE49-F238E27FC236}">
                <a16:creationId xmlns:a16="http://schemas.microsoft.com/office/drawing/2014/main" id="{B34F75DD-F4CD-8192-EBC4-BA292DBD5E14}"/>
              </a:ext>
            </a:extLst>
          </p:cNvPr>
          <p:cNvSpPr txBox="1"/>
          <p:nvPr/>
        </p:nvSpPr>
        <p:spPr>
          <a:xfrm>
            <a:off x="1389333" y="4448076"/>
            <a:ext cx="3702431" cy="578882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s-419" sz="2800" b="1">
                <a:solidFill>
                  <a:srgbClr val="FFC000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Ingresa aquí</a:t>
            </a:r>
          </a:p>
        </p:txBody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03315774-1864-EA9B-DC9E-D8C138472303}"/>
              </a:ext>
            </a:extLst>
          </p:cNvPr>
          <p:cNvSpPr/>
          <p:nvPr/>
        </p:nvSpPr>
        <p:spPr>
          <a:xfrm>
            <a:off x="1389333" y="1218261"/>
            <a:ext cx="4177679" cy="712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3600" i="0" u="none" strike="noStrike" kern="1200" cap="none" spc="0" normalizeH="0" baseline="0" noProof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Ayúdanos a mejorar</a:t>
            </a:r>
          </a:p>
        </p:txBody>
      </p:sp>
    </p:spTree>
    <p:extLst>
      <p:ext uri="{BB962C8B-B14F-4D97-AF65-F5344CB8AC3E}">
        <p14:creationId xmlns:p14="http://schemas.microsoft.com/office/powerpoint/2010/main" val="58124882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F5FD0307304214FB5CD3ADFC21A5AFE" ma:contentTypeVersion="18" ma:contentTypeDescription="Crear nuevo documento." ma:contentTypeScope="" ma:versionID="63c7afbcbcd85ba52e1cc77ee02c33ee">
  <xsd:schema xmlns:xsd="http://www.w3.org/2001/XMLSchema" xmlns:xs="http://www.w3.org/2001/XMLSchema" xmlns:p="http://schemas.microsoft.com/office/2006/metadata/properties" xmlns:ns2="641c25db-f016-4914-8ea0-1a2c022779db" xmlns:ns3="311d0862-5dc9-4442-ab80-e2bd269f3cfd" targetNamespace="http://schemas.microsoft.com/office/2006/metadata/properties" ma:root="true" ma:fieldsID="c63bdff702f621004473b594326d6ef3" ns2:_="" ns3:_="">
    <xsd:import namespace="641c25db-f016-4914-8ea0-1a2c022779db"/>
    <xsd:import namespace="311d0862-5dc9-4442-ab80-e2bd269f3cf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  <xsd:element ref="ns2:_Flow_SignoffStatu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1c25db-f016-4914-8ea0-1a2c022779d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19" nillable="true" ma:taxonomy="true" ma:internalName="lcf76f155ced4ddcb4097134ff3c332f" ma:taxonomyFieldName="MediaServiceImageTags" ma:displayName="Etiquetas de imagen" ma:readOnly="false" ma:fieldId="{5cf76f15-5ced-4ddc-b409-7134ff3c332f}" ma:taxonomyMulti="true" ma:sspId="76691495-65bb-4c78-877a-9d1104d2b57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Flow_SignoffStatus" ma:index="23" nillable="true" ma:displayName="Estado de aprobación" ma:internalName="Estado_x0020_de_x0020_aprobaci_x00f3_n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1d0862-5dc9-4442-ab80-e2bd269f3cfd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c2787e1d-ca23-47ec-a0b5-183214928c3f}" ma:internalName="TaxCatchAll" ma:showField="CatchAllData" ma:web="311d0862-5dc9-4442-ab80-e2bd269f3cf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41c25db-f016-4914-8ea0-1a2c022779db">
      <Terms xmlns="http://schemas.microsoft.com/office/infopath/2007/PartnerControls"/>
    </lcf76f155ced4ddcb4097134ff3c332f>
    <TaxCatchAll xmlns="311d0862-5dc9-4442-ab80-e2bd269f3cfd" xsi:nil="true"/>
    <_Flow_SignoffStatus xmlns="641c25db-f016-4914-8ea0-1a2c022779db" xsi:nil="true"/>
  </documentManagement>
</p:properties>
</file>

<file path=customXml/itemProps1.xml><?xml version="1.0" encoding="utf-8"?>
<ds:datastoreItem xmlns:ds="http://schemas.openxmlformats.org/officeDocument/2006/customXml" ds:itemID="{B48A1727-0026-4B81-BC66-EEBE0682B56A}">
  <ds:schemaRefs>
    <ds:schemaRef ds:uri="311d0862-5dc9-4442-ab80-e2bd269f3cfd"/>
    <ds:schemaRef ds:uri="641c25db-f016-4914-8ea0-1a2c022779d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9B6D6EB5-F5FC-4465-930A-9BD3DF979AD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20C35C8-FB52-4885-BCCE-DD9624B033D3}">
  <ds:schemaRefs>
    <ds:schemaRef ds:uri="http://purl.org/dc/terms/"/>
    <ds:schemaRef ds:uri="http://schemas.microsoft.com/office/2006/metadata/properties"/>
    <ds:schemaRef ds:uri="http://schemas.microsoft.com/office/infopath/2007/PartnerControls"/>
    <ds:schemaRef ds:uri="http://purl.org/dc/elements/1.1/"/>
    <ds:schemaRef ds:uri="http://schemas.openxmlformats.org/package/2006/metadata/core-properties"/>
    <ds:schemaRef ds:uri="http://purl.org/dc/dcmitype/"/>
    <ds:schemaRef ds:uri="http://schemas.microsoft.com/office/2006/documentManagement/types"/>
    <ds:schemaRef ds:uri="311d0862-5dc9-4442-ab80-e2bd269f3cfd"/>
    <ds:schemaRef ds:uri="641c25db-f016-4914-8ea0-1a2c022779db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5337</Words>
  <Application>Microsoft Office PowerPoint</Application>
  <PresentationFormat>Panorámica</PresentationFormat>
  <Paragraphs>941</Paragraphs>
  <Slides>34</Slides>
  <Notes>24</Notes>
  <HiddenSlides>11</HiddenSlides>
  <MMClips>0</MMClips>
  <ScaleCrop>false</ScaleCrop>
  <HeadingPairs>
    <vt:vector size="6" baseType="variant">
      <vt:variant>
        <vt:lpstr>Fuentes usadas</vt:lpstr>
      </vt:variant>
      <vt:variant>
        <vt:i4>13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34</vt:i4>
      </vt:variant>
    </vt:vector>
  </HeadingPairs>
  <TitlesOfParts>
    <vt:vector size="49" baseType="lpstr">
      <vt:lpstr>Aptos</vt:lpstr>
      <vt:lpstr>Aptos Display</vt:lpstr>
      <vt:lpstr>Aptos Narrow</vt:lpstr>
      <vt:lpstr>Arial</vt:lpstr>
      <vt:lpstr>Calibri</vt:lpstr>
      <vt:lpstr>Roboto</vt:lpstr>
      <vt:lpstr>Roboto Bk</vt:lpstr>
      <vt:lpstr>Roboto Black</vt:lpstr>
      <vt:lpstr>Roboto Condensed</vt:lpstr>
      <vt:lpstr>Roboto Condensed Light</vt:lpstr>
      <vt:lpstr>Segoe UI</vt:lpstr>
      <vt:lpstr>Symbol</vt:lpstr>
      <vt:lpstr>Wingdings</vt:lpstr>
      <vt:lpstr>Tema de Office</vt:lpstr>
      <vt:lpstr>1_Office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Luisa Fernanda Mejia Gallego</dc:creator>
  <cp:lastModifiedBy>Estiben Alexander Licona Urrego</cp:lastModifiedBy>
  <cp:revision>1</cp:revision>
  <dcterms:created xsi:type="dcterms:W3CDTF">2026-05-31T11:33:32Z</dcterms:created>
  <dcterms:modified xsi:type="dcterms:W3CDTF">2026-09-16T15:11:39Z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0x010100DF5FD0307304214FB5CD3ADFC21A5AFE</vt:lpwstr>
  </property>
  <property fmtid="{D5CDD505-2E9C-101B-9397-08002B2CF9AE}" pid="3" name="MediaServiceImageTags">
    <vt:lpwstr/>
  </property>
  <property fmtid="{D5CDD505-2E9C-101B-9397-08002B2CF9AE}" pid="4" name="MSIP_Label_d8f7f365-b427-4282-afe7-7dfd95b65c6f_Name">
    <vt:lpwstr>slinternaEmpleados</vt:lpwstr>
  </property>
  <property fmtid="{D5CDD505-2E9C-101B-9397-08002B2CF9AE}" pid="5" name="ClassificationContentMarkingFooterText">
    <vt:lpwstr>Este documento es propiedad de Tuya S.A. Su contenido es confidencial y está protegido por las políticas de seguridad de la compañía. El uso indebido, reproducción o divulgación no autorizada está estrictamente prohibido.</vt:lpwstr>
  </property>
  <property fmtid="{D5CDD505-2E9C-101B-9397-08002B2CF9AE}" pid="6" name="MSIP_Label_d8f7f365-b427-4282-afe7-7dfd95b65c6f_Enabled">
    <vt:lpwstr>true</vt:lpwstr>
  </property>
  <property fmtid="{D5CDD505-2E9C-101B-9397-08002B2CF9AE}" pid="7" name="MSIP_Label_d8f7f365-b427-4282-afe7-7dfd95b65c6f_SetDate">
    <vt:lpwstr>2026-06-24T18:51:43Z</vt:lpwstr>
  </property>
  <property fmtid="{D5CDD505-2E9C-101B-9397-08002B2CF9AE}" pid="8" name="ClassificationContentMarkingFooterLocations">
    <vt:lpwstr>Tema de Office:8\1_Office Theme:3</vt:lpwstr>
  </property>
  <property fmtid="{D5CDD505-2E9C-101B-9397-08002B2CF9AE}" pid="9" name="MSIP_Label_d8f7f365-b427-4282-afe7-7dfd95b65c6f_SiteId">
    <vt:lpwstr>ccf84c1f-f8cb-4f9f-9b55-52ebf4269636</vt:lpwstr>
  </property>
  <property fmtid="{D5CDD505-2E9C-101B-9397-08002B2CF9AE}" pid="10" name="MSIP_Label_d8f7f365-b427-4282-afe7-7dfd95b65c6f_ContentBits">
    <vt:lpwstr>2</vt:lpwstr>
  </property>
  <property fmtid="{D5CDD505-2E9C-101B-9397-08002B2CF9AE}" pid="11" name="MSIP_Label_d8f7f365-b427-4282-afe7-7dfd95b65c6f_Method">
    <vt:lpwstr>Standard</vt:lpwstr>
  </property>
  <property fmtid="{D5CDD505-2E9C-101B-9397-08002B2CF9AE}" pid="12" name="MSIP_Label_d8f7f365-b427-4282-afe7-7dfd95b65c6f_Tag">
    <vt:lpwstr>10, 3, 0, 1</vt:lpwstr>
  </property>
  <property fmtid="{D5CDD505-2E9C-101B-9397-08002B2CF9AE}" pid="13" name="MSIP_Label_d8f7f365-b427-4282-afe7-7dfd95b65c6f_ActionId">
    <vt:lpwstr>def344a5-363b-4ca7-8785-9d036c0dc52e</vt:lpwstr>
  </property>
</Properties>
</file>