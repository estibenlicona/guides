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147483634" r:id="rId2"/>
    <p:sldId id="306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0E1A"/>
    <a:srgbClr val="F0EEE9"/>
    <a:srgbClr val="002060"/>
    <a:srgbClr val="5162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17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EFFFF-56EC-4DE9-BF98-EFB986284DE3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0754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71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7220" y="9779508"/>
            <a:ext cx="9601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481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Tuya S.A. · Evolución hacia Ingeniería de Plataforma</a:t>
            </a:r>
            <a:endParaRPr lang="en-US" sz="1200"/>
          </a:p>
        </p:txBody>
      </p:sp>
      <p:sp>
        <p:nvSpPr>
          <p:cNvPr id="3" name="Shape 1"/>
          <p:cNvSpPr/>
          <p:nvPr/>
        </p:nvSpPr>
        <p:spPr>
          <a:xfrm>
            <a:off x="617220" y="9628632"/>
            <a:ext cx="17048988" cy="0"/>
          </a:xfrm>
          <a:prstGeom prst="line">
            <a:avLst/>
          </a:prstGeom>
          <a:noFill/>
          <a:ln w="7620">
            <a:solidFill>
              <a:srgbClr val="203167"/>
            </a:solidFill>
            <a:prstDash val="solid"/>
          </a:ln>
        </p:spPr>
        <p:txBody>
          <a:bodyPr/>
          <a:lstStyle/>
          <a:p>
            <a:endParaRPr lang="es-CO" sz="27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802100" y="9779508"/>
            <a:ext cx="754380" cy="24688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90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5B4DB86-CF4C-5361-865A-C4921E152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95B1E-8C55-4E63-8227-A9EF2FF6EBFE}" type="datetimeFigureOut">
              <a:rPr lang="es-CO" smtClean="0"/>
              <a:t>8/09/2026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7B878CE-AC3B-56F8-7E94-A6F1A8485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5FA178-0B5B-D57C-4EE9-6488F1AE1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AFA4-4218-4F10-8756-B8A9802CA4A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103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YA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" y="521208"/>
            <a:ext cx="16774668" cy="0"/>
          </a:xfrm>
          <a:prstGeom prst="line">
            <a:avLst/>
          </a:prstGeom>
          <a:noFill/>
          <a:ln w="10160">
            <a:solidFill>
              <a:srgbClr val="DDD8C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795528" y="164592"/>
            <a:ext cx="4800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95">
                <a:solidFill>
                  <a:srgbClr val="867F71"/>
                </a:solidFill>
              </a:rPr>
              <a:t>TUYA  |  EVOLUCIÓN DE TI</a:t>
            </a:r>
            <a:endParaRPr lang="en-US" sz="1200"/>
          </a:p>
        </p:txBody>
      </p:sp>
      <p:sp>
        <p:nvSpPr>
          <p:cNvPr id="4" name="Text 2"/>
          <p:cNvSpPr/>
          <p:nvPr/>
        </p:nvSpPr>
        <p:spPr>
          <a:xfrm>
            <a:off x="14470380" y="164592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65">
                <a:solidFill>
                  <a:srgbClr val="867F71"/>
                </a:solidFill>
              </a:rPr>
              <a:t>COMITÉ DE PRESIDENCIA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213580" y="9820656"/>
            <a:ext cx="1200000" cy="45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867F7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86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17220" y="9628632"/>
            <a:ext cx="17048988" cy="0"/>
          </a:xfrm>
          <a:prstGeom prst="line">
            <a:avLst/>
          </a:prstGeom>
          <a:noFill/>
          <a:ln w="762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s-CO" sz="27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802100" y="9779508"/>
            <a:ext cx="754380" cy="24688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230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Eyebrow"/>
          <p:cNvSpPr/>
          <p:nvPr/>
        </p:nvSpPr>
        <p:spPr>
          <a:xfrm>
            <a:off x="822960" y="48006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2100" b="1" kern="0" spc="240" dirty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CICLO DE DESARROLLO ASISTIDO POR IA</a:t>
            </a:r>
          </a:p>
        </p:txBody>
      </p:sp>
      <p:sp>
        <p:nvSpPr>
          <p:cNvPr id="3" name="Titulo"/>
          <p:cNvSpPr/>
          <p:nvPr/>
        </p:nvSpPr>
        <p:spPr>
          <a:xfrm>
            <a:off x="822960" y="987552"/>
            <a:ext cx="16596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s-CO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 IA pasa de casos puntuales a capacidad instalada</a:t>
            </a:r>
          </a:p>
        </p:txBody>
      </p:sp>
      <p:sp>
        <p:nvSpPr>
          <p:cNvPr id="4" name="Bajada"/>
          <p:cNvSpPr/>
          <p:nvPr/>
        </p:nvSpPr>
        <p:spPr>
          <a:xfrm>
            <a:off x="822960" y="1824228"/>
            <a:ext cx="16459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 prueba de concepto ya cuantifica el ahorro; el piloto con células lo lleva al ciclo completo de Desarrollo y Calidad.</a:t>
            </a:r>
          </a:p>
        </p:txBody>
      </p:sp>
      <p:sp>
        <p:nvSpPr>
          <p:cNvPr id="5" name="Circulo 1"/>
          <p:cNvSpPr/>
          <p:nvPr/>
        </p:nvSpPr>
        <p:spPr>
          <a:xfrm>
            <a:off x="2972562" y="256032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Num 1"/>
          <p:cNvSpPr/>
          <p:nvPr/>
        </p:nvSpPr>
        <p:spPr>
          <a:xfrm>
            <a:off x="2972562" y="2761488"/>
            <a:ext cx="850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</a:t>
            </a:r>
          </a:p>
        </p:txBody>
      </p:sp>
      <p:sp>
        <p:nvSpPr>
          <p:cNvPr id="7" name="Circulo 2"/>
          <p:cNvSpPr/>
          <p:nvPr/>
        </p:nvSpPr>
        <p:spPr>
          <a:xfrm>
            <a:off x="8716518" y="256032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Num 2"/>
          <p:cNvSpPr/>
          <p:nvPr/>
        </p:nvSpPr>
        <p:spPr>
          <a:xfrm>
            <a:off x="8716518" y="2761488"/>
            <a:ext cx="850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2</a:t>
            </a:r>
          </a:p>
        </p:txBody>
      </p:sp>
      <p:sp>
        <p:nvSpPr>
          <p:cNvPr id="9" name="Circulo 3"/>
          <p:cNvSpPr/>
          <p:nvPr/>
        </p:nvSpPr>
        <p:spPr>
          <a:xfrm>
            <a:off x="14460474" y="2560320"/>
            <a:ext cx="850392" cy="850392"/>
          </a:xfrm>
          <a:prstGeom prst="ellipse">
            <a:avLst/>
          </a:prstGeom>
          <a:solidFill>
            <a:srgbClr val="2B4CD9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Num 3"/>
          <p:cNvSpPr/>
          <p:nvPr/>
        </p:nvSpPr>
        <p:spPr>
          <a:xfrm>
            <a:off x="14460474" y="2761488"/>
            <a:ext cx="850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2400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3</a:t>
            </a:r>
          </a:p>
        </p:txBody>
      </p:sp>
      <p:sp>
        <p:nvSpPr>
          <p:cNvPr id="11" name="Etiqueta 1"/>
          <p:cNvSpPr/>
          <p:nvPr/>
        </p:nvSpPr>
        <p:spPr>
          <a:xfrm>
            <a:off x="754380" y="3520440"/>
            <a:ext cx="528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SITUACIÓN ACTUAL</a:t>
            </a:r>
          </a:p>
        </p:txBody>
      </p:sp>
      <p:sp>
        <p:nvSpPr>
          <p:cNvPr id="12" name="Etiqueta 2"/>
          <p:cNvSpPr/>
          <p:nvPr/>
        </p:nvSpPr>
        <p:spPr>
          <a:xfrm>
            <a:off x="6498336" y="3520440"/>
            <a:ext cx="528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 DE MEJORA</a:t>
            </a:r>
          </a:p>
        </p:txBody>
      </p:sp>
      <p:sp>
        <p:nvSpPr>
          <p:cNvPr id="13" name="Etiqueta 3"/>
          <p:cNvSpPr/>
          <p:nvPr/>
        </p:nvSpPr>
        <p:spPr>
          <a:xfrm>
            <a:off x="12242292" y="3520440"/>
            <a:ext cx="528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165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TRANSFORMACIÓN</a:t>
            </a:r>
          </a:p>
        </p:txBody>
      </p:sp>
      <p:sp>
        <p:nvSpPr>
          <p:cNvPr id="14" name="Tarjeta 1"/>
          <p:cNvSpPr/>
          <p:nvPr/>
        </p:nvSpPr>
        <p:spPr>
          <a:xfrm>
            <a:off x="754380" y="4023360"/>
            <a:ext cx="5286756" cy="5120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D6C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arjeta 2"/>
          <p:cNvSpPr/>
          <p:nvPr/>
        </p:nvSpPr>
        <p:spPr>
          <a:xfrm>
            <a:off x="6498336" y="4023360"/>
            <a:ext cx="5286756" cy="5120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D6C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arjeta 3"/>
          <p:cNvSpPr/>
          <p:nvPr/>
        </p:nvSpPr>
        <p:spPr>
          <a:xfrm>
            <a:off x="12242292" y="4023360"/>
            <a:ext cx="5286756" cy="5120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D6C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Punto 1a"/>
          <p:cNvSpPr/>
          <p:nvPr/>
        </p:nvSpPr>
        <p:spPr>
          <a:xfrm>
            <a:off x="1211580" y="4777740"/>
            <a:ext cx="137160" cy="137160"/>
          </a:xfrm>
          <a:prstGeom prst="ellipse">
            <a:avLst/>
          </a:prstGeom>
          <a:solidFill>
            <a:srgbClr val="2B4CD9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o 1a"/>
          <p:cNvSpPr/>
          <p:nvPr/>
        </p:nvSpPr>
        <p:spPr>
          <a:xfrm>
            <a:off x="1485900" y="4663440"/>
            <a:ext cx="4098036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Alta carga en desarrollo y calidad</a:t>
            </a:r>
          </a:p>
        </p:txBody>
      </p:sp>
      <p:sp>
        <p:nvSpPr>
          <p:cNvPr id="19" name="Punto 1b"/>
          <p:cNvSpPr/>
          <p:nvPr/>
        </p:nvSpPr>
        <p:spPr>
          <a:xfrm>
            <a:off x="1211580" y="6377940"/>
            <a:ext cx="137160" cy="137160"/>
          </a:xfrm>
          <a:prstGeom prst="ellipse">
            <a:avLst/>
          </a:prstGeom>
          <a:solidFill>
            <a:srgbClr val="2B4CD9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o 1b"/>
          <p:cNvSpPr/>
          <p:nvPr/>
        </p:nvSpPr>
        <p:spPr>
          <a:xfrm>
            <a:off x="1485900" y="6263640"/>
            <a:ext cx="4098036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IA en casos de uso puntuales</a:t>
            </a:r>
          </a:p>
        </p:txBody>
      </p:sp>
      <p:sp>
        <p:nvSpPr>
          <p:cNvPr id="21" name="Punto 1c"/>
          <p:cNvSpPr/>
          <p:nvPr/>
        </p:nvSpPr>
        <p:spPr>
          <a:xfrm>
            <a:off x="1211580" y="7978140"/>
            <a:ext cx="137160" cy="137160"/>
          </a:xfrm>
          <a:prstGeom prst="ellipse">
            <a:avLst/>
          </a:prstGeom>
          <a:solidFill>
            <a:srgbClr val="2B4CD9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o 1c"/>
          <p:cNvSpPr/>
          <p:nvPr/>
        </p:nvSpPr>
        <p:spPr>
          <a:xfrm>
            <a:off x="1485900" y="7863840"/>
            <a:ext cx="4098036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Impacto sin medir de punta a punta</a:t>
            </a:r>
          </a:p>
        </p:txBody>
      </p:sp>
      <p:sp>
        <p:nvSpPr>
          <p:cNvPr id="23" name="KPI1 Num"/>
          <p:cNvSpPr/>
          <p:nvPr/>
        </p:nvSpPr>
        <p:spPr>
          <a:xfrm>
            <a:off x="6955536" y="4663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420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85</a:t>
            </a:r>
            <a:r>
              <a:rPr lang="es-CO" sz="2100" b="1" baseline="2800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%</a:t>
            </a:r>
          </a:p>
        </p:txBody>
      </p:sp>
      <p:sp>
        <p:nvSpPr>
          <p:cNvPr id="24" name="KPI1 Label"/>
          <p:cNvSpPr/>
          <p:nvPr/>
        </p:nvSpPr>
        <p:spPr>
          <a:xfrm>
            <a:off x="8510016" y="4956048"/>
            <a:ext cx="2817876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8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Desarrollo</a:t>
            </a:r>
          </a:p>
        </p:txBody>
      </p:sp>
      <p:sp>
        <p:nvSpPr>
          <p:cNvPr id="25" name="KPI1 Cap"/>
          <p:cNvSpPr/>
          <p:nvPr/>
        </p:nvSpPr>
        <p:spPr>
          <a:xfrm>
            <a:off x="8510016" y="5285232"/>
            <a:ext cx="2817876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5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Desarrollo de componentes de la App</a:t>
            </a:r>
          </a:p>
        </p:txBody>
      </p:sp>
      <p:sp>
        <p:nvSpPr>
          <p:cNvPr id="26" name="KPI2 Num"/>
          <p:cNvSpPr/>
          <p:nvPr/>
        </p:nvSpPr>
        <p:spPr>
          <a:xfrm>
            <a:off x="6955536" y="6263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420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66</a:t>
            </a:r>
            <a:r>
              <a:rPr lang="es-CO" sz="2100" b="1" baseline="2800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%</a:t>
            </a:r>
          </a:p>
        </p:txBody>
      </p:sp>
      <p:sp>
        <p:nvSpPr>
          <p:cNvPr id="27" name="KPI2 Label"/>
          <p:cNvSpPr/>
          <p:nvPr/>
        </p:nvSpPr>
        <p:spPr>
          <a:xfrm>
            <a:off x="8510016" y="6556248"/>
            <a:ext cx="2817876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8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Calidad</a:t>
            </a:r>
          </a:p>
        </p:txBody>
      </p:sp>
      <p:sp>
        <p:nvSpPr>
          <p:cNvPr id="28" name="KPI2 Cap"/>
          <p:cNvSpPr/>
          <p:nvPr/>
        </p:nvSpPr>
        <p:spPr>
          <a:xfrm>
            <a:off x="8510016" y="6885432"/>
            <a:ext cx="2817876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5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Diseño y automatización de pruebas</a:t>
            </a:r>
          </a:p>
        </p:txBody>
      </p:sp>
      <p:sp>
        <p:nvSpPr>
          <p:cNvPr id="29" name="KPI3 Num"/>
          <p:cNvSpPr/>
          <p:nvPr/>
        </p:nvSpPr>
        <p:spPr>
          <a:xfrm>
            <a:off x="6955536" y="7863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420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95</a:t>
            </a:r>
            <a:r>
              <a:rPr lang="es-CO" sz="2100" b="1" baseline="2800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%</a:t>
            </a:r>
          </a:p>
        </p:txBody>
      </p:sp>
      <p:sp>
        <p:nvSpPr>
          <p:cNvPr id="30" name="KPI3 Label"/>
          <p:cNvSpPr/>
          <p:nvPr/>
        </p:nvSpPr>
        <p:spPr>
          <a:xfrm>
            <a:off x="8510016" y="8156448"/>
            <a:ext cx="2817876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8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Obsolescencia Tecnológica</a:t>
            </a:r>
          </a:p>
        </p:txBody>
      </p:sp>
      <p:sp>
        <p:nvSpPr>
          <p:cNvPr id="31" name="KPI3 Cap"/>
          <p:cNvSpPr/>
          <p:nvPr/>
        </p:nvSpPr>
        <p:spPr>
          <a:xfrm>
            <a:off x="8510016" y="8485632"/>
            <a:ext cx="2817876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5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Migración de APIs</a:t>
            </a:r>
          </a:p>
        </p:txBody>
      </p:sp>
      <p:sp>
        <p:nvSpPr>
          <p:cNvPr id="32" name="Pill Meta"/>
          <p:cNvSpPr/>
          <p:nvPr/>
        </p:nvSpPr>
        <p:spPr>
          <a:xfrm>
            <a:off x="12699492" y="4663440"/>
            <a:ext cx="1371600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solidFill>
              <a:srgbClr val="2B4CD9"/>
            </a:solidFill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Pill Meta Texto"/>
          <p:cNvSpPr/>
          <p:nvPr/>
        </p:nvSpPr>
        <p:spPr>
          <a:xfrm>
            <a:off x="12809220" y="4773168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CO" sz="1800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META</a:t>
            </a:r>
          </a:p>
        </p:txBody>
      </p:sp>
      <p:sp>
        <p:nvSpPr>
          <p:cNvPr id="34" name="Hero Meta"/>
          <p:cNvSpPr/>
          <p:nvPr/>
        </p:nvSpPr>
        <p:spPr>
          <a:xfrm>
            <a:off x="12699492" y="5303520"/>
            <a:ext cx="4372356" cy="160020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Autofit/>
          </a:bodyPr>
          <a:lstStyle/>
          <a:p>
            <a:r>
              <a:rPr lang="es-CO" sz="1050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50</a:t>
            </a:r>
            <a:r>
              <a:rPr lang="es-CO" sz="4200" b="1" baseline="2800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%</a:t>
            </a:r>
          </a:p>
        </p:txBody>
      </p:sp>
      <p:sp>
        <p:nvSpPr>
          <p:cNvPr id="35" name="Caption Meta"/>
          <p:cNvSpPr/>
          <p:nvPr/>
        </p:nvSpPr>
        <p:spPr>
          <a:xfrm>
            <a:off x="12699492" y="6949440"/>
            <a:ext cx="4372356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r>
              <a:rPr lang="es-CO" sz="15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Reducción de esfuerzo en Desarrollo y Calidad</a:t>
            </a:r>
          </a:p>
        </p:txBody>
      </p:sp>
      <p:sp>
        <p:nvSpPr>
          <p:cNvPr id="36" name="Cuerpo Col 3"/>
          <p:cNvSpPr/>
          <p:nvPr/>
        </p:nvSpPr>
        <p:spPr>
          <a:xfrm>
            <a:off x="12699492" y="7863840"/>
            <a:ext cx="4372356" cy="10972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Autofit/>
          </a:bodyPr>
          <a:lstStyle/>
          <a:p>
            <a:r>
              <a:rPr lang="es-CO" sz="165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Medición integral de </a:t>
            </a:r>
            <a:r>
              <a:rPr lang="es-CO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Desarrollo y Calidad</a:t>
            </a:r>
            <a:r>
              <a:rPr lang="es-CO" sz="165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dentro de las células, para dimensionar el impacto real y llevar la IA a la forma de trabajo del equipo.</a:t>
            </a:r>
          </a:p>
        </p:txBody>
      </p:sp>
      <p:sp>
        <p:nvSpPr>
          <p:cNvPr id="37" name="Numero de lamina"/>
          <p:cNvSpPr/>
          <p:nvPr/>
        </p:nvSpPr>
        <p:spPr>
          <a:xfrm>
            <a:off x="16802100" y="9834372"/>
            <a:ext cx="617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fld id="{5C4E1A62-3F7B-4D89-9E13-A8C6B04D27F1}" type="slidenum">
              <a:rPr lang="es-CO" sz="1200">
                <a:solidFill>
                  <a:srgbClr val="5B6880"/>
                </a:solidFill>
              </a:rPr>
              <a:t>1</a:t>
            </a:fld>
            <a:endParaRPr lang="es-CO" sz="1200">
              <a:solidFill>
                <a:srgbClr val="5B688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822960" y="48006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kern="0" spc="24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MODELO OPERATIVO</a:t>
            </a:r>
            <a:endParaRPr lang="en-US" sz="2100">
              <a:solidFill>
                <a:srgbClr val="2B4CD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596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TTM se </a:t>
            </a:r>
            <a:r>
              <a:rPr lang="en-US" sz="420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</a:t>
            </a:r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420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gestionando</a:t>
            </a:r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el </a:t>
            </a:r>
            <a:r>
              <a:rPr lang="en-US" sz="420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flujo</a:t>
            </a:r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420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completo</a:t>
            </a:r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no </a:t>
            </a:r>
            <a:r>
              <a:rPr lang="en-US" sz="420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optimizando</a:t>
            </a:r>
            <a:r>
              <a:rPr lang="en-US" sz="42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silos</a:t>
            </a:r>
            <a:endParaRPr lang="en-US" sz="4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824228"/>
            <a:ext cx="16459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Un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mismo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lenguaje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demanda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métricas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aprendizaje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conecta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estrategia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ejecución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sz="2400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operación</a:t>
            </a:r>
            <a:r>
              <a:rPr lang="en-US" sz="240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91056" y="2925090"/>
            <a:ext cx="850392" cy="850392"/>
          </a:xfrm>
          <a:prstGeom prst="ellipse">
            <a:avLst/>
          </a:prstGeom>
          <a:solidFill>
            <a:srgbClr val="2B4CD9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59105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410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PRIORIZAR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59936" y="292509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05993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2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3298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DISEÑAR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528816" y="292509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2881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3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0186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APROVISIONAR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997696" y="292509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99769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4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7074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CONSTRUIR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466576" y="292509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46657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5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73962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VALIDAR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3935456" y="2925090"/>
            <a:ext cx="850392" cy="8503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393545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6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20850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ENTREGAR</a:t>
            </a:r>
            <a:endParaRPr lang="en-US" sz="16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6404336" y="2925090"/>
            <a:ext cx="850392" cy="850392"/>
          </a:xfrm>
          <a:prstGeom prst="ellipse">
            <a:avLst/>
          </a:prstGeom>
          <a:solidFill>
            <a:srgbClr val="2B4CD9"/>
          </a:solidFill>
          <a:ln w="25400">
            <a:solidFill>
              <a:srgbClr val="07133D"/>
            </a:solidFill>
            <a:prstDash val="solid"/>
          </a:ln>
        </p:spPr>
        <p:txBody>
          <a:bodyPr/>
          <a:lstStyle/>
          <a:p>
            <a:endParaRPr lang="es-ES" sz="27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6404336" y="3130835"/>
            <a:ext cx="850392" cy="43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7</a:t>
            </a:r>
            <a:endParaRPr lang="en-US" sz="24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5677388" y="4117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07133D"/>
                </a:solidFill>
              </a:rPr>
              <a:t>OPERAR</a:t>
            </a:r>
            <a:endParaRPr lang="en-US" sz="1500"/>
          </a:p>
        </p:txBody>
      </p:sp>
      <p:sp>
        <p:nvSpPr>
          <p:cNvPr id="32" name="Shape 30"/>
          <p:cNvSpPr/>
          <p:nvPr/>
        </p:nvSpPr>
        <p:spPr>
          <a:xfrm>
            <a:off x="754380" y="6032055"/>
            <a:ext cx="16774668" cy="2029968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D6CE"/>
            </a:solidFill>
            <a:prstDash val="solid"/>
          </a:ln>
        </p:spPr>
        <p:txBody>
          <a:bodyPr/>
          <a:lstStyle/>
          <a:p>
            <a:pPr algn="ctr"/>
            <a:r>
              <a:rPr lang="es-CO" sz="2400" b="1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PALANCAS</a:t>
            </a:r>
            <a:endParaRPr lang="es-ES" sz="2400" b="1">
              <a:solidFill>
                <a:srgbClr val="2B4CD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97285" y="676257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solidFill>
              <a:srgbClr val="2B4CD9"/>
            </a:solidFill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207013" y="687230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Gestión</a:t>
            </a:r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</a:t>
            </a:r>
            <a:r>
              <a:rPr lang="en-US" b="1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Capacidad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91545" y="7309430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Demanda</a:t>
            </a:r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talento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45923" y="676257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solidFill>
              <a:srgbClr val="2B4CD9"/>
            </a:solidFill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55651" y="687230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SDLC </a:t>
            </a:r>
            <a:r>
              <a:rPr lang="en-US" b="1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asistido</a:t>
            </a:r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b="1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por</a:t>
            </a:r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IA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240183" y="7309430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Productividad</a:t>
            </a:r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calidad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319722" y="676257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solidFill>
              <a:srgbClr val="2B4CD9"/>
            </a:solidFill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429450" y="687230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Ingeniería de Plataforma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113982" y="7309430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Autoservicio y estándares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2014621" y="676257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noFill/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2124349" y="687230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A/B Testing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808881" y="7309430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Hipótesis y evidencia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14858603" y="676257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noFill/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4968331" y="687230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Arquitectura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4652863" y="7309430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Modularidad</a:t>
            </a:r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resiliencia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371600" y="8161020"/>
            <a:ext cx="15499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Guardrails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transversales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: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arquitectura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observabilidad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FinOps,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cumplimiento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calidad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 </a:t>
            </a:r>
            <a:r>
              <a:rPr lang="en-US" sz="2250" b="1" err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dato</a:t>
            </a:r>
            <a:r>
              <a:rPr lang="en-US" sz="2250" b="1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n-US" sz="225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6802100" y="9834372"/>
            <a:ext cx="617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>
                <a:solidFill>
                  <a:srgbClr val="5B6880"/>
                </a:solidFill>
              </a:rPr>
              <a:t>04</a:t>
            </a:r>
            <a:endParaRPr lang="en-US" sz="1200"/>
          </a:p>
        </p:txBody>
      </p: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DC6CFAF9-10AC-8B4F-5314-8E0D1C14309F}"/>
              </a:ext>
            </a:extLst>
          </p:cNvPr>
          <p:cNvCxnSpPr>
            <a:stCxn id="5" idx="6"/>
            <a:endCxn id="9" idx="2"/>
          </p:cNvCxnSpPr>
          <p:nvPr/>
        </p:nvCxnSpPr>
        <p:spPr>
          <a:xfrm>
            <a:off x="244144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83B84B4D-5B9A-556C-A0D0-A6E6291A9A89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491032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8EEF240C-6EE5-769E-1FF7-2644146A2A0B}"/>
              </a:ext>
            </a:extLst>
          </p:cNvPr>
          <p:cNvCxnSpPr>
            <a:cxnSpLocks/>
            <a:stCxn id="13" idx="6"/>
            <a:endCxn id="17" idx="2"/>
          </p:cNvCxnSpPr>
          <p:nvPr/>
        </p:nvCxnSpPr>
        <p:spPr>
          <a:xfrm>
            <a:off x="737920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A112F497-E4AD-412F-08C2-8F14C5B89B52}"/>
              </a:ext>
            </a:extLst>
          </p:cNvPr>
          <p:cNvCxnSpPr>
            <a:cxnSpLocks/>
            <a:stCxn id="17" idx="6"/>
            <a:endCxn id="21" idx="2"/>
          </p:cNvCxnSpPr>
          <p:nvPr/>
        </p:nvCxnSpPr>
        <p:spPr>
          <a:xfrm>
            <a:off x="984808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de flecha 63">
            <a:extLst>
              <a:ext uri="{FF2B5EF4-FFF2-40B4-BE49-F238E27FC236}">
                <a16:creationId xmlns:a16="http://schemas.microsoft.com/office/drawing/2014/main" id="{3AABE189-D5BF-F6A8-9A3F-621C5E23297C}"/>
              </a:ext>
            </a:extLst>
          </p:cNvPr>
          <p:cNvCxnSpPr>
            <a:cxnSpLocks/>
            <a:stCxn id="21" idx="6"/>
            <a:endCxn id="25" idx="2"/>
          </p:cNvCxnSpPr>
          <p:nvPr/>
        </p:nvCxnSpPr>
        <p:spPr>
          <a:xfrm>
            <a:off x="1231696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CD7E944D-B282-5DFB-388B-4D520262D15A}"/>
              </a:ext>
            </a:extLst>
          </p:cNvPr>
          <p:cNvCxnSpPr>
            <a:cxnSpLocks/>
            <a:stCxn id="25" idx="6"/>
            <a:endCxn id="29" idx="2"/>
          </p:cNvCxnSpPr>
          <p:nvPr/>
        </p:nvCxnSpPr>
        <p:spPr>
          <a:xfrm>
            <a:off x="14785848" y="3350286"/>
            <a:ext cx="161848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">
            <a:extLst>
              <a:ext uri="{FF2B5EF4-FFF2-40B4-BE49-F238E27FC236}">
                <a16:creationId xmlns:a16="http://schemas.microsoft.com/office/drawing/2014/main" id="{16B5DC95-8EFB-9A94-6B99-1D5723862191}"/>
              </a:ext>
            </a:extLst>
          </p:cNvPr>
          <p:cNvSpPr txBox="1"/>
          <p:nvPr/>
        </p:nvSpPr>
        <p:spPr>
          <a:xfrm>
            <a:off x="754380" y="4559085"/>
            <a:ext cx="4114800" cy="685800"/>
          </a:xfrm>
          <a:prstGeom prst="roundRect">
            <a:avLst>
              <a:gd name="adj" fmla="val 9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78308" tIns="137160" rIns="178308" bIns="137160" anchor="ctr">
            <a:normAutofit/>
          </a:bodyPr>
          <a:lstStyle/>
          <a:p>
            <a:pPr algn="ctr"/>
            <a:r>
              <a:rPr lang="es-CO" b="1">
                <a:solidFill>
                  <a:srgbClr val="07133D"/>
                </a:solidFill>
                <a:latin typeface="Aptos"/>
              </a:rPr>
              <a:t>DoR</a:t>
            </a:r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F833DBC3-261D-3E1A-8C5E-DE8E19E9A65C}"/>
              </a:ext>
            </a:extLst>
          </p:cNvPr>
          <p:cNvSpPr txBox="1"/>
          <p:nvPr/>
        </p:nvSpPr>
        <p:spPr>
          <a:xfrm>
            <a:off x="13414248" y="4559085"/>
            <a:ext cx="4114800" cy="685800"/>
          </a:xfrm>
          <a:prstGeom prst="roundRect">
            <a:avLst>
              <a:gd name="adj" fmla="val 9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78308" tIns="137160" rIns="178308" bIns="137160" anchor="ctr">
            <a:normAutofit/>
          </a:bodyPr>
          <a:lstStyle/>
          <a:p>
            <a:pPr algn="ctr"/>
            <a:r>
              <a:rPr lang="es-CO" b="1">
                <a:solidFill>
                  <a:srgbClr val="07133D"/>
                </a:solidFill>
                <a:latin typeface="Aptos"/>
              </a:rPr>
              <a:t>Producción</a:t>
            </a:r>
          </a:p>
        </p:txBody>
      </p:sp>
      <p:cxnSp>
        <p:nvCxnSpPr>
          <p:cNvPr id="74" name="Conector recto de flecha 73">
            <a:extLst>
              <a:ext uri="{FF2B5EF4-FFF2-40B4-BE49-F238E27FC236}">
                <a16:creationId xmlns:a16="http://schemas.microsoft.com/office/drawing/2014/main" id="{2D74310F-467F-CC50-BAAC-F764A8E61AE2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4869180" y="4901985"/>
            <a:ext cx="8545068" cy="0"/>
          </a:xfrm>
          <a:prstGeom prst="straightConnector1">
            <a:avLst/>
          </a:prstGeom>
          <a:ln w="2857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Shape 34">
            <a:extLst>
              <a:ext uri="{FF2B5EF4-FFF2-40B4-BE49-F238E27FC236}">
                <a16:creationId xmlns:a16="http://schemas.microsoft.com/office/drawing/2014/main" id="{51ECB8B1-E629-33A3-7A24-D13D5E522CF2}"/>
              </a:ext>
            </a:extLst>
          </p:cNvPr>
          <p:cNvSpPr/>
          <p:nvPr/>
        </p:nvSpPr>
        <p:spPr>
          <a:xfrm>
            <a:off x="3765344" y="6754826"/>
            <a:ext cx="2359152" cy="466344"/>
          </a:xfrm>
          <a:prstGeom prst="roundRect">
            <a:avLst>
              <a:gd name="adj" fmla="val 23529"/>
            </a:avLst>
          </a:prstGeom>
          <a:solidFill>
            <a:srgbClr val="2B4CD9"/>
          </a:solidFill>
          <a:ln w="12700">
            <a:solidFill>
              <a:srgbClr val="2B4CD9"/>
            </a:solidFill>
            <a:prstDash val="solid"/>
          </a:ln>
          <a:effectLst>
            <a:outerShdw blurRad="1270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48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0" name="Text 35">
            <a:extLst>
              <a:ext uri="{FF2B5EF4-FFF2-40B4-BE49-F238E27FC236}">
                <a16:creationId xmlns:a16="http://schemas.microsoft.com/office/drawing/2014/main" id="{AE0EF3C3-730B-676D-BE54-DE6EB95495FA}"/>
              </a:ext>
            </a:extLst>
          </p:cNvPr>
          <p:cNvSpPr/>
          <p:nvPr/>
        </p:nvSpPr>
        <p:spPr>
          <a:xfrm>
            <a:off x="3875072" y="6864554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Medición</a:t>
            </a:r>
            <a:r>
              <a:rPr lang="en-US" b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 Delivery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2" name="Text 36">
            <a:extLst>
              <a:ext uri="{FF2B5EF4-FFF2-40B4-BE49-F238E27FC236}">
                <a16:creationId xmlns:a16="http://schemas.microsoft.com/office/drawing/2014/main" id="{6BDC301C-C3AD-4763-A537-3099B991614A}"/>
              </a:ext>
            </a:extLst>
          </p:cNvPr>
          <p:cNvSpPr/>
          <p:nvPr/>
        </p:nvSpPr>
        <p:spPr>
          <a:xfrm>
            <a:off x="3559604" y="7301679"/>
            <a:ext cx="27706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err="1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Visibilidad</a:t>
            </a:r>
            <a:r>
              <a:rPr lang="en-US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Insights</a:t>
            </a: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231</Words>
  <Application>Microsoft Office PowerPoint</Application>
  <PresentationFormat>Personalizado</PresentationFormat>
  <Paragraphs>61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Arial</vt:lpstr>
      <vt:lpstr>Roboto Condensed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estiben</cp:lastModifiedBy>
  <cp:revision>4</cp:revision>
  <dcterms:created xsi:type="dcterms:W3CDTF">2026-06-02T14:01:02Z</dcterms:created>
  <dcterms:modified xsi:type="dcterms:W3CDTF">2026-09-08T16:11:10Z</dcterms:modified>
</cp:coreProperties>
</file>