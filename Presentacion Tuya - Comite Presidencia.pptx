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634" r:id="rId2"/>
    <p:sldId id="30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F0EEE9"/>
    <a:srgbClr val="002060"/>
    <a:srgbClr val="5162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17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EFFFF-56EC-4DE9-BF98-EFB986284DE3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754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220" y="9779508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48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Tuya S.A. · Evolución hacia Ingeniería de Plataforma</a:t>
            </a:r>
            <a:endParaRPr lang="en-US" sz="1200"/>
          </a:p>
        </p:txBody>
      </p:sp>
      <p:sp>
        <p:nvSpPr>
          <p:cNvPr id="3" name="Shape 1"/>
          <p:cNvSpPr/>
          <p:nvPr/>
        </p:nvSpPr>
        <p:spPr>
          <a:xfrm>
            <a:off x="617220" y="9628632"/>
            <a:ext cx="17048988" cy="0"/>
          </a:xfrm>
          <a:prstGeom prst="line">
            <a:avLst/>
          </a:prstGeom>
          <a:noFill/>
          <a:ln w="7620">
            <a:solidFill>
              <a:srgbClr val="203167"/>
            </a:solidFill>
            <a:prstDash val="solid"/>
          </a:ln>
        </p:spPr>
        <p:txBody>
          <a:bodyPr/>
          <a:lstStyle/>
          <a:p>
            <a:endParaRPr lang="es-CO" sz="2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802100" y="9779508"/>
            <a:ext cx="754380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9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B4DB86-CF4C-5361-865A-C4921E15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95B1E-8C55-4E63-8227-A9EF2FF6EBFE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B878CE-AC3B-56F8-7E94-A6F1A848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5FA178-0B5B-D57C-4EE9-6488F1AE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AFA4-4218-4F10-8756-B8A9802CA4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103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YA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" y="521208"/>
            <a:ext cx="16774668" cy="0"/>
          </a:xfrm>
          <a:prstGeom prst="line">
            <a:avLst/>
          </a:prstGeom>
          <a:noFill/>
          <a:ln w="1016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95528" y="164592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95">
                <a:solidFill>
                  <a:srgbClr val="867F71"/>
                </a:solidFill>
              </a:rPr>
              <a:t>TUYA  |  EVOLUCIÓN DE TI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4470380" y="16459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65">
                <a:solidFill>
                  <a:srgbClr val="867F71"/>
                </a:solidFill>
              </a:rPr>
              <a:t>COMITÉ DE PRESIDENCIA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13580" y="9820656"/>
            <a:ext cx="1200000" cy="45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50">
                <a:solidFill>
                  <a:srgbClr val="867F7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8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17220" y="9628632"/>
            <a:ext cx="17048988" cy="0"/>
          </a:xfrm>
          <a:prstGeom prst="line">
            <a:avLst/>
          </a:prstGeom>
          <a:noFill/>
          <a:ln w="7620">
            <a:solidFill>
              <a:srgbClr val="DCE3F2"/>
            </a:solidFill>
            <a:prstDash val="solid"/>
          </a:ln>
        </p:spPr>
        <p:txBody>
          <a:bodyPr/>
          <a:lstStyle/>
          <a:p>
            <a:endParaRPr lang="es-CO" sz="2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6802100" y="9779508"/>
            <a:ext cx="754380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481A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3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7" y="617078"/>
            <a:ext cx="713229" cy="543068"/>
          </a:xfrm>
          <a:prstGeom prst="rect">
            <a:avLst/>
          </a:prstGeom>
        </p:spPr>
      </p:pic>
      <p:cxnSp>
        <p:nvCxnSpPr>
          <p:cNvPr id="3" name="Regla Logo"/>
          <p:cNvCxnSpPr/>
          <p:nvPr/>
        </p:nvCxnSpPr>
        <p:spPr>
          <a:xfrm>
            <a:off x="1755648" y="495300"/>
            <a:ext cx="0" cy="68580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ulo"/>
          <p:cNvSpPr txBox="1"/>
          <p:nvPr/>
        </p:nvSpPr>
        <p:spPr>
          <a:xfrm>
            <a:off x="2071116" y="627888"/>
            <a:ext cx="10668000" cy="11353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s-CO" sz="4050" b="1" dirty="0">
                <a:solidFill>
                  <a:srgbClr val="111111"/>
                </a:solidFill>
                <a:latin typeface="Segoe UI" panose="020B0502040204020203" pitchFamily="34" charset="0"/>
              </a:rPr>
              <a:t>IA en el ciclo de desarrollo de soluciones</a:t>
            </a:r>
          </a:p>
        </p:txBody>
      </p:sp>
      <p:sp>
        <p:nvSpPr>
          <p:cNvPr id="5" name="Barra Titulo"/>
          <p:cNvSpPr/>
          <p:nvPr/>
        </p:nvSpPr>
        <p:spPr>
          <a:xfrm>
            <a:off x="2071116" y="1790700"/>
            <a:ext cx="914400" cy="76200"/>
          </a:xfrm>
          <a:prstGeom prst="rect">
            <a:avLst/>
          </a:prstGeom>
          <a:solidFill>
            <a:srgbClr val="EE1C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CO" sz="1200"/>
          </a:p>
        </p:txBody>
      </p:sp>
      <p:sp>
        <p:nvSpPr>
          <p:cNvPr id="7" name="Bajada"/>
          <p:cNvSpPr txBox="1"/>
          <p:nvPr/>
        </p:nvSpPr>
        <p:spPr>
          <a:xfrm>
            <a:off x="2071116" y="2103120"/>
            <a:ext cx="14500000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es-CO" sz="1950" b="1" dirty="0">
                <a:solidFill>
                  <a:srgbClr val="EE1C25"/>
                </a:solidFill>
                <a:latin typeface="Segoe UI" panose="020B0502040204020203" pitchFamily="34" charset="0"/>
              </a:rPr>
              <a:t>De casos de uso puntuales a capacidad instalada</a:t>
            </a:r>
            <a:r>
              <a:rPr lang="es-CO" sz="1950" dirty="0">
                <a:solidFill>
                  <a:srgbClr val="3A342E"/>
                </a:solidFill>
                <a:latin typeface="Segoe UI" panose="020B0502040204020203" pitchFamily="34" charset="0"/>
              </a:rPr>
              <a:t> en el ciclo de Desarrollo y Calidad.</a:t>
            </a:r>
          </a:p>
        </p:txBody>
      </p:sp>
      <p:cxnSp>
        <p:nvCxnSpPr>
          <p:cNvPr id="8" name="Divisor Vertical 1"/>
          <p:cNvCxnSpPr/>
          <p:nvPr/>
        </p:nvCxnSpPr>
        <p:spPr>
          <a:xfrm>
            <a:off x="6277356" y="2880360"/>
            <a:ext cx="0" cy="653796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ivisor Vertical 2"/>
          <p:cNvCxnSpPr/>
          <p:nvPr/>
        </p:nvCxnSpPr>
        <p:spPr>
          <a:xfrm>
            <a:off x="12019788" y="2880360"/>
            <a:ext cx="0" cy="653796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ader Col 1"/>
          <p:cNvSpPr txBox="1"/>
          <p:nvPr/>
        </p:nvSpPr>
        <p:spPr>
          <a:xfrm>
            <a:off x="877824" y="2880360"/>
            <a:ext cx="5056632" cy="38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2100" b="1" dirty="0">
                <a:solidFill>
                  <a:srgbClr val="7A7269"/>
                </a:solidFill>
                <a:latin typeface="Consolas" panose="020B0609020204030204" pitchFamily="49" charset="0"/>
              </a:rPr>
              <a:t>01</a:t>
            </a:r>
            <a:r>
              <a:rPr lang="es-CO" sz="1350" spc="240" dirty="0">
                <a:solidFill>
                  <a:srgbClr val="7A7269"/>
                </a:solidFill>
                <a:latin typeface="Consolas" panose="020B0609020204030204" pitchFamily="49" charset="0"/>
              </a:rPr>
              <a:t>   SITUACIÓN ACTUAL</a:t>
            </a:r>
          </a:p>
        </p:txBody>
      </p:sp>
      <p:sp>
        <p:nvSpPr>
          <p:cNvPr id="11" name="Header Col 2"/>
          <p:cNvSpPr txBox="1"/>
          <p:nvPr/>
        </p:nvSpPr>
        <p:spPr>
          <a:xfrm>
            <a:off x="6620256" y="2880360"/>
            <a:ext cx="5056632" cy="38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2100" b="1" dirty="0">
                <a:solidFill>
                  <a:srgbClr val="111111"/>
                </a:solidFill>
                <a:latin typeface="Consolas" panose="020B0609020204030204" pitchFamily="49" charset="0"/>
              </a:rPr>
              <a:t>02</a:t>
            </a:r>
            <a:r>
              <a:rPr lang="es-CO" sz="1350" spc="240" dirty="0">
                <a:solidFill>
                  <a:srgbClr val="7A7269"/>
                </a:solidFill>
                <a:latin typeface="Consolas" panose="020B0609020204030204" pitchFamily="49" charset="0"/>
              </a:rPr>
              <a:t>   OPORTUNIDAD DE MEJORA</a:t>
            </a:r>
          </a:p>
        </p:txBody>
      </p:sp>
      <p:sp>
        <p:nvSpPr>
          <p:cNvPr id="12" name="Header Col 3"/>
          <p:cNvSpPr txBox="1"/>
          <p:nvPr/>
        </p:nvSpPr>
        <p:spPr>
          <a:xfrm>
            <a:off x="12362688" y="2880360"/>
            <a:ext cx="5056632" cy="384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2100" b="1" dirty="0">
                <a:solidFill>
                  <a:srgbClr val="EE1C25"/>
                </a:solidFill>
                <a:latin typeface="Consolas" panose="020B0609020204030204" pitchFamily="49" charset="0"/>
              </a:rPr>
              <a:t>03</a:t>
            </a:r>
            <a:r>
              <a:rPr lang="es-CO" sz="1350" spc="240" dirty="0">
                <a:solidFill>
                  <a:srgbClr val="EE1C25"/>
                </a:solidFill>
                <a:latin typeface="Consolas" panose="020B0609020204030204" pitchFamily="49" charset="0"/>
              </a:rPr>
              <a:t>   TRANSFORMACIÓN</a:t>
            </a:r>
          </a:p>
        </p:txBody>
      </p:sp>
      <p:cxnSp>
        <p:nvCxnSpPr>
          <p:cNvPr id="13" name="Regla Col 1"/>
          <p:cNvCxnSpPr/>
          <p:nvPr/>
        </p:nvCxnSpPr>
        <p:spPr>
          <a:xfrm>
            <a:off x="877824" y="3383280"/>
            <a:ext cx="5056632" cy="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gla Col 2"/>
          <p:cNvCxnSpPr/>
          <p:nvPr/>
        </p:nvCxnSpPr>
        <p:spPr>
          <a:xfrm>
            <a:off x="6620256" y="3383280"/>
            <a:ext cx="5056632" cy="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gla Col 3"/>
          <p:cNvCxnSpPr/>
          <p:nvPr/>
        </p:nvCxnSpPr>
        <p:spPr>
          <a:xfrm>
            <a:off x="12362688" y="3383280"/>
            <a:ext cx="5056632" cy="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arra Col 1"/>
          <p:cNvSpPr/>
          <p:nvPr/>
        </p:nvSpPr>
        <p:spPr>
          <a:xfrm>
            <a:off x="877824" y="3345180"/>
            <a:ext cx="914400" cy="76200"/>
          </a:xfrm>
          <a:prstGeom prst="rect">
            <a:avLst/>
          </a:prstGeom>
          <a:solidFill>
            <a:srgbClr val="A69C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CO" sz="1200"/>
          </a:p>
        </p:txBody>
      </p:sp>
      <p:sp>
        <p:nvSpPr>
          <p:cNvPr id="18" name="Barra Col 2"/>
          <p:cNvSpPr/>
          <p:nvPr/>
        </p:nvSpPr>
        <p:spPr>
          <a:xfrm>
            <a:off x="6620256" y="3345180"/>
            <a:ext cx="9144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CO" sz="1200"/>
          </a:p>
        </p:txBody>
      </p:sp>
      <p:sp>
        <p:nvSpPr>
          <p:cNvPr id="19" name="Barra Col 3"/>
          <p:cNvSpPr/>
          <p:nvPr/>
        </p:nvSpPr>
        <p:spPr>
          <a:xfrm>
            <a:off x="12362688" y="3345180"/>
            <a:ext cx="914400" cy="76200"/>
          </a:xfrm>
          <a:prstGeom prst="rect">
            <a:avLst/>
          </a:prstGeom>
          <a:solidFill>
            <a:srgbClr val="EE1C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CO" sz="1200"/>
          </a:p>
        </p:txBody>
      </p:sp>
      <p:sp>
        <p:nvSpPr>
          <p:cNvPr id="20" name="Titular Col 1"/>
          <p:cNvSpPr txBox="1"/>
          <p:nvPr/>
        </p:nvSpPr>
        <p:spPr>
          <a:xfrm>
            <a:off x="877824" y="3566160"/>
            <a:ext cx="5056632" cy="11887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s-CO" sz="2700" b="1" dirty="0">
                <a:solidFill>
                  <a:srgbClr val="111111"/>
                </a:solidFill>
                <a:latin typeface="Segoe UI" panose="020B0502040204020203" pitchFamily="34" charset="0"/>
              </a:rPr>
              <a:t>El ciclo depende del esfuerzo manual</a:t>
            </a:r>
          </a:p>
        </p:txBody>
      </p:sp>
      <p:sp>
        <p:nvSpPr>
          <p:cNvPr id="21" name="Titular Col 2"/>
          <p:cNvSpPr txBox="1"/>
          <p:nvPr/>
        </p:nvSpPr>
        <p:spPr>
          <a:xfrm>
            <a:off x="6620256" y="3566160"/>
            <a:ext cx="5056632" cy="11887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s-CO" sz="2700" b="1" dirty="0">
                <a:solidFill>
                  <a:srgbClr val="111111"/>
                </a:solidFill>
                <a:latin typeface="Segoe UI" panose="020B0502040204020203" pitchFamily="34" charset="0"/>
              </a:rPr>
              <a:t>La prueba de concepto ya cuantifica el ahorro</a:t>
            </a:r>
          </a:p>
        </p:txBody>
      </p:sp>
      <p:sp>
        <p:nvSpPr>
          <p:cNvPr id="22" name="Titular Col 3"/>
          <p:cNvSpPr txBox="1"/>
          <p:nvPr/>
        </p:nvSpPr>
        <p:spPr>
          <a:xfrm>
            <a:off x="12362688" y="3566160"/>
            <a:ext cx="5056632" cy="11887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s-CO" sz="2700" b="1" dirty="0">
                <a:solidFill>
                  <a:srgbClr val="111111"/>
                </a:solidFill>
                <a:latin typeface="Segoe UI" panose="020B0502040204020203" pitchFamily="34" charset="0"/>
              </a:rPr>
              <a:t>Piloto con </a:t>
            </a:r>
            <a:r>
              <a:rPr lang="es-CO" sz="2700" b="1" dirty="0">
                <a:solidFill>
                  <a:srgbClr val="EE1C25"/>
                </a:solidFill>
                <a:latin typeface="Segoe UI" panose="020B0502040204020203" pitchFamily="34" charset="0"/>
              </a:rPr>
              <a:t>Células</a:t>
            </a:r>
            <a:r>
              <a:rPr lang="es-CO" sz="2700" b="1" dirty="0">
                <a:solidFill>
                  <a:srgbClr val="111111"/>
                </a:solidFill>
                <a:latin typeface="Segoe UI" panose="020B0502040204020203" pitchFamily="34" charset="0"/>
              </a:rPr>
              <a:t> para escalar el impacto</a:t>
            </a:r>
          </a:p>
        </p:txBody>
      </p:sp>
      <p:sp>
        <p:nvSpPr>
          <p:cNvPr id="23" name="C1 Marca 1"/>
          <p:cNvSpPr/>
          <p:nvPr/>
        </p:nvSpPr>
        <p:spPr>
          <a:xfrm>
            <a:off x="877824" y="5056632"/>
            <a:ext cx="274320" cy="38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CO" sz="1200"/>
          </a:p>
        </p:txBody>
      </p:sp>
      <p:sp>
        <p:nvSpPr>
          <p:cNvPr id="24" name="C1 Punto 1"/>
          <p:cNvSpPr txBox="1"/>
          <p:nvPr/>
        </p:nvSpPr>
        <p:spPr>
          <a:xfrm>
            <a:off x="877824" y="5285232"/>
            <a:ext cx="5056632" cy="685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s-CO" sz="2100" b="1" dirty="0">
                <a:solidFill>
                  <a:srgbClr val="111111"/>
                </a:solidFill>
                <a:latin typeface="Segoe UI" panose="020B0502040204020203" pitchFamily="34" charset="0"/>
              </a:rPr>
              <a:t>Alta carga en desarrollo y calidad</a:t>
            </a:r>
          </a:p>
        </p:txBody>
      </p:sp>
      <p:sp>
        <p:nvSpPr>
          <p:cNvPr id="25" name="C1 Marca 2"/>
          <p:cNvSpPr/>
          <p:nvPr/>
        </p:nvSpPr>
        <p:spPr>
          <a:xfrm>
            <a:off x="877824" y="6565392"/>
            <a:ext cx="274320" cy="38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CO" sz="1200"/>
          </a:p>
        </p:txBody>
      </p:sp>
      <p:sp>
        <p:nvSpPr>
          <p:cNvPr id="26" name="C1 Punto 2"/>
          <p:cNvSpPr txBox="1"/>
          <p:nvPr/>
        </p:nvSpPr>
        <p:spPr>
          <a:xfrm>
            <a:off x="877824" y="6793992"/>
            <a:ext cx="5056632" cy="685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s-CO" sz="2100" b="1" dirty="0">
                <a:solidFill>
                  <a:srgbClr val="111111"/>
                </a:solidFill>
                <a:latin typeface="Segoe UI" panose="020B0502040204020203" pitchFamily="34" charset="0"/>
              </a:rPr>
              <a:t>IA en casos de uso puntuales</a:t>
            </a:r>
          </a:p>
        </p:txBody>
      </p:sp>
      <p:sp>
        <p:nvSpPr>
          <p:cNvPr id="27" name="C1 Marca 3"/>
          <p:cNvSpPr/>
          <p:nvPr/>
        </p:nvSpPr>
        <p:spPr>
          <a:xfrm>
            <a:off x="877824" y="8074152"/>
            <a:ext cx="274320" cy="381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CO" sz="1200"/>
          </a:p>
        </p:txBody>
      </p:sp>
      <p:sp>
        <p:nvSpPr>
          <p:cNvPr id="28" name="C1 Punto 3"/>
          <p:cNvSpPr txBox="1"/>
          <p:nvPr/>
        </p:nvSpPr>
        <p:spPr>
          <a:xfrm>
            <a:off x="877824" y="8302752"/>
            <a:ext cx="5056632" cy="685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s-CO" sz="2100" b="1" dirty="0">
                <a:solidFill>
                  <a:srgbClr val="111111"/>
                </a:solidFill>
                <a:latin typeface="Segoe UI" panose="020B0502040204020203" pitchFamily="34" charset="0"/>
              </a:rPr>
              <a:t>Impacto sin medir de punta a punta</a:t>
            </a:r>
          </a:p>
        </p:txBody>
      </p:sp>
      <p:sp>
        <p:nvSpPr>
          <p:cNvPr id="29" name="C2 KPI1 Num"/>
          <p:cNvSpPr txBox="1"/>
          <p:nvPr/>
        </p:nvSpPr>
        <p:spPr>
          <a:xfrm>
            <a:off x="6620256" y="5029200"/>
            <a:ext cx="1417320" cy="6583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3900" b="1" dirty="0">
                <a:solidFill>
                  <a:srgbClr val="EE1C25"/>
                </a:solidFill>
                <a:latin typeface="Segoe UI" panose="020B0502040204020203" pitchFamily="34" charset="0"/>
              </a:rPr>
              <a:t>85</a:t>
            </a:r>
            <a:r>
              <a:rPr lang="es-CO" sz="1950" b="1" baseline="28000" dirty="0">
                <a:solidFill>
                  <a:srgbClr val="EE1C25"/>
                </a:solidFill>
                <a:latin typeface="Segoe UI" panose="020B0502040204020203" pitchFamily="34" charset="0"/>
              </a:rPr>
              <a:t>%</a:t>
            </a:r>
          </a:p>
        </p:txBody>
      </p:sp>
      <p:sp>
        <p:nvSpPr>
          <p:cNvPr id="30" name="C2 KPI1 Label"/>
          <p:cNvSpPr txBox="1"/>
          <p:nvPr/>
        </p:nvSpPr>
        <p:spPr>
          <a:xfrm>
            <a:off x="8037576" y="5285232"/>
            <a:ext cx="3639312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1800" b="1" dirty="0">
                <a:solidFill>
                  <a:srgbClr val="111111"/>
                </a:solidFill>
                <a:latin typeface="Segoe UI" panose="020B0502040204020203" pitchFamily="34" charset="0"/>
              </a:rPr>
              <a:t>Desarrollo</a:t>
            </a:r>
          </a:p>
        </p:txBody>
      </p:sp>
      <p:sp>
        <p:nvSpPr>
          <p:cNvPr id="31" name="C2 KPI1 Cap"/>
          <p:cNvSpPr txBox="1"/>
          <p:nvPr/>
        </p:nvSpPr>
        <p:spPr>
          <a:xfrm>
            <a:off x="8037576" y="5614416"/>
            <a:ext cx="3639312" cy="594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es-CO" sz="1350" dirty="0">
                <a:solidFill>
                  <a:srgbClr val="3A342E"/>
                </a:solidFill>
                <a:latin typeface="Segoe UI" panose="020B0502040204020203" pitchFamily="34" charset="0"/>
              </a:rPr>
              <a:t>Desarrollo de componentes de la App</a:t>
            </a:r>
          </a:p>
        </p:txBody>
      </p:sp>
      <p:sp>
        <p:nvSpPr>
          <p:cNvPr id="32" name="C2 KPI2 Num"/>
          <p:cNvSpPr txBox="1"/>
          <p:nvPr/>
        </p:nvSpPr>
        <p:spPr>
          <a:xfrm>
            <a:off x="6620256" y="6537960"/>
            <a:ext cx="1417320" cy="6583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3900" b="1" dirty="0">
                <a:solidFill>
                  <a:srgbClr val="EE1C25"/>
                </a:solidFill>
                <a:latin typeface="Segoe UI" panose="020B0502040204020203" pitchFamily="34" charset="0"/>
              </a:rPr>
              <a:t>66</a:t>
            </a:r>
            <a:r>
              <a:rPr lang="es-CO" sz="1950" b="1" baseline="28000" dirty="0">
                <a:solidFill>
                  <a:srgbClr val="EE1C25"/>
                </a:solidFill>
                <a:latin typeface="Segoe UI" panose="020B0502040204020203" pitchFamily="34" charset="0"/>
              </a:rPr>
              <a:t>%</a:t>
            </a:r>
          </a:p>
        </p:txBody>
      </p:sp>
      <p:sp>
        <p:nvSpPr>
          <p:cNvPr id="33" name="C2 KPI2 Label"/>
          <p:cNvSpPr txBox="1"/>
          <p:nvPr/>
        </p:nvSpPr>
        <p:spPr>
          <a:xfrm>
            <a:off x="8037576" y="6793992"/>
            <a:ext cx="3639312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1800" b="1" dirty="0">
                <a:solidFill>
                  <a:srgbClr val="111111"/>
                </a:solidFill>
                <a:latin typeface="Segoe UI" panose="020B0502040204020203" pitchFamily="34" charset="0"/>
              </a:rPr>
              <a:t>Calidad</a:t>
            </a:r>
          </a:p>
        </p:txBody>
      </p:sp>
      <p:sp>
        <p:nvSpPr>
          <p:cNvPr id="34" name="C2 KPI2 Cap"/>
          <p:cNvSpPr txBox="1"/>
          <p:nvPr/>
        </p:nvSpPr>
        <p:spPr>
          <a:xfrm>
            <a:off x="8037576" y="7123176"/>
            <a:ext cx="3639312" cy="594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es-CO" sz="1350" dirty="0">
                <a:solidFill>
                  <a:srgbClr val="3A342E"/>
                </a:solidFill>
                <a:latin typeface="Segoe UI" panose="020B0502040204020203" pitchFamily="34" charset="0"/>
              </a:rPr>
              <a:t>Diseño y automatización de pruebas</a:t>
            </a:r>
          </a:p>
        </p:txBody>
      </p:sp>
      <p:sp>
        <p:nvSpPr>
          <p:cNvPr id="35" name="C2 KPI3 Num"/>
          <p:cNvSpPr txBox="1"/>
          <p:nvPr/>
        </p:nvSpPr>
        <p:spPr>
          <a:xfrm>
            <a:off x="6620256" y="8046720"/>
            <a:ext cx="1417320" cy="6583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3900" b="1" dirty="0">
                <a:solidFill>
                  <a:srgbClr val="EE1C25"/>
                </a:solidFill>
                <a:latin typeface="Segoe UI" panose="020B0502040204020203" pitchFamily="34" charset="0"/>
              </a:rPr>
              <a:t>95</a:t>
            </a:r>
            <a:r>
              <a:rPr lang="es-CO" sz="1950" b="1" baseline="28000" dirty="0">
                <a:solidFill>
                  <a:srgbClr val="EE1C25"/>
                </a:solidFill>
                <a:latin typeface="Segoe UI" panose="020B0502040204020203" pitchFamily="34" charset="0"/>
              </a:rPr>
              <a:t>%</a:t>
            </a:r>
          </a:p>
        </p:txBody>
      </p:sp>
      <p:sp>
        <p:nvSpPr>
          <p:cNvPr id="36" name="C2 KPI3 Label"/>
          <p:cNvSpPr txBox="1"/>
          <p:nvPr/>
        </p:nvSpPr>
        <p:spPr>
          <a:xfrm>
            <a:off x="8037576" y="8302752"/>
            <a:ext cx="3639312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1800" b="1" dirty="0">
                <a:solidFill>
                  <a:srgbClr val="111111"/>
                </a:solidFill>
                <a:latin typeface="Segoe UI" panose="020B0502040204020203" pitchFamily="34" charset="0"/>
              </a:rPr>
              <a:t>Obsolescencia Tecnológica</a:t>
            </a:r>
          </a:p>
        </p:txBody>
      </p:sp>
      <p:sp>
        <p:nvSpPr>
          <p:cNvPr id="37" name="C2 KPI3 Cap"/>
          <p:cNvSpPr txBox="1"/>
          <p:nvPr/>
        </p:nvSpPr>
        <p:spPr>
          <a:xfrm>
            <a:off x="8037576" y="8631936"/>
            <a:ext cx="3639312" cy="594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es-CO" sz="1350" dirty="0">
                <a:solidFill>
                  <a:srgbClr val="3A342E"/>
                </a:solidFill>
                <a:latin typeface="Segoe UI" panose="020B0502040204020203" pitchFamily="34" charset="0"/>
              </a:rPr>
              <a:t>Migración de APIs</a:t>
            </a:r>
          </a:p>
        </p:txBody>
      </p:sp>
      <p:sp>
        <p:nvSpPr>
          <p:cNvPr id="38" name="Pill Meta"/>
          <p:cNvSpPr/>
          <p:nvPr/>
        </p:nvSpPr>
        <p:spPr>
          <a:xfrm>
            <a:off x="12362688" y="5029200"/>
            <a:ext cx="1440180" cy="411480"/>
          </a:xfrm>
          <a:prstGeom prst="roundRect">
            <a:avLst>
              <a:gd name="adj" fmla="val 20000"/>
            </a:avLst>
          </a:prstGeom>
          <a:solidFill>
            <a:srgbClr val="EE1C25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es-CO" sz="1650" b="1" dirty="0">
                <a:solidFill>
                  <a:srgbClr val="FFFFFF"/>
                </a:solidFill>
                <a:latin typeface="Consolas" panose="020B0609020204030204" pitchFamily="49" charset="0"/>
              </a:rPr>
              <a:t>META</a:t>
            </a:r>
          </a:p>
        </p:txBody>
      </p:sp>
      <p:sp>
        <p:nvSpPr>
          <p:cNvPr id="40" name="Icono Celulas"/>
          <p:cNvSpPr txBox="1"/>
          <p:nvPr/>
        </p:nvSpPr>
        <p:spPr>
          <a:xfrm>
            <a:off x="16047720" y="5997702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s-CO" sz="6300" dirty="0">
                <a:solidFill>
                  <a:srgbClr val="EE1C25"/>
                </a:solidFill>
                <a:latin typeface="Segoe MDL2 Assets" panose="050A0102010101010101" pitchFamily="18" charset="0"/>
              </a:rPr>
              <a:t></a:t>
            </a:r>
          </a:p>
        </p:txBody>
      </p:sp>
      <p:sp>
        <p:nvSpPr>
          <p:cNvPr id="39" name="Hero Meta"/>
          <p:cNvSpPr txBox="1"/>
          <p:nvPr/>
        </p:nvSpPr>
        <p:spPr>
          <a:xfrm>
            <a:off x="12362688" y="5532120"/>
            <a:ext cx="5056632" cy="182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12000" b="1" dirty="0">
                <a:solidFill>
                  <a:srgbClr val="EE1C25"/>
                </a:solidFill>
                <a:latin typeface="Segoe UI" panose="020B0502040204020203" pitchFamily="34" charset="0"/>
              </a:rPr>
              <a:t>50</a:t>
            </a:r>
            <a:r>
              <a:rPr lang="es-CO" sz="4800" b="1" baseline="28000" dirty="0">
                <a:solidFill>
                  <a:srgbClr val="EE1C25"/>
                </a:solidFill>
                <a:latin typeface="Segoe UI" panose="020B0502040204020203" pitchFamily="34" charset="0"/>
              </a:rPr>
              <a:t>%</a:t>
            </a:r>
          </a:p>
        </p:txBody>
      </p:sp>
      <p:sp>
        <p:nvSpPr>
          <p:cNvPr id="41" name="Caption Meta"/>
          <p:cNvSpPr txBox="1"/>
          <p:nvPr/>
        </p:nvSpPr>
        <p:spPr>
          <a:xfrm>
            <a:off x="12362688" y="7589520"/>
            <a:ext cx="5056632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1050" spc="210" dirty="0">
                <a:solidFill>
                  <a:srgbClr val="7A7269"/>
                </a:solidFill>
                <a:latin typeface="Consolas" panose="020B0609020204030204" pitchFamily="49" charset="0"/>
              </a:rPr>
              <a:t>REDUCCIÓN DE ESFUERZO · DESARROLLO Y CALIDAD</a:t>
            </a:r>
          </a:p>
        </p:txBody>
      </p:sp>
      <p:sp>
        <p:nvSpPr>
          <p:cNvPr id="42" name="Cuerpo Col 3"/>
          <p:cNvSpPr txBox="1"/>
          <p:nvPr/>
        </p:nvSpPr>
        <p:spPr>
          <a:xfrm>
            <a:off x="12362688" y="8046720"/>
            <a:ext cx="5056632" cy="11887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es-CO" sz="1650" dirty="0">
                <a:solidFill>
                  <a:srgbClr val="3A342E"/>
                </a:solidFill>
                <a:latin typeface="Segoe UI" panose="020B0502040204020203" pitchFamily="34" charset="0"/>
              </a:rPr>
              <a:t>Medición integral de </a:t>
            </a:r>
            <a:r>
              <a:rPr lang="es-CO" sz="1650" b="1" dirty="0">
                <a:solidFill>
                  <a:srgbClr val="3A342E"/>
                </a:solidFill>
                <a:latin typeface="Segoe UI" panose="020B0502040204020203" pitchFamily="34" charset="0"/>
              </a:rPr>
              <a:t>Desarrollo</a:t>
            </a:r>
            <a:r>
              <a:rPr lang="es-CO" sz="1650" dirty="0">
                <a:solidFill>
                  <a:srgbClr val="3A342E"/>
                </a:solidFill>
                <a:latin typeface="Segoe UI" panose="020B0502040204020203" pitchFamily="34" charset="0"/>
              </a:rPr>
              <a:t> y </a:t>
            </a:r>
            <a:r>
              <a:rPr lang="es-CO" sz="1650" b="1" dirty="0">
                <a:solidFill>
                  <a:srgbClr val="3A342E"/>
                </a:solidFill>
                <a:latin typeface="Segoe UI" panose="020B0502040204020203" pitchFamily="34" charset="0"/>
              </a:rPr>
              <a:t>Calidad</a:t>
            </a:r>
            <a:r>
              <a:rPr lang="es-CO" sz="1650" dirty="0">
                <a:solidFill>
                  <a:srgbClr val="3A342E"/>
                </a:solidFill>
                <a:latin typeface="Segoe UI" panose="020B0502040204020203" pitchFamily="34" charset="0"/>
              </a:rPr>
              <a:t> dentro de las células, para dimensionar el impacto real y llevar la IA a la forma de trabajo del equipo.</a:t>
            </a:r>
          </a:p>
        </p:txBody>
      </p:sp>
      <p:cxnSp>
        <p:nvCxnSpPr>
          <p:cNvPr id="43" name="Regla Pie"/>
          <p:cNvCxnSpPr/>
          <p:nvPr/>
        </p:nvCxnSpPr>
        <p:spPr>
          <a:xfrm>
            <a:off x="877824" y="9418320"/>
            <a:ext cx="16541496" cy="0"/>
          </a:xfrm>
          <a:prstGeom prst="line">
            <a:avLst/>
          </a:prstGeom>
          <a:ln w="12700">
            <a:solidFill>
              <a:srgbClr val="D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e Izquierdo"/>
          <p:cNvSpPr txBox="1"/>
          <p:nvPr/>
        </p:nvSpPr>
        <p:spPr>
          <a:xfrm>
            <a:off x="876300" y="9886951"/>
            <a:ext cx="10668000" cy="4154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s-CO" sz="1050" spc="210" dirty="0">
                <a:solidFill>
                  <a:srgbClr val="7A7269"/>
                </a:solidFill>
                <a:latin typeface="Consolas" panose="020B0609020204030204" pitchFamily="49" charset="0"/>
              </a:rPr>
              <a:t>LÍNEA BASE · ESFUERZO MANUAL DEL EQUIPO   ·   MEDICIÓN SOBRE CASOS DE USO REALES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822960" y="48006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kern="0" spc="240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MODELO OPERATIVO</a:t>
            </a:r>
            <a:endParaRPr lang="en-US" sz="2100">
              <a:solidFill>
                <a:srgbClr val="2B4CD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16596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2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TTM se </a:t>
            </a:r>
            <a:r>
              <a:rPr lang="en-US" sz="420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transforma</a:t>
            </a:r>
            <a:r>
              <a:rPr lang="en-US" sz="42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420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gestionando</a:t>
            </a:r>
            <a:r>
              <a:rPr lang="en-US" sz="42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el </a:t>
            </a:r>
            <a:r>
              <a:rPr lang="en-US" sz="420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flujo</a:t>
            </a:r>
            <a:r>
              <a:rPr lang="en-US" sz="42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420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completo</a:t>
            </a:r>
            <a:r>
              <a:rPr lang="en-US" sz="42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no </a:t>
            </a:r>
            <a:r>
              <a:rPr lang="en-US" sz="420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optimizando</a:t>
            </a:r>
            <a:r>
              <a:rPr lang="en-US" sz="42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silos</a:t>
            </a:r>
            <a:endParaRPr lang="en-US" sz="42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24228"/>
            <a:ext cx="16459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mismo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lenguaje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demanda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métricas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aprendizaje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conecta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estrategia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ejecución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n-US" sz="2400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operación</a:t>
            </a:r>
            <a:r>
              <a:rPr lang="en-US" sz="2400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91056" y="2925090"/>
            <a:ext cx="850392" cy="850392"/>
          </a:xfrm>
          <a:prstGeom prst="ellipse">
            <a:avLst/>
          </a:prstGeom>
          <a:solidFill>
            <a:srgbClr val="2B4CD9"/>
          </a:solidFill>
          <a:ln w="25400">
            <a:solidFill>
              <a:srgbClr val="07133D"/>
            </a:solidFill>
            <a:prstDash val="solid"/>
          </a:ln>
        </p:spPr>
        <p:txBody>
          <a:bodyPr/>
          <a:lstStyle/>
          <a:p>
            <a:endParaRPr lang="es-ES" sz="27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91056" y="3130835"/>
            <a:ext cx="850392" cy="43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</a:t>
            </a: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4108" y="41177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PRIORIZAR</a:t>
            </a:r>
            <a:endParaRPr lang="en-US" sz="165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59936" y="2925090"/>
            <a:ext cx="850392" cy="8503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133D"/>
            </a:solidFill>
            <a:prstDash val="solid"/>
          </a:ln>
        </p:spPr>
        <p:txBody>
          <a:bodyPr/>
          <a:lstStyle/>
          <a:p>
            <a:endParaRPr lang="es-ES" sz="27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59936" y="3130835"/>
            <a:ext cx="850392" cy="43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</a:t>
            </a: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32988" y="41177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DISEÑAR</a:t>
            </a:r>
            <a:endParaRPr lang="en-US" sz="165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28816" y="2925090"/>
            <a:ext cx="850392" cy="8503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133D"/>
            </a:solidFill>
            <a:prstDash val="solid"/>
          </a:ln>
        </p:spPr>
        <p:txBody>
          <a:bodyPr/>
          <a:lstStyle/>
          <a:p>
            <a:endParaRPr lang="es-ES" sz="27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28816" y="3130835"/>
            <a:ext cx="850392" cy="43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</a:t>
            </a: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01868" y="41177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APROVISIONAR</a:t>
            </a:r>
            <a:endParaRPr lang="en-US" sz="165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97696" y="2925090"/>
            <a:ext cx="850392" cy="8503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133D"/>
            </a:solidFill>
            <a:prstDash val="solid"/>
          </a:ln>
        </p:spPr>
        <p:txBody>
          <a:bodyPr/>
          <a:lstStyle/>
          <a:p>
            <a:endParaRPr lang="es-ES" sz="27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97696" y="3130835"/>
            <a:ext cx="850392" cy="43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</a:t>
            </a: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70748" y="41177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CONSTRUIR</a:t>
            </a:r>
            <a:endParaRPr lang="en-US" sz="165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466576" y="2925090"/>
            <a:ext cx="850392" cy="8503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133D"/>
            </a:solidFill>
            <a:prstDash val="solid"/>
          </a:ln>
        </p:spPr>
        <p:txBody>
          <a:bodyPr/>
          <a:lstStyle/>
          <a:p>
            <a:endParaRPr lang="es-ES" sz="27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66576" y="3130835"/>
            <a:ext cx="850392" cy="43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</a:t>
            </a: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739628" y="41177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VALIDAR</a:t>
            </a:r>
            <a:endParaRPr lang="en-US" sz="165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935456" y="2925090"/>
            <a:ext cx="850392" cy="8503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133D"/>
            </a:solidFill>
            <a:prstDash val="solid"/>
          </a:ln>
        </p:spPr>
        <p:txBody>
          <a:bodyPr/>
          <a:lstStyle/>
          <a:p>
            <a:endParaRPr lang="es-ES" sz="27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935456" y="3130835"/>
            <a:ext cx="850392" cy="43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</a:t>
            </a: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208508" y="41177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ENTREGAR</a:t>
            </a:r>
            <a:endParaRPr lang="en-US" sz="165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6404336" y="2925090"/>
            <a:ext cx="850392" cy="850392"/>
          </a:xfrm>
          <a:prstGeom prst="ellipse">
            <a:avLst/>
          </a:prstGeom>
          <a:solidFill>
            <a:srgbClr val="2B4CD9"/>
          </a:solidFill>
          <a:ln w="25400">
            <a:solidFill>
              <a:srgbClr val="07133D"/>
            </a:solidFill>
            <a:prstDash val="solid"/>
          </a:ln>
        </p:spPr>
        <p:txBody>
          <a:bodyPr/>
          <a:lstStyle/>
          <a:p>
            <a:endParaRPr lang="es-ES" sz="27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6404336" y="3130835"/>
            <a:ext cx="850392" cy="43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7</a:t>
            </a:r>
            <a:endParaRPr lang="en-US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677388" y="411778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07133D"/>
                </a:solidFill>
              </a:rPr>
              <a:t>OPERAR</a:t>
            </a:r>
            <a:endParaRPr lang="en-US" sz="1500"/>
          </a:p>
        </p:txBody>
      </p:sp>
      <p:sp>
        <p:nvSpPr>
          <p:cNvPr id="32" name="Shape 30"/>
          <p:cNvSpPr/>
          <p:nvPr/>
        </p:nvSpPr>
        <p:spPr>
          <a:xfrm>
            <a:off x="754380" y="6032055"/>
            <a:ext cx="16774668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D6CE"/>
            </a:solidFill>
            <a:prstDash val="solid"/>
          </a:ln>
        </p:spPr>
        <p:txBody>
          <a:bodyPr/>
          <a:lstStyle/>
          <a:p>
            <a:pPr algn="ctr"/>
            <a:r>
              <a:rPr lang="es-CO" sz="2400" b="1">
                <a:solidFill>
                  <a:srgbClr val="2B4CD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PALANCAS</a:t>
            </a:r>
            <a:endParaRPr lang="es-ES" sz="2400" b="1">
              <a:solidFill>
                <a:srgbClr val="2B4CD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97285" y="6762576"/>
            <a:ext cx="2359152" cy="466344"/>
          </a:xfrm>
          <a:prstGeom prst="roundRect">
            <a:avLst>
              <a:gd name="adj" fmla="val 23529"/>
            </a:avLst>
          </a:prstGeom>
          <a:solidFill>
            <a:srgbClr val="2B4CD9"/>
          </a:solidFill>
          <a:ln w="12700">
            <a:solidFill>
              <a:srgbClr val="2B4CD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48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07013" y="687230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err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Gestión</a:t>
            </a:r>
            <a:r>
              <a:rPr lang="en-US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 </a:t>
            </a:r>
            <a:r>
              <a:rPr lang="en-US" b="1" err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Capacidad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91545" y="7309430"/>
            <a:ext cx="27706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Demanda</a:t>
            </a:r>
            <a:r>
              <a:rPr lang="en-US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n-US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talento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45923" y="6762576"/>
            <a:ext cx="2359152" cy="466344"/>
          </a:xfrm>
          <a:prstGeom prst="roundRect">
            <a:avLst>
              <a:gd name="adj" fmla="val 23529"/>
            </a:avLst>
          </a:prstGeom>
          <a:solidFill>
            <a:srgbClr val="2B4CD9"/>
          </a:solidFill>
          <a:ln w="12700">
            <a:solidFill>
              <a:srgbClr val="2B4CD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48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55651" y="687230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SDLC </a:t>
            </a:r>
            <a:r>
              <a:rPr lang="en-US" b="1" err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asistido</a:t>
            </a:r>
            <a:r>
              <a:rPr lang="en-US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b="1" err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por</a:t>
            </a:r>
            <a:r>
              <a:rPr lang="en-US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IA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240183" y="7309430"/>
            <a:ext cx="27706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Productividad</a:t>
            </a:r>
            <a:r>
              <a:rPr lang="en-US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n-US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calidad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319722" y="6762576"/>
            <a:ext cx="2359152" cy="466344"/>
          </a:xfrm>
          <a:prstGeom prst="roundRect">
            <a:avLst>
              <a:gd name="adj" fmla="val 23529"/>
            </a:avLst>
          </a:prstGeom>
          <a:solidFill>
            <a:srgbClr val="2B4CD9"/>
          </a:solidFill>
          <a:ln w="12700">
            <a:solidFill>
              <a:srgbClr val="2B4CD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48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29450" y="687230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Ingeniería de Plataforma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113982" y="7309430"/>
            <a:ext cx="27706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Autoservicio y estándares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2014621" y="6762576"/>
            <a:ext cx="2359152" cy="466344"/>
          </a:xfrm>
          <a:prstGeom prst="roundRect">
            <a:avLst>
              <a:gd name="adj" fmla="val 23529"/>
            </a:avLst>
          </a:prstGeom>
          <a:solidFill>
            <a:srgbClr val="2B4CD9"/>
          </a:solidFill>
          <a:ln w="12700">
            <a:noFill/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48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124349" y="687230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A/B Testing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808881" y="7309430"/>
            <a:ext cx="27706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Hipótesis y evidencia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4858603" y="6762576"/>
            <a:ext cx="2359152" cy="466344"/>
          </a:xfrm>
          <a:prstGeom prst="roundRect">
            <a:avLst>
              <a:gd name="adj" fmla="val 23529"/>
            </a:avLst>
          </a:prstGeom>
          <a:solidFill>
            <a:srgbClr val="2B4CD9"/>
          </a:solidFill>
          <a:ln w="12700">
            <a:noFill/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48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4968331" y="687230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Arquitectura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4652863" y="7309430"/>
            <a:ext cx="27706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Modularidad</a:t>
            </a:r>
            <a:r>
              <a:rPr lang="en-US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n-US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resiliencia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371600" y="8161020"/>
            <a:ext cx="1549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Guardrails </a:t>
            </a:r>
            <a:r>
              <a:rPr lang="en-US" sz="225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transversales</a:t>
            </a:r>
            <a:r>
              <a:rPr lang="en-US" sz="22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: </a:t>
            </a:r>
            <a:r>
              <a:rPr lang="en-US" sz="225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seguridad</a:t>
            </a:r>
            <a:r>
              <a:rPr lang="en-US" sz="22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</a:t>
            </a:r>
            <a:r>
              <a:rPr lang="en-US" sz="225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arquitectura</a:t>
            </a:r>
            <a:r>
              <a:rPr lang="en-US" sz="22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</a:t>
            </a:r>
            <a:r>
              <a:rPr lang="en-US" sz="225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observabilidad</a:t>
            </a:r>
            <a:r>
              <a:rPr lang="en-US" sz="22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FinOps, </a:t>
            </a:r>
            <a:r>
              <a:rPr lang="en-US" sz="225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cumplimiento</a:t>
            </a:r>
            <a:r>
              <a:rPr lang="en-US" sz="22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</a:t>
            </a:r>
            <a:r>
              <a:rPr lang="en-US" sz="225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calidad</a:t>
            </a:r>
            <a:r>
              <a:rPr lang="en-US" sz="22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 </a:t>
            </a:r>
            <a:r>
              <a:rPr lang="en-US" sz="2250" b="1" err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dato</a:t>
            </a:r>
            <a:r>
              <a:rPr lang="en-US" sz="2250" b="1">
                <a:solidFill>
                  <a:srgbClr val="07133D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endParaRPr lang="en-US" sz="225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6802100" y="9834372"/>
            <a:ext cx="617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>
                <a:solidFill>
                  <a:srgbClr val="5B6880"/>
                </a:solidFill>
              </a:rPr>
              <a:t>04</a:t>
            </a:r>
            <a:endParaRPr lang="en-US" sz="120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DC6CFAF9-10AC-8B4F-5314-8E0D1C14309F}"/>
              </a:ext>
            </a:extLst>
          </p:cNvPr>
          <p:cNvCxnSpPr>
            <a:stCxn id="5" idx="6"/>
            <a:endCxn id="9" idx="2"/>
          </p:cNvCxnSpPr>
          <p:nvPr/>
        </p:nvCxnSpPr>
        <p:spPr>
          <a:xfrm>
            <a:off x="2441448" y="3350286"/>
            <a:ext cx="1618488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83B84B4D-5B9A-556C-A0D0-A6E6291A9A89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4910328" y="3350286"/>
            <a:ext cx="1618488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8EEF240C-6EE5-769E-1FF7-2644146A2A0B}"/>
              </a:ext>
            </a:extLst>
          </p:cNvPr>
          <p:cNvCxnSpPr>
            <a:cxnSpLocks/>
            <a:stCxn id="13" idx="6"/>
            <a:endCxn id="17" idx="2"/>
          </p:cNvCxnSpPr>
          <p:nvPr/>
        </p:nvCxnSpPr>
        <p:spPr>
          <a:xfrm>
            <a:off x="7379208" y="3350286"/>
            <a:ext cx="1618488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A112F497-E4AD-412F-08C2-8F14C5B89B52}"/>
              </a:ext>
            </a:extLst>
          </p:cNvPr>
          <p:cNvCxnSpPr>
            <a:cxnSpLocks/>
            <a:stCxn id="17" idx="6"/>
            <a:endCxn id="21" idx="2"/>
          </p:cNvCxnSpPr>
          <p:nvPr/>
        </p:nvCxnSpPr>
        <p:spPr>
          <a:xfrm>
            <a:off x="9848088" y="3350286"/>
            <a:ext cx="1618488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3AABE189-D5BF-F6A8-9A3F-621C5E23297C}"/>
              </a:ext>
            </a:extLst>
          </p:cNvPr>
          <p:cNvCxnSpPr>
            <a:cxnSpLocks/>
            <a:stCxn id="21" idx="6"/>
            <a:endCxn id="25" idx="2"/>
          </p:cNvCxnSpPr>
          <p:nvPr/>
        </p:nvCxnSpPr>
        <p:spPr>
          <a:xfrm>
            <a:off x="12316968" y="3350286"/>
            <a:ext cx="1618488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CD7E944D-B282-5DFB-388B-4D520262D15A}"/>
              </a:ext>
            </a:extLst>
          </p:cNvPr>
          <p:cNvCxnSpPr>
            <a:cxnSpLocks/>
            <a:stCxn id="25" idx="6"/>
            <a:endCxn id="29" idx="2"/>
          </p:cNvCxnSpPr>
          <p:nvPr/>
        </p:nvCxnSpPr>
        <p:spPr>
          <a:xfrm>
            <a:off x="14785848" y="3350286"/>
            <a:ext cx="1618488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">
            <a:extLst>
              <a:ext uri="{FF2B5EF4-FFF2-40B4-BE49-F238E27FC236}">
                <a16:creationId xmlns:a16="http://schemas.microsoft.com/office/drawing/2014/main" id="{16B5DC95-8EFB-9A94-6B99-1D5723862191}"/>
              </a:ext>
            </a:extLst>
          </p:cNvPr>
          <p:cNvSpPr txBox="1"/>
          <p:nvPr/>
        </p:nvSpPr>
        <p:spPr>
          <a:xfrm>
            <a:off x="754380" y="4559085"/>
            <a:ext cx="4114800" cy="685800"/>
          </a:xfrm>
          <a:prstGeom prst="roundRect">
            <a:avLst>
              <a:gd name="adj" fmla="val 9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78308" tIns="137160" rIns="178308" bIns="137160" anchor="ctr">
            <a:normAutofit/>
          </a:bodyPr>
          <a:lstStyle/>
          <a:p>
            <a:pPr algn="ctr"/>
            <a:r>
              <a:rPr lang="es-CO" b="1">
                <a:solidFill>
                  <a:srgbClr val="07133D"/>
                </a:solidFill>
                <a:latin typeface="Aptos"/>
              </a:rPr>
              <a:t>DoR</a:t>
            </a:r>
          </a:p>
        </p:txBody>
      </p:sp>
      <p:sp>
        <p:nvSpPr>
          <p:cNvPr id="73" name="TextBox">
            <a:extLst>
              <a:ext uri="{FF2B5EF4-FFF2-40B4-BE49-F238E27FC236}">
                <a16:creationId xmlns:a16="http://schemas.microsoft.com/office/drawing/2014/main" id="{F833DBC3-261D-3E1A-8C5E-DE8E19E9A65C}"/>
              </a:ext>
            </a:extLst>
          </p:cNvPr>
          <p:cNvSpPr txBox="1"/>
          <p:nvPr/>
        </p:nvSpPr>
        <p:spPr>
          <a:xfrm>
            <a:off x="13414248" y="4559085"/>
            <a:ext cx="4114800" cy="685800"/>
          </a:xfrm>
          <a:prstGeom prst="roundRect">
            <a:avLst>
              <a:gd name="adj" fmla="val 9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178308" tIns="137160" rIns="178308" bIns="137160" anchor="ctr">
            <a:normAutofit/>
          </a:bodyPr>
          <a:lstStyle/>
          <a:p>
            <a:pPr algn="ctr"/>
            <a:r>
              <a:rPr lang="es-CO" b="1">
                <a:solidFill>
                  <a:srgbClr val="07133D"/>
                </a:solidFill>
                <a:latin typeface="Aptos"/>
              </a:rPr>
              <a:t>Producción</a:t>
            </a:r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2D74310F-467F-CC50-BAAC-F764A8E61AE2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>
            <a:off x="4869180" y="4901985"/>
            <a:ext cx="8545068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Shape 34">
            <a:extLst>
              <a:ext uri="{FF2B5EF4-FFF2-40B4-BE49-F238E27FC236}">
                <a16:creationId xmlns:a16="http://schemas.microsoft.com/office/drawing/2014/main" id="{51ECB8B1-E629-33A3-7A24-D13D5E522CF2}"/>
              </a:ext>
            </a:extLst>
          </p:cNvPr>
          <p:cNvSpPr/>
          <p:nvPr/>
        </p:nvSpPr>
        <p:spPr>
          <a:xfrm>
            <a:off x="3765344" y="6754826"/>
            <a:ext cx="2359152" cy="466344"/>
          </a:xfrm>
          <a:prstGeom prst="roundRect">
            <a:avLst>
              <a:gd name="adj" fmla="val 23529"/>
            </a:avLst>
          </a:prstGeom>
          <a:solidFill>
            <a:srgbClr val="2B4CD9"/>
          </a:solidFill>
          <a:ln w="12700">
            <a:solidFill>
              <a:srgbClr val="2B4CD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48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0" name="Text 35">
            <a:extLst>
              <a:ext uri="{FF2B5EF4-FFF2-40B4-BE49-F238E27FC236}">
                <a16:creationId xmlns:a16="http://schemas.microsoft.com/office/drawing/2014/main" id="{AE0EF3C3-730B-676D-BE54-DE6EB95495FA}"/>
              </a:ext>
            </a:extLst>
          </p:cNvPr>
          <p:cNvSpPr/>
          <p:nvPr/>
        </p:nvSpPr>
        <p:spPr>
          <a:xfrm>
            <a:off x="3875072" y="686455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err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Medición</a:t>
            </a:r>
            <a:r>
              <a:rPr lang="en-US" b="1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del Delivery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2" name="Text 36">
            <a:extLst>
              <a:ext uri="{FF2B5EF4-FFF2-40B4-BE49-F238E27FC236}">
                <a16:creationId xmlns:a16="http://schemas.microsoft.com/office/drawing/2014/main" id="{6BDC301C-C3AD-4763-A537-3099B991614A}"/>
              </a:ext>
            </a:extLst>
          </p:cNvPr>
          <p:cNvSpPr/>
          <p:nvPr/>
        </p:nvSpPr>
        <p:spPr>
          <a:xfrm>
            <a:off x="3559604" y="7301679"/>
            <a:ext cx="277063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err="1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Visibilidad</a:t>
            </a:r>
            <a:r>
              <a:rPr lang="en-US">
                <a:solidFill>
                  <a:srgbClr val="5B688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e Insights</a:t>
            </a:r>
            <a:endParaRPr lang="en-US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252</Words>
  <Application>Microsoft Office PowerPoint</Application>
  <PresentationFormat>Personalizado</PresentationFormat>
  <Paragraphs>61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Consolas</vt:lpstr>
      <vt:lpstr>Roboto Condensed</vt:lpstr>
      <vt:lpstr>Segoe MDL2 Assets</vt:lpstr>
      <vt:lpstr>Segoe UI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Estiben Alexander Licona Urrego</cp:lastModifiedBy>
  <cp:revision>3</cp:revision>
  <dcterms:created xsi:type="dcterms:W3CDTF">2026-06-02T14:01:02Z</dcterms:created>
  <dcterms:modified xsi:type="dcterms:W3CDTF">2026-09-08T15:47:02Z</dcterms:modified>
</cp:coreProperties>
</file>