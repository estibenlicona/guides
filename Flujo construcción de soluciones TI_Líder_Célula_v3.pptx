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5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9" r:id="rId5"/>
  </p:sldMasterIdLst>
  <p:notesMasterIdLst>
    <p:notesMasterId r:id="rId40"/>
  </p:notesMasterIdLst>
  <p:sldIdLst>
    <p:sldId id="6509" r:id="rId6"/>
    <p:sldId id="2147483551" r:id="rId7"/>
    <p:sldId id="2147483556" r:id="rId8"/>
    <p:sldId id="6511" r:id="rId9"/>
    <p:sldId id="2147483557" r:id="rId10"/>
    <p:sldId id="2147483517" r:id="rId11"/>
    <p:sldId id="2147483518" r:id="rId12"/>
    <p:sldId id="2147483526" r:id="rId13"/>
    <p:sldId id="2147483527" r:id="rId14"/>
    <p:sldId id="2147483528" r:id="rId15"/>
    <p:sldId id="2147483529" r:id="rId16"/>
    <p:sldId id="2147483547" r:id="rId17"/>
    <p:sldId id="2147483555" r:id="rId18"/>
    <p:sldId id="2147483543" r:id="rId19"/>
    <p:sldId id="2147483532" r:id="rId20"/>
    <p:sldId id="2147483558" r:id="rId48"/>
    <p:sldId id="2147483533" r:id="rId21"/>
    <p:sldId id="2147483559" r:id="rId49"/>
    <p:sldId id="2147483535" r:id="rId22"/>
    <p:sldId id="2147483536" r:id="rId23"/>
    <p:sldId id="2147483534" r:id="rId24"/>
    <p:sldId id="2147483537" r:id="rId25"/>
    <p:sldId id="2147483554" r:id="rId26"/>
    <p:sldId id="2147483516" r:id="rId27"/>
    <p:sldId id="2147483545" r:id="rId28"/>
    <p:sldId id="2147483553" r:id="rId29"/>
    <p:sldId id="2147483544" r:id="rId30"/>
    <p:sldId id="2147483541" r:id="rId31"/>
    <p:sldId id="2147483540" r:id="rId32"/>
    <p:sldId id="2147483542" r:id="rId33"/>
    <p:sldId id="2147483524" r:id="rId34"/>
    <p:sldId id="327" r:id="rId35"/>
    <p:sldId id="289" r:id="rId36"/>
    <p:sldId id="2147483523" r:id="rId37"/>
    <p:sldId id="2147483548" r:id="rId38"/>
    <p:sldId id="2147483552" r:id="rId3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33121E-B1AD-8ED8-F4F7-860CD4E1672B}" name="Juan Camilo Restrepo Velez" initials="JR" userId="S::arqjuanres.25@tuya.com.co::81b8ffb2-b038-4489-81e8-aeee3562686b" providerId="AD"/>
  <p188:author id="{B9F79833-69D8-103B-600C-406B61CCA089}" name="John Jairo Carmona Arango" initials="JC" userId="S::John.25@tuya.com.co::a73f33f5-d2da-497a-ac16-cc32164a9e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1B2A5E"/>
    <a:srgbClr val="F5F5F5"/>
    <a:srgbClr val="FFC000"/>
    <a:srgbClr val="F6F6F6"/>
    <a:srgbClr val="0A1E3F"/>
    <a:srgbClr val="2E5FA3"/>
    <a:srgbClr val="00C9FF"/>
    <a:srgbClr val="0E9594"/>
    <a:srgbClr val="FCD5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" dt="2026-09-16T15:08:04.427"/>
    <p1510:client id="{3CDBB851-4ED1-46D7-B0C4-6B3320557CEE}" v="26" dt="2026-09-16T15:11:22.763"/>
    <p1510:client id="{6588B155-9E9B-643A-D34F-159D635F1727}" v="172" dt="2026-09-16T13:30:57.044"/>
    <p1510:client id="{886BC716-B0B2-4B52-B321-537B9395627D}" v="419" dt="2026-09-16T14:31:23.224"/>
    <p1510:client id="{A54345E7-6E41-821F-AE9C-1E2120F59D6F}" v="177" dt="2026-09-16T14:30:50.264"/>
    <p1510:client id="{DE935B78-5C35-5698-5187-0BD63C018A5D}" v="54" dt="2026-09-16T14:12:46.060"/>
    <p1510:client id="{E63E24AB-E703-4F0D-B6E4-8168D7705902}" v="12" dt="2026-09-16T13:51:36.368"/>
    <p1510:client id="{FD15ACEC-A495-0DE7-84AF-C8B4C626ED7E}" v="147" dt="2026-09-15T21:25:2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Relationship Id="rId48" Type="http://schemas.openxmlformats.org/officeDocument/2006/relationships/slide" Target="slides/slide35.xml"/><Relationship Id="rId4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anuel Arias Mejia" userId="S::arq.jmam55@tuya.com.co::3bff69a6-70cb-463c-acb6-ff95d080928e" providerId="AD" clId="Web-{00000000-0000-0000-0000-000000000000}"/>
    <pc:docChg chg="modSld">
      <pc:chgData name="Juan Manuel Arias Mejia" userId="S::arq.jmam55@tuya.com.co::3bff69a6-70cb-463c-acb6-ff95d080928e" providerId="AD" clId="Web-{00000000-0000-0000-0000-000000000000}" dt="2026-09-16T15:08:04.427" v="288" actId="1076"/>
      <pc:docMkLst>
        <pc:docMk/>
      </pc:docMkLst>
      <pc:sldChg chg="modSp modNotes">
        <pc:chgData name="Juan Manuel Arias Mejia" userId="S::arq.jmam55@tuya.com.co::3bff69a6-70cb-463c-acb6-ff95d080928e" providerId="AD" clId="Web-{00000000-0000-0000-0000-000000000000}" dt="2026-09-16T15:00:12.811" v="276" actId="20577"/>
        <pc:sldMkLst>
          <pc:docMk/>
          <pc:sldMk cId="0" sldId="2147483518"/>
        </pc:sldMkLst>
        <pc:spChg chg="mod">
          <ac:chgData name="Juan Manuel Arias Mejia" userId="S::arq.jmam55@tuya.com.co::3bff69a6-70cb-463c-acb6-ff95d080928e" providerId="AD" clId="Web-{00000000-0000-0000-0000-000000000000}" dt="2026-09-16T15:00:12.811" v="276" actId="20577"/>
          <ac:spMkLst>
            <pc:docMk/>
            <pc:sldMk cId="0" sldId="2147483518"/>
            <ac:spMk id="11" creationId="{21998327-414A-21FB-7986-99103F7F0A08}"/>
          </ac:spMkLst>
        </pc:spChg>
      </pc:sldChg>
      <pc:sldChg chg="modSp modNotes">
        <pc:chgData name="Juan Manuel Arias Mejia" userId="S::arq.jmam55@tuya.com.co::3bff69a6-70cb-463c-acb6-ff95d080928e" providerId="AD" clId="Web-{00000000-0000-0000-0000-000000000000}" dt="2026-09-16T15:08:04.427" v="288" actId="1076"/>
        <pc:sldMkLst>
          <pc:docMk/>
          <pc:sldMk cId="3880460902" sldId="2147483526"/>
        </pc:sldMkLst>
        <pc:spChg chg="mod">
          <ac:chgData name="Juan Manuel Arias Mejia" userId="S::arq.jmam55@tuya.com.co::3bff69a6-70cb-463c-acb6-ff95d080928e" providerId="AD" clId="Web-{00000000-0000-0000-0000-000000000000}" dt="2026-09-16T15:08:04.427" v="288" actId="1076"/>
          <ac:spMkLst>
            <pc:docMk/>
            <pc:sldMk cId="3880460902" sldId="2147483526"/>
            <ac:spMk id="6" creationId="{54ED63CA-0E1A-7ACF-DAC7-39F52A15F6DE}"/>
          </ac:spMkLst>
        </pc:spChg>
        <pc:spChg chg="mod">
          <ac:chgData name="Juan Manuel Arias Mejia" userId="S::arq.jmam55@tuya.com.co::3bff69a6-70cb-463c-acb6-ff95d080928e" providerId="AD" clId="Web-{00000000-0000-0000-0000-000000000000}" dt="2026-09-16T15:00:22.578" v="286" actId="20577"/>
          <ac:spMkLst>
            <pc:docMk/>
            <pc:sldMk cId="3880460902" sldId="2147483526"/>
            <ac:spMk id="8" creationId="{FBB7A386-77E7-4076-0239-315DB4C20A2F}"/>
          </ac:spMkLst>
        </pc:spChg>
      </pc:sldChg>
    </pc:docChg>
  </pc:docChgLst>
  <pc:docChgLst>
    <pc:chgData name="Brayan Stiven Franco Taborda" userId="S::stivenf8@tuya.com.co::ae13fd0e-6a8d-460a-ac35-7b951280f89a" providerId="AD" clId="Web-{DE935B78-5C35-5698-5187-0BD63C018A5D}"/>
    <pc:docChg chg="modSld">
      <pc:chgData name="Brayan Stiven Franco Taborda" userId="S::stivenf8@tuya.com.co::ae13fd0e-6a8d-460a-ac35-7b951280f89a" providerId="AD" clId="Web-{DE935B78-5C35-5698-5187-0BD63C018A5D}" dt="2026-09-16T14:12:46.060" v="10" actId="14100"/>
      <pc:docMkLst>
        <pc:docMk/>
      </pc:docMkLst>
      <pc:sldChg chg="modSp">
        <pc:chgData name="Brayan Stiven Franco Taborda" userId="S::stivenf8@tuya.com.co::ae13fd0e-6a8d-460a-ac35-7b951280f89a" providerId="AD" clId="Web-{DE935B78-5C35-5698-5187-0BD63C018A5D}" dt="2026-09-16T14:12:46.060" v="10" actId="14100"/>
        <pc:sldMkLst>
          <pc:docMk/>
          <pc:sldMk cId="2725055587" sldId="2147483528"/>
        </pc:sldMkLst>
        <pc:spChg chg="mod">
          <ac:chgData name="Brayan Stiven Franco Taborda" userId="S::stivenf8@tuya.com.co::ae13fd0e-6a8d-460a-ac35-7b951280f89a" providerId="AD" clId="Web-{DE935B78-5C35-5698-5187-0BD63C018A5D}" dt="2026-09-16T14:12:46.060" v="10" actId="14100"/>
          <ac:spMkLst>
            <pc:docMk/>
            <pc:sldMk cId="2725055587" sldId="2147483528"/>
            <ac:spMk id="4" creationId="{BB4BD477-D626-CB2A-5707-C1EDC3D8246D}"/>
          </ac:spMkLst>
        </pc:spChg>
        <pc:spChg chg="mod">
          <ac:chgData name="Brayan Stiven Franco Taborda" userId="S::stivenf8@tuya.com.co::ae13fd0e-6a8d-460a-ac35-7b951280f89a" providerId="AD" clId="Web-{DE935B78-5C35-5698-5187-0BD63C018A5D}" dt="2026-09-16T14:12:43.357" v="9" actId="14100"/>
          <ac:spMkLst>
            <pc:docMk/>
            <pc:sldMk cId="2725055587" sldId="2147483528"/>
            <ac:spMk id="14" creationId="{0BB7781F-41C2-095E-B9FD-43F027779C9D}"/>
          </ac:spMkLst>
        </pc:spChg>
      </pc:sldChg>
      <pc:sldChg chg="modSp">
        <pc:chgData name="Brayan Stiven Franco Taborda" userId="S::stivenf8@tuya.com.co::ae13fd0e-6a8d-460a-ac35-7b951280f89a" providerId="AD" clId="Web-{DE935B78-5C35-5698-5187-0BD63C018A5D}" dt="2026-09-16T14:09:26.453" v="7"/>
        <pc:sldMkLst>
          <pc:docMk/>
          <pc:sldMk cId="3214257343" sldId="2147483551"/>
        </pc:sldMkLst>
        <pc:graphicFrameChg chg="mod modGraphic">
          <ac:chgData name="Brayan Stiven Franco Taborda" userId="S::stivenf8@tuya.com.co::ae13fd0e-6a8d-460a-ac35-7b951280f89a" providerId="AD" clId="Web-{DE935B78-5C35-5698-5187-0BD63C018A5D}" dt="2026-09-16T14:09:26.453" v="7"/>
          <ac:graphicFrameMkLst>
            <pc:docMk/>
            <pc:sldMk cId="3214257343" sldId="2147483551"/>
            <ac:graphicFrameMk id="4" creationId="{6925D013-4859-4F55-49D5-985135D3012F}"/>
          </ac:graphicFrameMkLst>
        </pc:graphicFrameChg>
      </pc:sldChg>
    </pc:docChg>
  </pc:docChgLst>
  <pc:docChgLst>
    <pc:chgData name="John Jairo Carmona Arango" userId="a73f33f5-d2da-497a-ac16-cc32164a9e00" providerId="ADAL" clId="{508001E0-99CB-4B57-8C4C-543160D8E399}"/>
    <pc:docChg chg="undo custSel addSld delSld modSld sldOrd">
      <pc:chgData name="John Jairo Carmona Arango" userId="a73f33f5-d2da-497a-ac16-cc32164a9e00" providerId="ADAL" clId="{508001E0-99CB-4B57-8C4C-543160D8E399}" dt="2026-09-16T14:31:23.223" v="384" actId="20577"/>
      <pc:docMkLst>
        <pc:docMk/>
      </pc:docMkLst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0" sldId="289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981990686" sldId="327"/>
        </pc:sldMkLst>
      </pc:sldChg>
      <pc:sldChg chg="modSp mod">
        <pc:chgData name="John Jairo Carmona Arango" userId="a73f33f5-d2da-497a-ac16-cc32164a9e00" providerId="ADAL" clId="{508001E0-99CB-4B57-8C4C-543160D8E399}" dt="2026-09-16T14:31:23.223" v="384" actId="20577"/>
        <pc:sldMkLst>
          <pc:docMk/>
          <pc:sldMk cId="1931519228" sldId="6511"/>
        </pc:sldMkLst>
        <pc:spChg chg="mod">
          <ac:chgData name="John Jairo Carmona Arango" userId="a73f33f5-d2da-497a-ac16-cc32164a9e00" providerId="ADAL" clId="{508001E0-99CB-4B57-8C4C-543160D8E399}" dt="2026-09-16T14:31:16.047" v="359" actId="20577"/>
          <ac:spMkLst>
            <pc:docMk/>
            <pc:sldMk cId="1931519228" sldId="6511"/>
            <ac:spMk id="78" creationId="{078DF516-A779-3409-1F24-AA55BDC60F53}"/>
          </ac:spMkLst>
        </pc:spChg>
        <pc:spChg chg="mod">
          <ac:chgData name="John Jairo Carmona Arango" userId="a73f33f5-d2da-497a-ac16-cc32164a9e00" providerId="ADAL" clId="{508001E0-99CB-4B57-8C4C-543160D8E399}" dt="2026-09-16T14:31:23.223" v="384" actId="20577"/>
          <ac:spMkLst>
            <pc:docMk/>
            <pc:sldMk cId="1931519228" sldId="6511"/>
            <ac:spMk id="81" creationId="{0803C02A-E4F5-D037-CBB7-025DC1C77F6C}"/>
          </ac:spMkLst>
        </pc:spChg>
      </pc:sldChg>
      <pc:sldChg chg="ord">
        <pc:chgData name="John Jairo Carmona Arango" userId="a73f33f5-d2da-497a-ac16-cc32164a9e00" providerId="ADAL" clId="{508001E0-99CB-4B57-8C4C-543160D8E399}" dt="2026-09-16T14:12:54.890" v="165"/>
        <pc:sldMkLst>
          <pc:docMk/>
          <pc:sldMk cId="3027304031" sldId="2147483516"/>
        </pc:sldMkLst>
      </pc:sldChg>
      <pc:sldChg chg="modSp mod modShow">
        <pc:chgData name="John Jairo Carmona Arango" userId="a73f33f5-d2da-497a-ac16-cc32164a9e00" providerId="ADAL" clId="{508001E0-99CB-4B57-8C4C-543160D8E399}" dt="2026-09-16T14:29:36.178" v="336" actId="1076"/>
        <pc:sldMkLst>
          <pc:docMk/>
          <pc:sldMk cId="2170593130" sldId="2147483517"/>
        </pc:sldMkLst>
        <pc:spChg chg="mod">
          <ac:chgData name="John Jairo Carmona Arango" userId="a73f33f5-d2da-497a-ac16-cc32164a9e00" providerId="ADAL" clId="{508001E0-99CB-4B57-8C4C-543160D8E399}" dt="2026-09-16T13:51:51.439" v="7" actId="1076"/>
          <ac:spMkLst>
            <pc:docMk/>
            <pc:sldMk cId="2170593130" sldId="2147483517"/>
            <ac:spMk id="27" creationId="{AC19DAD5-CAEB-DE06-A4A5-F80445AAC617}"/>
          </ac:spMkLst>
        </pc:spChg>
        <pc:spChg chg="mod">
          <ac:chgData name="John Jairo Carmona Arango" userId="a73f33f5-d2da-497a-ac16-cc32164a9e00" providerId="ADAL" clId="{508001E0-99CB-4B57-8C4C-543160D8E399}" dt="2026-09-16T14:29:36.178" v="336" actId="1076"/>
          <ac:spMkLst>
            <pc:docMk/>
            <pc:sldMk cId="2170593130" sldId="2147483517"/>
            <ac:spMk id="36" creationId="{DF5EAA83-7A88-CD63-2915-92CE35F546EE}"/>
          </ac:spMkLst>
        </pc:spChg>
      </pc:sldChg>
      <pc:sldChg chg="modSp del mod">
        <pc:chgData name="John Jairo Carmona Arango" userId="a73f33f5-d2da-497a-ac16-cc32164a9e00" providerId="ADAL" clId="{508001E0-99CB-4B57-8C4C-543160D8E399}" dt="2026-09-16T14:13:36.195" v="175" actId="47"/>
        <pc:sldMkLst>
          <pc:docMk/>
          <pc:sldMk cId="0" sldId="2147483520"/>
        </pc:sldMkLst>
        <pc:spChg chg="mod">
          <ac:chgData name="John Jairo Carmona Arango" userId="a73f33f5-d2da-497a-ac16-cc32164a9e00" providerId="ADAL" clId="{508001E0-99CB-4B57-8C4C-543160D8E399}" dt="2026-09-16T14:13:33.342" v="174" actId="20577"/>
          <ac:spMkLst>
            <pc:docMk/>
            <pc:sldMk cId="0" sldId="2147483520"/>
            <ac:spMk id="3" creationId="{00000000-0000-0000-0000-000000000000}"/>
          </ac:spMkLst>
        </pc:spChg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2755473965" sldId="2147483523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210291074" sldId="2147483524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133869391" sldId="2147483540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213563752" sldId="2147483541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006221772" sldId="2147483542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160926846" sldId="2147483544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198483352" sldId="2147483545"/>
        </pc:sldMkLst>
      </pc:sldChg>
      <pc:sldChg chg="addSp delSp modSp mod">
        <pc:chgData name="John Jairo Carmona Arango" userId="a73f33f5-d2da-497a-ac16-cc32164a9e00" providerId="ADAL" clId="{508001E0-99CB-4B57-8C4C-543160D8E399}" dt="2026-09-16T14:22:47.049" v="325"/>
        <pc:sldMkLst>
          <pc:docMk/>
          <pc:sldMk cId="3214257343" sldId="2147483551"/>
        </pc:sldMkLst>
        <pc:graphicFrameChg chg="add del mod modGraphic">
          <ac:chgData name="John Jairo Carmona Arango" userId="a73f33f5-d2da-497a-ac16-cc32164a9e00" providerId="ADAL" clId="{508001E0-99CB-4B57-8C4C-543160D8E399}" dt="2026-09-16T14:22:47.049" v="325"/>
          <ac:graphicFrameMkLst>
            <pc:docMk/>
            <pc:sldMk cId="3214257343" sldId="2147483551"/>
            <ac:graphicFrameMk id="4" creationId="{6925D013-4859-4F55-49D5-985135D3012F}"/>
          </ac:graphicFrameMkLst>
        </pc:graphicFrameChg>
      </pc:sldChg>
      <pc:sldChg chg="ord">
        <pc:chgData name="John Jairo Carmona Arango" userId="a73f33f5-d2da-497a-ac16-cc32164a9e00" providerId="ADAL" clId="{508001E0-99CB-4B57-8C4C-543160D8E399}" dt="2026-09-16T14:28:52.677" v="327"/>
        <pc:sldMkLst>
          <pc:docMk/>
          <pc:sldMk cId="752103383" sldId="2147483553"/>
        </pc:sldMkLst>
      </pc:sldChg>
      <pc:sldChg chg="add">
        <pc:chgData name="John Jairo Carmona Arango" userId="a73f33f5-d2da-497a-ac16-cc32164a9e00" providerId="ADAL" clId="{508001E0-99CB-4B57-8C4C-543160D8E399}" dt="2026-09-16T14:13:18.753" v="168" actId="2890"/>
        <pc:sldMkLst>
          <pc:docMk/>
          <pc:sldMk cId="3411357789" sldId="2147483556"/>
        </pc:sldMkLst>
      </pc:sldChg>
      <pc:sldChg chg="add del setBg">
        <pc:chgData name="John Jairo Carmona Arango" userId="a73f33f5-d2da-497a-ac16-cc32164a9e00" providerId="ADAL" clId="{508001E0-99CB-4B57-8C4C-543160D8E399}" dt="2026-09-16T14:13:16.388" v="167"/>
        <pc:sldMkLst>
          <pc:docMk/>
          <pc:sldMk cId="3523234168" sldId="2147483556"/>
        </pc:sldMkLst>
      </pc:sldChg>
      <pc:sldChg chg="delSp add mod ord">
        <pc:chgData name="John Jairo Carmona Arango" userId="a73f33f5-d2da-497a-ac16-cc32164a9e00" providerId="ADAL" clId="{508001E0-99CB-4B57-8C4C-543160D8E399}" dt="2026-09-16T14:29:20.320" v="332"/>
        <pc:sldMkLst>
          <pc:docMk/>
          <pc:sldMk cId="224535338" sldId="2147483557"/>
        </pc:sldMkLst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6" creationId="{96B4688A-F517-C586-93DB-7CE24A5C8CA8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99" creationId="{E6B7A16A-88B4-EDCD-088A-D855D7795B8C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1" creationId="{8632297E-AF03-0151-80A4-94F78D0C5976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2" creationId="{5FE590BF-5FFF-9EE3-26AC-C04D9233E6E0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3" creationId="{ED44E2B4-F2F9-7B3B-B455-644DC98D3AA7}"/>
          </ac:picMkLst>
        </pc:picChg>
        <pc:picChg chg="del">
          <ac:chgData name="John Jairo Carmona Arango" userId="a73f33f5-d2da-497a-ac16-cc32164a9e00" providerId="ADAL" clId="{508001E0-99CB-4B57-8C4C-543160D8E399}" dt="2026-09-16T14:29:17.895" v="330" actId="478"/>
          <ac:picMkLst>
            <pc:docMk/>
            <pc:sldMk cId="224535338" sldId="2147483557"/>
            <ac:picMk id="108" creationId="{2C638917-E7CC-6C2A-818B-7C68D8961FBC}"/>
          </ac:picMkLst>
        </pc:picChg>
      </pc:sldChg>
    </pc:docChg>
  </pc:docChgLst>
  <pc:docChgLst>
    <pc:chgData name="Melissa Restrepo Mejia" userId="461c5418-91ce-47d9-91d2-87444c54a02c" providerId="ADAL" clId="{6F03EAC1-7FE7-41F9-B0D7-0EDE53D6570B}"/>
    <pc:docChg chg="custSel modSld">
      <pc:chgData name="Melissa Restrepo Mejia" userId="461c5418-91ce-47d9-91d2-87444c54a02c" providerId="ADAL" clId="{6F03EAC1-7FE7-41F9-B0D7-0EDE53D6570B}" dt="2026-09-16T15:11:22.763" v="23" actId="1076"/>
      <pc:docMkLst>
        <pc:docMk/>
      </pc:docMkLst>
      <pc:sldChg chg="delSp modSp mod">
        <pc:chgData name="Melissa Restrepo Mejia" userId="461c5418-91ce-47d9-91d2-87444c54a02c" providerId="ADAL" clId="{6F03EAC1-7FE7-41F9-B0D7-0EDE53D6570B}" dt="2026-09-16T15:11:22.763" v="23" actId="1076"/>
        <pc:sldMkLst>
          <pc:docMk/>
          <pc:sldMk cId="0" sldId="2147483518"/>
        </pc:sldMkLst>
        <pc:spChg chg="del">
          <ac:chgData name="Melissa Restrepo Mejia" userId="461c5418-91ce-47d9-91d2-87444c54a02c" providerId="ADAL" clId="{6F03EAC1-7FE7-41F9-B0D7-0EDE53D6570B}" dt="2026-09-16T15:10:37.234" v="0" actId="478"/>
          <ac:spMkLst>
            <pc:docMk/>
            <pc:sldMk cId="0" sldId="2147483518"/>
            <ac:spMk id="6" creationId="{00000000-0000-0000-0000-000000000000}"/>
          </ac:spMkLst>
        </pc:spChg>
        <pc:spChg chg="mod">
          <ac:chgData name="Melissa Restrepo Mejia" userId="461c5418-91ce-47d9-91d2-87444c54a02c" providerId="ADAL" clId="{6F03EAC1-7FE7-41F9-B0D7-0EDE53D6570B}" dt="2026-09-16T15:11:22.763" v="23" actId="1076"/>
          <ac:spMkLst>
            <pc:docMk/>
            <pc:sldMk cId="0" sldId="2147483518"/>
            <ac:spMk id="7" creationId="{00000000-0000-0000-0000-000000000000}"/>
          </ac:spMkLst>
        </pc:spChg>
      </pc:sldChg>
    </pc:docChg>
  </pc:docChgLst>
  <pc:docChgLst>
    <pc:chgData name="Ana Catalina Castano Mejia" userId="S::ana.cata.0415@tuya.com.co::16b5c04f-230a-4cbf-b8c6-b89968189158" providerId="AD" clId="Web-{A54345E7-6E41-821F-AE9C-1E2120F59D6F}"/>
    <pc:docChg chg="modSld">
      <pc:chgData name="Ana Catalina Castano Mejia" userId="S::ana.cata.0415@tuya.com.co::16b5c04f-230a-4cbf-b8c6-b89968189158" providerId="AD" clId="Web-{A54345E7-6E41-821F-AE9C-1E2120F59D6F}" dt="2026-09-16T14:30:50.264" v="87" actId="1076"/>
      <pc:docMkLst>
        <pc:docMk/>
      </pc:docMkLst>
      <pc:sldChg chg="delSp modSp">
        <pc:chgData name="Ana Catalina Castano Mejia" userId="S::ana.cata.0415@tuya.com.co::16b5c04f-230a-4cbf-b8c6-b89968189158" providerId="AD" clId="Web-{A54345E7-6E41-821F-AE9C-1E2120F59D6F}" dt="2026-09-16T14:30:50.264" v="87" actId="1076"/>
        <pc:sldMkLst>
          <pc:docMk/>
          <pc:sldMk cId="1603952159" sldId="2147483534"/>
        </pc:sldMkLst>
        <pc:spChg chg="mod">
          <ac:chgData name="Ana Catalina Castano Mejia" userId="S::ana.cata.0415@tuya.com.co::16b5c04f-230a-4cbf-b8c6-b89968189158" providerId="AD" clId="Web-{A54345E7-6E41-821F-AE9C-1E2120F59D6F}" dt="2026-09-16T14:30:24.389" v="83" actId="20577"/>
          <ac:spMkLst>
            <pc:docMk/>
            <pc:sldMk cId="1603952159" sldId="2147483534"/>
            <ac:spMk id="23" creationId="{44438903-DE39-E97B-B451-32861E1DABC1}"/>
          </ac:spMkLst>
        </pc:spChg>
        <pc:spChg chg="mod">
          <ac:chgData name="Ana Catalina Castano Mejia" userId="S::ana.cata.0415@tuya.com.co::16b5c04f-230a-4cbf-b8c6-b89968189158" providerId="AD" clId="Web-{A54345E7-6E41-821F-AE9C-1E2120F59D6F}" dt="2026-09-16T14:30:50.264" v="87" actId="1076"/>
          <ac:spMkLst>
            <pc:docMk/>
            <pc:sldMk cId="1603952159" sldId="2147483534"/>
            <ac:spMk id="29" creationId="{238D1ECC-8B58-EDC8-7602-7A9F57CA736D}"/>
          </ac:spMkLst>
        </pc:spChg>
        <pc:spChg chg="del mod">
          <ac:chgData name="Ana Catalina Castano Mejia" userId="S::ana.cata.0415@tuya.com.co::16b5c04f-230a-4cbf-b8c6-b89968189158" providerId="AD" clId="Web-{A54345E7-6E41-821F-AE9C-1E2120F59D6F}" dt="2026-09-16T14:30:38.811" v="86"/>
          <ac:spMkLst>
            <pc:docMk/>
            <pc:sldMk cId="1603952159" sldId="2147483534"/>
            <ac:spMk id="32" creationId="{568351E3-BDB3-2A6A-03EA-54ADDA2470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AAEB4-9E86-4335-8D9D-53C7EF1299F2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45AAC-2AC0-4847-BC39-8E27C469D4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37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3108-DEAF-D1AB-DEDF-E7A35EC3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A1C85-E5C3-8AFC-2F18-A170C97D9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56E07-5942-455E-4027-37D9B27EB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2ADEC-EC6A-4C43-01E6-81CF01608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691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24200-2FE2-1856-54AF-F408BB0C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8A03A-3307-DAD0-30B7-EA6ADC0AF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79AB6-2051-E85C-787E-0A209F21C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386C6-B1EB-1FC4-CA0B-9CBACFB64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577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BCEE1-B278-2398-D2DE-885641FC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18407F-E7D1-9231-DF87-A40FFBF64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425B8A-1281-939B-8E8F-D72A9BBDA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EB163-BBEE-4296-A627-5A2E849EA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950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CA7E-295A-5E2F-68E9-820D49F40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A9580C-8F71-7E01-01CB-9ACFFEC57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0B85F7-04E9-C619-A960-8F68E832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Lico  + Mencionar   Deuda Técnica ( la resuelve en su proceso de desarrollo)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Medición de Deuda técnica desarrollo  – Tablero de deuda técnica  por equipo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Regulatorios-Obsolescencia –por el desarrollo ( puntual   en  el proceso de desarrollo)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1" i="1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 es la deuda técnica- por que es importante y no es del Líder Técnico </a:t>
            </a:r>
          </a:p>
          <a:p>
            <a:pPr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=&gt; Requisitos no Funcionales: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>
              <a:highlight>
                <a:srgbClr val="FFFF00"/>
              </a:highlight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1" i="1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Ciber Inteligencia: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código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DAST: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comportamiento</a:t>
            </a: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2AC6DA-F23C-6370-91F2-2B8A6A7C1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45AAC-2AC0-4847-BC39-8E27C469D47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965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Lico  + Mencionar   Deuda Técnica ( la resuelve en su proceso de desarrollo)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Medición de Deuda técnica desarrollo  – Tablero de deuda técnica  por equipo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Regulatorios-Obsolescencia –por el desarrollo ( puntual   en  el proceso de desarrollo)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1" i="1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 es la deuda técnica- por que es importante y no es del Líder Técnico </a:t>
            </a:r>
          </a:p>
          <a:p>
            <a:pPr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=&gt; Requisitos no Funcionales: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>
              <a:highlight>
                <a:srgbClr val="FFFF00"/>
              </a:highlight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1" i="1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Ciber Inteligencia: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código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DAST: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comportamiento</a:t>
            </a: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45AAC-2AC0-4847-BC39-8E27C469D47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551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219170"/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 panose="02000000000000000000" pitchFamily="2" charset="0"/>
              </a:rPr>
              <a:t>DOR:</a:t>
            </a:r>
            <a:br>
              <a:rPr lang="en-US">
                <a:latin typeface="Aptos" panose="02110004020202020204"/>
                <a:ea typeface="Roboto"/>
                <a:cs typeface="Roboto" panose="02000000000000000000" pitchFamily="2" charset="0"/>
              </a:rPr>
            </a:br>
            <a:endParaRPr lang="en-US" sz="1200" noProof="0">
              <a:solidFill>
                <a:srgbClr val="000000"/>
              </a:solidFill>
              <a:latin typeface="Aptos" panose="02110004020202020204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Quién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debe</a:t>
            </a:r>
            <a:r>
              <a:rPr lang="en-US">
                <a:ea typeface="Roboto"/>
              </a:rPr>
              <a:t> mover el DOR es el </a:t>
            </a:r>
            <a:r>
              <a:rPr lang="en-US" err="1">
                <a:ea typeface="Roboto"/>
              </a:rPr>
              <a:t>líder</a:t>
            </a:r>
            <a:r>
              <a:rPr lang="en-US">
                <a:ea typeface="Roboto"/>
              </a:rPr>
              <a:t> de </a:t>
            </a:r>
            <a:r>
              <a:rPr lang="en-US" err="1">
                <a:ea typeface="Roboto"/>
              </a:rPr>
              <a:t>negocio</a:t>
            </a:r>
            <a:r>
              <a:rPr lang="en-US">
                <a:ea typeface="Roboto"/>
              </a:rPr>
              <a:t>: </a:t>
            </a:r>
            <a:r>
              <a:rPr lang="en-US" err="1">
                <a:ea typeface="Roboto"/>
              </a:rPr>
              <a:t>Conoce</a:t>
            </a:r>
            <a:r>
              <a:rPr lang="en-US">
                <a:ea typeface="Roboto"/>
              </a:rPr>
              <a:t> la </a:t>
            </a:r>
            <a:r>
              <a:rPr lang="en-US" err="1">
                <a:ea typeface="Roboto"/>
              </a:rPr>
              <a:t>incitiva</a:t>
            </a:r>
            <a:r>
              <a:rPr lang="en-US">
                <a:ea typeface="Roboto"/>
              </a:rPr>
              <a:t>, el </a:t>
            </a:r>
            <a:r>
              <a:rPr lang="en-US" err="1">
                <a:ea typeface="Roboto"/>
              </a:rPr>
              <a:t>alcance</a:t>
            </a:r>
            <a:r>
              <a:rPr lang="en-US">
                <a:ea typeface="Roboto"/>
              </a:rPr>
              <a:t>, </a:t>
            </a:r>
            <a:r>
              <a:rPr lang="en-US" err="1">
                <a:ea typeface="Roboto"/>
              </a:rPr>
              <a:t>conoce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dependencia</a:t>
            </a:r>
            <a:r>
              <a:rPr lang="en-US">
                <a:ea typeface="Roboto"/>
              </a:rPr>
              <a:t>.</a:t>
            </a:r>
          </a:p>
          <a:p>
            <a:pPr defTabSz="1219170"/>
            <a:r>
              <a:rPr lang="en-US">
                <a:ea typeface="Roboto"/>
              </a:rPr>
              <a:t>En </a:t>
            </a:r>
            <a:r>
              <a:rPr lang="en-US" err="1">
                <a:ea typeface="Roboto"/>
              </a:rPr>
              <a:t>que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momento</a:t>
            </a:r>
            <a:r>
              <a:rPr lang="en-US">
                <a:ea typeface="Roboto"/>
              </a:rPr>
              <a:t>: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>
                <a:ea typeface="Roboto"/>
              </a:rPr>
              <a:t>Se </a:t>
            </a:r>
            <a:r>
              <a:rPr lang="en-US" err="1">
                <a:ea typeface="Roboto"/>
              </a:rPr>
              <a:t>prioriza</a:t>
            </a:r>
            <a:r>
              <a:rPr lang="en-US">
                <a:ea typeface="Roboto"/>
              </a:rPr>
              <a:t> la </a:t>
            </a:r>
            <a:r>
              <a:rPr lang="en-US" err="1">
                <a:ea typeface="Roboto"/>
              </a:rPr>
              <a:t>habilitadora</a:t>
            </a:r>
            <a:r>
              <a:rPr lang="en-US">
                <a:ea typeface="Roboto"/>
              </a:rPr>
              <a:t> y </a:t>
            </a:r>
            <a:r>
              <a:rPr lang="en-US" err="1">
                <a:ea typeface="Roboto"/>
              </a:rPr>
              <a:t>pasa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refinamiento</a:t>
            </a:r>
            <a:r>
              <a:rPr lang="en-US">
                <a:ea typeface="Roboto"/>
              </a:rPr>
              <a:t> con </a:t>
            </a:r>
            <a:r>
              <a:rPr lang="en-US" err="1">
                <a:ea typeface="Roboto"/>
              </a:rPr>
              <a:t>lideres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técnicos</a:t>
            </a:r>
            <a:r>
              <a:rPr lang="en-US">
                <a:ea typeface="Roboto"/>
              </a:rPr>
              <a:t>.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Entendimiento</a:t>
            </a:r>
            <a:r>
              <a:rPr lang="en-US">
                <a:ea typeface="Roboto"/>
              </a:rPr>
              <a:t>:  </a:t>
            </a:r>
            <a:r>
              <a:rPr lang="en-US" err="1">
                <a:ea typeface="Roboto"/>
              </a:rPr>
              <a:t>Lidera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especialista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Arquitectura</a:t>
            </a:r>
            <a:r>
              <a:rPr lang="en-US">
                <a:ea typeface="Roboto"/>
              </a:rPr>
              <a:t>: </a:t>
            </a:r>
            <a:r>
              <a:rPr lang="en-US" err="1">
                <a:ea typeface="Roboto"/>
              </a:rPr>
              <a:t>Lidera</a:t>
            </a:r>
            <a:r>
              <a:rPr lang="en-US">
                <a:ea typeface="Roboto"/>
              </a:rPr>
              <a:t> el </a:t>
            </a:r>
            <a:r>
              <a:rPr lang="en-US" err="1">
                <a:ea typeface="Roboto"/>
              </a:rPr>
              <a:t>arquitecto</a:t>
            </a:r>
            <a:endParaRPr lang="en-US" err="1"/>
          </a:p>
          <a:p>
            <a:pPr defTabSz="1219170"/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ESTADO: "La construcción del DoR la realiza el Líder de Célula asegurando que la iniciativa/histori" estaba resaltado en amarillo (contenido en revisión)</a:t>
            </a:r>
          </a:p>
          <a:p>
            <a:r>
              <a:rPr lang="es-CO" b="1" dirty="0"/>
              <a:t>PRESENTA: Juan  Ma + Lina</a:t>
            </a:r>
          </a:p>
          <a:p>
            <a:r>
              <a:rPr lang="es-CO" b="1" dirty="0"/>
              <a:t>PRESENTA: Aleyda +  Monica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7158-3EFA-F629-ACCB-9EC07EC9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951B2-913E-1CF1-AAA6-B58F5B7C1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06FD-F1A2-0E44-B529-56F56160E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PRESENTA: Juan  Ma + Lina + Aleyda +  Monica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CCF37-69F4-8DB4-6899-5C30D69B8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58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2026-D5B3-714D-2BC8-A6A075DA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1B781-D78C-B947-3FC8-092C834D7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E216A-E3F5-77F2-E1E9-608847CE9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Juan Manuel Patiño</a:t>
            </a:r>
          </a:p>
          <a:p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PENDIENTE: Por que medio se realiza esta solicitud!</a:t>
            </a:r>
          </a:p>
          <a:p>
            <a:r>
              <a:rPr lang="es-CO" b="1" dirty="0"/>
              <a:t>ESTADO: RODAS-Revisar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8884C-D22A-C168-D044-58ADFE106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10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F00E-875B-C4C8-050E-A65A70E5D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DE299-E9BA-30DD-2377-267AC2BC8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DC2D9-4085-3F13-D5F5-5F7933694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Olga Cristina Mejia</a:t>
            </a:r>
          </a:p>
          <a:p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PENDIENTE: El   líder de célula aprueba los pipeline en el paso a producción – como  lo  aprueba</a:t>
            </a:r>
          </a:p>
          <a:p>
            <a:r>
              <a:rPr lang="es-CO" b="1" dirty="0"/>
              <a:t>PRESENTA: Stive   + Sara</a:t>
            </a:r>
          </a:p>
          <a:p>
            <a:r>
              <a:rPr lang="es-CO" b="1" dirty="0"/>
              <a:t>PENDIENTE: Por que medio se realiza esta solicitud!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50759-8885-9B5A-98ED-63FAB820C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79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F6BBF-7A40-029A-32D4-8E899F07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8D8E0-9D77-7C98-BE83-F0EB93F09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EEEEC-034A-51A2-B84B-622AABD4D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Ana Catalina Castaño</a:t>
            </a:r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PENDIENTE: Por que medio se realiza esta solicitud!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70799-7DDB-5FE0-F5AA-D26D842B8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0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FA659-11CF-8DB1-D946-229F4436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F90A7-D51A-27EC-45DD-7B663122E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3EA3F-F7EA-1A6F-4D85-F513CF6DA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Camilo Ocampo</a:t>
            </a:r>
          </a:p>
          <a:p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PRESENTA: Camilo Ocampo_ Alejo  Molina</a:t>
            </a:r>
          </a:p>
          <a:p>
            <a:r>
              <a:rPr lang="es-CO" b="1" dirty="0"/>
              <a:t>PENDIENTE: Por que medio se realiza esta solicitud!</a:t>
            </a:r>
          </a:p>
          <a:p>
            <a:r>
              <a:rPr lang="es-CO" b="1" dirty="0"/>
              <a:t>PENDIENTE: SLA´s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A82F2-3C1B-F3B1-9766-104D11286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21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3219-549F-99BE-8EF4-B3FFF75C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C5D81-A220-B8FD-70B7-5DF24CAD5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67EBC-C152-6CB3-8802-872A72A6E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Camilo Ocampo</a:t>
            </a:r>
          </a:p>
          <a:p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PRESENTA: Alejo  Molina</a:t>
            </a:r>
          </a:p>
          <a:p>
            <a:r>
              <a:rPr lang="es-CO" b="1" dirty="0"/>
              <a:t>ESTADO: EN CONSTRUCCIÖN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E9A9E-72AC-8B77-1ABB-5D47744EA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79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91A3-7221-7940-E732-5AA8741BE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BC71A-4C7A-DDE1-28ED-DD77C371A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5259A-665B-B28B-7000-CFAC26276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Sora- DOR  </a:t>
            </a:r>
            <a:r>
              <a:rPr lang="en-US" b="1" err="1"/>
              <a:t>Integracion</a:t>
            </a:r>
            <a:r>
              <a:rPr lang="en-US" b="1"/>
              <a:t>- Gustavo Carvajal </a:t>
            </a:r>
          </a:p>
          <a:p>
            <a:endParaRPr lang="en-US" b="1"/>
          </a:p>
          <a:p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ESTADO: "Reunión de contexto." estaba resaltado en amarillo (contenido en revisión)</a:t>
            </a:r>
          </a:p>
          <a:p>
            <a:r>
              <a:rPr lang="es-CO" b="1" dirty="0"/>
              <a:t>ESTADO: "Formato para la creación de integraciones correctamente diligenciado." estaba resaltado en amarillo (contenido en revisión)</a:t>
            </a:r>
          </a:p>
          <a:p>
            <a:r>
              <a:rPr lang="es-CO" b="1" dirty="0"/>
              <a:t>ESTADO: "Link de la wiki donde esté publicada la Arquitectura de la solución aprobada." estaba resaltado en amarillo (contenido en revisión)</a:t>
            </a:r>
          </a:p>
          <a:p>
            <a:r>
              <a:rPr lang="es-CO" b="1" dirty="0"/>
              <a:t>ESTADO: "Permisos habilitados desde el bus de integración/Datapower/Mulesoft RTF y Flex hacia los b" estaba resaltado en amarillo (contenido en revisión)</a:t>
            </a:r>
          </a:p>
          <a:p>
            <a:r>
              <a:rPr lang="es-CO" b="1" dirty="0"/>
              <a:t>PENDIENTE: Habilitadora  correspondiente  - la DOR  la  hace  el Desarrollador!?</a:t>
            </a:r>
          </a:p>
          <a:p>
            <a:r>
              <a:rPr lang="es-CO" b="1" dirty="0"/>
              <a:t>ESTADO: "Dependencia declarada según el proceso definido por la compañía. (Historia de usuario y cr" estaba resaltado en amarillo (contenido en revisión)</a:t>
            </a:r>
          </a:p>
          <a:p>
            <a:r>
              <a:rPr lang="es-CO" b="1" dirty="0"/>
              <a:t>ESTADO: "Desarrollo de la dependencia en los ambientes dev/cert/prod, funcional y con sus respectiv" estaba resaltado en amarillo (contenido en revisión)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8605F-FB2E-646D-55B3-3697508D5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83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Estiben Licona</a:t>
            </a:r>
          </a:p>
          <a:p>
            <a:endParaRPr lang="es-CO" dirty="0"/>
          </a:p>
          <a:p>
            <a:r>
              <a:rPr lang="es-CO" dirty="0"/>
              <a:t>GUION (60 s): la arquitectura de la etapa 2 son los planos; en esta etapa se construye la casa; certificación es la inspección antes de entregar las llaves. Cerrar con lo que les pedimos (siguiente slide): historias claras y respuestas rápidas.</a:t>
            </a:r>
          </a:p>
          <a:p>
            <a:endParaRPr lang="es-CO" dirty="0"/>
          </a:p>
          <a:p>
            <a:r>
              <a:rPr lang="es-CO" dirty="0"/>
              <a:t>LO QUE HACE EL EQUIPO TÉCNICO (no va en el slide): alinear la arquitectura con el equipo · resolver impedimentos (permisos, accesos, equipos externos) · revisar y aprobar el código de los demás · sincronizar Dev y QA (QA prepara los casos de prueba en paralelo) · mantener el ambiente de certificación · velar por los lineamientos de desarrollo, calidad y seguridad · ceremonias ágiles.</a:t>
            </a:r>
          </a:p>
          <a:p>
            <a:endParaRPr lang="es-CO" dirty="0"/>
          </a:p>
          <a:p>
            <a:r>
              <a:rPr lang="es-CO" dirty="0"/>
              <a:t>SI PREGUNTAN ¿QUÉ ES RESERVA DE FUENTES?: apartar el código que se va a modificar para trabajar sin afectar a los demás. En AS400 se reserva la fuente; en desarrollos modernos se crea una rama propia y al final se integra. Si otra iniciativa está sobre el mismo módulo, se coordinan los cambios y eso puede mover fechas.</a:t>
            </a:r>
          </a:p>
          <a:p>
            <a:endParaRPr lang="es-CO" dirty="0"/>
          </a:p>
          <a:p>
            <a:r>
              <a:rPr lang="es-CO" dirty="0"/>
              <a:t>SI PREGUNTAN ¿QUÉ SON LOS AMBIENTES?: copias separadas del sistema. Desarrollo: el equipo construye. Certificación: QA valida y el líder de célula hace la UAT con datos de prueba. Producción: lo que usan los clientes; solo se llega tras el comité de cambios. Analogía: cocina de pruebas → degustación → servir al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0BD5-A522-DF69-01F5-A609C6E4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44802-A65B-6D3B-A75B-44AB39890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6310A-21C4-640F-557A-E0F2FF338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Jorge Ivan Gomez</a:t>
            </a:r>
          </a:p>
          <a:p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PENDIENTE: Ejemplo: App  desarrolla y es  mi  insumo - Componentes  transversales - DORIntegral</a:t>
            </a:r>
          </a:p>
          <a:p>
            <a:r>
              <a:rPr lang="es-CO" b="1" dirty="0"/>
              <a:t>ESTADO: el bloque "Líder  de  célula  participa:" estaba resaltado en amarillo (contenido en revisión)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2616-D437-0911-1122-12A1B30A0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47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98B8-F851-CF97-FF2B-35EF15D7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C5622-6CE5-D808-D352-45526B290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55DCF-8080-4D08-C455-18B0DEB81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Daniela Calle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D010-C2AF-0B89-3CB1-E0C51E162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39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737E-EDC6-14AF-51F0-1DFBEA50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A8FFA-1570-AC3D-191A-49C8E0A61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B0682-8A73-1BCE-5E4F-4FAAFCCFB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Juan Manuel Patiño</a:t>
            </a:r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PRESENTA: Juan Manuel Patiño -  Rodas</a:t>
            </a:r>
          </a:p>
          <a:p>
            <a:r>
              <a:rPr lang="es-CO" b="1" dirty="0"/>
              <a:t>PENDIENTE: Reproceso:</a:t>
            </a:r>
          </a:p>
          <a:p>
            <a:r>
              <a:rPr lang="es-CO" b="1" dirty="0"/>
              <a:t>PENDIENTE: Aprobacion  para el  paso a produccion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0B62F-F282-AD59-1F09-9D55FC40D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66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B0A4-A4B1-FDA1-7B72-5981B30E5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4898-2790-EFD3-B9F2-B2260A94C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A61E2-3410-F80A-C6A2-B0ED77903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Lorena Ospina –Ana  Catalina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D792F-EFF5-CEDF-1055-0D6D9C720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76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B3D5-E317-DC25-2C6A-9D2533DC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A2909-9464-C647-5DB5-C0358A5C6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58F1A-72C5-BF4B-E3D4-33E92166D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Lorena Ospina - Cata</a:t>
            </a:r>
          </a:p>
          <a:p>
            <a:endParaRPr lang="en-US"/>
          </a:p>
          <a:p>
            <a:endParaRPr lang="es-CO" dirty="0"/>
          </a:p>
          <a:p>
            <a:r>
              <a:rPr lang="es-CO" b="1" dirty="0"/>
              <a:t>APUNTES QUE ESTABAN EN EL SLIDE:</a:t>
            </a:r>
          </a:p>
          <a:p>
            <a:r>
              <a:rPr lang="es-CO" b="1" dirty="0"/>
              <a:t>ESTADO: "Documentación del entregable a la operación en la wiki.  / Formación conocimiento técnico " estaba resaltado en amarillo (contenido en revisión)</a:t>
            </a:r>
          </a:p>
          <a:p>
            <a:r>
              <a:rPr lang="es-CO" b="1" dirty="0"/>
              <a:t>PENDIENTE: Acá puede salir:</a:t>
            </a:r>
          </a:p>
          <a:p>
            <a:r>
              <a:rPr lang="es-CO" b="1" dirty="0"/>
              <a:t>PENDIENTE: Documentación</a:t>
            </a:r>
          </a:p>
          <a:p>
            <a:r>
              <a:rPr lang="es-CO" b="1" dirty="0"/>
              <a:t>PENDIENTE: Socialización  para la  entrega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8B1A5-6CBB-71F9-7CE1-43153EF2B0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08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F704-138B-FE67-F9AE-7E72FFA9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FDAF38-2EBE-DB08-D73E-7A8D56C4C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A4F859-CCFB-6F7E-C0E2-F56CBEC1D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D8E1B5-9146-6334-DC9E-157C11803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538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F4E6-5B39-C88F-896E-5E71EE14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445AE2-203F-058C-B93B-6C0605D85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DD95FE-D40F-585D-BDFC-2FA3D2850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5F2D02-AF7C-0AC9-DCBA-9F05EF26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926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DC7A-1E48-B922-C479-B140BF42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4C154F-5761-E12B-EEF8-CA34A2612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1E9913-AD54-C424-FBDE-0B222AA49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195575-0DF6-063D-853A-B3058698A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080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15A8-9674-E843-0EEE-BF71C8F7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E6D39-FA1E-D862-5C08-27C424FA8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B600E-6033-BC43-FFB2-AF60523E2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9F158-20BD-0ED7-5C0B-0214E886B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092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0304-61BD-A0C1-416A-6D9E52C0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91641-08AC-8CA9-C614-73A702A03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A0357-04FE-AF09-1C74-C721F5474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DE6FB-E973-5925-0CB2-7BECE32C3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8342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Estiben Licona</a:t>
            </a:r>
          </a:p>
          <a:p>
            <a:endParaRPr lang="es-CO" dirty="0"/>
          </a:p>
          <a:p>
            <a:r>
              <a:rPr lang="es-CO" dirty="0"/>
              <a:t>IDEA CENTRAL: el desarrollo avanza al ritmo de las decisiones del negocio. Las causas de retraso que más días cuestan son las que menos se nombran: cambios de prioridad, gente compartida y demasiadas historias abiertas.</a:t>
            </a:r>
          </a:p>
          <a:p>
            <a:endParaRPr lang="es-CO" dirty="0"/>
          </a:p>
          <a:p>
            <a:r>
              <a:rPr lang="es-CO" dirty="0"/>
              <a:t>AMBIENTES NO HOMOLOGADOS: certificación no es igual a producción (versiones, configuración, datos), así que lo probado puede fallar después o no se puede probar completo. Va de la mano con "hallazgos tardíos": todo lo que se descubre al final obliga a rehacer.</a:t>
            </a:r>
          </a:p>
          <a:p>
            <a:endParaRPr lang="es-CO" dirty="0"/>
          </a:p>
          <a:p>
            <a:r>
              <a:rPr lang="es-CO" dirty="0"/>
              <a:t>SI PREGUNTAN ¿POR QUÉ SE RETRASA SI SE CAE CERTIFICACIÓN?: es un ambiente compartido por varios equipos; sin él no se puede publicar ni probar. El líder técnico gestiona su recuperación.</a:t>
            </a:r>
          </a:p>
          <a:p>
            <a:endParaRPr lang="es-CO" dirty="0"/>
          </a:p>
          <a:p>
            <a:r>
              <a:rPr lang="es-CO" dirty="0"/>
              <a:t>OTRAS CAUSAS DE RETRASO (de respaldo, no van en el slide): decisiones de negocio que no llegan · UAT tardía · insumos que faltan (datos de prueba, credenciales de terceros) · deuda técnica y sistemas legados (AS400) · ciclos de corrección de defectos · rotación o vacaciones sin relevo.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Estiben Licona</a:t>
            </a:r>
          </a:p>
          <a:p>
            <a:endParaRPr lang="es-CO" dirty="0"/>
          </a:p>
          <a:p>
            <a:r>
              <a:rPr lang="es-CO" dirty="0"/>
              <a:t>QUÉ ES, EN UNA FRASE: atajos o pendientes técnicos que permiten entregar hoy pero encarecen cada cambio futuro. Como un préstamo: mientras no se paga, cobra intereses.</a:t>
            </a:r>
          </a:p>
          <a:p>
            <a:endParaRPr lang="es-CO" dirty="0"/>
          </a:p>
          <a:p>
            <a:r>
              <a:rPr lang="es-CO" dirty="0"/>
              <a:t>CÓMO SE SIENTE CADA TIPO (para ampliar los ejemplos): arquitectura → lentitud, caídas, un sistema que no escala cuando crece el negocio · desarrollo → cada cambio cuesta más y se rompe con más facilidad · calidad → certificaciones lentas y defectos que se escapan a producción · seguridad → riesgo de incidente o fraude y hallazgos de auditoría.</a:t>
            </a:r>
          </a:p>
          <a:p>
            <a:endParaRPr lang="es-CO" dirty="0"/>
          </a:p>
          <a:p>
            <a:r>
              <a:rPr lang="es-CO" dirty="0"/>
              <a:t>TÉRMINOS QUE PUEDEN PREGUNTAR: TPS = transacciones por segundo, cuántas operaciones aguanta el sistema al mismo tiempo. Sonar = herramienta que revisa el código automáticamente y reporta cobertura de pruebas, código duplicado y malas prácticas. Criterios no funcionales = lo que el sistema debe cumplir además de la función: rapidez, disponibilidad, capacidad, seguridad.</a:t>
            </a:r>
          </a:p>
          <a:p>
            <a:endParaRPr lang="es-CO" dirty="0"/>
          </a:p>
          <a:p>
            <a:r>
              <a:rPr lang="es-CO" dirty="0"/>
              <a:t>CICLO DE GESTIÓN (notas del equipo): registrar la deuda técnica en el backlog · entender su impacto funcional: incidentes, indisponibilidad, lentitud, riesgo de seguridad o dificultad para entregar nuevas capacidades · priorizarla con base en riesgo e impacto · escalar la deuda crítica que no pueda resolverse dentro de la célula · dar seguimiento hasta su cierre o la aceptación formal del riesgo.</a:t>
            </a:r>
          </a:p>
          <a:p>
            <a:endParaRPr lang="es-CO" dirty="0"/>
          </a:p>
          <a:p>
            <a:r>
              <a:rPr lang="es-CO" dirty="0"/>
              <a:t>PREGUNTA ÚTIL PARA EL PO: ¿qué deuda tenemos y qué nos está costando hoy? Aceptar un riesgo formalmente también es una decisión válida: queda registrado quién lo aceptó y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Jorge Ivan Gomez</a:t>
            </a:r>
          </a:p>
          <a:p>
            <a:endParaRPr lang="es-CO" dirty="0"/>
          </a:p>
          <a:p>
            <a:r>
              <a:rPr lang="es-CO" dirty="0"/>
              <a:t>MENSAJE CLAVE: sin participación activa del PO no hay pruebas realmente efectivas.</a:t>
            </a:r>
          </a:p>
          <a:p>
            <a:endParaRPr lang="es-CO" dirty="0"/>
          </a:p>
          <a:p>
            <a:r>
              <a:rPr lang="es-CO" dirty="0"/>
              <a:t>LO QUE NECESITAMOS DEL PO DESDE EL INICIO (contenido completo del insumo): 1. Historias de usuario bien definidas: objetivo claro, contexto de negocio, alcance y fuera de alcance. 2. Criterios de aceptación concretos y medibles: qué debe pasar, qué no debe pasar, qué se considera "terminado". 3. Priorización por riesgo e impacto: qué es crítico para cliente/negocio, qué debe probarse primero. 4. Disponibilidad para resolver dudas rápido: evita bloqueos y suposiciones en QA, mejora tiempos de ejecución. 5. Liderazgo en UAT: valida valor de negocio, no solo funcionamiento técnico; da aprobación informada para salida a producción.</a:t>
            </a:r>
          </a:p>
          <a:p>
            <a:endParaRPr lang="es-CO" dirty="0"/>
          </a:p>
          <a:p>
            <a:r>
              <a:rPr lang="es-CO" dirty="0"/>
              <a:t>IMPACTO DIRECTO DE SU PARTICIPACIÓN: mejor planeación de pruebas · casos de prueba más útiles · menos defectos en producción · UAT más ágil, con menos rechazos · mayor confianza en cada release.</a:t>
            </a:r>
          </a:p>
          <a:p>
            <a:endParaRPr lang="es-CO" dirty="0"/>
          </a:p>
          <a:p>
            <a:r>
              <a:rPr lang="es-CO" dirty="0"/>
              <a:t>FRASE FINAL: un buen PO no solo define qué construir; ayuda a asegurar que se entregue con calidad y valor para 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C4BEF-D272-3B08-B5AE-E4DBF9DF0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26A3E4-9F6B-A270-C094-723ED4B74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C16873-6F48-E418-D4CD-3B5F2A70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DC7ADF-D240-B3F8-ADF5-1839705B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3C293-C810-6D33-8670-1FE9D9C9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282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23F3B-43A4-5B30-26AF-80989ADA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98F4CB-A337-C06E-6C29-84B8E4EC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83B9E3-F324-F075-71AF-85D1ED32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E6BA4-348C-2BD6-E1D2-35A9DC82E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D610C-F14E-619E-BC5C-6E0812CB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84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1DA97-5358-729B-B799-217CC9BF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C43AD2-46E9-68E7-53A9-AD2C3708C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A18CC-B8A2-1BDD-40E6-FEC9181C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29AF63-7E6A-E17B-694A-F083D569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06AACE-33AF-7ACF-AEDD-75042984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82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A3223-2FFC-4655-2F06-C3D8B259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27071-D6B6-A824-DE77-FF3C976C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7B5BF9-044A-8ADB-5826-6B5A4FF12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1A9EA8-1CFF-22EB-947F-CF653E71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7EFE63-4CC5-3D53-4554-253B73EE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34EB01-D334-8EA1-7B5C-7720CFB3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47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7AED4-8C09-638B-9FFB-5B5A106B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F53222-2D6B-85EE-537D-16D0ACFD1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0FD539-D633-9379-FC9D-99BE9CFD1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D35A1A-1816-EDE1-0A29-1D9E071CF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A430DD-DC81-2F0E-7CA2-40E364BD9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C781F4-A156-0662-58E2-D527889C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5244AD-78C8-D84C-E395-08B8E72B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40457-55AD-E93C-87ED-DA387CC3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79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18619-9679-0493-C852-CC244B78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53A3C1-BA69-BD5C-3DA3-928EB5E6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8F55BF-CD9F-66A4-F56B-C76738BBA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7C3F1C3-F976-331C-0869-E9D96140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81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1B80C6-78DA-E5C3-87EC-755E821E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B24C0D-2B5A-02BA-198F-86B87881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F27C36-B1E6-4ABB-91C6-BAD9B216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3429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9B75C-612A-5C75-56C1-F3CB2780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4462B3-86EB-B0FC-BEBD-4D33DB7E8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060E6B-FC72-84CB-77DA-C9EA1B299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B9AA40-3234-1EB6-9354-42A3CF02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B3F5DC-62FA-8C29-E7D9-9D327521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B7728A-164C-6899-DE10-E7686350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41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B8409-E9F2-AC0A-F312-8B35331F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CB312AB-AFC1-8C1D-A3FE-F4CA1CDBB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A4E1DA-9384-600D-A15A-F17079AE7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1C131-E403-2087-98C0-DCE581D7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ACBCB3-A327-F84B-6A28-6E96AC38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7236C8-4604-B6CA-78BE-0A2BE89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51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BE2A6-0931-12D9-B63D-FFFCA2A6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CFCC34-1263-66D6-7AA7-B556C10D1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C3869B-B280-C384-CB20-CAD34D08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AAEA0B-8F7E-5D9E-35D2-3641BEE1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2E1B91-503E-3C8A-8A37-99ACA5AB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25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CF4F20-CFC6-6164-3A3F-B6A4CA26B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EB58D8-AF00-4DFC-65BD-A8477819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7AA3FE-6F0B-9608-E555-475A410D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1A79A6-0030-28A8-663F-1535D8C0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CC9FB4-F127-AECE-74DC-07E4BE61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1818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948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D982708-A86C-8799-EE01-C47174E1D4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6000"/>
          </a:blip>
          <a:srcRect t="109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5B081AA-F506-D5F7-6C19-74D030055D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480" t="44485" r="25641" b="26254"/>
          <a:stretch>
            <a:fillRect/>
          </a:stretch>
        </p:blipFill>
        <p:spPr>
          <a:xfrm>
            <a:off x="0" y="0"/>
            <a:ext cx="12192000" cy="68633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AEBD577-9205-BDFE-C636-29BEEEDF3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776" t="15336" r="12807" b="18147"/>
          <a:stretch>
            <a:fillRect/>
          </a:stretch>
        </p:blipFill>
        <p:spPr>
          <a:xfrm>
            <a:off x="11051475" y="147478"/>
            <a:ext cx="1062484" cy="8482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1CB64A-ACAF-1C5B-2AA0-37DFE0A1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9A73D1-C504-9BEC-51D0-A802D1D1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EE2E-CF09-43FC-840E-50DB8BD7F7E7}" type="datetimeFigureOut">
              <a:rPr lang="es-419" smtClean="0"/>
              <a:t>16/9/2026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C9175C-E860-16FA-9E7A-DB272B7F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B9E705-7E0D-1643-0BEF-2383A5D9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C5065-544E-41C0-B313-9F8D9466A2D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69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227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762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22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71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7620">
            <a:solidFill>
              <a:srgbClr val="203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7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B26220-8DBD-8A61-4FBE-FED89AF5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500E8E-0B70-9CA0-7A6B-E982571FB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B02C65-2D5D-9B8C-F7BF-07ED745AB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F9C805-3632-AB7F-7889-EBE47943F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A100C4-24E7-B66F-1AEF-72C8943A3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EEF7FFD-4406-4C77-807A-BBCB2622BD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80162" y="6489700"/>
            <a:ext cx="11657013" cy="3048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Este documento es propiedad de Tuya S.A. Su contenido es confidencial y está protegido por las políticas de seguridad de la compañía. El uso indebido, reproducción o divulgación no autorizada está estrictamente prohibido.</a:t>
            </a:r>
          </a:p>
        </p:txBody>
      </p:sp>
    </p:spTree>
    <p:extLst>
      <p:ext uri="{BB962C8B-B14F-4D97-AF65-F5344CB8AC3E}">
        <p14:creationId xmlns:p14="http://schemas.microsoft.com/office/powerpoint/2010/main" val="351039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DE2AA5B-2614-6407-706F-647DDC448C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80162" y="6489700"/>
            <a:ext cx="11657013" cy="3048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Este documento es propiedad de Tuya S.A. Su contenido es confidencial y está protegido por las políticas de seguridad de la compañía. El uso indebido, reproducción o divulgación no autorizada está estrictamente prohibido.</a:t>
            </a:r>
          </a:p>
        </p:txBody>
      </p:sp>
    </p:spTree>
    <p:extLst>
      <p:ext uri="{BB962C8B-B14F-4D97-AF65-F5344CB8AC3E}">
        <p14:creationId xmlns:p14="http://schemas.microsoft.com/office/powerpoint/2010/main" val="330700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4" Type="http://schemas.openxmlformats.org/officeDocument/2006/relationships/image" Target="../media/image2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4" Type="http://schemas.openxmlformats.org/officeDocument/2006/relationships/image" Target="../media/image2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21.svg"/><Relationship Id="rId4" Type="http://schemas.openxmlformats.org/officeDocument/2006/relationships/image" Target="../media/image2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png"/><Relationship Id="rId5" Type="http://schemas.openxmlformats.org/officeDocument/2006/relationships/image" Target="../media/image21.sv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forms.cloud.microsoft/Pages/ResponsePage.aspx?id=H0z4zMv4n0-bVVLr9CaWNlEM7k0g7vdGr0fN0aqHZzhUOU5HNVpNWFFXSVhVV0dGM085Nlo3MjhINCQlQCNjPTEu" TargetMode="Externa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E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22CB1-5BC3-B865-8B5A-0E9DAA2E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5C5ED6-E265-CA9C-9CB5-C0D4E2F53879}"/>
              </a:ext>
            </a:extLst>
          </p:cNvPr>
          <p:cNvSpPr/>
          <p:nvPr/>
        </p:nvSpPr>
        <p:spPr>
          <a:xfrm>
            <a:off x="1133856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16233B-6D06-85A5-D1DC-D790B9563EA0}"/>
              </a:ext>
            </a:extLst>
          </p:cNvPr>
          <p:cNvSpPr/>
          <p:nvPr/>
        </p:nvSpPr>
        <p:spPr>
          <a:xfrm>
            <a:off x="1170432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8B623A-AA89-C49E-6C53-D8FDE5CD8BD6}"/>
              </a:ext>
            </a:extLst>
          </p:cNvPr>
          <p:cNvSpPr/>
          <p:nvPr/>
        </p:nvSpPr>
        <p:spPr>
          <a:xfrm>
            <a:off x="1133856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5CAE31-F88C-104B-B622-4F12E3838093}"/>
              </a:ext>
            </a:extLst>
          </p:cNvPr>
          <p:cNvSpPr/>
          <p:nvPr/>
        </p:nvSpPr>
        <p:spPr>
          <a:xfrm>
            <a:off x="1170432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E6783E3-37BA-8B37-F699-E0593EFB0AF7}"/>
              </a:ext>
            </a:extLst>
          </p:cNvPr>
          <p:cNvSpPr/>
          <p:nvPr/>
        </p:nvSpPr>
        <p:spPr>
          <a:xfrm>
            <a:off x="1097280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2535A4-7D7F-33BC-91A4-36CC3E51F6F9}"/>
              </a:ext>
            </a:extLst>
          </p:cNvPr>
          <p:cNvSpPr/>
          <p:nvPr/>
        </p:nvSpPr>
        <p:spPr>
          <a:xfrm>
            <a:off x="1097280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34B9B32-5076-552A-1B85-7C8A6A547E6A}"/>
              </a:ext>
            </a:extLst>
          </p:cNvPr>
          <p:cNvSpPr/>
          <p:nvPr/>
        </p:nvSpPr>
        <p:spPr>
          <a:xfrm>
            <a:off x="1133856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3427C8-9ED3-A207-E475-16E745A279C2}"/>
              </a:ext>
            </a:extLst>
          </p:cNvPr>
          <p:cNvSpPr/>
          <p:nvPr/>
        </p:nvSpPr>
        <p:spPr>
          <a:xfrm>
            <a:off x="1170432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6665C0-0863-260F-A070-CF32152D4D61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697CD2-3A93-CAAC-17EA-72A83CE313BD}"/>
              </a:ext>
            </a:extLst>
          </p:cNvPr>
          <p:cNvSpPr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s-419" sz="6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Líder de Célula</a:t>
            </a:r>
            <a:endParaRPr lang="en-US"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A71A23C-D9D5-417A-33BF-399672D02FCE}"/>
              </a:ext>
            </a:extLst>
          </p:cNvPr>
          <p:cNvSpPr/>
          <p:nvPr/>
        </p:nvSpPr>
        <p:spPr>
          <a:xfrm>
            <a:off x="744980" y="3224089"/>
            <a:ext cx="9921240" cy="67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Trazabilidad del valor, del </a:t>
            </a:r>
            <a:r>
              <a:rPr kumimoji="0" lang="es-419" sz="3600" i="0" u="none" strike="noStrike" kern="1200" cap="none" spc="0" normalizeH="0" baseline="0" noProof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Okr</a:t>
            </a: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a Producción. 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E0C370D-FC70-9213-F842-28C74FD9CD13}"/>
              </a:ext>
            </a:extLst>
          </p:cNvPr>
          <p:cNvSpPr/>
          <p:nvPr/>
        </p:nvSpPr>
        <p:spPr>
          <a:xfrm>
            <a:off x="744980" y="3898045"/>
            <a:ext cx="409372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AAA5073-112D-AE9F-4175-96F22AB9CB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6B269462-162E-49DC-A50C-5F7F63DD0523}"/>
              </a:ext>
            </a:extLst>
          </p:cNvPr>
          <p:cNvSpPr/>
          <p:nvPr/>
        </p:nvSpPr>
        <p:spPr>
          <a:xfrm>
            <a:off x="744980" y="3898045"/>
            <a:ext cx="4328160" cy="67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i="0" u="none" strike="noStrike" kern="1200" cap="none" spc="0" normalizeH="0" baseline="0" noProof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Ciclo de constru</a:t>
            </a:r>
            <a:r>
              <a:rPr lang="es-419" sz="2000" err="1">
                <a:solidFill>
                  <a:srgbClr val="00C9FF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cción</a:t>
            </a:r>
            <a:r>
              <a:rPr lang="es-419" sz="2000">
                <a:solidFill>
                  <a:srgbClr val="00C9FF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de soluciones en TI</a:t>
            </a:r>
            <a:endParaRPr kumimoji="0" lang="es-419" sz="2000" i="0" u="none" strike="noStrike" kern="1200" cap="none" spc="0" normalizeH="0" baseline="0" noProof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Roboto Condensed Light" panose="02000000000000000000" pitchFamily="2" charset="0"/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478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925D013-4859-4F55-49D5-985135D30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82966"/>
              </p:ext>
            </p:extLst>
          </p:nvPr>
        </p:nvGraphicFramePr>
        <p:xfrm>
          <a:off x="1069849" y="514350"/>
          <a:ext cx="9226973" cy="4845154"/>
        </p:xfrm>
        <a:graphic>
          <a:graphicData uri="http://schemas.openxmlformats.org/drawingml/2006/table">
            <a:tbl>
              <a:tblPr/>
              <a:tblGrid>
                <a:gridCol w="3944761">
                  <a:extLst>
                    <a:ext uri="{9D8B030D-6E8A-4147-A177-3AD203B41FA5}">
                      <a16:colId xmlns:a16="http://schemas.microsoft.com/office/drawing/2014/main" val="390507097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1619324083"/>
                    </a:ext>
                  </a:extLst>
                </a:gridCol>
                <a:gridCol w="793678">
                  <a:extLst>
                    <a:ext uri="{9D8B030D-6E8A-4147-A177-3AD203B41FA5}">
                      <a16:colId xmlns:a16="http://schemas.microsoft.com/office/drawing/2014/main" val="4242866578"/>
                    </a:ext>
                  </a:extLst>
                </a:gridCol>
                <a:gridCol w="861928">
                  <a:extLst>
                    <a:ext uri="{9D8B030D-6E8A-4147-A177-3AD203B41FA5}">
                      <a16:colId xmlns:a16="http://schemas.microsoft.com/office/drawing/2014/main" val="519516491"/>
                    </a:ext>
                  </a:extLst>
                </a:gridCol>
                <a:gridCol w="2858510">
                  <a:extLst>
                    <a:ext uri="{9D8B030D-6E8A-4147-A177-3AD203B41FA5}">
                      <a16:colId xmlns:a16="http://schemas.microsoft.com/office/drawing/2014/main" val="372331054"/>
                    </a:ext>
                  </a:extLst>
                </a:gridCol>
              </a:tblGrid>
              <a:tr h="2702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Objetivo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Inicio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Fin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Tiempo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Responsable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87331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Seremos exitosos Si + agenda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8:30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Sara – Alejo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39408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Flujo del Proceso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Estiben Licona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26104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Análisis y DoR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Juan Manuel Maslina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58854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Diseño de Arquitectura (Con y sin)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Juan Manuel Maslina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780584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Diseño de seguridad (Con y sin)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 Rodas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8831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Diseño y DevOps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Sara/Stiven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471487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Operación de TI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 Catalina Castaño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925487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Protección de identidad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Alejo Molina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1050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Infraestructura de Seguridad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Alejo Molina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971212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Integración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Gustavo Carvajal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91778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Desarrollo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Estiben Licona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41907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Funcionales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Jorge Gomez (Virtual)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1460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Performance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Daniela Calle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73654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Seguridad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 Rodas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615861"/>
                  </a:ext>
                </a:extLst>
              </a:tr>
              <a:tr h="76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Paso a producción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Lorena Ospina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525762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Estabilización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Lorena Ospina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468626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Cierre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John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62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25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2A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A8EE4-1238-4092-0A07-E315BD1C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D42A87-C061-0512-A0B9-C0B6D526FF55}"/>
              </a:ext>
            </a:extLst>
          </p:cNvPr>
          <p:cNvSpPr/>
          <p:nvPr/>
        </p:nvSpPr>
        <p:spPr>
          <a:xfrm>
            <a:off x="853440" y="458350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7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Agenda</a:t>
            </a:r>
            <a:endParaRPr kumimoji="0" lang="es-419" sz="37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DCF9A8-147F-E38A-A2BF-624A6BAC1EAF}"/>
              </a:ext>
            </a:extLst>
          </p:cNvPr>
          <p:cNvSpPr>
            <a:spLocks noChangeAspect="1"/>
          </p:cNvSpPr>
          <p:nvPr/>
        </p:nvSpPr>
        <p:spPr>
          <a:xfrm>
            <a:off x="3234242" y="1480538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7200" b="1" i="0" u="none" strike="noStrike" kern="1200" cap="none" spc="0" normalizeH="0" baseline="0" noProof="0">
                <a:ln w="19050">
                  <a:solidFill>
                    <a:srgbClr val="FFC000"/>
                  </a:solidFill>
                </a:ln>
                <a:noFill/>
                <a:effectLst/>
                <a:uLnTx/>
                <a:uFillTx/>
                <a:latin typeface="Roboto Bk" pitchFamily="2" charset="0"/>
                <a:ea typeface="Roboto Bk" pitchFamily="2" charset="0"/>
                <a:cs typeface="Roboto Bk" pitchFamily="2" charset="0"/>
              </a:rPr>
              <a:t>1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 Bk" pitchFamily="2" charset="0"/>
              <a:ea typeface="Roboto Bk" pitchFamily="2" charset="0"/>
              <a:cs typeface="Roboto Bk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2261B1-BF3A-4049-BFFB-D4D9FF8E7366}"/>
              </a:ext>
            </a:extLst>
          </p:cNvPr>
          <p:cNvSpPr/>
          <p:nvPr/>
        </p:nvSpPr>
        <p:spPr>
          <a:xfrm>
            <a:off x="4206241" y="2775458"/>
            <a:ext cx="5727031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 noProof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Conozcamos el flujo/ciclo de construcción de soluciones con TI.</a:t>
            </a:r>
            <a:endParaRPr kumimoji="0" lang="es-419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C779C9-C3BE-6901-9508-29DE47F105B8}"/>
              </a:ext>
            </a:extLst>
          </p:cNvPr>
          <p:cNvSpPr/>
          <p:nvPr/>
        </p:nvSpPr>
        <p:spPr>
          <a:xfrm>
            <a:off x="4206242" y="3979799"/>
            <a:ext cx="6677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y uso de  Azure DevOps</a:t>
            </a:r>
            <a:endParaRPr kumimoji="0" lang="es-419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C0D15B-F379-C8B0-9529-A08EF4ADA36C}"/>
              </a:ext>
            </a:extLst>
          </p:cNvPr>
          <p:cNvSpPr/>
          <p:nvPr/>
        </p:nvSpPr>
        <p:spPr>
          <a:xfrm>
            <a:off x="4206242" y="1764697"/>
            <a:ext cx="359022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Contexto</a:t>
            </a:r>
            <a:endParaRPr lang="es-419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D6219A2-0A46-23A1-ED8A-47376B692374}"/>
              </a:ext>
            </a:extLst>
          </p:cNvPr>
          <p:cNvSpPr/>
          <p:nvPr/>
        </p:nvSpPr>
        <p:spPr>
          <a:xfrm>
            <a:off x="4206242" y="5174234"/>
            <a:ext cx="54863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defRPr/>
            </a:pPr>
            <a:r>
              <a:rPr lang="es-419" sz="2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Métricas de </a:t>
            </a:r>
            <a:r>
              <a:rPr lang="es-419" sz="2000" b="1" err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Delivery</a:t>
            </a:r>
            <a:endParaRPr lang="es-419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809FBBF-6D54-C32F-65FB-6145DFDED594}"/>
              </a:ext>
            </a:extLst>
          </p:cNvPr>
          <p:cNvSpPr>
            <a:spLocks noChangeAspect="1"/>
          </p:cNvSpPr>
          <p:nvPr/>
        </p:nvSpPr>
        <p:spPr>
          <a:xfrm>
            <a:off x="3234242" y="2593753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2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6791317F-505E-EB1A-7D28-68AE8ACFC6E5}"/>
              </a:ext>
            </a:extLst>
          </p:cNvPr>
          <p:cNvSpPr>
            <a:spLocks noChangeAspect="1"/>
          </p:cNvSpPr>
          <p:nvPr/>
        </p:nvSpPr>
        <p:spPr>
          <a:xfrm>
            <a:off x="3234242" y="3706968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3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9137165-7C14-687C-7984-10DFEFC00015}"/>
              </a:ext>
            </a:extLst>
          </p:cNvPr>
          <p:cNvSpPr>
            <a:spLocks noChangeAspect="1"/>
          </p:cNvSpPr>
          <p:nvPr/>
        </p:nvSpPr>
        <p:spPr>
          <a:xfrm>
            <a:off x="3234242" y="4820183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4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3E0E153-568F-1645-DA27-3B994EF2B5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04E03D6-38CD-5F38-D317-2B7561095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661" b="18499"/>
          <a:stretch>
            <a:fillRect/>
          </a:stretch>
        </p:blipFill>
        <p:spPr>
          <a:xfrm>
            <a:off x="0" y="3568709"/>
            <a:ext cx="3318093" cy="328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5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265D0-E45A-986C-5EC6-7D07236F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E79B02C-99B3-3DC1-5EA3-38BB358C9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0">
            <a:extLst>
              <a:ext uri="{FF2B5EF4-FFF2-40B4-BE49-F238E27FC236}">
                <a16:creationId xmlns:a16="http://schemas.microsoft.com/office/drawing/2014/main" id="{2FBED6AD-5819-9779-4FA9-2DE12937BB9F}"/>
              </a:ext>
            </a:extLst>
          </p:cNvPr>
          <p:cNvSpPr/>
          <p:nvPr/>
        </p:nvSpPr>
        <p:spPr>
          <a:xfrm>
            <a:off x="664725" y="364152"/>
            <a:ext cx="9107805" cy="935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s-419" sz="4800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Esta sesión es</a:t>
            </a:r>
            <a:r>
              <a:rPr lang="es-419" sz="4800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 exitosa si: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078DF516-A779-3409-1F24-AA55BDC60F53}"/>
              </a:ext>
            </a:extLst>
          </p:cNvPr>
          <p:cNvSpPr txBox="1"/>
          <p:nvPr/>
        </p:nvSpPr>
        <p:spPr>
          <a:xfrm>
            <a:off x="1111221" y="1663974"/>
            <a:ext cx="10927941" cy="3058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419" noProof="0">
                <a:latin typeface="Roboto" pitchFamily="2" charset="0"/>
                <a:ea typeface="Roboto" pitchFamily="2" charset="0"/>
              </a:rPr>
              <a:t>Valor con velocidad</a:t>
            </a:r>
            <a:endParaRPr lang="es-419" b="0" i="0" noProof="0"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803C02A-E4F5-D037-CBB7-025DC1C77F6C}"/>
              </a:ext>
            </a:extLst>
          </p:cNvPr>
          <p:cNvSpPr txBox="1"/>
          <p:nvPr/>
        </p:nvSpPr>
        <p:spPr>
          <a:xfrm>
            <a:off x="1621801" y="2365633"/>
            <a:ext cx="1015645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/>
            <a:r>
              <a:rPr lang="es-419">
                <a:latin typeface="Roboto" pitchFamily="2" charset="0"/>
                <a:ea typeface="Roboto" pitchFamily="2" charset="0"/>
              </a:rPr>
              <a:t>Comprendemos </a:t>
            </a:r>
            <a:endParaRPr lang="es-419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F1DEA91F-9CB1-B43C-A668-CF2387020F71}"/>
              </a:ext>
            </a:extLst>
          </p:cNvPr>
          <p:cNvSpPr txBox="1"/>
          <p:nvPr/>
        </p:nvSpPr>
        <p:spPr>
          <a:xfrm>
            <a:off x="2009203" y="3198181"/>
            <a:ext cx="6096000" cy="3058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419" i="0" noProof="0">
                <a:effectLst/>
                <a:latin typeface="Roboto" pitchFamily="2" charset="0"/>
                <a:ea typeface="Roboto" pitchFamily="2" charset="0"/>
              </a:rPr>
              <a:t>Identificamos las </a:t>
            </a:r>
            <a:r>
              <a:rPr lang="es-419" b="1" i="0" noProof="0">
                <a:effectLst/>
                <a:latin typeface="Roboto" pitchFamily="2" charset="0"/>
                <a:ea typeface="Roboto" pitchFamily="2" charset="0"/>
              </a:rPr>
              <a:t>Métricas claves </a:t>
            </a:r>
            <a:r>
              <a:rPr lang="es-419" b="0" i="0" noProof="0">
                <a:effectLst/>
                <a:latin typeface="Roboto" pitchFamily="2" charset="0"/>
                <a:ea typeface="Roboto" pitchFamily="2" charset="0"/>
              </a:rPr>
              <a:t>del flujo de trabajo. </a:t>
            </a:r>
          </a:p>
        </p:txBody>
      </p:sp>
      <p:sp>
        <p:nvSpPr>
          <p:cNvPr id="98" name="Shape 0">
            <a:extLst>
              <a:ext uri="{FF2B5EF4-FFF2-40B4-BE49-F238E27FC236}">
                <a16:creationId xmlns:a16="http://schemas.microsoft.com/office/drawing/2014/main" id="{AEBD2E24-4B4A-248B-1B38-0CE3CCD782FB}"/>
              </a:ext>
            </a:extLst>
          </p:cNvPr>
          <p:cNvSpPr/>
          <p:nvPr/>
        </p:nvSpPr>
        <p:spPr>
          <a:xfrm>
            <a:off x="3690010" y="3863768"/>
            <a:ext cx="7405147" cy="2488965"/>
          </a:xfrm>
          <a:prstGeom prst="roundRect">
            <a:avLst>
              <a:gd name="adj" fmla="val 4000"/>
            </a:avLst>
          </a:prstGeom>
          <a:solidFill>
            <a:srgbClr val="EEF4FC"/>
          </a:solidFill>
          <a:ln w="9525">
            <a:solidFill>
              <a:srgbClr val="C9D8F0"/>
            </a:solidFill>
            <a:prstDash val="solid"/>
          </a:ln>
        </p:spPr>
        <p:txBody>
          <a:bodyPr/>
          <a:lstStyle/>
          <a:p>
            <a:endParaRPr lang="es-419" noProof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1">
            <a:extLst>
              <a:ext uri="{FF2B5EF4-FFF2-40B4-BE49-F238E27FC236}">
                <a16:creationId xmlns:a16="http://schemas.microsoft.com/office/drawing/2014/main" id="{BB7D5C02-999B-36E8-E1BF-9C577508B73C}"/>
              </a:ext>
            </a:extLst>
          </p:cNvPr>
          <p:cNvSpPr/>
          <p:nvPr/>
        </p:nvSpPr>
        <p:spPr>
          <a:xfrm>
            <a:off x="1163076" y="4428066"/>
            <a:ext cx="2112107" cy="136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s-419" sz="2400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Roboto Condensed" panose="02000000000000000000" pitchFamily="2" charset="0"/>
              </a:rPr>
              <a:t>¿Cuáles son los beneficios?</a:t>
            </a:r>
          </a:p>
        </p:txBody>
      </p:sp>
      <p:sp>
        <p:nvSpPr>
          <p:cNvPr id="101" name="Text 3">
            <a:extLst>
              <a:ext uri="{FF2B5EF4-FFF2-40B4-BE49-F238E27FC236}">
                <a16:creationId xmlns:a16="http://schemas.microsoft.com/office/drawing/2014/main" id="{9B0EB76B-7A80-307A-666F-C8DFABDA32B8}"/>
              </a:ext>
            </a:extLst>
          </p:cNvPr>
          <p:cNvSpPr/>
          <p:nvPr/>
        </p:nvSpPr>
        <p:spPr>
          <a:xfrm>
            <a:off x="4072444" y="4321332"/>
            <a:ext cx="2880000" cy="612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Identificar </a:t>
            </a:r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oportunidades de mejora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continua en el proceso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F2758D62-D6C4-64DD-082D-9ED9491B51D7}"/>
              </a:ext>
            </a:extLst>
          </p:cNvPr>
          <p:cNvSpPr txBox="1"/>
          <p:nvPr/>
        </p:nvSpPr>
        <p:spPr>
          <a:xfrm rot="10800000" flipV="1">
            <a:off x="4072445" y="5369587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t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Tomar decisiones basadas en datos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y trazabilidad. 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D0C16C1E-21D0-C666-D575-A5A80612A719}"/>
              </a:ext>
            </a:extLst>
          </p:cNvPr>
          <p:cNvSpPr txBox="1"/>
          <p:nvPr/>
        </p:nvSpPr>
        <p:spPr>
          <a:xfrm rot="10800000" flipV="1">
            <a:off x="7839248" y="4303839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Fortalecer la capacidad de entrega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 los equipos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D95B4B89-911B-FAC1-39B7-9E2F8AE50F43}"/>
              </a:ext>
            </a:extLst>
          </p:cNvPr>
          <p:cNvSpPr txBox="1"/>
          <p:nvPr/>
        </p:nvSpPr>
        <p:spPr>
          <a:xfrm rot="10800000" flipV="1">
            <a:off x="7839248" y="5369587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t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Acelerar la generación de valor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clientes y negocio.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5603DD-9175-F020-88E1-D481F92A196F}"/>
              </a:ext>
            </a:extLst>
          </p:cNvPr>
          <p:cNvSpPr>
            <a:spLocks noChangeAspect="1"/>
          </p:cNvSpPr>
          <p:nvPr/>
        </p:nvSpPr>
        <p:spPr>
          <a:xfrm>
            <a:off x="626828" y="1596565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1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2D2CB7FD-3CC3-4355-60BE-07BD6AF056FB}"/>
              </a:ext>
            </a:extLst>
          </p:cNvPr>
          <p:cNvSpPr>
            <a:spLocks noChangeAspect="1"/>
          </p:cNvSpPr>
          <p:nvPr/>
        </p:nvSpPr>
        <p:spPr>
          <a:xfrm>
            <a:off x="1022828" y="2352300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2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A8A7916-71B0-D181-8BE5-F5ABA0D2A1EA}"/>
              </a:ext>
            </a:extLst>
          </p:cNvPr>
          <p:cNvSpPr>
            <a:spLocks noChangeAspect="1"/>
          </p:cNvSpPr>
          <p:nvPr/>
        </p:nvSpPr>
        <p:spPr>
          <a:xfrm>
            <a:off x="1423801" y="3108034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3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51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ítulo"/>
          <p:cNvSpPr txBox="1"/>
          <p:nvPr/>
        </p:nvSpPr>
        <p:spPr>
          <a:xfrm>
            <a:off x="666750" y="285750"/>
            <a:ext cx="95250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3600" b="1" i="0" dirty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Flujo construcción de soluciones TI</a:t>
            </a:r>
          </a:p>
        </p:txBody>
      </p:sp>
      <p:pic>
        <p:nvPicPr>
          <p:cNvPr id="145" name="Logo somos tuya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96625" y="200025"/>
            <a:ext cx="866775" cy="581025"/>
          </a:xfrm>
          <a:prstGeom prst="rect">
            <a:avLst/>
          </a:prstGeom>
        </p:spPr>
      </p:pic>
      <p:sp>
        <p:nvSpPr>
          <p:cNvPr id="146" name="Necesidad del negocio"/>
          <p:cNvSpPr/>
          <p:nvPr/>
        </p:nvSpPr>
        <p:spPr>
          <a:xfrm>
            <a:off x="723900" y="1219200"/>
            <a:ext cx="21907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E959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80" cap="all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Necesidad del negocio</a:t>
            </a:r>
          </a:p>
        </p:txBody>
      </p:sp>
      <p:sp>
        <p:nvSpPr>
          <p:cNvPr id="147" name="Fase"/>
          <p:cNvSpPr txBox="1"/>
          <p:nvPr/>
        </p:nvSpPr>
        <p:spPr>
          <a:xfrm>
            <a:off x="3048000" y="1219200"/>
            <a:ext cx="28384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Entender y diseñar · etapas 1–4</a:t>
            </a:r>
          </a:p>
        </p:txBody>
      </p:sp>
      <p:sp>
        <p:nvSpPr>
          <p:cNvPr id="148" name="Línea de fase"/>
          <p:cNvSpPr/>
          <p:nvPr/>
        </p:nvSpPr>
        <p:spPr>
          <a:xfrm>
            <a:off x="6019800" y="1333500"/>
            <a:ext cx="5648325" cy="14288"/>
          </a:xfrm>
          <a:prstGeom prst="rect">
            <a:avLst/>
          </a:prstGeom>
          <a:solidFill>
            <a:srgbClr val="B7DCD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49" name="Fase"/>
          <p:cNvSpPr txBox="1"/>
          <p:nvPr/>
        </p:nvSpPr>
        <p:spPr>
          <a:xfrm>
            <a:off x="723900" y="3619500"/>
            <a:ext cx="30194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Construir y entregar · etapas 5–8</a:t>
            </a:r>
          </a:p>
        </p:txBody>
      </p:sp>
      <p:sp>
        <p:nvSpPr>
          <p:cNvPr id="150" name="Línea de fase"/>
          <p:cNvSpPr/>
          <p:nvPr/>
        </p:nvSpPr>
        <p:spPr>
          <a:xfrm>
            <a:off x="3876675" y="3733800"/>
            <a:ext cx="5467350" cy="14288"/>
          </a:xfrm>
          <a:prstGeom prst="rect">
            <a:avLst/>
          </a:prstGeom>
          <a:solidFill>
            <a:srgbClr val="C5CCE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51" name="Valor entregado"/>
          <p:cNvSpPr/>
          <p:nvPr/>
        </p:nvSpPr>
        <p:spPr>
          <a:xfrm>
            <a:off x="9477375" y="3619500"/>
            <a:ext cx="2190750" cy="247650"/>
          </a:xfrm>
          <a:prstGeom prst="roundRect">
            <a:avLst>
              <a:gd name="adj" fmla="val 50000"/>
            </a:avLst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80" cap="all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Valor entregado</a:t>
            </a:r>
          </a:p>
        </p:txBody>
      </p:sp>
      <p:sp>
        <p:nvSpPr>
          <p:cNvPr id="152" name="Etapa 1"/>
          <p:cNvSpPr/>
          <p:nvPr/>
        </p:nvSpPr>
        <p:spPr>
          <a:xfrm>
            <a:off x="723900" y="1543050"/>
            <a:ext cx="2590800" cy="1962150"/>
          </a:xfrm>
          <a:prstGeom prst="roundRect">
            <a:avLst>
              <a:gd name="adj" fmla="val 485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53" name="Etapa 1 ícono fondo"/>
          <p:cNvSpPr/>
          <p:nvPr/>
        </p:nvSpPr>
        <p:spPr>
          <a:xfrm>
            <a:off x="857250" y="1676400"/>
            <a:ext cx="419100" cy="419100"/>
          </a:xfrm>
          <a:prstGeom prst="ellipse">
            <a:avLst/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pic>
        <p:nvPicPr>
          <p:cNvPr id="154" name="Etapa 1 í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1762125"/>
            <a:ext cx="247650" cy="247650"/>
          </a:xfrm>
          <a:prstGeom prst="rect">
            <a:avLst/>
          </a:prstGeom>
        </p:spPr>
      </p:pic>
      <p:sp>
        <p:nvSpPr>
          <p:cNvPr id="155" name="Etapa 1 número"/>
          <p:cNvSpPr/>
          <p:nvPr/>
        </p:nvSpPr>
        <p:spPr>
          <a:xfrm>
            <a:off x="1143000" y="1943100"/>
            <a:ext cx="209550" cy="2095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959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156" name="Etapa 1 nombre"/>
          <p:cNvSpPr txBox="1"/>
          <p:nvPr/>
        </p:nvSpPr>
        <p:spPr>
          <a:xfrm>
            <a:off x="1409700" y="16764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Análisis y DOR</a:t>
            </a:r>
          </a:p>
        </p:txBody>
      </p:sp>
      <p:sp>
        <p:nvSpPr>
          <p:cNvPr id="157" name="Etapa 1 roles"/>
          <p:cNvSpPr txBox="1"/>
          <p:nvPr/>
        </p:nvSpPr>
        <p:spPr>
          <a:xfrm>
            <a:off x="857250" y="21907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Líder de Célula · Analista de Negocio · Líder TI · Riesgos</a:t>
            </a:r>
          </a:p>
        </p:txBody>
      </p:sp>
      <p:sp>
        <p:nvSpPr>
          <p:cNvPr id="158" name="Flecha"/>
          <p:cNvSpPr/>
          <p:nvPr/>
        </p:nvSpPr>
        <p:spPr>
          <a:xfrm>
            <a:off x="3354388" y="2419350"/>
            <a:ext cx="114300" cy="2095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59" name="Etapa 2"/>
          <p:cNvSpPr/>
          <p:nvPr/>
        </p:nvSpPr>
        <p:spPr>
          <a:xfrm>
            <a:off x="3508375" y="1543050"/>
            <a:ext cx="2590800" cy="1962150"/>
          </a:xfrm>
          <a:prstGeom prst="roundRect">
            <a:avLst>
              <a:gd name="adj" fmla="val 485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60" name="Etapa 2 ícono fondo"/>
          <p:cNvSpPr/>
          <p:nvPr/>
        </p:nvSpPr>
        <p:spPr>
          <a:xfrm>
            <a:off x="3641725" y="1676400"/>
            <a:ext cx="419100" cy="419100"/>
          </a:xfrm>
          <a:prstGeom prst="ellipse">
            <a:avLst/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pic>
        <p:nvPicPr>
          <p:cNvPr id="161" name="Etapa 2 í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450" y="1762125"/>
            <a:ext cx="247650" cy="247650"/>
          </a:xfrm>
          <a:prstGeom prst="rect">
            <a:avLst/>
          </a:prstGeom>
        </p:spPr>
      </p:pic>
      <p:sp>
        <p:nvSpPr>
          <p:cNvPr id="162" name="Etapa 2 número"/>
          <p:cNvSpPr/>
          <p:nvPr/>
        </p:nvSpPr>
        <p:spPr>
          <a:xfrm>
            <a:off x="3927475" y="1943100"/>
            <a:ext cx="209550" cy="2095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959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163" name="Etapa 2 nombre"/>
          <p:cNvSpPr txBox="1"/>
          <p:nvPr/>
        </p:nvSpPr>
        <p:spPr>
          <a:xfrm>
            <a:off x="4194175" y="16764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Diseño de Arquitectura</a:t>
            </a:r>
          </a:p>
        </p:txBody>
      </p:sp>
      <p:sp>
        <p:nvSpPr>
          <p:cNvPr id="164" name="Etapa 2 roles"/>
          <p:cNvSpPr txBox="1"/>
          <p:nvPr/>
        </p:nvSpPr>
        <p:spPr>
          <a:xfrm>
            <a:off x="3641725" y="21907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Arquitecto</a:t>
            </a:r>
          </a:p>
        </p:txBody>
      </p:sp>
      <p:sp>
        <p:nvSpPr>
          <p:cNvPr id="165" name="Etapa 2 etiqueta"/>
          <p:cNvSpPr txBox="1"/>
          <p:nvPr/>
        </p:nvSpPr>
        <p:spPr>
          <a:xfrm>
            <a:off x="3641725" y="2647950"/>
            <a:ext cx="232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Tener presente:</a:t>
            </a:r>
          </a:p>
        </p:txBody>
      </p:sp>
      <p:sp>
        <p:nvSpPr>
          <p:cNvPr id="166" name="Chip Requisitos no funcionales"/>
          <p:cNvSpPr/>
          <p:nvPr/>
        </p:nvSpPr>
        <p:spPr>
          <a:xfrm>
            <a:off x="3641725" y="2838450"/>
            <a:ext cx="1933575" cy="247650"/>
          </a:xfrm>
          <a:prstGeom prst="roundRect">
            <a:avLst>
              <a:gd name="adj" fmla="val 23077"/>
            </a:avLst>
          </a:prstGeom>
          <a:solidFill>
            <a:srgbClr val="FDF3E3"/>
          </a:solidFill>
          <a:ln w="12700">
            <a:solidFill>
              <a:srgbClr val="B4731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Requisitos no funcionales</a:t>
            </a:r>
          </a:p>
        </p:txBody>
      </p:sp>
      <p:sp>
        <p:nvSpPr>
          <p:cNvPr id="167" name="Chip Deuda técnica"/>
          <p:cNvSpPr/>
          <p:nvPr/>
        </p:nvSpPr>
        <p:spPr>
          <a:xfrm>
            <a:off x="3641725" y="3143250"/>
            <a:ext cx="1085850" cy="247650"/>
          </a:xfrm>
          <a:prstGeom prst="roundRect">
            <a:avLst>
              <a:gd name="adj" fmla="val 23077"/>
            </a:avLst>
          </a:prstGeom>
          <a:solidFill>
            <a:srgbClr val="FDF3E3"/>
          </a:solidFill>
          <a:ln w="12700">
            <a:solidFill>
              <a:srgbClr val="B4731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Deuda técnica</a:t>
            </a:r>
          </a:p>
        </p:txBody>
      </p:sp>
      <p:sp>
        <p:nvSpPr>
          <p:cNvPr id="168" name="Flecha"/>
          <p:cNvSpPr/>
          <p:nvPr/>
        </p:nvSpPr>
        <p:spPr>
          <a:xfrm>
            <a:off x="6138862" y="2419350"/>
            <a:ext cx="114300" cy="2095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69" name="Etapa 3"/>
          <p:cNvSpPr/>
          <p:nvPr/>
        </p:nvSpPr>
        <p:spPr>
          <a:xfrm>
            <a:off x="6292850" y="1543050"/>
            <a:ext cx="2590800" cy="1962150"/>
          </a:xfrm>
          <a:prstGeom prst="roundRect">
            <a:avLst>
              <a:gd name="adj" fmla="val 485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70" name="Etapa 3 ícono fondo"/>
          <p:cNvSpPr/>
          <p:nvPr/>
        </p:nvSpPr>
        <p:spPr>
          <a:xfrm>
            <a:off x="6426200" y="1676400"/>
            <a:ext cx="419100" cy="419100"/>
          </a:xfrm>
          <a:prstGeom prst="ellipse">
            <a:avLst/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pic>
        <p:nvPicPr>
          <p:cNvPr id="171" name="Etapa 3 í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25" y="1762125"/>
            <a:ext cx="247650" cy="247650"/>
          </a:xfrm>
          <a:prstGeom prst="rect">
            <a:avLst/>
          </a:prstGeom>
        </p:spPr>
      </p:pic>
      <p:sp>
        <p:nvSpPr>
          <p:cNvPr id="172" name="Etapa 3 número"/>
          <p:cNvSpPr/>
          <p:nvPr/>
        </p:nvSpPr>
        <p:spPr>
          <a:xfrm>
            <a:off x="6711950" y="1943100"/>
            <a:ext cx="209550" cy="2095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959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173" name="Etapa 3 nombre"/>
          <p:cNvSpPr txBox="1"/>
          <p:nvPr/>
        </p:nvSpPr>
        <p:spPr>
          <a:xfrm>
            <a:off x="6978650" y="16764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Diseño de seguridad</a:t>
            </a:r>
          </a:p>
        </p:txBody>
      </p:sp>
      <p:sp>
        <p:nvSpPr>
          <p:cNvPr id="174" name="Etapa 3 roles"/>
          <p:cNvSpPr txBox="1"/>
          <p:nvPr/>
        </p:nvSpPr>
        <p:spPr>
          <a:xfrm>
            <a:off x="6426200" y="21907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Equipo de Seguridad</a:t>
            </a:r>
          </a:p>
        </p:txBody>
      </p:sp>
      <p:sp>
        <p:nvSpPr>
          <p:cNvPr id="175" name="Etapa 3 etiqueta"/>
          <p:cNvSpPr txBox="1"/>
          <p:nvPr/>
        </p:nvSpPr>
        <p:spPr>
          <a:xfrm>
            <a:off x="6426200" y="2647950"/>
            <a:ext cx="232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Incluye:</a:t>
            </a:r>
          </a:p>
        </p:txBody>
      </p:sp>
      <p:sp>
        <p:nvSpPr>
          <p:cNvPr id="176" name="Chip Escaneo de código"/>
          <p:cNvSpPr/>
          <p:nvPr/>
        </p:nvSpPr>
        <p:spPr>
          <a:xfrm>
            <a:off x="6426200" y="2838450"/>
            <a:ext cx="1371600" cy="247650"/>
          </a:xfrm>
          <a:prstGeom prst="roundRect">
            <a:avLst>
              <a:gd name="adj" fmla="val 23077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Escaneo de código</a:t>
            </a:r>
          </a:p>
        </p:txBody>
      </p:sp>
      <p:sp>
        <p:nvSpPr>
          <p:cNvPr id="177" name="Chip Escaneo dinámico (DAST)"/>
          <p:cNvSpPr/>
          <p:nvPr/>
        </p:nvSpPr>
        <p:spPr>
          <a:xfrm>
            <a:off x="6426200" y="3143250"/>
            <a:ext cx="1790700" cy="247650"/>
          </a:xfrm>
          <a:prstGeom prst="roundRect">
            <a:avLst>
              <a:gd name="adj" fmla="val 23077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Escaneo dinámico (DAST)</a:t>
            </a:r>
          </a:p>
        </p:txBody>
      </p:sp>
      <p:sp>
        <p:nvSpPr>
          <p:cNvPr id="178" name="Flecha"/>
          <p:cNvSpPr/>
          <p:nvPr/>
        </p:nvSpPr>
        <p:spPr>
          <a:xfrm>
            <a:off x="8923338" y="2419350"/>
            <a:ext cx="114300" cy="2095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79" name="Etapa 4"/>
          <p:cNvSpPr/>
          <p:nvPr/>
        </p:nvSpPr>
        <p:spPr>
          <a:xfrm>
            <a:off x="9077325" y="1543050"/>
            <a:ext cx="2590800" cy="1962150"/>
          </a:xfrm>
          <a:prstGeom prst="roundRect">
            <a:avLst>
              <a:gd name="adj" fmla="val 485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80" name="Etapa 4 ícono fondo"/>
          <p:cNvSpPr/>
          <p:nvPr/>
        </p:nvSpPr>
        <p:spPr>
          <a:xfrm>
            <a:off x="9210675" y="1676400"/>
            <a:ext cx="419100" cy="419100"/>
          </a:xfrm>
          <a:prstGeom prst="ellipse">
            <a:avLst/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pic>
        <p:nvPicPr>
          <p:cNvPr id="181" name="Etapa 4 ícon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6400" y="1762125"/>
            <a:ext cx="247650" cy="247650"/>
          </a:xfrm>
          <a:prstGeom prst="rect">
            <a:avLst/>
          </a:prstGeom>
        </p:spPr>
      </p:pic>
      <p:sp>
        <p:nvSpPr>
          <p:cNvPr id="182" name="Etapa 4 número"/>
          <p:cNvSpPr/>
          <p:nvPr/>
        </p:nvSpPr>
        <p:spPr>
          <a:xfrm>
            <a:off x="9496425" y="1943100"/>
            <a:ext cx="209550" cy="2095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959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183" name="Etapa 4 nombre"/>
          <p:cNvSpPr txBox="1"/>
          <p:nvPr/>
        </p:nvSpPr>
        <p:spPr>
          <a:xfrm>
            <a:off x="9763125" y="16764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Implementación</a:t>
            </a:r>
          </a:p>
        </p:txBody>
      </p:sp>
      <p:sp>
        <p:nvSpPr>
          <p:cNvPr id="184" name="Etapa 4 roles"/>
          <p:cNvSpPr txBox="1"/>
          <p:nvPr/>
        </p:nvSpPr>
        <p:spPr>
          <a:xfrm>
            <a:off x="9210675" y="21907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Nube &amp; DevOps · Operación TI · Protección a la ID · Analítica · Integración</a:t>
            </a:r>
          </a:p>
        </p:txBody>
      </p:sp>
      <p:sp>
        <p:nvSpPr>
          <p:cNvPr id="185" name="Etapa 5"/>
          <p:cNvSpPr/>
          <p:nvPr/>
        </p:nvSpPr>
        <p:spPr>
          <a:xfrm>
            <a:off x="723900" y="3943350"/>
            <a:ext cx="2590800" cy="1962150"/>
          </a:xfrm>
          <a:prstGeom prst="roundRect">
            <a:avLst>
              <a:gd name="adj" fmla="val 485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86" name="Etapa 5 ícono fondo"/>
          <p:cNvSpPr/>
          <p:nvPr/>
        </p:nvSpPr>
        <p:spPr>
          <a:xfrm>
            <a:off x="857250" y="4076700"/>
            <a:ext cx="419100" cy="4191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pic>
        <p:nvPicPr>
          <p:cNvPr id="187" name="Etapa 5 íco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4162425"/>
            <a:ext cx="247650" cy="247650"/>
          </a:xfrm>
          <a:prstGeom prst="rect">
            <a:avLst/>
          </a:prstGeom>
        </p:spPr>
      </p:pic>
      <p:sp>
        <p:nvSpPr>
          <p:cNvPr id="188" name="Etapa 5 número"/>
          <p:cNvSpPr/>
          <p:nvPr/>
        </p:nvSpPr>
        <p:spPr>
          <a:xfrm>
            <a:off x="1143000" y="4343400"/>
            <a:ext cx="209550" cy="2095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189" name="Etapa 5 nombre"/>
          <p:cNvSpPr txBox="1"/>
          <p:nvPr/>
        </p:nvSpPr>
        <p:spPr>
          <a:xfrm>
            <a:off x="1409700" y="40767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Desarrollo</a:t>
            </a:r>
          </a:p>
        </p:txBody>
      </p:sp>
      <p:sp>
        <p:nvSpPr>
          <p:cNvPr id="190" name="Etapa 5 roles"/>
          <p:cNvSpPr txBox="1"/>
          <p:nvPr/>
        </p:nvSpPr>
        <p:spPr>
          <a:xfrm>
            <a:off x="857250" y="45910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Desarrolladores · QA</a:t>
            </a:r>
          </a:p>
        </p:txBody>
      </p:sp>
      <p:sp>
        <p:nvSpPr>
          <p:cNvPr id="191" name="Etapa 5 etiqueta"/>
          <p:cNvSpPr txBox="1"/>
          <p:nvPr/>
        </p:nvSpPr>
        <p:spPr>
          <a:xfrm>
            <a:off x="857250" y="5048250"/>
            <a:ext cx="232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Tener presente:</a:t>
            </a:r>
          </a:p>
        </p:txBody>
      </p:sp>
      <p:sp>
        <p:nvSpPr>
          <p:cNvPr id="192" name="Chip Deuda técnica"/>
          <p:cNvSpPr/>
          <p:nvPr/>
        </p:nvSpPr>
        <p:spPr>
          <a:xfrm>
            <a:off x="857250" y="5238750"/>
            <a:ext cx="1085850" cy="247650"/>
          </a:xfrm>
          <a:prstGeom prst="roundRect">
            <a:avLst>
              <a:gd name="adj" fmla="val 23077"/>
            </a:avLst>
          </a:prstGeom>
          <a:solidFill>
            <a:srgbClr val="FDF3E3"/>
          </a:solidFill>
          <a:ln w="12700">
            <a:solidFill>
              <a:srgbClr val="B4731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Deuda técnica</a:t>
            </a:r>
          </a:p>
        </p:txBody>
      </p:sp>
      <p:sp>
        <p:nvSpPr>
          <p:cNvPr id="193" name="Flecha"/>
          <p:cNvSpPr/>
          <p:nvPr/>
        </p:nvSpPr>
        <p:spPr>
          <a:xfrm>
            <a:off x="3354388" y="4819650"/>
            <a:ext cx="114300" cy="2095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94" name="Etapa 6"/>
          <p:cNvSpPr/>
          <p:nvPr/>
        </p:nvSpPr>
        <p:spPr>
          <a:xfrm>
            <a:off x="3508375" y="3943350"/>
            <a:ext cx="2590800" cy="1962150"/>
          </a:xfrm>
          <a:prstGeom prst="roundRect">
            <a:avLst>
              <a:gd name="adj" fmla="val 485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95" name="Etapa 6 ícono fondo"/>
          <p:cNvSpPr/>
          <p:nvPr/>
        </p:nvSpPr>
        <p:spPr>
          <a:xfrm>
            <a:off x="3641725" y="4076700"/>
            <a:ext cx="419100" cy="4191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pic>
        <p:nvPicPr>
          <p:cNvPr id="196" name="Etapa 6 ícon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7450" y="4162425"/>
            <a:ext cx="247650" cy="247650"/>
          </a:xfrm>
          <a:prstGeom prst="rect">
            <a:avLst/>
          </a:prstGeom>
        </p:spPr>
      </p:pic>
      <p:sp>
        <p:nvSpPr>
          <p:cNvPr id="197" name="Etapa 6 número"/>
          <p:cNvSpPr/>
          <p:nvPr/>
        </p:nvSpPr>
        <p:spPr>
          <a:xfrm>
            <a:off x="3927475" y="4343400"/>
            <a:ext cx="209550" cy="2095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6</a:t>
            </a:r>
          </a:p>
        </p:txBody>
      </p:sp>
      <p:sp>
        <p:nvSpPr>
          <p:cNvPr id="198" name="Etapa 6 nombre"/>
          <p:cNvSpPr txBox="1"/>
          <p:nvPr/>
        </p:nvSpPr>
        <p:spPr>
          <a:xfrm>
            <a:off x="4194175" y="40767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Pruebas</a:t>
            </a:r>
          </a:p>
        </p:txBody>
      </p:sp>
      <p:sp>
        <p:nvSpPr>
          <p:cNvPr id="199" name="Etapa 6 roles"/>
          <p:cNvSpPr txBox="1"/>
          <p:nvPr/>
        </p:nvSpPr>
        <p:spPr>
          <a:xfrm>
            <a:off x="3641725" y="45910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Aseguramiento de calidad</a:t>
            </a:r>
          </a:p>
        </p:txBody>
      </p:sp>
      <p:sp>
        <p:nvSpPr>
          <p:cNvPr id="200" name="Etapa 6 etiqueta"/>
          <p:cNvSpPr txBox="1"/>
          <p:nvPr/>
        </p:nvSpPr>
        <p:spPr>
          <a:xfrm>
            <a:off x="3641725" y="5048250"/>
            <a:ext cx="232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Incluye:</a:t>
            </a:r>
          </a:p>
        </p:txBody>
      </p:sp>
      <p:sp>
        <p:nvSpPr>
          <p:cNvPr id="201" name="Chip Funcionales"/>
          <p:cNvSpPr/>
          <p:nvPr/>
        </p:nvSpPr>
        <p:spPr>
          <a:xfrm>
            <a:off x="3641725" y="5238750"/>
            <a:ext cx="942975" cy="247650"/>
          </a:xfrm>
          <a:prstGeom prst="roundRect">
            <a:avLst>
              <a:gd name="adj" fmla="val 23077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Funcionales</a:t>
            </a:r>
          </a:p>
        </p:txBody>
      </p:sp>
      <p:sp>
        <p:nvSpPr>
          <p:cNvPr id="202" name="Chip Performance"/>
          <p:cNvSpPr/>
          <p:nvPr/>
        </p:nvSpPr>
        <p:spPr>
          <a:xfrm>
            <a:off x="4660900" y="5238750"/>
            <a:ext cx="942975" cy="247650"/>
          </a:xfrm>
          <a:prstGeom prst="roundRect">
            <a:avLst>
              <a:gd name="adj" fmla="val 23077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Performance</a:t>
            </a:r>
          </a:p>
        </p:txBody>
      </p:sp>
      <p:sp>
        <p:nvSpPr>
          <p:cNvPr id="203" name="Chip Seguridad"/>
          <p:cNvSpPr/>
          <p:nvPr/>
        </p:nvSpPr>
        <p:spPr>
          <a:xfrm>
            <a:off x="3641725" y="5543550"/>
            <a:ext cx="809625" cy="247650"/>
          </a:xfrm>
          <a:prstGeom prst="roundRect">
            <a:avLst>
              <a:gd name="adj" fmla="val 23077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Seguridad</a:t>
            </a:r>
          </a:p>
        </p:txBody>
      </p:sp>
      <p:sp>
        <p:nvSpPr>
          <p:cNvPr id="204" name="Flecha"/>
          <p:cNvSpPr/>
          <p:nvPr/>
        </p:nvSpPr>
        <p:spPr>
          <a:xfrm>
            <a:off x="6138862" y="4819650"/>
            <a:ext cx="114300" cy="2095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05" name="Etapa 7"/>
          <p:cNvSpPr/>
          <p:nvPr/>
        </p:nvSpPr>
        <p:spPr>
          <a:xfrm>
            <a:off x="6292850" y="3943350"/>
            <a:ext cx="2590800" cy="1962150"/>
          </a:xfrm>
          <a:prstGeom prst="roundRect">
            <a:avLst>
              <a:gd name="adj" fmla="val 485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06" name="Etapa 7 ícono fondo"/>
          <p:cNvSpPr/>
          <p:nvPr/>
        </p:nvSpPr>
        <p:spPr>
          <a:xfrm>
            <a:off x="6426200" y="4076700"/>
            <a:ext cx="419100" cy="4191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pic>
        <p:nvPicPr>
          <p:cNvPr id="207" name="Etapa 7 ícon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1925" y="4162425"/>
            <a:ext cx="247650" cy="247650"/>
          </a:xfrm>
          <a:prstGeom prst="rect">
            <a:avLst/>
          </a:prstGeom>
        </p:spPr>
      </p:pic>
      <p:sp>
        <p:nvSpPr>
          <p:cNvPr id="208" name="Etapa 7 número"/>
          <p:cNvSpPr/>
          <p:nvPr/>
        </p:nvSpPr>
        <p:spPr>
          <a:xfrm>
            <a:off x="6711950" y="4343400"/>
            <a:ext cx="209550" cy="2095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5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7</a:t>
            </a:r>
          </a:p>
        </p:txBody>
      </p:sp>
      <p:sp>
        <p:nvSpPr>
          <p:cNvPr id="209" name="Etapa 7 nombre"/>
          <p:cNvSpPr txBox="1"/>
          <p:nvPr/>
        </p:nvSpPr>
        <p:spPr>
          <a:xfrm>
            <a:off x="6978650" y="40767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Paso a producción</a:t>
            </a:r>
          </a:p>
        </p:txBody>
      </p:sp>
      <p:sp>
        <p:nvSpPr>
          <p:cNvPr id="210" name="Etapa 7 roles"/>
          <p:cNvSpPr txBox="1"/>
          <p:nvPr/>
        </p:nvSpPr>
        <p:spPr>
          <a:xfrm>
            <a:off x="6426200" y="45910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Comité de cambios</a:t>
            </a:r>
          </a:p>
        </p:txBody>
      </p:sp>
      <p:sp>
        <p:nvSpPr>
          <p:cNvPr id="211" name="Etapa 7 etiqueta"/>
          <p:cNvSpPr txBox="1"/>
          <p:nvPr/>
        </p:nvSpPr>
        <p:spPr>
          <a:xfrm>
            <a:off x="6426200" y="5048250"/>
            <a:ext cx="232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Tener presente:</a:t>
            </a:r>
          </a:p>
        </p:txBody>
      </p:sp>
      <p:sp>
        <p:nvSpPr>
          <p:cNvPr id="212" name="Chip Disponibilidad"/>
          <p:cNvSpPr/>
          <p:nvPr/>
        </p:nvSpPr>
        <p:spPr>
          <a:xfrm>
            <a:off x="6426200" y="5238750"/>
            <a:ext cx="1162050" cy="247650"/>
          </a:xfrm>
          <a:prstGeom prst="roundRect">
            <a:avLst>
              <a:gd name="adj" fmla="val 23077"/>
            </a:avLst>
          </a:prstGeom>
          <a:solidFill>
            <a:srgbClr val="FDF3E3"/>
          </a:solidFill>
          <a:ln w="12700">
            <a:solidFill>
              <a:srgbClr val="B4731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Disponibilidad</a:t>
            </a:r>
          </a:p>
        </p:txBody>
      </p:sp>
      <p:sp>
        <p:nvSpPr>
          <p:cNvPr id="213" name="Chip Capacidad"/>
          <p:cNvSpPr/>
          <p:nvPr/>
        </p:nvSpPr>
        <p:spPr>
          <a:xfrm>
            <a:off x="7664450" y="5238750"/>
            <a:ext cx="809625" cy="247650"/>
          </a:xfrm>
          <a:prstGeom prst="roundRect">
            <a:avLst>
              <a:gd name="adj" fmla="val 23077"/>
            </a:avLst>
          </a:prstGeom>
          <a:solidFill>
            <a:srgbClr val="FDF3E3"/>
          </a:solidFill>
          <a:ln w="12700">
            <a:solidFill>
              <a:srgbClr val="B4731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Capacidad</a:t>
            </a:r>
          </a:p>
        </p:txBody>
      </p:sp>
      <p:sp>
        <p:nvSpPr>
          <p:cNvPr id="214" name="Chip Continuidad"/>
          <p:cNvSpPr/>
          <p:nvPr/>
        </p:nvSpPr>
        <p:spPr>
          <a:xfrm>
            <a:off x="6426200" y="5543550"/>
            <a:ext cx="942975" cy="247650"/>
          </a:xfrm>
          <a:prstGeom prst="roundRect">
            <a:avLst>
              <a:gd name="adj" fmla="val 23077"/>
            </a:avLst>
          </a:prstGeom>
          <a:solidFill>
            <a:srgbClr val="FDF3E3"/>
          </a:solidFill>
          <a:ln w="12700">
            <a:solidFill>
              <a:srgbClr val="B4731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Continuidad</a:t>
            </a:r>
          </a:p>
        </p:txBody>
      </p:sp>
      <p:sp>
        <p:nvSpPr>
          <p:cNvPr id="215" name="Flecha"/>
          <p:cNvSpPr/>
          <p:nvPr/>
        </p:nvSpPr>
        <p:spPr>
          <a:xfrm>
            <a:off x="8923338" y="4819650"/>
            <a:ext cx="114300" cy="2095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16" name="Etapa 8"/>
          <p:cNvSpPr/>
          <p:nvPr/>
        </p:nvSpPr>
        <p:spPr>
          <a:xfrm>
            <a:off x="9077325" y="3943350"/>
            <a:ext cx="2590800" cy="1962150"/>
          </a:xfrm>
          <a:prstGeom prst="roundRect">
            <a:avLst>
              <a:gd name="adj" fmla="val 485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17" name="Etapa 8 ícono fondo"/>
          <p:cNvSpPr/>
          <p:nvPr/>
        </p:nvSpPr>
        <p:spPr>
          <a:xfrm>
            <a:off x="9210675" y="4076700"/>
            <a:ext cx="419100" cy="419100"/>
          </a:xfrm>
          <a:prstGeom prst="ellipse">
            <a:avLst/>
          </a:prstGeom>
          <a:solidFill>
            <a:srgbClr val="2E5F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pic>
        <p:nvPicPr>
          <p:cNvPr id="218" name="Etapa 8 ícon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4162425"/>
            <a:ext cx="247650" cy="247650"/>
          </a:xfrm>
          <a:prstGeom prst="rect">
            <a:avLst/>
          </a:prstGeom>
        </p:spPr>
      </p:pic>
      <p:sp>
        <p:nvSpPr>
          <p:cNvPr id="219" name="Etapa 8 número"/>
          <p:cNvSpPr/>
          <p:nvPr/>
        </p:nvSpPr>
        <p:spPr>
          <a:xfrm>
            <a:off x="9496425" y="4343400"/>
            <a:ext cx="209550" cy="20955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F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8</a:t>
            </a:r>
          </a:p>
        </p:txBody>
      </p:sp>
      <p:sp>
        <p:nvSpPr>
          <p:cNvPr id="220" name="Etapa 8 nombre"/>
          <p:cNvSpPr txBox="1"/>
          <p:nvPr/>
        </p:nvSpPr>
        <p:spPr>
          <a:xfrm>
            <a:off x="9763125" y="4076700"/>
            <a:ext cx="17716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Estabilización y entrega</a:t>
            </a:r>
          </a:p>
        </p:txBody>
      </p:sp>
      <p:sp>
        <p:nvSpPr>
          <p:cNvPr id="221" name="Etapa 8 roles"/>
          <p:cNvSpPr txBox="1"/>
          <p:nvPr/>
        </p:nvSpPr>
        <p:spPr>
          <a:xfrm>
            <a:off x="9210675" y="4591050"/>
            <a:ext cx="23241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Operaciones · Soporte TI</a:t>
            </a:r>
          </a:p>
        </p:txBody>
      </p:sp>
      <p:sp>
        <p:nvSpPr>
          <p:cNvPr id="222" name="Etapa 8 etiqueta"/>
          <p:cNvSpPr txBox="1"/>
          <p:nvPr/>
        </p:nvSpPr>
        <p:spPr>
          <a:xfrm>
            <a:off x="9210675" y="5048250"/>
            <a:ext cx="232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Tener presente:</a:t>
            </a:r>
          </a:p>
        </p:txBody>
      </p:sp>
      <p:sp>
        <p:nvSpPr>
          <p:cNvPr id="223" name="Chip Incidentes / Problemas"/>
          <p:cNvSpPr/>
          <p:nvPr/>
        </p:nvSpPr>
        <p:spPr>
          <a:xfrm>
            <a:off x="9210675" y="5238750"/>
            <a:ext cx="1724025" cy="247650"/>
          </a:xfrm>
          <a:prstGeom prst="roundRect">
            <a:avLst>
              <a:gd name="adj" fmla="val 23077"/>
            </a:avLst>
          </a:prstGeom>
          <a:solidFill>
            <a:srgbClr val="FDF3E3"/>
          </a:solidFill>
          <a:ln w="12700">
            <a:solidFill>
              <a:srgbClr val="B4731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Incidentes / Problemas</a:t>
            </a:r>
          </a:p>
        </p:txBody>
      </p:sp>
      <p:sp>
        <p:nvSpPr>
          <p:cNvPr id="224" name="Franja transversal"/>
          <p:cNvSpPr/>
          <p:nvPr/>
        </p:nvSpPr>
        <p:spPr>
          <a:xfrm>
            <a:off x="723900" y="6038850"/>
            <a:ext cx="1094422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CE8F8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25" name="Transversal etiqueta"/>
          <p:cNvSpPr txBox="1"/>
          <p:nvPr/>
        </p:nvSpPr>
        <p:spPr>
          <a:xfrm>
            <a:off x="876300" y="6038850"/>
            <a:ext cx="16192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80" cap="all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Tener presente en todo el flujo</a:t>
            </a:r>
          </a:p>
        </p:txBody>
      </p:sp>
      <p:sp>
        <p:nvSpPr>
          <p:cNvPr id="226" name="Transversal texto"/>
          <p:cNvSpPr txBox="1"/>
          <p:nvPr/>
        </p:nvSpPr>
        <p:spPr>
          <a:xfrm>
            <a:off x="2609850" y="6038850"/>
            <a:ext cx="890587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Requisitos no funcionales</a:t>
            </a: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(disponibilidad · capacidad · continuidad) · </a:t>
            </a:r>
            <a:r>
              <a:rPr lang="es-CO" sz="12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Deuda técnica</a:t>
            </a: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: se identifica en Arquitectura y Desarrollo y la prioriza el Líder de Célula · </a:t>
            </a:r>
            <a:r>
              <a:rPr lang="es-CO" sz="12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Incidentes y problemas</a:t>
            </a: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: se atienden en Estabilización y entrega.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2">
            <a:extLst>
              <a:ext uri="{FF2B5EF4-FFF2-40B4-BE49-F238E27FC236}">
                <a16:creationId xmlns:a16="http://schemas.microsoft.com/office/drawing/2014/main" id="{BD57ABA9-099F-8DD2-D9AF-B99724B82F7E}"/>
              </a:ext>
            </a:extLst>
          </p:cNvPr>
          <p:cNvSpPr/>
          <p:nvPr/>
        </p:nvSpPr>
        <p:spPr>
          <a:xfrm>
            <a:off x="842100" y="6359829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7" name="Shape 36">
            <a:extLst>
              <a:ext uri="{FF2B5EF4-FFF2-40B4-BE49-F238E27FC236}">
                <a16:creationId xmlns:a16="http://schemas.microsoft.com/office/drawing/2014/main" id="{344C4E35-DD1B-9BC1-4154-F3C3CDE84EB2}"/>
              </a:ext>
            </a:extLst>
          </p:cNvPr>
          <p:cNvSpPr>
            <a:spLocks noChangeAspect="1"/>
          </p:cNvSpPr>
          <p:nvPr/>
        </p:nvSpPr>
        <p:spPr>
          <a:xfrm>
            <a:off x="5953315" y="1294599"/>
            <a:ext cx="5519568" cy="4829175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endParaRPr lang="es-419" sz="2000" b="1" noProof="0">
              <a:solidFill>
                <a:srgbClr val="1B2A5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0B2CBFB-2F35-073F-6978-192AF7F6F5FD}"/>
              </a:ext>
            </a:extLst>
          </p:cNvPr>
          <p:cNvSpPr/>
          <p:nvPr/>
        </p:nvSpPr>
        <p:spPr>
          <a:xfrm>
            <a:off x="164031" y="255462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D30F0DA-F036-374C-3AE8-9DF459308E06}"/>
              </a:ext>
            </a:extLst>
          </p:cNvPr>
          <p:cNvSpPr/>
          <p:nvPr/>
        </p:nvSpPr>
        <p:spPr>
          <a:xfrm>
            <a:off x="869304" y="3528294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D0CC891-DFA8-8501-AE7E-8FEE7A7CB2A6}"/>
              </a:ext>
            </a:extLst>
          </p:cNvPr>
          <p:cNvSpPr/>
          <p:nvPr/>
        </p:nvSpPr>
        <p:spPr>
          <a:xfrm flipV="1">
            <a:off x="909457" y="3591048"/>
            <a:ext cx="10416681" cy="4202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E48314A-DBD5-0AF2-EDA1-DF5E89E7D7AB}"/>
              </a:ext>
            </a:extLst>
          </p:cNvPr>
          <p:cNvSpPr/>
          <p:nvPr/>
        </p:nvSpPr>
        <p:spPr>
          <a:xfrm>
            <a:off x="41944" y="3402329"/>
            <a:ext cx="875159" cy="395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NECESIDAD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 NEGOCIO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959F6C4-C3A4-6447-03E6-76424E37D630}"/>
              </a:ext>
            </a:extLst>
          </p:cNvPr>
          <p:cNvSpPr/>
          <p:nvPr/>
        </p:nvSpPr>
        <p:spPr>
          <a:xfrm>
            <a:off x="11400703" y="3394429"/>
            <a:ext cx="850552" cy="41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VALOR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ENTREGADO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7B1F07D-2F75-FDE0-C778-AD68CAF9F797}"/>
              </a:ext>
            </a:extLst>
          </p:cNvPr>
          <p:cNvSpPr/>
          <p:nvPr/>
        </p:nvSpPr>
        <p:spPr>
          <a:xfrm>
            <a:off x="1468839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192D1C0-988E-914F-C878-2B60C5429EAD}"/>
              </a:ext>
            </a:extLst>
          </p:cNvPr>
          <p:cNvSpPr>
            <a:spLocks noChangeAspect="1"/>
          </p:cNvSpPr>
          <p:nvPr/>
        </p:nvSpPr>
        <p:spPr>
          <a:xfrm>
            <a:off x="1270839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5C881B4-4D41-97B0-976D-D2802A1B9209}"/>
              </a:ext>
            </a:extLst>
          </p:cNvPr>
          <p:cNvSpPr>
            <a:spLocks noChangeAspect="1"/>
          </p:cNvSpPr>
          <p:nvPr/>
        </p:nvSpPr>
        <p:spPr>
          <a:xfrm>
            <a:off x="838839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28EE10F-0CBD-DCDF-2E1B-4E152E5F5161}"/>
              </a:ext>
            </a:extLst>
          </p:cNvPr>
          <p:cNvSpPr/>
          <p:nvPr/>
        </p:nvSpPr>
        <p:spPr>
          <a:xfrm>
            <a:off x="1233220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CBCACCFD-3990-8106-82ED-C3186B3D1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10" y="1794126"/>
            <a:ext cx="258059" cy="26755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96CC35D1-34A5-AE48-43FF-84A9F21FEBC7}"/>
              </a:ext>
            </a:extLst>
          </p:cNvPr>
          <p:cNvSpPr/>
          <p:nvPr/>
        </p:nvSpPr>
        <p:spPr>
          <a:xfrm>
            <a:off x="838839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Análisis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DOR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71F091E4-023C-2570-D85F-CE565E79F4DB}"/>
              </a:ext>
            </a:extLst>
          </p:cNvPr>
          <p:cNvSpPr/>
          <p:nvPr/>
        </p:nvSpPr>
        <p:spPr>
          <a:xfrm>
            <a:off x="921865" y="4018395"/>
            <a:ext cx="1093948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Célula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Analista Negocio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Riesgos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756AF1D-4FCB-8BBF-FC07-4DC0B363E220}"/>
              </a:ext>
            </a:extLst>
          </p:cNvPr>
          <p:cNvSpPr/>
          <p:nvPr/>
        </p:nvSpPr>
        <p:spPr>
          <a:xfrm>
            <a:off x="2625261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34D664F-343D-64DC-41BB-741C40CE2361}"/>
              </a:ext>
            </a:extLst>
          </p:cNvPr>
          <p:cNvSpPr>
            <a:spLocks noChangeAspect="1"/>
          </p:cNvSpPr>
          <p:nvPr/>
        </p:nvSpPr>
        <p:spPr>
          <a:xfrm>
            <a:off x="2427261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11A46AC3-7762-C33C-0C3E-1B86F3CAC94F}"/>
              </a:ext>
            </a:extLst>
          </p:cNvPr>
          <p:cNvSpPr>
            <a:spLocks noChangeAspect="1"/>
          </p:cNvSpPr>
          <p:nvPr/>
        </p:nvSpPr>
        <p:spPr>
          <a:xfrm>
            <a:off x="1995261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F638AFD0-1D9F-2039-BD7D-FAF1E4C8D2A4}"/>
              </a:ext>
            </a:extLst>
          </p:cNvPr>
          <p:cNvSpPr/>
          <p:nvPr/>
        </p:nvSpPr>
        <p:spPr>
          <a:xfrm>
            <a:off x="2389642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CCD8FFEB-CD36-E9E4-3520-D48FEDC79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232" y="4553871"/>
            <a:ext cx="258059" cy="267558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20BBC55E-41F6-DE38-9984-2928BE5B6021}"/>
              </a:ext>
            </a:extLst>
          </p:cNvPr>
          <p:cNvSpPr/>
          <p:nvPr/>
        </p:nvSpPr>
        <p:spPr>
          <a:xfrm>
            <a:off x="1995261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Arquitectura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D038F3D8-F9F9-7498-0718-98C8C61B581D}"/>
              </a:ext>
            </a:extLst>
          </p:cNvPr>
          <p:cNvSpPr/>
          <p:nvPr/>
        </p:nvSpPr>
        <p:spPr>
          <a:xfrm>
            <a:off x="2114753" y="2945599"/>
            <a:ext cx="102101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Arquitecto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5EE61222-A427-0E19-E377-699C2A6E14C4}"/>
              </a:ext>
            </a:extLst>
          </p:cNvPr>
          <p:cNvSpPr/>
          <p:nvPr/>
        </p:nvSpPr>
        <p:spPr>
          <a:xfrm>
            <a:off x="3977312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55621F21-AE20-1482-2372-7D50DA995184}"/>
              </a:ext>
            </a:extLst>
          </p:cNvPr>
          <p:cNvSpPr>
            <a:spLocks noChangeAspect="1"/>
          </p:cNvSpPr>
          <p:nvPr/>
        </p:nvSpPr>
        <p:spPr>
          <a:xfrm>
            <a:off x="3689312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37D8DD95-8DD0-E487-CB45-059F372E8FFF}"/>
              </a:ext>
            </a:extLst>
          </p:cNvPr>
          <p:cNvSpPr>
            <a:spLocks noChangeAspect="1"/>
          </p:cNvSpPr>
          <p:nvPr/>
        </p:nvSpPr>
        <p:spPr>
          <a:xfrm>
            <a:off x="3347312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1B7CA8D2-6DAF-E9B8-3D61-50805396F31F}"/>
              </a:ext>
            </a:extLst>
          </p:cNvPr>
          <p:cNvSpPr/>
          <p:nvPr/>
        </p:nvSpPr>
        <p:spPr>
          <a:xfrm>
            <a:off x="3741693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E2843CA0-F3C2-9D61-2EE5-A949F7A2D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283" y="1794126"/>
            <a:ext cx="258059" cy="267558"/>
          </a:xfrm>
          <a:prstGeom prst="rect">
            <a:avLst/>
          </a:prstGeom>
        </p:spPr>
      </p:pic>
      <p:sp>
        <p:nvSpPr>
          <p:cNvPr id="35" name="Text 29">
            <a:extLst>
              <a:ext uri="{FF2B5EF4-FFF2-40B4-BE49-F238E27FC236}">
                <a16:creationId xmlns:a16="http://schemas.microsoft.com/office/drawing/2014/main" id="{20375791-1D09-0365-3766-043593A296C9}"/>
              </a:ext>
            </a:extLst>
          </p:cNvPr>
          <p:cNvSpPr/>
          <p:nvPr/>
        </p:nvSpPr>
        <p:spPr>
          <a:xfrm>
            <a:off x="3347312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seguridad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88193DB8-73C7-0EE7-7BF6-12848D2692EF}"/>
              </a:ext>
            </a:extLst>
          </p:cNvPr>
          <p:cNvSpPr/>
          <p:nvPr/>
        </p:nvSpPr>
        <p:spPr>
          <a:xfrm>
            <a:off x="3236794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Equipo de Seguridad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A29CE126-4F70-FAD0-AB71-1F5EA4E721A6}"/>
              </a:ext>
            </a:extLst>
          </p:cNvPr>
          <p:cNvSpPr/>
          <p:nvPr/>
        </p:nvSpPr>
        <p:spPr>
          <a:xfrm>
            <a:off x="6650560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F00D60BE-45A4-3B48-7506-BA6929455FF9}"/>
              </a:ext>
            </a:extLst>
          </p:cNvPr>
          <p:cNvSpPr>
            <a:spLocks noChangeAspect="1"/>
          </p:cNvSpPr>
          <p:nvPr/>
        </p:nvSpPr>
        <p:spPr>
          <a:xfrm>
            <a:off x="6362560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30184C54-E8FF-B46F-DD0C-48857F26C9D0}"/>
              </a:ext>
            </a:extLst>
          </p:cNvPr>
          <p:cNvSpPr>
            <a:spLocks noChangeAspect="1"/>
          </p:cNvSpPr>
          <p:nvPr/>
        </p:nvSpPr>
        <p:spPr>
          <a:xfrm>
            <a:off x="6020560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87E31B3C-D737-9383-FF27-DE29E13E066E}"/>
              </a:ext>
            </a:extLst>
          </p:cNvPr>
          <p:cNvSpPr/>
          <p:nvPr/>
        </p:nvSpPr>
        <p:spPr>
          <a:xfrm>
            <a:off x="6414941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D0450DC8-D89D-70A9-A39D-66B3CA2FD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31" y="1794126"/>
            <a:ext cx="258059" cy="267558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5226908F-63C7-EEDE-A8CB-7DFBCA21EDF8}"/>
              </a:ext>
            </a:extLst>
          </p:cNvPr>
          <p:cNvSpPr/>
          <p:nvPr/>
        </p:nvSpPr>
        <p:spPr>
          <a:xfrm>
            <a:off x="6020560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Desarrollo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D8845260-93E6-FD0A-B69A-1CA25ED34362}"/>
              </a:ext>
            </a:extLst>
          </p:cNvPr>
          <p:cNvSpPr/>
          <p:nvPr/>
        </p:nvSpPr>
        <p:spPr>
          <a:xfrm>
            <a:off x="5910042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Desarrolladores · </a:t>
            </a:r>
            <a:r>
              <a:rPr lang="es-419" sz="907" noProof="0" err="1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QA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0288808B-418D-DE00-E8E5-3F44B991AEFC}"/>
              </a:ext>
            </a:extLst>
          </p:cNvPr>
          <p:cNvSpPr/>
          <p:nvPr/>
        </p:nvSpPr>
        <p:spPr>
          <a:xfrm>
            <a:off x="7993239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E787F1A7-7A57-73E7-2230-1962B4E993DE}"/>
              </a:ext>
            </a:extLst>
          </p:cNvPr>
          <p:cNvSpPr>
            <a:spLocks noChangeAspect="1"/>
          </p:cNvSpPr>
          <p:nvPr/>
        </p:nvSpPr>
        <p:spPr>
          <a:xfrm>
            <a:off x="7705239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7CF78D1B-497B-C6FC-C1B6-DD689B0F11E2}"/>
              </a:ext>
            </a:extLst>
          </p:cNvPr>
          <p:cNvSpPr>
            <a:spLocks noChangeAspect="1"/>
          </p:cNvSpPr>
          <p:nvPr/>
        </p:nvSpPr>
        <p:spPr>
          <a:xfrm>
            <a:off x="7363239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60D30CB3-3DE9-7399-5E6A-11C0B4776838}"/>
              </a:ext>
            </a:extLst>
          </p:cNvPr>
          <p:cNvSpPr/>
          <p:nvPr/>
        </p:nvSpPr>
        <p:spPr>
          <a:xfrm>
            <a:off x="7757620" y="4443358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B3E96102-709A-6BA2-5C93-638F31EA0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210" y="4553871"/>
            <a:ext cx="258059" cy="267558"/>
          </a:xfrm>
          <a:prstGeom prst="rect">
            <a:avLst/>
          </a:prstGeom>
        </p:spPr>
      </p:pic>
      <p:sp>
        <p:nvSpPr>
          <p:cNvPr id="59" name="Text 51">
            <a:extLst>
              <a:ext uri="{FF2B5EF4-FFF2-40B4-BE49-F238E27FC236}">
                <a16:creationId xmlns:a16="http://schemas.microsoft.com/office/drawing/2014/main" id="{5323B271-5197-329E-BD8B-9262BFDE5F5A}"/>
              </a:ext>
            </a:extLst>
          </p:cNvPr>
          <p:cNvSpPr/>
          <p:nvPr/>
        </p:nvSpPr>
        <p:spPr>
          <a:xfrm>
            <a:off x="7363239" y="4826936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Pruebas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B61E42D6-0F50-52E0-2459-F398E5A58FFB}"/>
              </a:ext>
            </a:extLst>
          </p:cNvPr>
          <p:cNvSpPr/>
          <p:nvPr/>
        </p:nvSpPr>
        <p:spPr>
          <a:xfrm>
            <a:off x="7467596" y="2945599"/>
            <a:ext cx="106885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
Aseguramiento de calidad</a:t>
            </a: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4F241678-8B0E-9FAB-8218-1A686387E118}"/>
              </a:ext>
            </a:extLst>
          </p:cNvPr>
          <p:cNvSpPr/>
          <p:nvPr/>
        </p:nvSpPr>
        <p:spPr>
          <a:xfrm>
            <a:off x="9339937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Shape 56">
            <a:extLst>
              <a:ext uri="{FF2B5EF4-FFF2-40B4-BE49-F238E27FC236}">
                <a16:creationId xmlns:a16="http://schemas.microsoft.com/office/drawing/2014/main" id="{4661C8F7-7BC7-570F-7E92-C5B216FFD48B}"/>
              </a:ext>
            </a:extLst>
          </p:cNvPr>
          <p:cNvSpPr>
            <a:spLocks noChangeAspect="1"/>
          </p:cNvSpPr>
          <p:nvPr/>
        </p:nvSpPr>
        <p:spPr>
          <a:xfrm>
            <a:off x="9051937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BBB3622E-FCA9-D9F3-3DDF-8FE5751BF6AE}"/>
              </a:ext>
            </a:extLst>
          </p:cNvPr>
          <p:cNvSpPr>
            <a:spLocks noChangeAspect="1"/>
          </p:cNvSpPr>
          <p:nvPr/>
        </p:nvSpPr>
        <p:spPr>
          <a:xfrm>
            <a:off x="8709937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7" name="Shape 59">
            <a:extLst>
              <a:ext uri="{FF2B5EF4-FFF2-40B4-BE49-F238E27FC236}">
                <a16:creationId xmlns:a16="http://schemas.microsoft.com/office/drawing/2014/main" id="{3E0FE740-EC93-BFD1-EF9C-3CE9DB83BEE5}"/>
              </a:ext>
            </a:extLst>
          </p:cNvPr>
          <p:cNvSpPr/>
          <p:nvPr/>
        </p:nvSpPr>
        <p:spPr>
          <a:xfrm>
            <a:off x="9104318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8" name="Image 5" descr="preencoded.png">
            <a:extLst>
              <a:ext uri="{FF2B5EF4-FFF2-40B4-BE49-F238E27FC236}">
                <a16:creationId xmlns:a16="http://schemas.microsoft.com/office/drawing/2014/main" id="{099451BE-DC4B-6090-4445-97C635F953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908" y="1794126"/>
            <a:ext cx="258059" cy="267558"/>
          </a:xfrm>
          <a:prstGeom prst="rect">
            <a:avLst/>
          </a:prstGeom>
        </p:spPr>
      </p:pic>
      <p:sp>
        <p:nvSpPr>
          <p:cNvPr id="69" name="Text 60">
            <a:extLst>
              <a:ext uri="{FF2B5EF4-FFF2-40B4-BE49-F238E27FC236}">
                <a16:creationId xmlns:a16="http://schemas.microsoft.com/office/drawing/2014/main" id="{95CA1BC8-1FFF-EFB3-7109-FA4090116F6A}"/>
              </a:ext>
            </a:extLst>
          </p:cNvPr>
          <p:cNvSpPr/>
          <p:nvPr/>
        </p:nvSpPr>
        <p:spPr>
          <a:xfrm>
            <a:off x="8709937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4" name="Text 65">
            <a:extLst>
              <a:ext uri="{FF2B5EF4-FFF2-40B4-BE49-F238E27FC236}">
                <a16:creationId xmlns:a16="http://schemas.microsoft.com/office/drawing/2014/main" id="{44689925-532A-0E08-76AC-6B21D9B31254}"/>
              </a:ext>
            </a:extLst>
          </p:cNvPr>
          <p:cNvSpPr/>
          <p:nvPr/>
        </p:nvSpPr>
        <p:spPr>
          <a:xfrm>
            <a:off x="8867744" y="4018395"/>
            <a:ext cx="944386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Comité de cambios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5" name="Shape 66">
            <a:extLst>
              <a:ext uri="{FF2B5EF4-FFF2-40B4-BE49-F238E27FC236}">
                <a16:creationId xmlns:a16="http://schemas.microsoft.com/office/drawing/2014/main" id="{F6BD5E84-8134-9384-EC47-FAF0C50161E1}"/>
              </a:ext>
            </a:extLst>
          </p:cNvPr>
          <p:cNvSpPr/>
          <p:nvPr/>
        </p:nvSpPr>
        <p:spPr>
          <a:xfrm>
            <a:off x="10755345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6" name="Shape 67">
            <a:extLst>
              <a:ext uri="{FF2B5EF4-FFF2-40B4-BE49-F238E27FC236}">
                <a16:creationId xmlns:a16="http://schemas.microsoft.com/office/drawing/2014/main" id="{76E49106-8230-73A7-6D01-109B59A4E68B}"/>
              </a:ext>
            </a:extLst>
          </p:cNvPr>
          <p:cNvSpPr>
            <a:spLocks noChangeAspect="1"/>
          </p:cNvSpPr>
          <p:nvPr/>
        </p:nvSpPr>
        <p:spPr>
          <a:xfrm>
            <a:off x="10557345" y="3402089"/>
            <a:ext cx="396000" cy="39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5FA3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2E5FA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</a:p>
        </p:txBody>
      </p:sp>
      <p:sp>
        <p:nvSpPr>
          <p:cNvPr id="78" name="Shape 69">
            <a:extLst>
              <a:ext uri="{FF2B5EF4-FFF2-40B4-BE49-F238E27FC236}">
                <a16:creationId xmlns:a16="http://schemas.microsoft.com/office/drawing/2014/main" id="{EF4DECE2-CF6D-9A51-A6CB-516268A79279}"/>
              </a:ext>
            </a:extLst>
          </p:cNvPr>
          <p:cNvSpPr>
            <a:spLocks noChangeAspect="1"/>
          </p:cNvSpPr>
          <p:nvPr/>
        </p:nvSpPr>
        <p:spPr>
          <a:xfrm>
            <a:off x="10125345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9" name="Shape 70">
            <a:extLst>
              <a:ext uri="{FF2B5EF4-FFF2-40B4-BE49-F238E27FC236}">
                <a16:creationId xmlns:a16="http://schemas.microsoft.com/office/drawing/2014/main" id="{DD45A577-FCC0-DA19-318F-200EE45928FA}"/>
              </a:ext>
            </a:extLst>
          </p:cNvPr>
          <p:cNvSpPr/>
          <p:nvPr/>
        </p:nvSpPr>
        <p:spPr>
          <a:xfrm>
            <a:off x="10519726" y="4443358"/>
            <a:ext cx="471239" cy="488585"/>
          </a:xfrm>
          <a:prstGeom prst="ellipse">
            <a:avLst/>
          </a:prstGeom>
          <a:solidFill>
            <a:srgbClr val="2E5FA3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5EDEAFC9-DADD-93E8-6DC1-6BAD6B7E60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316" y="4553871"/>
            <a:ext cx="258059" cy="267558"/>
          </a:xfrm>
          <a:prstGeom prst="rect">
            <a:avLst/>
          </a:prstGeom>
        </p:spPr>
      </p:pic>
      <p:sp>
        <p:nvSpPr>
          <p:cNvPr id="81" name="Text 71">
            <a:extLst>
              <a:ext uri="{FF2B5EF4-FFF2-40B4-BE49-F238E27FC236}">
                <a16:creationId xmlns:a16="http://schemas.microsoft.com/office/drawing/2014/main" id="{3E67FE61-8BD0-2947-CA55-B29394BB4F50}"/>
              </a:ext>
            </a:extLst>
          </p:cNvPr>
          <p:cNvSpPr/>
          <p:nvPr/>
        </p:nvSpPr>
        <p:spPr>
          <a:xfrm>
            <a:off x="10125345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Estabilización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entrega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4" name="Text 74">
            <a:extLst>
              <a:ext uri="{FF2B5EF4-FFF2-40B4-BE49-F238E27FC236}">
                <a16:creationId xmlns:a16="http://schemas.microsoft.com/office/drawing/2014/main" id="{02E0C6A5-19F2-B247-046C-E38822664000}"/>
              </a:ext>
            </a:extLst>
          </p:cNvPr>
          <p:cNvSpPr/>
          <p:nvPr/>
        </p:nvSpPr>
        <p:spPr>
          <a:xfrm>
            <a:off x="10213152" y="2945599"/>
            <a:ext cx="1055804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Operaciones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Soporte TI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CB2A0677-ABBF-0B7F-3EFE-E8E96B6D3A0D}"/>
              </a:ext>
            </a:extLst>
          </p:cNvPr>
          <p:cNvSpPr/>
          <p:nvPr/>
        </p:nvSpPr>
        <p:spPr>
          <a:xfrm>
            <a:off x="5249696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2840EB6B-0994-0D76-E14C-E33FD21E31A6}"/>
              </a:ext>
            </a:extLst>
          </p:cNvPr>
          <p:cNvSpPr>
            <a:spLocks noChangeAspect="1"/>
          </p:cNvSpPr>
          <p:nvPr/>
        </p:nvSpPr>
        <p:spPr>
          <a:xfrm>
            <a:off x="4961696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DED88AB9-4680-F90B-1E16-1754D0DFCA1A}"/>
              </a:ext>
            </a:extLst>
          </p:cNvPr>
          <p:cNvSpPr>
            <a:spLocks noChangeAspect="1"/>
          </p:cNvSpPr>
          <p:nvPr/>
        </p:nvSpPr>
        <p:spPr>
          <a:xfrm>
            <a:off x="4619696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1" name="Shape 39">
            <a:extLst>
              <a:ext uri="{FF2B5EF4-FFF2-40B4-BE49-F238E27FC236}">
                <a16:creationId xmlns:a16="http://schemas.microsoft.com/office/drawing/2014/main" id="{57CB08CB-C8B2-25F9-EFF9-0C027F226FB8}"/>
              </a:ext>
            </a:extLst>
          </p:cNvPr>
          <p:cNvSpPr/>
          <p:nvPr/>
        </p:nvSpPr>
        <p:spPr>
          <a:xfrm>
            <a:off x="5014077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7C945205-D99A-62EB-9DD0-CA0FC347153D}"/>
              </a:ext>
            </a:extLst>
          </p:cNvPr>
          <p:cNvSpPr/>
          <p:nvPr/>
        </p:nvSpPr>
        <p:spPr>
          <a:xfrm>
            <a:off x="4619696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100" b="1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Implementación</a:t>
            </a:r>
            <a:endParaRPr lang="es-419" sz="11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6D42BBCE-26F4-7780-1901-C7D7B0A33040}"/>
              </a:ext>
            </a:extLst>
          </p:cNvPr>
          <p:cNvSpPr/>
          <p:nvPr/>
        </p:nvSpPr>
        <p:spPr>
          <a:xfrm>
            <a:off x="4509178" y="2364158"/>
            <a:ext cx="1481037" cy="869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Nube &amp; DevOps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Operación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Protección a la ID</a:t>
            </a:r>
          </a:p>
          <a:p>
            <a:pPr algn="ctr" defTabSz="1219170"/>
            <a:r>
              <a:rPr lang="es-419" sz="907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Analítica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6" name="Gráfico 95" descr="Informática en la nube con relleno sólido">
            <a:extLst>
              <a:ext uri="{FF2B5EF4-FFF2-40B4-BE49-F238E27FC236}">
                <a16:creationId xmlns:a16="http://schemas.microsoft.com/office/drawing/2014/main" id="{F8789F2E-B487-4B54-FA3D-DE7DDC0D2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7696" y="4525650"/>
            <a:ext cx="324000" cy="324000"/>
          </a:xfrm>
          <a:prstGeom prst="rect">
            <a:avLst/>
          </a:prstGeom>
        </p:spPr>
      </p:pic>
      <p:pic>
        <p:nvPicPr>
          <p:cNvPr id="99" name="Imagen 98">
            <a:extLst>
              <a:ext uri="{FF2B5EF4-FFF2-40B4-BE49-F238E27FC236}">
                <a16:creationId xmlns:a16="http://schemas.microsoft.com/office/drawing/2014/main" id="{BB169B86-62C0-B01E-2ADD-E5836C8A4A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1757" y="1097630"/>
            <a:ext cx="1267311" cy="339722"/>
          </a:xfrm>
          <a:prstGeom prst="rect">
            <a:avLst/>
          </a:prstGeom>
        </p:spPr>
      </p:pic>
      <p:pic>
        <p:nvPicPr>
          <p:cNvPr id="101" name="Imagen 100">
            <a:extLst>
              <a:ext uri="{FF2B5EF4-FFF2-40B4-BE49-F238E27FC236}">
                <a16:creationId xmlns:a16="http://schemas.microsoft.com/office/drawing/2014/main" id="{04D9EF0D-ED10-8541-7A90-1D0E649A58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3836" y="5679274"/>
            <a:ext cx="1204673" cy="279102"/>
          </a:xfrm>
          <a:prstGeom prst="rect">
            <a:avLst/>
          </a:prstGeom>
        </p:spPr>
      </p:pic>
      <p:pic>
        <p:nvPicPr>
          <p:cNvPr id="102" name="Imagen 101">
            <a:extLst>
              <a:ext uri="{FF2B5EF4-FFF2-40B4-BE49-F238E27FC236}">
                <a16:creationId xmlns:a16="http://schemas.microsoft.com/office/drawing/2014/main" id="{3FD48AFC-FAFD-C4D3-51C1-68ADD33805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9327" y="1239842"/>
            <a:ext cx="1204673" cy="279102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C5AD7E6E-09E9-0AB5-079C-4A1570E005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1607" y="5679274"/>
            <a:ext cx="1204673" cy="279102"/>
          </a:xfrm>
          <a:prstGeom prst="rect">
            <a:avLst/>
          </a:prstGeom>
        </p:spPr>
      </p:pic>
      <p:sp>
        <p:nvSpPr>
          <p:cNvPr id="105" name="Text 54">
            <a:extLst>
              <a:ext uri="{FF2B5EF4-FFF2-40B4-BE49-F238E27FC236}">
                <a16:creationId xmlns:a16="http://schemas.microsoft.com/office/drawing/2014/main" id="{02E5A0EE-431D-85DA-A2E8-A6C24226E2F8}"/>
              </a:ext>
            </a:extLst>
          </p:cNvPr>
          <p:cNvSpPr/>
          <p:nvPr/>
        </p:nvSpPr>
        <p:spPr>
          <a:xfrm>
            <a:off x="7363239" y="5118223"/>
            <a:ext cx="1260000" cy="4615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Funcionales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Performance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Seguridad</a:t>
            </a:r>
          </a:p>
        </p:txBody>
      </p:sp>
      <p:sp>
        <p:nvSpPr>
          <p:cNvPr id="106" name="Shape 3">
            <a:extLst>
              <a:ext uri="{FF2B5EF4-FFF2-40B4-BE49-F238E27FC236}">
                <a16:creationId xmlns:a16="http://schemas.microsoft.com/office/drawing/2014/main" id="{EC01A1C7-8750-0BC1-43CB-FC7BCC9B6491}"/>
              </a:ext>
            </a:extLst>
          </p:cNvPr>
          <p:cNvSpPr/>
          <p:nvPr/>
        </p:nvSpPr>
        <p:spPr>
          <a:xfrm>
            <a:off x="971550" y="6419928"/>
            <a:ext cx="10229994" cy="6604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8" name="Imagen 107">
            <a:extLst>
              <a:ext uri="{FF2B5EF4-FFF2-40B4-BE49-F238E27FC236}">
                <a16:creationId xmlns:a16="http://schemas.microsoft.com/office/drawing/2014/main" id="{B90290D8-D8AB-9501-0F80-1450A8B4440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8478" b="13705"/>
          <a:stretch>
            <a:fillRect/>
          </a:stretch>
        </p:blipFill>
        <p:spPr>
          <a:xfrm>
            <a:off x="5678559" y="6284632"/>
            <a:ext cx="1260001" cy="277197"/>
          </a:xfrm>
          <a:prstGeom prst="roundRect">
            <a:avLst/>
          </a:prstGeom>
        </p:spPr>
      </p:pic>
      <p:cxnSp>
        <p:nvCxnSpPr>
          <p:cNvPr id="110" name="Conector: angular 109">
            <a:extLst>
              <a:ext uri="{FF2B5EF4-FFF2-40B4-BE49-F238E27FC236}">
                <a16:creationId xmlns:a16="http://schemas.microsoft.com/office/drawing/2014/main" id="{AE735B28-BFBF-83DC-6178-A6F00B9C9C2C}"/>
              </a:ext>
            </a:extLst>
          </p:cNvPr>
          <p:cNvCxnSpPr>
            <a:stCxn id="7" idx="2"/>
            <a:endCxn id="107" idx="1"/>
          </p:cNvCxnSpPr>
          <p:nvPr/>
        </p:nvCxnSpPr>
        <p:spPr>
          <a:xfrm rot="16200000" flipH="1">
            <a:off x="-651878" y="4929252"/>
            <a:ext cx="2625380" cy="362576"/>
          </a:xfrm>
          <a:prstGeom prst="bentConnector2">
            <a:avLst/>
          </a:prstGeom>
          <a:ln w="12700">
            <a:solidFill>
              <a:srgbClr val="2E5FA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: angular 110">
            <a:extLst>
              <a:ext uri="{FF2B5EF4-FFF2-40B4-BE49-F238E27FC236}">
                <a16:creationId xmlns:a16="http://schemas.microsoft.com/office/drawing/2014/main" id="{08437D54-3169-8704-B8D2-B1EC6B1AA21C}"/>
              </a:ext>
            </a:extLst>
          </p:cNvPr>
          <p:cNvCxnSpPr>
            <a:cxnSpLocks/>
            <a:stCxn id="107" idx="3"/>
            <a:endCxn id="8" idx="2"/>
          </p:cNvCxnSpPr>
          <p:nvPr/>
        </p:nvCxnSpPr>
        <p:spPr>
          <a:xfrm flipV="1">
            <a:off x="11339089" y="3813216"/>
            <a:ext cx="486890" cy="2610014"/>
          </a:xfrm>
          <a:prstGeom prst="bentConnector2">
            <a:avLst/>
          </a:prstGeom>
          <a:ln w="12700">
            <a:solidFill>
              <a:srgbClr val="2E5FA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Picture 2">
            <a:extLst>
              <a:ext uri="{FF2B5EF4-FFF2-40B4-BE49-F238E27FC236}">
                <a16:creationId xmlns:a16="http://schemas.microsoft.com/office/drawing/2014/main" id="{8BADCA46-EA15-882A-EF02-3C922784F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917154F-99E9-23D1-7865-7CCA588BA7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6329" y="5694707"/>
            <a:ext cx="971390" cy="28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AC19DAD5-CAEB-DE06-A4A5-F80445AAC617}"/>
              </a:ext>
            </a:extLst>
          </p:cNvPr>
          <p:cNvSpPr txBox="1"/>
          <p:nvPr/>
        </p:nvSpPr>
        <p:spPr>
          <a:xfrm>
            <a:off x="2006123" y="2470439"/>
            <a:ext cx="14100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</a:t>
            </a:r>
          </a:p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Requisitos no funcionales </a:t>
            </a:r>
            <a:endParaRPr lang="es-CO" sz="110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F5EAA83-7A88-CD63-2915-92CE35F546EE}"/>
              </a:ext>
            </a:extLst>
          </p:cNvPr>
          <p:cNvSpPr txBox="1"/>
          <p:nvPr/>
        </p:nvSpPr>
        <p:spPr>
          <a:xfrm>
            <a:off x="7258840" y="2557479"/>
            <a:ext cx="14580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 </a:t>
            </a:r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93C42E8-702F-A9E8-66AA-2E51478A36EC}"/>
              </a:ext>
            </a:extLst>
          </p:cNvPr>
          <p:cNvSpPr txBox="1"/>
          <p:nvPr/>
        </p:nvSpPr>
        <p:spPr>
          <a:xfrm>
            <a:off x="11185343" y="4443358"/>
            <a:ext cx="6140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Incidentes / Problemas  </a:t>
            </a:r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D090E48-8E4E-17BD-36C6-8C5ED594CB49}"/>
              </a:ext>
            </a:extLst>
          </p:cNvPr>
          <p:cNvSpPr txBox="1"/>
          <p:nvPr/>
        </p:nvSpPr>
        <p:spPr>
          <a:xfrm>
            <a:off x="10044577" y="1552079"/>
            <a:ext cx="867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Requisitos no Funcionales: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 sz="18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059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1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90675" y="657225"/>
            <a:ext cx="358076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Análisis y DOR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3900" y="1905000"/>
            <a:ext cx="481584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negocio plantea su necesidad y </a:t>
            </a:r>
            <a:r>
              <a:rPr lang="es-CO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s</a:t>
            </a:r>
            <a:r>
              <a:rPr lang="es-CO" sz="1400" noProof="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 evalúa la iniciativa desde el punto de vista técnico para garantizar que cuenta con la información y condiciones necesarias para iniciar su desarrollo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0" y="2872478"/>
            <a:ext cx="4815840" cy="1724668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Contexto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Objetivo de la iniciativa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Alcance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End </a:t>
            </a:r>
            <a:r>
              <a:rPr lang="es-419" sz="1400" noProof="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to</a:t>
            </a: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End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Requerimientos Funcionales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Requerimientos no funcionales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Reglas de negocio 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3900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7166120F-CBF2-0825-09A8-D0680DCDD62E}"/>
              </a:ext>
            </a:extLst>
          </p:cNvPr>
          <p:cNvSpPr/>
          <p:nvPr/>
        </p:nvSpPr>
        <p:spPr>
          <a:xfrm>
            <a:off x="876300" y="36861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EAA762FC-231B-E43B-BE37-1DE9CF525BB8}"/>
              </a:ext>
            </a:extLst>
          </p:cNvPr>
          <p:cNvSpPr/>
          <p:nvPr/>
        </p:nvSpPr>
        <p:spPr>
          <a:xfrm>
            <a:off x="1371600" y="36385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Co-crear el DOR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9AE2B680-AF28-4FE9-D71C-E8D902010A3E}"/>
              </a:ext>
            </a:extLst>
          </p:cNvPr>
          <p:cNvSpPr/>
          <p:nvPr/>
        </p:nvSpPr>
        <p:spPr>
          <a:xfrm>
            <a:off x="876300" y="40100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7F8CAD5F-86C3-502B-F8D1-1219B8906309}"/>
              </a:ext>
            </a:extLst>
          </p:cNvPr>
          <p:cNvSpPr/>
          <p:nvPr/>
        </p:nvSpPr>
        <p:spPr>
          <a:xfrm>
            <a:off x="1371600" y="39624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Evaluar viabilidad técnica y estimar riesgos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E0A3733-14D3-605A-41E8-E0C1598EE693}"/>
              </a:ext>
            </a:extLst>
          </p:cNvPr>
          <p:cNvSpPr/>
          <p:nvPr/>
        </p:nvSpPr>
        <p:spPr>
          <a:xfrm>
            <a:off x="876300" y="43338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B3C992DB-1E95-F89F-B361-C014833B1368}"/>
              </a:ext>
            </a:extLst>
          </p:cNvPr>
          <p:cNvSpPr/>
          <p:nvPr/>
        </p:nvSpPr>
        <p:spPr>
          <a:xfrm>
            <a:off x="1371600" y="42862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Identificar dependencias con otras plataformas y equipos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9BDA6FC7-2FB4-6870-4A88-37A7E7AD32C9}"/>
              </a:ext>
            </a:extLst>
          </p:cNvPr>
          <p:cNvSpPr/>
          <p:nvPr/>
        </p:nvSpPr>
        <p:spPr>
          <a:xfrm>
            <a:off x="876300" y="46577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1D9AAF86-B4E9-16E2-D8A7-2B469813067F}"/>
              </a:ext>
            </a:extLst>
          </p:cNvPr>
          <p:cNvSpPr/>
          <p:nvPr/>
        </p:nvSpPr>
        <p:spPr>
          <a:xfrm>
            <a:off x="1371600" y="46101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Aterrizar requerimientos del negocio a términos técnicos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5286D9D4-5E10-D30B-34B7-D06BCFD1C6B6}"/>
              </a:ext>
            </a:extLst>
          </p:cNvPr>
          <p:cNvSpPr/>
          <p:nvPr/>
        </p:nvSpPr>
        <p:spPr>
          <a:xfrm>
            <a:off x="876300" y="49815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95274A42-5AC0-FB04-E23A-6F31D9278CD5}"/>
              </a:ext>
            </a:extLst>
          </p:cNvPr>
          <p:cNvSpPr/>
          <p:nvPr/>
        </p:nvSpPr>
        <p:spPr>
          <a:xfrm>
            <a:off x="1371600" y="49339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Espacio con Arquitectura para entrega del DOR 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6EE27DE0-FB6C-DD4D-3E61-5810A8B1353F}"/>
              </a:ext>
            </a:extLst>
          </p:cNvPr>
          <p:cNvSpPr/>
          <p:nvPr/>
        </p:nvSpPr>
        <p:spPr>
          <a:xfrm>
            <a:off x="876300" y="53054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6</a:t>
            </a: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62C7371F-5973-FAB5-BA6B-C7E73AFAD4F3}"/>
              </a:ext>
            </a:extLst>
          </p:cNvPr>
          <p:cNvSpPr/>
          <p:nvPr/>
        </p:nvSpPr>
        <p:spPr>
          <a:xfrm>
            <a:off x="1371600" y="52578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3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Formular requerimientos técnicos al proveedor si aplica (GIG, </a:t>
            </a:r>
            <a:r>
              <a:rPr lang="es-419" sz="1300" noProof="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Inaltec</a:t>
            </a:r>
            <a:r>
              <a:rPr lang="es-419" sz="13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)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2D0F0FC8-3269-9A10-74A0-AB905A05EFBD}"/>
              </a:ext>
            </a:extLst>
          </p:cNvPr>
          <p:cNvSpPr/>
          <p:nvPr/>
        </p:nvSpPr>
        <p:spPr>
          <a:xfrm>
            <a:off x="6858000" y="2340864"/>
            <a:ext cx="47504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DOR de Arquitectura 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3CF10193-4F15-4DDF-D197-EB75051CC07E}"/>
              </a:ext>
            </a:extLst>
          </p:cNvPr>
          <p:cNvSpPr/>
          <p:nvPr/>
        </p:nvSpPr>
        <p:spPr>
          <a:xfrm>
            <a:off x="6858000" y="771857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E242E841-6028-FD15-5025-D45085C1C1F3}"/>
              </a:ext>
            </a:extLst>
          </p:cNvPr>
          <p:cNvSpPr/>
          <p:nvPr/>
        </p:nvSpPr>
        <p:spPr>
          <a:xfrm>
            <a:off x="6853286" y="1209160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F34349B2-C625-F518-5F91-E2EB4370E0A8}"/>
              </a:ext>
            </a:extLst>
          </p:cNvPr>
          <p:cNvSpPr/>
          <p:nvPr/>
        </p:nvSpPr>
        <p:spPr>
          <a:xfrm>
            <a:off x="8823881" y="1209160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Célula  - Miembros de equipo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6F4AE94-84A9-A9C3-E0AA-30D30D805A7D}"/>
              </a:ext>
            </a:extLst>
          </p:cNvPr>
          <p:cNvSpPr/>
          <p:nvPr/>
        </p:nvSpPr>
        <p:spPr>
          <a:xfrm>
            <a:off x="6853286" y="170082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2730E39-7E56-D057-EB5E-B61FAA129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A0D0DA2-27DD-0664-867B-B604CFE5037C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1FB87DE-622B-1868-9C64-433DCA6682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478" b="13705"/>
          <a:stretch>
            <a:fillRect/>
          </a:stretch>
        </p:blipFill>
        <p:spPr>
          <a:xfrm>
            <a:off x="723900" y="142875"/>
            <a:ext cx="2026919" cy="445917"/>
          </a:xfrm>
          <a:prstGeom prst="roundRect">
            <a:avLst>
              <a:gd name="adj" fmla="val 0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Shape 16">
            <a:extLst>
              <a:ext uri="{FF2B5EF4-FFF2-40B4-BE49-F238E27FC236}">
                <a16:creationId xmlns:a16="http://schemas.microsoft.com/office/drawing/2014/main" id="{7585FF7C-AF3C-2E0E-E73B-A7825C5966CC}"/>
              </a:ext>
            </a:extLst>
          </p:cNvPr>
          <p:cNvSpPr/>
          <p:nvPr/>
        </p:nvSpPr>
        <p:spPr>
          <a:xfrm>
            <a:off x="8863004" y="1678290"/>
            <a:ext cx="222262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*Arquitectura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998327-414A-21FB-7986-99103F7F0A08}"/>
              </a:ext>
            </a:extLst>
          </p:cNvPr>
          <p:cNvSpPr txBox="1"/>
          <p:nvPr/>
        </p:nvSpPr>
        <p:spPr>
          <a:xfrm>
            <a:off x="6858000" y="4639053"/>
            <a:ext cx="4819650" cy="1384995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La construcción del DOR la realiza el Líder de Célula asegurando que la iniciativa/historias cumplan los criterios para entrar a desarrollo. </a:t>
            </a:r>
          </a:p>
          <a:p>
            <a:pPr>
              <a:buNone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Desarrollo y calidad aporta insumo técnico (input) y el Líder Técnico da su visto bueno (acuerdo) sobre la viabilidad técnica antes de habilitar el desarrollo. </a:t>
            </a:r>
            <a:endParaRPr lang="es-CO" sz="1400" b="1" i="1" kern="1200">
              <a:solidFill>
                <a:schemeClr val="tx2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62" name="Text 4"/>
          <p:cNvSpPr/>
          <p:nvPr/>
        </p:nvSpPr>
        <p:spPr>
          <a:xfrm>
            <a:off x="723900" y="1562100"/>
            <a:ext cx="47529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848344-96B4-41C9-D86C-AA15FA91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4ED63CA-0E1A-7ACF-DAC7-39F52A15F6DE}"/>
              </a:ext>
            </a:extLst>
          </p:cNvPr>
          <p:cNvSpPr/>
          <p:nvPr/>
        </p:nvSpPr>
        <p:spPr>
          <a:xfrm>
            <a:off x="723900" y="1662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964E9B-0D16-D7D2-C306-0CEC4116A65C}"/>
              </a:ext>
            </a:extLst>
          </p:cNvPr>
          <p:cNvSpPr/>
          <p:nvPr/>
        </p:nvSpPr>
        <p:spPr>
          <a:xfrm>
            <a:off x="723900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 el </a:t>
            </a:r>
            <a:r>
              <a:rPr lang="es-419" sz="1400" b="1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DOR listo</a:t>
            </a: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, se activa y prioriza al equipo de arquitectura, que  establece los componentes, interacciones, tecnologías, patrones y decisiones técnicas necesarias para su implementación;  entregando la arquitectura de solución. 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BB7A386-77E7-4076-0239-315DB4C20A2F}"/>
              </a:ext>
            </a:extLst>
          </p:cNvPr>
          <p:cNvSpPr/>
          <p:nvPr/>
        </p:nvSpPr>
        <p:spPr>
          <a:xfrm>
            <a:off x="6858000" y="3446062"/>
            <a:ext cx="4815840" cy="138499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Documentación en la Wiki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Diagrama de Contexto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Diagrama de Despliegue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Definición de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APIs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Deuda técnica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291CEE9-1B3E-D35D-4CE4-8D40FE358C20}"/>
              </a:ext>
            </a:extLst>
          </p:cNvPr>
          <p:cNvSpPr/>
          <p:nvPr/>
        </p:nvSpPr>
        <p:spPr>
          <a:xfrm>
            <a:off x="723900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DAEF95AC-69AE-7C09-C26F-C2C3547C1DF7}"/>
              </a:ext>
            </a:extLst>
          </p:cNvPr>
          <p:cNvSpPr/>
          <p:nvPr/>
        </p:nvSpPr>
        <p:spPr>
          <a:xfrm>
            <a:off x="876300" y="36861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B6D59D4F-AD4F-153A-2BB3-766B9CCB2B45}"/>
              </a:ext>
            </a:extLst>
          </p:cNvPr>
          <p:cNvSpPr/>
          <p:nvPr/>
        </p:nvSpPr>
        <p:spPr>
          <a:xfrm>
            <a:off x="876300" y="40100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8C5FFD2E-9A7F-4784-F247-6AAEA1F83D44}"/>
              </a:ext>
            </a:extLst>
          </p:cNvPr>
          <p:cNvSpPr/>
          <p:nvPr/>
        </p:nvSpPr>
        <p:spPr>
          <a:xfrm>
            <a:off x="876300" y="43338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02F3F19-8FB5-CEB1-04DB-DEAC0DBD87DD}"/>
              </a:ext>
            </a:extLst>
          </p:cNvPr>
          <p:cNvSpPr/>
          <p:nvPr/>
        </p:nvSpPr>
        <p:spPr>
          <a:xfrm>
            <a:off x="876300" y="46577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E6E169E0-B7E8-6D3A-4713-4267BF224BCA}"/>
              </a:ext>
            </a:extLst>
          </p:cNvPr>
          <p:cNvSpPr/>
          <p:nvPr/>
        </p:nvSpPr>
        <p:spPr>
          <a:xfrm>
            <a:off x="876300" y="49815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EEAB413-944C-263F-28EA-8F68BBA97971}"/>
              </a:ext>
            </a:extLst>
          </p:cNvPr>
          <p:cNvSpPr/>
          <p:nvPr/>
        </p:nvSpPr>
        <p:spPr>
          <a:xfrm>
            <a:off x="6858000" y="3015127"/>
            <a:ext cx="4815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Arquitectura de Solución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EBF16906-FA4D-4721-77F0-7C1660267A70}"/>
              </a:ext>
            </a:extLst>
          </p:cNvPr>
          <p:cNvSpPr/>
          <p:nvPr/>
        </p:nvSpPr>
        <p:spPr>
          <a:xfrm>
            <a:off x="6858000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CD8129A-9055-5ADD-9611-D4C9A03800B8}"/>
              </a:ext>
            </a:extLst>
          </p:cNvPr>
          <p:cNvSpPr/>
          <p:nvPr/>
        </p:nvSpPr>
        <p:spPr>
          <a:xfrm>
            <a:off x="6855732" y="139085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F80E83BB-3FFB-9048-07FC-C2C73019D1E6}"/>
              </a:ext>
            </a:extLst>
          </p:cNvPr>
          <p:cNvSpPr/>
          <p:nvPr/>
        </p:nvSpPr>
        <p:spPr>
          <a:xfrm>
            <a:off x="8852862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Célula  - Miembros de equipo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A72D21B0-0389-CE18-695F-22BB49DA8134}"/>
              </a:ext>
            </a:extLst>
          </p:cNvPr>
          <p:cNvSpPr/>
          <p:nvPr/>
        </p:nvSpPr>
        <p:spPr>
          <a:xfrm>
            <a:off x="6855732" y="1876985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40A53A92-A8AD-2809-396A-6C9D8E6A1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2AC41BAB-3F53-AF6D-4FC7-3C0316E41DED}"/>
              </a:ext>
            </a:extLst>
          </p:cNvPr>
          <p:cNvSpPr/>
          <p:nvPr/>
        </p:nvSpPr>
        <p:spPr>
          <a:xfrm>
            <a:off x="1371600" y="36385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Realizar contextualización de la iniciativa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3D034DFF-12E2-1612-30FC-5690A4587900}"/>
              </a:ext>
            </a:extLst>
          </p:cNvPr>
          <p:cNvSpPr/>
          <p:nvPr/>
        </p:nvSpPr>
        <p:spPr>
          <a:xfrm>
            <a:off x="1371600" y="39624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Construcción de la Arquitectura de Solución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65C683A3-D4B3-7446-69CA-20E344D2EB66}"/>
              </a:ext>
            </a:extLst>
          </p:cNvPr>
          <p:cNvSpPr/>
          <p:nvPr/>
        </p:nvSpPr>
        <p:spPr>
          <a:xfrm>
            <a:off x="1371600" y="42862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Guiar al arquitecto en componentes y plataformas existentes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5E932DAF-9D01-7E23-7C48-12A4A3A89939}"/>
              </a:ext>
            </a:extLst>
          </p:cNvPr>
          <p:cNvSpPr/>
          <p:nvPr/>
        </p:nvSpPr>
        <p:spPr>
          <a:xfrm>
            <a:off x="1371600" y="46101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Mapear componentes necesarios y estimar esfuerzo por perfil</a:t>
            </a: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E15C2660-AB64-62FE-811F-AC15F2D6C6AC}"/>
              </a:ext>
            </a:extLst>
          </p:cNvPr>
          <p:cNvSpPr/>
          <p:nvPr/>
        </p:nvSpPr>
        <p:spPr>
          <a:xfrm>
            <a:off x="1371600" y="49339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Activar al equipo de Seguridad desde esta etapa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4F093B7-A5B3-110B-464C-5DA7A8005F96}"/>
              </a:ext>
            </a:extLst>
          </p:cNvPr>
          <p:cNvSpPr/>
          <p:nvPr/>
        </p:nvSpPr>
        <p:spPr>
          <a:xfrm>
            <a:off x="8852862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32389C0-0858-38D3-0FF8-469947C37B38}"/>
              </a:ext>
            </a:extLst>
          </p:cNvPr>
          <p:cNvSpPr/>
          <p:nvPr/>
        </p:nvSpPr>
        <p:spPr>
          <a:xfrm>
            <a:off x="6855732" y="2364693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1F47E96-E3A4-1DED-AA59-8EE16FF06BB2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2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5E59B53-B6B5-6020-2549-600BB4010773}"/>
              </a:ext>
            </a:extLst>
          </p:cNvPr>
          <p:cNvSpPr/>
          <p:nvPr/>
        </p:nvSpPr>
        <p:spPr>
          <a:xfrm>
            <a:off x="1590675" y="657225"/>
            <a:ext cx="496810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Diseño de Arquitectura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3C7EE4E-9103-6422-AFF7-58AF6C63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61925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A6FDFAC-80EC-810B-0F57-07E536C97BAF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A95A55-CF8F-BD14-E607-E7245BBB2571}"/>
              </a:ext>
            </a:extLst>
          </p:cNvPr>
          <p:cNvSpPr txBox="1"/>
          <p:nvPr/>
        </p:nvSpPr>
        <p:spPr>
          <a:xfrm>
            <a:off x="6858000" y="4876112"/>
            <a:ext cx="4815840" cy="1600438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Técnico  asegura que  la arquitectura entregada cumpla con los requerimientos técnicos y funcionales</a:t>
            </a:r>
            <a:r>
              <a:rPr lang="es-CO" sz="14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. Es el responsable de que la implementación cumpla con la arquitectura.</a:t>
            </a:r>
            <a:endParaRPr lang="es-CO" sz="1400" i="1" kern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s-CO" sz="1400" i="1">
                <a:solidFill>
                  <a:srgbClr val="FF0000"/>
                </a:solidFill>
                <a:latin typeface="Roboto"/>
                <a:ea typeface="Roboto"/>
                <a:cs typeface="Calibri"/>
              </a:rPr>
              <a:t>La arquitectura  entregada puede impactar temas de dimensionamiento lo cual genera ajustes en el caso de negocio,  presupuesto  y capacidad</a:t>
            </a:r>
            <a:endParaRPr lang="es-CO" sz="1400" i="1" kern="1200">
              <a:solidFill>
                <a:srgbClr val="222A35"/>
              </a:solidFill>
              <a:latin typeface="Roboto"/>
              <a:ea typeface="Robo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046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ADF5F8-7457-AAAA-AB6B-775762BB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4EA57533-076B-50B5-2EBA-CAC0998DCBFC}"/>
              </a:ext>
            </a:extLst>
          </p:cNvPr>
          <p:cNvSpPr/>
          <p:nvPr/>
        </p:nvSpPr>
        <p:spPr>
          <a:xfrm>
            <a:off x="72390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E0C278A-F7EF-A53A-06A0-214D414F3B09}"/>
              </a:ext>
            </a:extLst>
          </p:cNvPr>
          <p:cNvSpPr/>
          <p:nvPr/>
        </p:nvSpPr>
        <p:spPr>
          <a:xfrm>
            <a:off x="723900" y="2005043"/>
            <a:ext cx="5266944" cy="10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identificar, analizar y mitigar amenazas en etapas tempranas del desarrollo de software. Su propósito es anticiparse a posibles vectores de ataque, reducir el riesgo de vulnerabilidades en producción y habilitar despliegues más ágiles, seguros y controlados de los aplicativos de la compañía.</a:t>
            </a: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E5AF6E-74D2-2CD8-443C-792FB741414C}"/>
              </a:ext>
            </a:extLst>
          </p:cNvPr>
          <p:cNvSpPr/>
          <p:nvPr/>
        </p:nvSpPr>
        <p:spPr>
          <a:xfrm>
            <a:off x="6858000" y="3286594"/>
            <a:ext cx="4815840" cy="173156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ES" sz="1400" b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Artefacto de diseño</a:t>
            </a: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 de seguridad con las amenazas y controles a implementar.</a:t>
            </a:r>
          </a:p>
          <a:p>
            <a:endParaRPr lang="es-ES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  <a:p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/>
              </a:rPr>
              <a:t>Recolección de evidencias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/>
              </a:rPr>
              <a:t> por parte del especialista de TI asegurando la implementación de los controles definidos.</a:t>
            </a:r>
            <a:endParaRPr lang="es-ES"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9D8580C-F526-07E3-D4E0-D88808E56133}"/>
              </a:ext>
            </a:extLst>
          </p:cNvPr>
          <p:cNvSpPr/>
          <p:nvPr/>
        </p:nvSpPr>
        <p:spPr>
          <a:xfrm>
            <a:off x="723900" y="33299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3EC9148D-9F4D-B6BB-1CFA-01C3D6BD0074}"/>
              </a:ext>
            </a:extLst>
          </p:cNvPr>
          <p:cNvSpPr/>
          <p:nvPr/>
        </p:nvSpPr>
        <p:spPr>
          <a:xfrm>
            <a:off x="876300" y="38385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A34D2674-7A28-F645-30A9-A9CC1F77B28F}"/>
              </a:ext>
            </a:extLst>
          </p:cNvPr>
          <p:cNvSpPr/>
          <p:nvPr/>
        </p:nvSpPr>
        <p:spPr>
          <a:xfrm>
            <a:off x="876300" y="41624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3EC3A6BF-1BA2-86CD-1CBA-DE6FA2F6774B}"/>
              </a:ext>
            </a:extLst>
          </p:cNvPr>
          <p:cNvSpPr/>
          <p:nvPr/>
        </p:nvSpPr>
        <p:spPr>
          <a:xfrm>
            <a:off x="876300" y="46767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6DEE05F5-A1E2-EDFA-6056-151AB441FB23}"/>
              </a:ext>
            </a:extLst>
          </p:cNvPr>
          <p:cNvSpPr/>
          <p:nvPr/>
        </p:nvSpPr>
        <p:spPr>
          <a:xfrm>
            <a:off x="876300" y="51911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7DA4C01-DF4D-24CF-EFA5-C8D3A902D82F}"/>
              </a:ext>
            </a:extLst>
          </p:cNvPr>
          <p:cNvSpPr/>
          <p:nvPr/>
        </p:nvSpPr>
        <p:spPr>
          <a:xfrm>
            <a:off x="6858000" y="2831061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Diseño de seguridad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2EDECA56-7A71-A83C-E0C9-F0F891E5A740}"/>
              </a:ext>
            </a:extLst>
          </p:cNvPr>
          <p:cNvSpPr/>
          <p:nvPr/>
        </p:nvSpPr>
        <p:spPr>
          <a:xfrm>
            <a:off x="6858000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AD5E07D0-A655-A2BF-5733-7BF2D5897BAA}"/>
              </a:ext>
            </a:extLst>
          </p:cNvPr>
          <p:cNvSpPr/>
          <p:nvPr/>
        </p:nvSpPr>
        <p:spPr>
          <a:xfrm>
            <a:off x="6873395" y="1390854"/>
            <a:ext cx="20035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Estrategia de seguridad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54C6989B-FD7A-9261-164C-AD4425347E7C}"/>
              </a:ext>
            </a:extLst>
          </p:cNvPr>
          <p:cNvSpPr/>
          <p:nvPr/>
        </p:nvSpPr>
        <p:spPr>
          <a:xfrm>
            <a:off x="8986212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07C93B75-F122-ACF4-81E4-462390D03E4B}"/>
              </a:ext>
            </a:extLst>
          </p:cNvPr>
          <p:cNvSpPr/>
          <p:nvPr/>
        </p:nvSpPr>
        <p:spPr>
          <a:xfrm>
            <a:off x="6860544" y="1876985"/>
            <a:ext cx="203258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TI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B8EFFF9E-D9D3-553C-D1A4-4197E8592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1EC9CF29-ACCB-E807-1DD8-D225FC7467AE}"/>
              </a:ext>
            </a:extLst>
          </p:cNvPr>
          <p:cNvSpPr/>
          <p:nvPr/>
        </p:nvSpPr>
        <p:spPr>
          <a:xfrm>
            <a:off x="1371600" y="37909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Identificar el sistema, aplicación o proceso a evaluar.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3F392CEE-6890-9C48-1DF0-246A5ACA5E43}"/>
              </a:ext>
            </a:extLst>
          </p:cNvPr>
          <p:cNvSpPr/>
          <p:nvPr/>
        </p:nvSpPr>
        <p:spPr>
          <a:xfrm>
            <a:off x="1371600" y="41148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Determinar activos críticos, flujos de información y componentes.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A4F3573F-98E8-73DE-0E4A-8A58A30E2A53}"/>
              </a:ext>
            </a:extLst>
          </p:cNvPr>
          <p:cNvSpPr/>
          <p:nvPr/>
        </p:nvSpPr>
        <p:spPr>
          <a:xfrm>
            <a:off x="1371600" y="462915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Detectar posibles escenarios de abuso, ataques o fallos de seguridad.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F76DBCE2-4A48-902F-4DB1-E36DCA292866}"/>
              </a:ext>
            </a:extLst>
          </p:cNvPr>
          <p:cNvSpPr/>
          <p:nvPr/>
        </p:nvSpPr>
        <p:spPr>
          <a:xfrm>
            <a:off x="1371600" y="51435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Proponer controles de seguridad para mitigar las amenazas identificadas.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D750684-2D2C-F244-1996-25C707E15F3C}"/>
              </a:ext>
            </a:extLst>
          </p:cNvPr>
          <p:cNvSpPr/>
          <p:nvPr/>
        </p:nvSpPr>
        <p:spPr>
          <a:xfrm>
            <a:off x="8986212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A44BC3B9-EC5F-742C-B568-4768E9D762A5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3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DF74B051-EFE0-8EC9-2314-A1C96B65A8B4}"/>
              </a:ext>
            </a:extLst>
          </p:cNvPr>
          <p:cNvSpPr/>
          <p:nvPr/>
        </p:nvSpPr>
        <p:spPr>
          <a:xfrm>
            <a:off x="1590675" y="657225"/>
            <a:ext cx="496810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Diseño de Seguridad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B6149ED-8DD2-1B28-B9B8-553567740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61925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D58F2B2-D808-8378-6316-5F2DF400CFFA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50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E8E741-1945-B66D-01AE-E7137B1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FB99992-F205-9A66-056D-B8607936297D}"/>
              </a:ext>
            </a:extLst>
          </p:cNvPr>
          <p:cNvSpPr/>
          <p:nvPr/>
        </p:nvSpPr>
        <p:spPr>
          <a:xfrm>
            <a:off x="723900" y="15610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F132B9-2672-88F4-1FEE-922AED4D7BF3}"/>
              </a:ext>
            </a:extLst>
          </p:cNvPr>
          <p:cNvSpPr/>
          <p:nvPr/>
        </p:nvSpPr>
        <p:spPr>
          <a:xfrm>
            <a:off x="723900" y="2106635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Análisis de costos y aprovisionamiento de la infraestructura en nube, así como la creación y configuración de repositorios de código fuente y la definición de pipelines CI/CD, garantizando la integración del ciclo de vida de software en Azure DevOps.</a:t>
            </a:r>
            <a:endParaRPr lang="en-US" sz="15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975002-8B5C-4CFF-3E10-A86FE10F82B1}"/>
              </a:ext>
            </a:extLst>
          </p:cNvPr>
          <p:cNvSpPr/>
          <p:nvPr/>
        </p:nvSpPr>
        <p:spPr>
          <a:xfrm>
            <a:off x="6858000" y="3608321"/>
            <a:ext cx="4815840" cy="1774097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Infraestructura desplegada y operativa </a:t>
            </a:r>
          </a:p>
          <a:p>
            <a:pPr algn="just"/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 por ambiente.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anose="020F0502020204030204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Repositorios estructurados y gobernados.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Pipelines CI/CD creados y configurados.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Segoe UI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A671346-C088-C74F-337F-A5FF2357E09C}"/>
              </a:ext>
            </a:extLst>
          </p:cNvPr>
          <p:cNvSpPr/>
          <p:nvPr/>
        </p:nvSpPr>
        <p:spPr>
          <a:xfrm>
            <a:off x="723900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235277BB-EAB7-AE11-371A-9889100B10ED}"/>
              </a:ext>
            </a:extLst>
          </p:cNvPr>
          <p:cNvSpPr/>
          <p:nvPr/>
        </p:nvSpPr>
        <p:spPr>
          <a:xfrm>
            <a:off x="876300" y="36861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34029D32-D9DF-E9ED-D8CF-4B57D512B230}"/>
              </a:ext>
            </a:extLst>
          </p:cNvPr>
          <p:cNvSpPr/>
          <p:nvPr/>
        </p:nvSpPr>
        <p:spPr>
          <a:xfrm>
            <a:off x="876300" y="40100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44FCDAE-8B85-58CA-8409-AEAAE72EFD26}"/>
              </a:ext>
            </a:extLst>
          </p:cNvPr>
          <p:cNvSpPr/>
          <p:nvPr/>
        </p:nvSpPr>
        <p:spPr>
          <a:xfrm>
            <a:off x="876300" y="43338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1563CC7-770B-5D21-A0D8-AFF0D99882FC}"/>
              </a:ext>
            </a:extLst>
          </p:cNvPr>
          <p:cNvSpPr/>
          <p:nvPr/>
        </p:nvSpPr>
        <p:spPr>
          <a:xfrm>
            <a:off x="876300" y="48482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0EC42681-C69C-4AF4-071A-4410866EA425}"/>
              </a:ext>
            </a:extLst>
          </p:cNvPr>
          <p:cNvSpPr/>
          <p:nvPr/>
        </p:nvSpPr>
        <p:spPr>
          <a:xfrm>
            <a:off x="876300" y="517207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D2141606-0C33-BED8-833A-7606799561C7}"/>
              </a:ext>
            </a:extLst>
          </p:cNvPr>
          <p:cNvSpPr/>
          <p:nvPr/>
        </p:nvSpPr>
        <p:spPr>
          <a:xfrm>
            <a:off x="6858000" y="3246674"/>
            <a:ext cx="479697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Recursos aprovisionados/desplegados.</a:t>
            </a:r>
            <a:endParaRPr lang="es-419" sz="1400" b="1" kern="0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  <a:p>
            <a:endParaRPr lang="es-419" sz="1400" b="1" kern="0" spc="0" noProof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B3AB3953-ADCE-18D6-6259-4AF513B8B788}"/>
              </a:ext>
            </a:extLst>
          </p:cNvPr>
          <p:cNvSpPr/>
          <p:nvPr/>
        </p:nvSpPr>
        <p:spPr>
          <a:xfrm>
            <a:off x="6858000" y="160621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B5E4585-8194-8CEF-CBA1-BD78646F2BE8}"/>
              </a:ext>
            </a:extLst>
          </p:cNvPr>
          <p:cNvSpPr/>
          <p:nvPr/>
        </p:nvSpPr>
        <p:spPr>
          <a:xfrm>
            <a:off x="6859257" y="2594284"/>
            <a:ext cx="2016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 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D83E817-7CD0-398D-2DD2-C4529645EE7D}"/>
              </a:ext>
            </a:extLst>
          </p:cNvPr>
          <p:cNvSpPr/>
          <p:nvPr/>
        </p:nvSpPr>
        <p:spPr>
          <a:xfrm>
            <a:off x="6859257" y="2063605"/>
            <a:ext cx="2016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Técnico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158112CD-2F0F-DECB-910C-90E669AAE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5D5E5C99-B2A2-81A6-5649-E037854F939A}"/>
              </a:ext>
            </a:extLst>
          </p:cNvPr>
          <p:cNvSpPr/>
          <p:nvPr/>
        </p:nvSpPr>
        <p:spPr>
          <a:xfrm>
            <a:off x="1371600" y="36385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Contextualización de la iniciativa.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779A537E-953B-A5F6-B120-5AD3FD147B39}"/>
              </a:ext>
            </a:extLst>
          </p:cNvPr>
          <p:cNvSpPr/>
          <p:nvPr/>
        </p:nvSpPr>
        <p:spPr>
          <a:xfrm>
            <a:off x="1371600" y="48006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Aprovisionamiento de Infraestructura en Nube 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2BF7B586-9354-3EC0-2AA8-3C5116541AD1}"/>
              </a:ext>
            </a:extLst>
          </p:cNvPr>
          <p:cNvSpPr/>
          <p:nvPr/>
        </p:nvSpPr>
        <p:spPr>
          <a:xfrm>
            <a:off x="1371600" y="428625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Creación y configuración de repositorios basados en la Arquitectura definida.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C4A1C386-0C0F-AD93-A536-2DD0A274747D}"/>
              </a:ext>
            </a:extLst>
          </p:cNvPr>
          <p:cNvSpPr/>
          <p:nvPr/>
        </p:nvSpPr>
        <p:spPr>
          <a:xfrm>
            <a:off x="1371600" y="51244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Implementación de pipelines CI/CD</a:t>
            </a: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27C57568-3228-07DB-D359-1BAF0B53E960}"/>
              </a:ext>
            </a:extLst>
          </p:cNvPr>
          <p:cNvSpPr/>
          <p:nvPr/>
        </p:nvSpPr>
        <p:spPr>
          <a:xfrm>
            <a:off x="1371600" y="54483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Acompañamiento y estabilización.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849683D-B043-3C21-3B59-59D6EF10B82F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45FBDD3-2170-5C4A-068D-D6024B59A438}"/>
              </a:ext>
            </a:extLst>
          </p:cNvPr>
          <p:cNvSpPr/>
          <p:nvPr/>
        </p:nvSpPr>
        <p:spPr>
          <a:xfrm>
            <a:off x="1590675" y="657225"/>
            <a:ext cx="851667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Nube &amp; DevOps 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85B467E-1DE1-1C9F-63EF-F0FC30672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61925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F6E5E70-4C18-9A1F-ADA2-D34F9E36C610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BB4BD477-D626-CB2A-5707-C1EDC3D8246D}"/>
              </a:ext>
            </a:extLst>
          </p:cNvPr>
          <p:cNvSpPr/>
          <p:nvPr/>
        </p:nvSpPr>
        <p:spPr>
          <a:xfrm>
            <a:off x="9102493" y="2093293"/>
            <a:ext cx="2144649" cy="392440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Desarrolladores</a:t>
            </a: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0BB7781F-41C2-095E-B9FD-43F027779C9D}"/>
              </a:ext>
            </a:extLst>
          </p:cNvPr>
          <p:cNvSpPr/>
          <p:nvPr/>
        </p:nvSpPr>
        <p:spPr>
          <a:xfrm>
            <a:off x="9112389" y="2574492"/>
            <a:ext cx="2144649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Ingeniero </a:t>
            </a:r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Cloud</a:t>
            </a:r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 / DevOps</a:t>
            </a:r>
          </a:p>
        </p:txBody>
      </p:sp>
      <p:sp>
        <p:nvSpPr>
          <p:cNvPr id="15" name="Shape 34">
            <a:extLst>
              <a:ext uri="{FF2B5EF4-FFF2-40B4-BE49-F238E27FC236}">
                <a16:creationId xmlns:a16="http://schemas.microsoft.com/office/drawing/2014/main" id="{E442A453-1B9F-E9CA-2CD8-5B6E43E8E7A3}"/>
              </a:ext>
            </a:extLst>
          </p:cNvPr>
          <p:cNvSpPr/>
          <p:nvPr/>
        </p:nvSpPr>
        <p:spPr>
          <a:xfrm>
            <a:off x="876300" y="549592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6</a:t>
            </a:r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3EE74093-BE64-0571-5EF9-5763B7457BA8}"/>
              </a:ext>
            </a:extLst>
          </p:cNvPr>
          <p:cNvSpPr/>
          <p:nvPr/>
        </p:nvSpPr>
        <p:spPr>
          <a:xfrm>
            <a:off x="1371600" y="39624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Análisis de costos y presupuesto. </a:t>
            </a:r>
            <a:endParaRPr lang="en-US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4C1121-DE8B-A205-F1B6-F47769793BEC}"/>
              </a:ext>
            </a:extLst>
          </p:cNvPr>
          <p:cNvSpPr/>
          <p:nvPr/>
        </p:nvSpPr>
        <p:spPr>
          <a:xfrm>
            <a:off x="6858000" y="5466360"/>
            <a:ext cx="4774186" cy="733092"/>
          </a:xfrm>
          <a:prstGeom prst="roundRect">
            <a:avLst>
              <a:gd name="adj" fmla="val 3902"/>
            </a:avLst>
          </a:prstGeom>
          <a:noFill/>
          <a:ln>
            <a:solidFill>
              <a:schemeClr val="accent1"/>
            </a:solidFill>
          </a:ln>
        </p:spPr>
        <p:txBody>
          <a:bodyPr lIns="91440" tIns="45720" rIns="91440" bIns="45720" anchor="ctr"/>
          <a:lstStyle/>
          <a:p>
            <a:r>
              <a:rPr lang="es-CO" sz="1400" i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El   líder de célula aprueba los pipeline en el paso a producción </a:t>
            </a:r>
            <a:r>
              <a:rPr lang="es-CO" sz="1400" i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– como  lo  aprueba</a:t>
            </a:r>
            <a:endParaRPr lang="es-419" sz="1400" i="1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505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5198FB-8EC8-A1C1-2D35-9B6F0F92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2C15E73-CB56-3B4E-EDE6-F36643056CE2}"/>
              </a:ext>
            </a:extLst>
          </p:cNvPr>
          <p:cNvSpPr/>
          <p:nvPr/>
        </p:nvSpPr>
        <p:spPr>
          <a:xfrm>
            <a:off x="72390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519D6C-806B-BBF8-26F2-416139A8BE3D}"/>
              </a:ext>
            </a:extLst>
          </p:cNvPr>
          <p:cNvSpPr/>
          <p:nvPr/>
        </p:nvSpPr>
        <p:spPr>
          <a:xfrm>
            <a:off x="723900" y="1922096"/>
            <a:ext cx="5427001" cy="106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Garantizar el aprovisionamiento oportuno, eficiente y controlado de equipos </a:t>
            </a:r>
            <a:r>
              <a:rPr lang="es-CO" sz="14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On</a:t>
            </a:r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-Premise, asegurando que cuenten con la capacidad, configuración y rendimiento necesarios para cumplir con los requerimientos del negocio, optimizando y analizando costos, asegurando el cumplimiento de los niveles de servicio establecidos. 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FCD3651-63B8-5299-DC2B-274623C85A09}"/>
              </a:ext>
            </a:extLst>
          </p:cNvPr>
          <p:cNvSpPr/>
          <p:nvPr/>
        </p:nvSpPr>
        <p:spPr>
          <a:xfrm>
            <a:off x="6858000" y="4054190"/>
            <a:ext cx="4815840" cy="1375428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Análisis de Costos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Solicitud registrada en Sarita </a:t>
            </a: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para aprovisionamiento de </a:t>
            </a: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infraestructura, con la aprobación del presupuesto si aplica.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Información clara sobre los servicios a desplegar en producción.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Aprovisionamiento del recurso solicitado por parte del administrador incluyendo controles de línea base, seguridad, </a:t>
            </a:r>
            <a:r>
              <a:rPr lang="es-CO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cmdb</a:t>
            </a: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, respaldos. Etc. </a:t>
            </a:r>
            <a:endParaRPr lang="es-CO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3A66D4-A266-A055-46CC-018944BD23E4}"/>
              </a:ext>
            </a:extLst>
          </p:cNvPr>
          <p:cNvSpPr/>
          <p:nvPr/>
        </p:nvSpPr>
        <p:spPr>
          <a:xfrm>
            <a:off x="723900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5659F00-A830-25B9-9989-597406609AD4}"/>
              </a:ext>
            </a:extLst>
          </p:cNvPr>
          <p:cNvSpPr/>
          <p:nvPr/>
        </p:nvSpPr>
        <p:spPr>
          <a:xfrm>
            <a:off x="876300" y="383113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C36F7C5C-4558-F158-A600-506BFFDF7850}"/>
              </a:ext>
            </a:extLst>
          </p:cNvPr>
          <p:cNvSpPr/>
          <p:nvPr/>
        </p:nvSpPr>
        <p:spPr>
          <a:xfrm>
            <a:off x="876300" y="415498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D77D3B0-B942-A7E1-EB64-30F6957DF3F6}"/>
              </a:ext>
            </a:extLst>
          </p:cNvPr>
          <p:cNvSpPr/>
          <p:nvPr/>
        </p:nvSpPr>
        <p:spPr>
          <a:xfrm>
            <a:off x="876300" y="447883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A1B5CBF-AD62-E24B-04C8-73A3F860B7A4}"/>
              </a:ext>
            </a:extLst>
          </p:cNvPr>
          <p:cNvSpPr/>
          <p:nvPr/>
        </p:nvSpPr>
        <p:spPr>
          <a:xfrm>
            <a:off x="876300" y="480268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6F440B36-E1F9-AA64-7C6C-9155D3F8BB9B}"/>
              </a:ext>
            </a:extLst>
          </p:cNvPr>
          <p:cNvSpPr/>
          <p:nvPr/>
        </p:nvSpPr>
        <p:spPr>
          <a:xfrm>
            <a:off x="876300" y="512653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C39A135B-DBCD-7EA1-7AFD-D3497A0BE53B}"/>
              </a:ext>
            </a:extLst>
          </p:cNvPr>
          <p:cNvSpPr/>
          <p:nvPr/>
        </p:nvSpPr>
        <p:spPr>
          <a:xfrm>
            <a:off x="6858000" y="3580244"/>
            <a:ext cx="4761137" cy="426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Recurso instalado/aprovisionado  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D9DDFAE9-1E4B-5911-DB3B-C1854169BC9A}"/>
              </a:ext>
            </a:extLst>
          </p:cNvPr>
          <p:cNvSpPr/>
          <p:nvPr/>
        </p:nvSpPr>
        <p:spPr>
          <a:xfrm>
            <a:off x="6858000" y="160621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1A608DD3-A82F-E4C8-FDA2-A4F8FACC9D4C}"/>
              </a:ext>
            </a:extLst>
          </p:cNvPr>
          <p:cNvSpPr/>
          <p:nvPr/>
        </p:nvSpPr>
        <p:spPr>
          <a:xfrm>
            <a:off x="6860440" y="2043514"/>
            <a:ext cx="2484041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46EE3094-7E40-F460-CEAB-C07644A3C632}"/>
              </a:ext>
            </a:extLst>
          </p:cNvPr>
          <p:cNvSpPr/>
          <p:nvPr/>
        </p:nvSpPr>
        <p:spPr>
          <a:xfrm>
            <a:off x="6860441" y="2508063"/>
            <a:ext cx="248404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Administrador de plataforma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AEB2B56A-794D-008F-4064-26BE984A1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6C25A6C8-03D7-DCAE-FDE4-C1CA8AB1B997}"/>
              </a:ext>
            </a:extLst>
          </p:cNvPr>
          <p:cNvSpPr/>
          <p:nvPr/>
        </p:nvSpPr>
        <p:spPr>
          <a:xfrm>
            <a:off x="1371600" y="378351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Contextualización de la iniciativa.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16E55D47-437B-AF39-4610-67A8653C41E2}"/>
              </a:ext>
            </a:extLst>
          </p:cNvPr>
          <p:cNvSpPr/>
          <p:nvPr/>
        </p:nvSpPr>
        <p:spPr>
          <a:xfrm>
            <a:off x="1371600" y="410736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Aprobación diseño de arquitectura. 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C36A873F-DC7D-CEFA-524B-B086111E503A}"/>
              </a:ext>
            </a:extLst>
          </p:cNvPr>
          <p:cNvSpPr/>
          <p:nvPr/>
        </p:nvSpPr>
        <p:spPr>
          <a:xfrm>
            <a:off x="1371600" y="443121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Análisis de Costos de infraestructura o licenciamiento. 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175C0406-CAFC-D00A-B7BD-012E68B6684B}"/>
              </a:ext>
            </a:extLst>
          </p:cNvPr>
          <p:cNvSpPr/>
          <p:nvPr/>
        </p:nvSpPr>
        <p:spPr>
          <a:xfrm>
            <a:off x="1371600" y="475506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Solicitud para creación de infraestructura. </a:t>
            </a:r>
            <a:endParaRPr lang="es-419" sz="13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EFFB425C-EEE9-452D-3C42-874354F28341}"/>
              </a:ext>
            </a:extLst>
          </p:cNvPr>
          <p:cNvSpPr/>
          <p:nvPr/>
        </p:nvSpPr>
        <p:spPr>
          <a:xfrm>
            <a:off x="1371600" y="507891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Preparación, creación y configuraciones del recurso. 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AB8B073D-19B9-4A6E-BBFA-339C5B674A93}"/>
              </a:ext>
            </a:extLst>
          </p:cNvPr>
          <p:cNvSpPr/>
          <p:nvPr/>
        </p:nvSpPr>
        <p:spPr>
          <a:xfrm>
            <a:off x="9501494" y="2043514"/>
            <a:ext cx="2196206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7B1BEED5-CC5C-B1B4-D9C6-0573690BC333}"/>
              </a:ext>
            </a:extLst>
          </p:cNvPr>
          <p:cNvSpPr/>
          <p:nvPr/>
        </p:nvSpPr>
        <p:spPr>
          <a:xfrm>
            <a:off x="9501494" y="2492962"/>
            <a:ext cx="2201415" cy="426834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Ingeniero de Infraestructura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14A4D18-D0F5-32A7-AE3E-A16868458ACD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E62360E-A992-B7DA-5F8B-C1E075E091F1}"/>
              </a:ext>
            </a:extLst>
          </p:cNvPr>
          <p:cNvSpPr/>
          <p:nvPr/>
        </p:nvSpPr>
        <p:spPr>
          <a:xfrm>
            <a:off x="1590675" y="657225"/>
            <a:ext cx="1026869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Aprovisionamiento  </a:t>
            </a:r>
            <a:r>
              <a:rPr lang="es-419" sz="2000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Infra </a:t>
            </a:r>
            <a:r>
              <a:rPr lang="es-419" sz="2000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OnPremise</a:t>
            </a:r>
            <a:r>
              <a:rPr lang="es-419" sz="2000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Operación TI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9FE33A2-54CA-04C7-BBFA-5677910FE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61925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AB7A359-EF5A-95F5-65E2-A7021C39730E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9AA33B7E-57C9-CAEB-561E-1F160EC51CD0}"/>
              </a:ext>
            </a:extLst>
          </p:cNvPr>
          <p:cNvSpPr/>
          <p:nvPr/>
        </p:nvSpPr>
        <p:spPr>
          <a:xfrm>
            <a:off x="6860442" y="2972611"/>
            <a:ext cx="248404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de gobierno y gestión</a:t>
            </a:r>
          </a:p>
        </p:txBody>
      </p:sp>
    </p:spTree>
    <p:extLst>
      <p:ext uri="{BB962C8B-B14F-4D97-AF65-F5344CB8AC3E}">
        <p14:creationId xmlns:p14="http://schemas.microsoft.com/office/powerpoint/2010/main" val="123682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CF8BF1-C831-3C1C-5D60-38B22ED7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EE4CC3E2-5809-2327-4675-A130B6C31BE7}"/>
              </a:ext>
            </a:extLst>
          </p:cNvPr>
          <p:cNvSpPr/>
          <p:nvPr/>
        </p:nvSpPr>
        <p:spPr>
          <a:xfrm>
            <a:off x="723900" y="1583393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3A7649-5727-15B0-A21C-0CCC4DB5B5F2}"/>
              </a:ext>
            </a:extLst>
          </p:cNvPr>
          <p:cNvSpPr/>
          <p:nvPr/>
        </p:nvSpPr>
        <p:spPr>
          <a:xfrm>
            <a:off x="723900" y="2048644"/>
            <a:ext cx="5266944" cy="113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Definir, validar e implementar los accesos requeridos para una aplicación, sistema o proceso, asegurando que los perfiles, roles y permisos estén alineados con las funciones del negocio, el principio de mínimo privilegio y los lineamientos de control de acceso de la compañía.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5A44FD6-F689-EC0D-D660-8A2FBC44B954}"/>
              </a:ext>
            </a:extLst>
          </p:cNvPr>
          <p:cNvSpPr/>
          <p:nvPr/>
        </p:nvSpPr>
        <p:spPr>
          <a:xfrm>
            <a:off x="723900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7C2EF48-668C-CB93-0BC1-D88CD7649ECF}"/>
              </a:ext>
            </a:extLst>
          </p:cNvPr>
          <p:cNvSpPr/>
          <p:nvPr/>
        </p:nvSpPr>
        <p:spPr>
          <a:xfrm>
            <a:off x="876300" y="383113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BDC50C05-816E-17CD-E6F9-723851E83249}"/>
              </a:ext>
            </a:extLst>
          </p:cNvPr>
          <p:cNvSpPr/>
          <p:nvPr/>
        </p:nvSpPr>
        <p:spPr>
          <a:xfrm>
            <a:off x="876300" y="415498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04F4A74-09AA-02BE-7EFE-CCA9B952C3C8}"/>
              </a:ext>
            </a:extLst>
          </p:cNvPr>
          <p:cNvSpPr/>
          <p:nvPr/>
        </p:nvSpPr>
        <p:spPr>
          <a:xfrm>
            <a:off x="876300" y="447883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3EFACD41-F511-F401-F6B3-70623CDD70E6}"/>
              </a:ext>
            </a:extLst>
          </p:cNvPr>
          <p:cNvSpPr/>
          <p:nvPr/>
        </p:nvSpPr>
        <p:spPr>
          <a:xfrm>
            <a:off x="876300" y="480268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30E3171E-073E-105D-7000-0E6833C64019}"/>
              </a:ext>
            </a:extLst>
          </p:cNvPr>
          <p:cNvSpPr/>
          <p:nvPr/>
        </p:nvSpPr>
        <p:spPr>
          <a:xfrm>
            <a:off x="6858000" y="1583393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26A9F18A-60A2-6B16-6541-3B139054119A}"/>
              </a:ext>
            </a:extLst>
          </p:cNvPr>
          <p:cNvSpPr/>
          <p:nvPr/>
        </p:nvSpPr>
        <p:spPr>
          <a:xfrm>
            <a:off x="6853286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Técnico</a:t>
            </a:r>
            <a:endParaRPr lang="en-US" sz="1200" b="1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FB7FAF99-6819-6C6E-14BA-64F9AE06064B}"/>
              </a:ext>
            </a:extLst>
          </p:cNvPr>
          <p:cNvSpPr/>
          <p:nvPr/>
        </p:nvSpPr>
        <p:spPr>
          <a:xfrm>
            <a:off x="6853286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6B2691A4-8174-2439-6A0F-DB5245C06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82864FCE-E346-47DD-63EC-B9B066C95B04}"/>
              </a:ext>
            </a:extLst>
          </p:cNvPr>
          <p:cNvSpPr/>
          <p:nvPr/>
        </p:nvSpPr>
        <p:spPr>
          <a:xfrm>
            <a:off x="1371600" y="378351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Identificar la solución, aplicación o proceso a habilitar</a:t>
            </a:r>
            <a:endParaRPr lang="es-419" sz="13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BA39EBA7-D344-8CBF-1F55-64D89952BB6F}"/>
              </a:ext>
            </a:extLst>
          </p:cNvPr>
          <p:cNvSpPr/>
          <p:nvPr/>
        </p:nvSpPr>
        <p:spPr>
          <a:xfrm>
            <a:off x="1371600" y="410736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Definir y validar el modelo de acceso requerido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51D3CCCA-9CF4-5A0F-3710-BC12699C22C0}"/>
              </a:ext>
            </a:extLst>
          </p:cNvPr>
          <p:cNvSpPr/>
          <p:nvPr/>
        </p:nvSpPr>
        <p:spPr>
          <a:xfrm>
            <a:off x="1371600" y="443121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Configurar e implementar los accesos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1D7D6530-E36D-758E-C631-ECC3D97B623B}"/>
              </a:ext>
            </a:extLst>
          </p:cNvPr>
          <p:cNvSpPr/>
          <p:nvPr/>
        </p:nvSpPr>
        <p:spPr>
          <a:xfrm>
            <a:off x="1371600" y="475506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Validar</a:t>
            </a:r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y </a:t>
            </a:r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formalizar</a:t>
            </a:r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</a:t>
            </a:r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la salida a operación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660C7E6A-633C-D64D-DACF-8FA1EFCD0B49}"/>
              </a:ext>
            </a:extLst>
          </p:cNvPr>
          <p:cNvSpPr/>
          <p:nvPr/>
        </p:nvSpPr>
        <p:spPr>
          <a:xfrm>
            <a:off x="8884217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0A6167-66B7-ACA1-6ED1-F5774812694B}"/>
              </a:ext>
            </a:extLst>
          </p:cNvPr>
          <p:cNvSpPr/>
          <p:nvPr/>
        </p:nvSpPr>
        <p:spPr>
          <a:xfrm>
            <a:off x="8884217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A53EB49-A800-5314-1D0D-578EF321F7BE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6709AD3-36DD-14F5-2687-475A71E38773}"/>
              </a:ext>
            </a:extLst>
          </p:cNvPr>
          <p:cNvSpPr/>
          <p:nvPr/>
        </p:nvSpPr>
        <p:spPr>
          <a:xfrm>
            <a:off x="1590675" y="657225"/>
            <a:ext cx="1030050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Protección de la identidad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CB3C81D-842D-3A24-C824-312A6E74B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61925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F3AD090-00EB-24F7-879F-A313DF98A085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F078B2C1-7AAA-4A7E-CF9D-2D8F7EE28AE1}"/>
              </a:ext>
            </a:extLst>
          </p:cNvPr>
          <p:cNvSpPr/>
          <p:nvPr/>
        </p:nvSpPr>
        <p:spPr>
          <a:xfrm>
            <a:off x="6858000" y="3607413"/>
            <a:ext cx="4815840" cy="1644376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Matriz de roles/perfiles </a:t>
            </a:r>
            <a:r>
              <a:rPr lang="es-419" sz="1400" noProof="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RGP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Permisos autorizados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Validaciones realizadas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configuración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Lineamientos para su administración</a:t>
            </a:r>
            <a:endParaRPr lang="es-ES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10136982-4A16-752A-4552-306F0BD1FB98}"/>
              </a:ext>
            </a:extLst>
          </p:cNvPr>
          <p:cNvSpPr/>
          <p:nvPr/>
        </p:nvSpPr>
        <p:spPr>
          <a:xfrm>
            <a:off x="6858000" y="3129037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Implementación de accesos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05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6F98AD-8F9A-03AA-235A-3B80208A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07CB87F-B21F-31F0-3E7F-B0AE6C3D062B}"/>
              </a:ext>
            </a:extLst>
          </p:cNvPr>
          <p:cNvSpPr/>
          <p:nvPr/>
        </p:nvSpPr>
        <p:spPr>
          <a:xfrm>
            <a:off x="723900" y="1583393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1342A9-4A7F-CBB2-2C98-44521B50FA9B}"/>
              </a:ext>
            </a:extLst>
          </p:cNvPr>
          <p:cNvSpPr/>
          <p:nvPr/>
        </p:nvSpPr>
        <p:spPr>
          <a:xfrm>
            <a:off x="723900" y="2048644"/>
            <a:ext cx="5266944" cy="113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Definir, validar e implementar los accesos requeridos para una aplicación, sistema o proceso, asegurando que los perfiles, roles y permisos estén alineados con las funciones del negocio, el principio de mínimo privilegio y los lineamientos de control de acceso de la compañía.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4598DF8-058C-257C-14CD-A25D3F5F37D4}"/>
              </a:ext>
            </a:extLst>
          </p:cNvPr>
          <p:cNvSpPr/>
          <p:nvPr/>
        </p:nvSpPr>
        <p:spPr>
          <a:xfrm>
            <a:off x="723900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6F3F14B9-E691-CB94-9E45-FE98B12F5041}"/>
              </a:ext>
            </a:extLst>
          </p:cNvPr>
          <p:cNvSpPr/>
          <p:nvPr/>
        </p:nvSpPr>
        <p:spPr>
          <a:xfrm>
            <a:off x="876300" y="383113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DE2F392-8D48-79D8-CC4F-A2536C2DDE3E}"/>
              </a:ext>
            </a:extLst>
          </p:cNvPr>
          <p:cNvSpPr/>
          <p:nvPr/>
        </p:nvSpPr>
        <p:spPr>
          <a:xfrm>
            <a:off x="876300" y="415498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C5B47AF-688C-70F3-E099-9D122E2E57EC}"/>
              </a:ext>
            </a:extLst>
          </p:cNvPr>
          <p:cNvSpPr/>
          <p:nvPr/>
        </p:nvSpPr>
        <p:spPr>
          <a:xfrm>
            <a:off x="876300" y="447883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C1FE408-C84A-0693-26F9-AE7ED1690656}"/>
              </a:ext>
            </a:extLst>
          </p:cNvPr>
          <p:cNvSpPr/>
          <p:nvPr/>
        </p:nvSpPr>
        <p:spPr>
          <a:xfrm>
            <a:off x="876300" y="4802689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9B065D7F-8762-2234-1092-E424E9E3C850}"/>
              </a:ext>
            </a:extLst>
          </p:cNvPr>
          <p:cNvSpPr/>
          <p:nvPr/>
        </p:nvSpPr>
        <p:spPr>
          <a:xfrm>
            <a:off x="6858000" y="1583393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8606CEB-2B22-7EC7-8AB8-E66C7709C2AE}"/>
              </a:ext>
            </a:extLst>
          </p:cNvPr>
          <p:cNvSpPr/>
          <p:nvPr/>
        </p:nvSpPr>
        <p:spPr>
          <a:xfrm>
            <a:off x="6853286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Técnico</a:t>
            </a:r>
            <a:endParaRPr lang="en-US" sz="1200" b="1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1C13BAC3-D351-E465-9704-E5D6676D25B1}"/>
              </a:ext>
            </a:extLst>
          </p:cNvPr>
          <p:cNvSpPr/>
          <p:nvPr/>
        </p:nvSpPr>
        <p:spPr>
          <a:xfrm>
            <a:off x="6853286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A3F075A3-BA90-71CE-F560-F25F0A7BE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00276508-5E89-CFCA-2855-B9BB069B4F79}"/>
              </a:ext>
            </a:extLst>
          </p:cNvPr>
          <p:cNvSpPr/>
          <p:nvPr/>
        </p:nvSpPr>
        <p:spPr>
          <a:xfrm>
            <a:off x="1371600" y="378351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Identificar la solución, aplicación o proceso a habilitar</a:t>
            </a:r>
            <a:endParaRPr lang="es-419" sz="13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08F58666-B4AB-1F2D-8E72-70DEB20FA81D}"/>
              </a:ext>
            </a:extLst>
          </p:cNvPr>
          <p:cNvSpPr/>
          <p:nvPr/>
        </p:nvSpPr>
        <p:spPr>
          <a:xfrm>
            <a:off x="1371600" y="410736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Definir y validar el modelo de acceso requerido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D5B32A9D-620D-1B6B-04D5-E804B9D05A42}"/>
              </a:ext>
            </a:extLst>
          </p:cNvPr>
          <p:cNvSpPr/>
          <p:nvPr/>
        </p:nvSpPr>
        <p:spPr>
          <a:xfrm>
            <a:off x="1371600" y="443121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Configurar e implementar los accesos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7959CE02-6801-A61D-4604-8C7BC92E4701}"/>
              </a:ext>
            </a:extLst>
          </p:cNvPr>
          <p:cNvSpPr/>
          <p:nvPr/>
        </p:nvSpPr>
        <p:spPr>
          <a:xfrm>
            <a:off x="1371600" y="4755064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Validar</a:t>
            </a:r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y </a:t>
            </a:r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formalizar</a:t>
            </a:r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</a:t>
            </a:r>
            <a:r>
              <a:rPr lang="es-ES" sz="13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la salida a operación</a:t>
            </a:r>
            <a:endParaRPr lang="es-419" sz="13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3A5BB4A-35D9-5D8A-025C-E2FF969B6A23}"/>
              </a:ext>
            </a:extLst>
          </p:cNvPr>
          <p:cNvSpPr/>
          <p:nvPr/>
        </p:nvSpPr>
        <p:spPr>
          <a:xfrm>
            <a:off x="8884217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A0A7EA4-B7A9-AB18-0103-4526477C742B}"/>
              </a:ext>
            </a:extLst>
          </p:cNvPr>
          <p:cNvSpPr/>
          <p:nvPr/>
        </p:nvSpPr>
        <p:spPr>
          <a:xfrm>
            <a:off x="8884217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E526FC6-4016-FDC4-295A-35D89F033BEF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7E952C0-A4BC-4121-8E55-C67FB51AF4BE}"/>
              </a:ext>
            </a:extLst>
          </p:cNvPr>
          <p:cNvSpPr/>
          <p:nvPr/>
        </p:nvSpPr>
        <p:spPr>
          <a:xfrm>
            <a:off x="1590675" y="657225"/>
            <a:ext cx="1030050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Infraestructura de seguridad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EC45E68-6F77-EE5F-F0C3-218FA7EE4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61925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12065FE-008C-5C50-51D9-59868F0C6112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0322D0DF-F390-E75B-8DA5-105F0B0986BC}"/>
              </a:ext>
            </a:extLst>
          </p:cNvPr>
          <p:cNvSpPr/>
          <p:nvPr/>
        </p:nvSpPr>
        <p:spPr>
          <a:xfrm>
            <a:off x="6858000" y="3607413"/>
            <a:ext cx="4815840" cy="1644376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Matriz de roles/perfiles </a:t>
            </a:r>
            <a:r>
              <a:rPr lang="es-419" sz="1400" noProof="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RGP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Permisos autorizados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Validaciones realizadas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configuración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Lineamientos para su administración</a:t>
            </a:r>
            <a:endParaRPr lang="es-ES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7F776E8-22E7-DC86-85E0-D03EFC8BC724}"/>
              </a:ext>
            </a:extLst>
          </p:cNvPr>
          <p:cNvSpPr/>
          <p:nvPr/>
        </p:nvSpPr>
        <p:spPr>
          <a:xfrm>
            <a:off x="6858000" y="3129037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Implementación de accesos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49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728AA9-04BE-6018-688A-8FE6E02A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48EEE82E-9B31-C1D8-6434-7001B2FC0952}"/>
              </a:ext>
            </a:extLst>
          </p:cNvPr>
          <p:cNvSpPr/>
          <p:nvPr/>
        </p:nvSpPr>
        <p:spPr>
          <a:xfrm>
            <a:off x="723900" y="14607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B6B2E4-75D0-1EF6-2CC4-ED0336CFFAD9}"/>
              </a:ext>
            </a:extLst>
          </p:cNvPr>
          <p:cNvSpPr/>
          <p:nvPr/>
        </p:nvSpPr>
        <p:spPr>
          <a:xfrm>
            <a:off x="723900" y="1909541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Consiste en traducir los diseños de arquitectura en soluciones técnicas funcionales utilizando las herramientas destinadas al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CoE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(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Mulesoft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,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GoAnywhere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,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Datafactory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). Se construyen y configuran Apis, flujos de transferencia de archivos y pipelines llevando a cabo el cumplimiento de los estándares de la organización.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395A235-5BFA-196A-E000-6FA61969B865}"/>
              </a:ext>
            </a:extLst>
          </p:cNvPr>
          <p:cNvSpPr/>
          <p:nvPr/>
        </p:nvSpPr>
        <p:spPr>
          <a:xfrm>
            <a:off x="6858000" y="4006329"/>
            <a:ext cx="4819650" cy="138495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DOR de Integración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Manual de Instalación</a:t>
            </a:r>
            <a:endParaRPr lang="es-419" sz="15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Entregable a operaciones – Arquitectura de Software</a:t>
            </a:r>
            <a:endParaRPr lang="es-419" sz="15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Artefacto desplegado en </a:t>
            </a:r>
            <a:r>
              <a:rPr lang="es-419" sz="15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cert</a:t>
            </a: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/</a:t>
            </a:r>
            <a:r>
              <a:rPr lang="es-419" sz="15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prod</a:t>
            </a:r>
            <a:endParaRPr lang="es-419" sz="15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FF58FD-E0AB-32D6-C307-41A6938470D9}"/>
              </a:ext>
            </a:extLst>
          </p:cNvPr>
          <p:cNvSpPr/>
          <p:nvPr/>
        </p:nvSpPr>
        <p:spPr>
          <a:xfrm>
            <a:off x="723900" y="293370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BB1BB191-254F-E09F-B23B-0DABC43EC7EC}"/>
              </a:ext>
            </a:extLst>
          </p:cNvPr>
          <p:cNvSpPr/>
          <p:nvPr/>
        </p:nvSpPr>
        <p:spPr>
          <a:xfrm>
            <a:off x="876300" y="344233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DA993E89-8D62-634F-6956-412891952559}"/>
              </a:ext>
            </a:extLst>
          </p:cNvPr>
          <p:cNvSpPr/>
          <p:nvPr/>
        </p:nvSpPr>
        <p:spPr>
          <a:xfrm>
            <a:off x="876300" y="376618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1DCA56BC-1D5F-87E6-E670-FBDEACAFA962}"/>
              </a:ext>
            </a:extLst>
          </p:cNvPr>
          <p:cNvSpPr/>
          <p:nvPr/>
        </p:nvSpPr>
        <p:spPr>
          <a:xfrm>
            <a:off x="876300" y="424243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8697B50D-7F27-AFAC-3480-4BE37ED8CD2C}"/>
              </a:ext>
            </a:extLst>
          </p:cNvPr>
          <p:cNvSpPr/>
          <p:nvPr/>
        </p:nvSpPr>
        <p:spPr>
          <a:xfrm>
            <a:off x="876300" y="471868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6E876FA-381F-8CA8-A316-26D33CC6003C}"/>
              </a:ext>
            </a:extLst>
          </p:cNvPr>
          <p:cNvSpPr/>
          <p:nvPr/>
        </p:nvSpPr>
        <p:spPr>
          <a:xfrm>
            <a:off x="876300" y="519493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B9BC17D-913E-E610-CE0B-7773192EFAAD}"/>
              </a:ext>
            </a:extLst>
          </p:cNvPr>
          <p:cNvSpPr/>
          <p:nvPr/>
        </p:nvSpPr>
        <p:spPr>
          <a:xfrm>
            <a:off x="6858000" y="3611647"/>
            <a:ext cx="4819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Artefacto y Documentación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CDC14606-C65B-6D34-2A2C-F041794A8E47}"/>
              </a:ext>
            </a:extLst>
          </p:cNvPr>
          <p:cNvSpPr/>
          <p:nvPr/>
        </p:nvSpPr>
        <p:spPr>
          <a:xfrm>
            <a:off x="6858000" y="1460732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1D97A02-8BA4-21D9-4059-C22EB070FD92}"/>
              </a:ext>
            </a:extLst>
          </p:cNvPr>
          <p:cNvSpPr/>
          <p:nvPr/>
        </p:nvSpPr>
        <p:spPr>
          <a:xfrm>
            <a:off x="6853286" y="1920853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1E53B4BE-1E89-CC0C-2FBD-B082A1740D95}"/>
              </a:ext>
            </a:extLst>
          </p:cNvPr>
          <p:cNvSpPr/>
          <p:nvPr/>
        </p:nvSpPr>
        <p:spPr>
          <a:xfrm>
            <a:off x="8884218" y="239356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 err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Admin</a:t>
            </a:r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. de plataforma</a:t>
            </a:r>
            <a:endParaRPr lang="en-US" sz="1200" b="1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21816710-3E73-1EDB-AF3C-1777AB8A1941}"/>
              </a:ext>
            </a:extLst>
          </p:cNvPr>
          <p:cNvSpPr/>
          <p:nvPr/>
        </p:nvSpPr>
        <p:spPr>
          <a:xfrm>
            <a:off x="6853286" y="240698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E2C642A-0864-50FF-6B30-08452065F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E32CD298-19BC-C7EB-5A2A-662DA4712E7E}"/>
              </a:ext>
            </a:extLst>
          </p:cNvPr>
          <p:cNvSpPr/>
          <p:nvPr/>
        </p:nvSpPr>
        <p:spPr>
          <a:xfrm>
            <a:off x="1371600" y="339471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Reunión de contexto.</a:t>
            </a:r>
            <a:endParaRPr lang="en-US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CA00D862-3E9B-A57D-8990-A625E50A191B}"/>
              </a:ext>
            </a:extLst>
          </p:cNvPr>
          <p:cNvSpPr/>
          <p:nvPr/>
        </p:nvSpPr>
        <p:spPr>
          <a:xfrm>
            <a:off x="1371600" y="3718560"/>
            <a:ext cx="5200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Formato para la creación de integraciones correctamente diligenciado.</a:t>
            </a:r>
            <a:endParaRPr lang="en-US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220842A9-A100-5467-2402-6B9C5F31D43C}"/>
              </a:ext>
            </a:extLst>
          </p:cNvPr>
          <p:cNvSpPr/>
          <p:nvPr/>
        </p:nvSpPr>
        <p:spPr>
          <a:xfrm>
            <a:off x="1371600" y="4194810"/>
            <a:ext cx="5200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Link de la wiki donde esté publicada la Arquitectura de la solución aprobada.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D476812E-8BCC-2416-8D46-C819AF55970F}"/>
              </a:ext>
            </a:extLst>
          </p:cNvPr>
          <p:cNvSpPr/>
          <p:nvPr/>
        </p:nvSpPr>
        <p:spPr>
          <a:xfrm>
            <a:off x="1371600" y="4671060"/>
            <a:ext cx="5200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Permisos habilitados desde el bus de integración/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Datapower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/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Mulesoft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RTF y Flex hacia los 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backends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.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86F49C3-47DD-6F25-8594-BD241AE51B54}"/>
              </a:ext>
            </a:extLst>
          </p:cNvPr>
          <p:cNvSpPr/>
          <p:nvPr/>
        </p:nvSpPr>
        <p:spPr>
          <a:xfrm>
            <a:off x="8884217" y="189766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FA50EFF-2589-D0E4-E62C-7590B8A8766D}"/>
              </a:ext>
            </a:extLst>
          </p:cNvPr>
          <p:cNvSpPr/>
          <p:nvPr/>
        </p:nvSpPr>
        <p:spPr>
          <a:xfrm>
            <a:off x="6853286" y="289469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1A276B01-FBE1-7394-6883-5C4541C5C198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9DA85BB-6655-D371-3B9F-3A9B4E3DE78B}"/>
              </a:ext>
            </a:extLst>
          </p:cNvPr>
          <p:cNvSpPr/>
          <p:nvPr/>
        </p:nvSpPr>
        <p:spPr>
          <a:xfrm>
            <a:off x="1590675" y="657225"/>
            <a:ext cx="1030050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Integración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B2E3A80-98EF-4C43-1784-820528D7A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61925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1F87BF4-DEB5-C10A-905C-45145A88EB7D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4" name="Shape 34">
            <a:extLst>
              <a:ext uri="{FF2B5EF4-FFF2-40B4-BE49-F238E27FC236}">
                <a16:creationId xmlns:a16="http://schemas.microsoft.com/office/drawing/2014/main" id="{451F3259-8F80-4CF2-9EE3-5FF29DEC4DFE}"/>
              </a:ext>
            </a:extLst>
          </p:cNvPr>
          <p:cNvSpPr/>
          <p:nvPr/>
        </p:nvSpPr>
        <p:spPr>
          <a:xfrm>
            <a:off x="876300" y="6033135"/>
            <a:ext cx="285750" cy="28575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8" name="Text 36">
            <a:extLst>
              <a:ext uri="{FF2B5EF4-FFF2-40B4-BE49-F238E27FC236}">
                <a16:creationId xmlns:a16="http://schemas.microsoft.com/office/drawing/2014/main" id="{F7FC4CC3-F8A4-B833-3BA6-0023BBB777E9}"/>
              </a:ext>
            </a:extLst>
          </p:cNvPr>
          <p:cNvSpPr/>
          <p:nvPr/>
        </p:nvSpPr>
        <p:spPr>
          <a:xfrm>
            <a:off x="1371600" y="5147310"/>
            <a:ext cx="52006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Dependencia declarada según el proceso definido por la compañía. (Historia de usuario y criterios de aceptación) adicional, la dependencia debe ser negociada con el líder del 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CoE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, para validar la priorización de la misma.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2" name="Text 36">
            <a:extLst>
              <a:ext uri="{FF2B5EF4-FFF2-40B4-BE49-F238E27FC236}">
                <a16:creationId xmlns:a16="http://schemas.microsoft.com/office/drawing/2014/main" id="{2C886372-89C5-1D72-B4E6-185F43BDCC65}"/>
              </a:ext>
            </a:extLst>
          </p:cNvPr>
          <p:cNvSpPr/>
          <p:nvPr/>
        </p:nvSpPr>
        <p:spPr>
          <a:xfrm>
            <a:off x="1371600" y="5985510"/>
            <a:ext cx="5200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Desarrollo de la dependencia en los ambientes 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dev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/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cert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/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prod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, funcional y con sus respectivas pruebas unitarias.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E4383EFB-2341-BEA7-2075-AE5ADA343981}"/>
              </a:ext>
            </a:extLst>
          </p:cNvPr>
          <p:cNvSpPr/>
          <p:nvPr/>
        </p:nvSpPr>
        <p:spPr>
          <a:xfrm>
            <a:off x="8884216" y="2899147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Accesos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5D5C91D2-1BC7-1D12-AE7A-EB84DEFEED20}"/>
              </a:ext>
            </a:extLst>
          </p:cNvPr>
          <p:cNvSpPr/>
          <p:nvPr/>
        </p:nvSpPr>
        <p:spPr>
          <a:xfrm>
            <a:off x="8032129" y="883854"/>
            <a:ext cx="3319343" cy="401690"/>
          </a:xfrm>
          <a:prstGeom prst="roundRect">
            <a:avLst>
              <a:gd name="adj" fmla="val 24995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Se usa cuando lo realiza el equipo de integración</a:t>
            </a:r>
          </a:p>
          <a:p>
            <a:pPr algn="ctr"/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(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GoAnywhere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, 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Mulesoft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, 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Datafactory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) </a:t>
            </a:r>
            <a:endParaRPr lang="en-US">
              <a:latin typeface="Roboto Condensed Light"/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08310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 User S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42875"/>
            <a:ext cx="1581150" cy="428625"/>
          </a:xfrm>
          <a:prstGeom prst="rect">
            <a:avLst/>
          </a:prstGeom>
        </p:spPr>
      </p:pic>
      <p:sp>
        <p:nvSpPr>
          <p:cNvPr id="3" name="Número etapa"/>
          <p:cNvSpPr/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3600" b="0" i="0" dirty="0">
                <a:solidFill>
                  <a:srgbClr val="FFFFFF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5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1524000" y="723900"/>
            <a:ext cx="66675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3733" b="1" i="0" dirty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Proceso de Desarrollo</a:t>
            </a:r>
          </a:p>
        </p:txBody>
      </p:sp>
      <p:sp>
        <p:nvSpPr>
          <p:cNvPr id="5" name="Nombre del flujo"/>
          <p:cNvSpPr txBox="1"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</a:t>
            </a:r>
          </a:p>
        </p:txBody>
      </p:sp>
      <p:pic>
        <p:nvPicPr>
          <p:cNvPr id="6" name="Logo somos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180975"/>
            <a:ext cx="866775" cy="571500"/>
          </a:xfrm>
          <a:prstGeom prst="rect">
            <a:avLst/>
          </a:prstGeom>
        </p:spPr>
      </p:pic>
      <p:sp>
        <p:nvSpPr>
          <p:cNvPr id="7" name="Etiqueta En qué consiste"/>
          <p:cNvSpPr txBox="1"/>
          <p:nvPr/>
        </p:nvSpPr>
        <p:spPr>
          <a:xfrm>
            <a:off x="723900" y="16002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</a:p>
        </p:txBody>
      </p:sp>
      <p:sp>
        <p:nvSpPr>
          <p:cNvPr id="8" name="En qué consiste"/>
          <p:cNvSpPr txBox="1"/>
          <p:nvPr/>
        </p:nvSpPr>
        <p:spPr>
          <a:xfrm>
            <a:off x="2495550" y="1552575"/>
            <a:ext cx="917257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Es lo que pasa mientras la historia de usuario está </a:t>
            </a: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Progreso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: el equipo técnico la convierte en funcionalidad real, lista para que QA la pruebe en certificación.</a:t>
            </a:r>
          </a:p>
        </p:txBody>
      </p:sp>
      <p:sp>
        <p:nvSpPr>
          <p:cNvPr id="9" name="Etiqueta Así funciona"/>
          <p:cNvSpPr txBox="1"/>
          <p:nvPr/>
        </p:nvSpPr>
        <p:spPr>
          <a:xfrm>
            <a:off x="723900" y="21717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Así funciona</a:t>
            </a:r>
          </a:p>
        </p:txBody>
      </p:sp>
      <p:sp>
        <p:nvSpPr>
          <p:cNvPr id="10" name="Entrada"/>
          <p:cNvSpPr/>
          <p:nvPr/>
        </p:nvSpPr>
        <p:spPr>
          <a:xfrm>
            <a:off x="723900" y="2381250"/>
            <a:ext cx="109442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0E9594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1" name="Entrada etiqueta"/>
          <p:cNvSpPr txBox="1"/>
          <p:nvPr/>
        </p:nvSpPr>
        <p:spPr>
          <a:xfrm>
            <a:off x="876300" y="238125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10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ENTRA</a:t>
            </a:r>
          </a:p>
        </p:txBody>
      </p:sp>
      <p:sp>
        <p:nvSpPr>
          <p:cNvPr id="12" name="Entrada texto"/>
          <p:cNvSpPr txBox="1"/>
          <p:nvPr/>
        </p:nvSpPr>
        <p:spPr>
          <a:xfrm>
            <a:off x="1619250" y="2381250"/>
            <a:ext cx="7524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Historias de usuario claras, con criterios de aceptación</a:t>
            </a:r>
          </a:p>
        </p:txBody>
      </p:sp>
      <p:sp>
        <p:nvSpPr>
          <p:cNvPr id="13" name="Aporte del Líder de Célula"/>
          <p:cNvSpPr/>
          <p:nvPr/>
        </p:nvSpPr>
        <p:spPr>
          <a:xfrm>
            <a:off x="9267825" y="2466975"/>
            <a:ext cx="2247900" cy="247650"/>
          </a:xfrm>
          <a:prstGeom prst="roundRect">
            <a:avLst>
              <a:gd name="adj" fmla="val 19231"/>
            </a:avLst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Aporte del Líder de Célula</a:t>
            </a:r>
          </a:p>
        </p:txBody>
      </p:sp>
      <p:sp>
        <p:nvSpPr>
          <p:cNvPr id="14" name="Paso 1"/>
          <p:cNvSpPr/>
          <p:nvPr/>
        </p:nvSpPr>
        <p:spPr>
          <a:xfrm>
            <a:off x="723900" y="2914650"/>
            <a:ext cx="2609850" cy="1638300"/>
          </a:xfrm>
          <a:prstGeom prst="roundRect">
            <a:avLst>
              <a:gd name="adj" fmla="val 581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5" name="Paso 1 número"/>
          <p:cNvSpPr/>
          <p:nvPr/>
        </p:nvSpPr>
        <p:spPr>
          <a:xfrm>
            <a:off x="857250" y="3048000"/>
            <a:ext cx="266700" cy="2667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16" name="Paso 1 título"/>
          <p:cNvSpPr txBox="1"/>
          <p:nvPr/>
        </p:nvSpPr>
        <p:spPr>
          <a:xfrm>
            <a:off x="1200150" y="30480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Preparación</a:t>
            </a:r>
          </a:p>
        </p:txBody>
      </p:sp>
      <p:sp>
        <p:nvSpPr>
          <p:cNvPr id="17" name="Paso 1 término"/>
          <p:cNvSpPr txBox="1"/>
          <p:nvPr/>
        </p:nvSpPr>
        <p:spPr>
          <a:xfrm>
            <a:off x="857250" y="3390900"/>
            <a:ext cx="23431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1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reserva de fuentes / rama</a:t>
            </a:r>
          </a:p>
        </p:txBody>
      </p:sp>
      <p:sp>
        <p:nvSpPr>
          <p:cNvPr id="18" name="Paso 1 descripción"/>
          <p:cNvSpPr txBox="1"/>
          <p:nvPr/>
        </p:nvSpPr>
        <p:spPr>
          <a:xfrm>
            <a:off x="857250" y="3600450"/>
            <a:ext cx="23431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 aparta el código a modificar para trabajar sin afectar a otras iniciativas.</a:t>
            </a:r>
          </a:p>
        </p:txBody>
      </p:sp>
      <p:sp>
        <p:nvSpPr>
          <p:cNvPr id="19" name="Flecha"/>
          <p:cNvSpPr/>
          <p:nvPr/>
        </p:nvSpPr>
        <p:spPr>
          <a:xfrm>
            <a:off x="3360738" y="3638550"/>
            <a:ext cx="114300" cy="19050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0" name="Paso 2"/>
          <p:cNvSpPr/>
          <p:nvPr/>
        </p:nvSpPr>
        <p:spPr>
          <a:xfrm>
            <a:off x="3502025" y="2914650"/>
            <a:ext cx="2609850" cy="1638300"/>
          </a:xfrm>
          <a:prstGeom prst="roundRect">
            <a:avLst>
              <a:gd name="adj" fmla="val 581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1" name="Paso 2 número"/>
          <p:cNvSpPr/>
          <p:nvPr/>
        </p:nvSpPr>
        <p:spPr>
          <a:xfrm>
            <a:off x="3635375" y="3048000"/>
            <a:ext cx="266700" cy="2667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22" name="Paso 2 título"/>
          <p:cNvSpPr txBox="1"/>
          <p:nvPr/>
        </p:nvSpPr>
        <p:spPr>
          <a:xfrm>
            <a:off x="3978275" y="30480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Diseño</a:t>
            </a:r>
          </a:p>
        </p:txBody>
      </p:sp>
      <p:sp>
        <p:nvSpPr>
          <p:cNvPr id="23" name="Paso 2 término"/>
          <p:cNvSpPr txBox="1"/>
          <p:nvPr/>
        </p:nvSpPr>
        <p:spPr>
          <a:xfrm>
            <a:off x="3635375" y="3390900"/>
            <a:ext cx="23431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1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detalle técnico</a:t>
            </a:r>
          </a:p>
        </p:txBody>
      </p:sp>
      <p:sp>
        <p:nvSpPr>
          <p:cNvPr id="24" name="Paso 2 descripción"/>
          <p:cNvSpPr txBox="1"/>
          <p:nvPr/>
        </p:nvSpPr>
        <p:spPr>
          <a:xfrm>
            <a:off x="3635375" y="3600450"/>
            <a:ext cx="23431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 define cómo se construirá la solución, dentro de la arquitectura ya aprobada.</a:t>
            </a:r>
          </a:p>
        </p:txBody>
      </p:sp>
      <p:sp>
        <p:nvSpPr>
          <p:cNvPr id="25" name="Flecha"/>
          <p:cNvSpPr/>
          <p:nvPr/>
        </p:nvSpPr>
        <p:spPr>
          <a:xfrm>
            <a:off x="6138863" y="3638550"/>
            <a:ext cx="114300" cy="19050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6" name="Paso 3"/>
          <p:cNvSpPr/>
          <p:nvPr/>
        </p:nvSpPr>
        <p:spPr>
          <a:xfrm>
            <a:off x="6280150" y="2914650"/>
            <a:ext cx="2609850" cy="1638300"/>
          </a:xfrm>
          <a:prstGeom prst="roundRect">
            <a:avLst>
              <a:gd name="adj" fmla="val 581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7" name="Paso 3 número"/>
          <p:cNvSpPr/>
          <p:nvPr/>
        </p:nvSpPr>
        <p:spPr>
          <a:xfrm>
            <a:off x="6413500" y="3048000"/>
            <a:ext cx="266700" cy="2667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28" name="Paso 3 título"/>
          <p:cNvSpPr txBox="1"/>
          <p:nvPr/>
        </p:nvSpPr>
        <p:spPr>
          <a:xfrm>
            <a:off x="6756400" y="30480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Construcción</a:t>
            </a:r>
          </a:p>
        </p:txBody>
      </p:sp>
      <p:sp>
        <p:nvSpPr>
          <p:cNvPr id="29" name="Paso 3 término"/>
          <p:cNvSpPr txBox="1"/>
          <p:nvPr/>
        </p:nvSpPr>
        <p:spPr>
          <a:xfrm>
            <a:off x="6413500" y="3390900"/>
            <a:ext cx="23431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1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código + revisión de pares</a:t>
            </a:r>
          </a:p>
        </p:txBody>
      </p:sp>
      <p:sp>
        <p:nvSpPr>
          <p:cNvPr id="30" name="Paso 3 descripción"/>
          <p:cNvSpPr txBox="1"/>
          <p:nvPr/>
        </p:nvSpPr>
        <p:spPr>
          <a:xfrm>
            <a:off x="6413500" y="3600450"/>
            <a:ext cx="23431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 desarrolla la funcionalidad y otro desarrollador revisa el trabajo antes de integrarlo.</a:t>
            </a:r>
          </a:p>
        </p:txBody>
      </p:sp>
      <p:sp>
        <p:nvSpPr>
          <p:cNvPr id="31" name="Flecha"/>
          <p:cNvSpPr/>
          <p:nvPr/>
        </p:nvSpPr>
        <p:spPr>
          <a:xfrm>
            <a:off x="8916988" y="3638550"/>
            <a:ext cx="114300" cy="19050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32" name="Paso 4"/>
          <p:cNvSpPr/>
          <p:nvPr/>
        </p:nvSpPr>
        <p:spPr>
          <a:xfrm>
            <a:off x="9058275" y="2914650"/>
            <a:ext cx="2609850" cy="1638300"/>
          </a:xfrm>
          <a:prstGeom prst="roundRect">
            <a:avLst>
              <a:gd name="adj" fmla="val 581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33" name="Paso 4 número"/>
          <p:cNvSpPr/>
          <p:nvPr/>
        </p:nvSpPr>
        <p:spPr>
          <a:xfrm>
            <a:off x="9191625" y="3048000"/>
            <a:ext cx="266700" cy="2667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4" name="Paso 4 título"/>
          <p:cNvSpPr txBox="1"/>
          <p:nvPr/>
        </p:nvSpPr>
        <p:spPr>
          <a:xfrm>
            <a:off x="9534525" y="30480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Publicación</a:t>
            </a:r>
          </a:p>
        </p:txBody>
      </p:sp>
      <p:sp>
        <p:nvSpPr>
          <p:cNvPr id="35" name="Paso 4 término"/>
          <p:cNvSpPr txBox="1"/>
          <p:nvPr/>
        </p:nvSpPr>
        <p:spPr>
          <a:xfrm>
            <a:off x="9191625" y="3390900"/>
            <a:ext cx="23431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1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DevOps · pipeline CI/CD</a:t>
            </a:r>
          </a:p>
        </p:txBody>
      </p:sp>
      <p:sp>
        <p:nvSpPr>
          <p:cNvPr id="36" name="Paso 4 descripción"/>
          <p:cNvSpPr txBox="1"/>
          <p:nvPr/>
        </p:nvSpPr>
        <p:spPr>
          <a:xfrm>
            <a:off x="9191625" y="3600450"/>
            <a:ext cx="23431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Controles automáticos de calidad y seguridad; la solución queda publicada en certificación para QA.</a:t>
            </a:r>
          </a:p>
        </p:txBody>
      </p:sp>
      <p:sp>
        <p:nvSpPr>
          <p:cNvPr id="37" name="Salida"/>
          <p:cNvSpPr/>
          <p:nvPr/>
        </p:nvSpPr>
        <p:spPr>
          <a:xfrm>
            <a:off x="723900" y="4686300"/>
            <a:ext cx="10944225" cy="914400"/>
          </a:xfrm>
          <a:prstGeom prst="roundRect">
            <a:avLst>
              <a:gd name="adj" fmla="val 8333"/>
            </a:avLst>
          </a:prstGeom>
          <a:solidFill>
            <a:srgbClr val="E8F5F5"/>
          </a:solidFill>
          <a:ln w="19050">
            <a:solidFill>
              <a:srgbClr val="0E9594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38" name="Salida etiqueta"/>
          <p:cNvSpPr txBox="1"/>
          <p:nvPr/>
        </p:nvSpPr>
        <p:spPr>
          <a:xfrm>
            <a:off x="876300" y="48006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8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SALE → ETAPA 6 · PRUEBAS</a:t>
            </a:r>
          </a:p>
        </p:txBody>
      </p:sp>
      <p:sp>
        <p:nvSpPr>
          <p:cNvPr id="39" name="Salida título"/>
          <p:cNvSpPr txBox="1"/>
          <p:nvPr/>
        </p:nvSpPr>
        <p:spPr>
          <a:xfrm>
            <a:off x="876300" y="501015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Solución lista para certificación</a:t>
            </a:r>
          </a:p>
        </p:txBody>
      </p:sp>
      <p:sp>
        <p:nvSpPr>
          <p:cNvPr id="40" name="Salida check 1"/>
          <p:cNvSpPr txBox="1"/>
          <p:nvPr/>
        </p:nvSpPr>
        <p:spPr>
          <a:xfrm>
            <a:off x="4191000" y="478155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1" name="Salida criterio 1"/>
          <p:cNvSpPr txBox="1"/>
          <p:nvPr/>
        </p:nvSpPr>
        <p:spPr>
          <a:xfrm>
            <a:off x="4400550" y="47815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Cumple los criterios de aceptación</a:t>
            </a:r>
          </a:p>
        </p:txBody>
      </p:sp>
      <p:sp>
        <p:nvSpPr>
          <p:cNvPr id="42" name="Salida check 2"/>
          <p:cNvSpPr txBox="1"/>
          <p:nvPr/>
        </p:nvSpPr>
        <p:spPr>
          <a:xfrm>
            <a:off x="4191000" y="502920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3" name="Salida criterio 2"/>
          <p:cNvSpPr txBox="1"/>
          <p:nvPr/>
        </p:nvSpPr>
        <p:spPr>
          <a:xfrm>
            <a:off x="4400550" y="50292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Cumple el DoD de referencia</a:t>
            </a:r>
          </a:p>
        </p:txBody>
      </p:sp>
      <p:sp>
        <p:nvSpPr>
          <p:cNvPr id="44" name="Salida check 3"/>
          <p:cNvSpPr txBox="1"/>
          <p:nvPr/>
        </p:nvSpPr>
        <p:spPr>
          <a:xfrm>
            <a:off x="4191000" y="527685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5" name="Salida criterio 3"/>
          <p:cNvSpPr txBox="1"/>
          <p:nvPr/>
        </p:nvSpPr>
        <p:spPr>
          <a:xfrm>
            <a:off x="4400550" y="52768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Aprobación técnica y de seguridad</a:t>
            </a:r>
          </a:p>
        </p:txBody>
      </p:sp>
      <p:sp>
        <p:nvSpPr>
          <p:cNvPr id="46" name="Salida check 4"/>
          <p:cNvSpPr txBox="1"/>
          <p:nvPr/>
        </p:nvSpPr>
        <p:spPr>
          <a:xfrm>
            <a:off x="7905750" y="478155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7" name="Salida criterio 4"/>
          <p:cNvSpPr txBox="1"/>
          <p:nvPr/>
        </p:nvSpPr>
        <p:spPr>
          <a:xfrm>
            <a:off x="8115300" y="47815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Documentación y evidencias al día</a:t>
            </a:r>
          </a:p>
        </p:txBody>
      </p:sp>
      <p:sp>
        <p:nvSpPr>
          <p:cNvPr id="48" name="Salida check 5"/>
          <p:cNvSpPr txBox="1"/>
          <p:nvPr/>
        </p:nvSpPr>
        <p:spPr>
          <a:xfrm>
            <a:off x="7905750" y="502920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9" name="Salida criterio 5"/>
          <p:cNvSpPr txBox="1"/>
          <p:nvPr/>
        </p:nvSpPr>
        <p:spPr>
          <a:xfrm>
            <a:off x="8115300" y="50292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Deuda técnica identificada</a:t>
            </a:r>
          </a:p>
        </p:txBody>
      </p:sp>
      <p:sp>
        <p:nvSpPr>
          <p:cNvPr id="50" name="Etiqueta actores"/>
          <p:cNvSpPr txBox="1"/>
          <p:nvPr/>
        </p:nvSpPr>
        <p:spPr>
          <a:xfrm>
            <a:off x="723900" y="5781675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</a:t>
            </a:r>
          </a:p>
        </p:txBody>
      </p:sp>
      <p:sp>
        <p:nvSpPr>
          <p:cNvPr id="51" name="Actor Desarrolladores"/>
          <p:cNvSpPr/>
          <p:nvPr/>
        </p:nvSpPr>
        <p:spPr>
          <a:xfrm>
            <a:off x="167640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Desarrolladores</a:t>
            </a:r>
          </a:p>
        </p:txBody>
      </p:sp>
      <p:sp>
        <p:nvSpPr>
          <p:cNvPr id="52" name="Actor QA"/>
          <p:cNvSpPr/>
          <p:nvPr/>
        </p:nvSpPr>
        <p:spPr>
          <a:xfrm>
            <a:off x="329565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QA</a:t>
            </a:r>
          </a:p>
        </p:txBody>
      </p:sp>
      <p:sp>
        <p:nvSpPr>
          <p:cNvPr id="53" name="Actor Especialista Técnico"/>
          <p:cNvSpPr/>
          <p:nvPr/>
        </p:nvSpPr>
        <p:spPr>
          <a:xfrm>
            <a:off x="491490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Técnico</a:t>
            </a:r>
          </a:p>
        </p:txBody>
      </p:sp>
      <p:sp>
        <p:nvSpPr>
          <p:cNvPr id="54" name="Actor Líder Técnico"/>
          <p:cNvSpPr/>
          <p:nvPr/>
        </p:nvSpPr>
        <p:spPr>
          <a:xfrm>
            <a:off x="653415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</a:t>
            </a:r>
          </a:p>
        </p:txBody>
      </p:sp>
      <p:sp>
        <p:nvSpPr>
          <p:cNvPr id="55" name="Actor Arquitecto"/>
          <p:cNvSpPr/>
          <p:nvPr/>
        </p:nvSpPr>
        <p:spPr>
          <a:xfrm>
            <a:off x="815340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Arquitecto</a:t>
            </a:r>
          </a:p>
        </p:txBody>
      </p:sp>
      <p:sp>
        <p:nvSpPr>
          <p:cNvPr id="56" name="Actor Líder de Célula (PO)"/>
          <p:cNvSpPr/>
          <p:nvPr/>
        </p:nvSpPr>
        <p:spPr>
          <a:xfrm>
            <a:off x="977265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FFFFFF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 (PO)</a:t>
            </a:r>
          </a:p>
        </p:txBody>
      </p:sp>
      <p:sp>
        <p:nvSpPr>
          <p:cNvPr id="57" name="Franja Azure DevOps"/>
          <p:cNvSpPr/>
          <p:nvPr/>
        </p:nvSpPr>
        <p:spPr>
          <a:xfrm>
            <a:off x="723900" y="6134100"/>
            <a:ext cx="109442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CE8F8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58" name="Azure DevOps texto"/>
          <p:cNvSpPr txBox="1"/>
          <p:nvPr/>
        </p:nvSpPr>
        <p:spPr>
          <a:xfrm>
            <a:off x="876300" y="6134100"/>
            <a:ext cx="106394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Azure DevOps</a:t>
            </a: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la historia está </a:t>
            </a:r>
            <a:r>
              <a:rPr lang="es-CO" sz="12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Progreso</a:t>
            </a: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durante esta etapa y pasa a </a:t>
            </a:r>
            <a:r>
              <a:rPr lang="es-CO" sz="12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Listo para QA</a:t>
            </a: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al terminar. Cambiar el estado a tiempo es lo que hace confiables las métricas de delivery.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8693AB-A5DE-21E3-921A-E76F1D9D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D6821D5-B3FD-7467-F238-F917D9E59F7C}"/>
              </a:ext>
            </a:extLst>
          </p:cNvPr>
          <p:cNvSpPr/>
          <p:nvPr/>
        </p:nvSpPr>
        <p:spPr>
          <a:xfrm>
            <a:off x="72390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6EE257-BAFD-949F-B4F9-3994FCD4C212}"/>
              </a:ext>
            </a:extLst>
          </p:cNvPr>
          <p:cNvSpPr/>
          <p:nvPr/>
        </p:nvSpPr>
        <p:spPr>
          <a:xfrm>
            <a:off x="723900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Se valida que los desarrollos implementados cumplan con los requerimientos funcionales definidos en el DOR, asegurando que el comportamiento del sistema corresponde a los criterios de aceptación. Incluye pruebas manuales y/o automatizadas, así como la gestión de defectos identificados.</a:t>
            </a:r>
            <a:endParaRPr lang="en-U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83FE8FC-1BEA-C984-FD3B-C955221CFA99}"/>
              </a:ext>
            </a:extLst>
          </p:cNvPr>
          <p:cNvSpPr/>
          <p:nvPr/>
        </p:nvSpPr>
        <p:spPr>
          <a:xfrm>
            <a:off x="6858000" y="3130296"/>
            <a:ext cx="4815840" cy="172279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Plan de pruebas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Casos de prueba diseñados /ejecutados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Evidencias de ejecución (capturas, logs, reportes)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Reporte de defectos/bugs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Resultado de pruebas (paso/fallo)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Informe de ejecución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Carta de certificación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2418ABD-BD82-2613-BA67-94799979283A}"/>
              </a:ext>
            </a:extLst>
          </p:cNvPr>
          <p:cNvSpPr/>
          <p:nvPr/>
        </p:nvSpPr>
        <p:spPr>
          <a:xfrm>
            <a:off x="723900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1E2027E7-79A6-6CEE-84A0-BF1F5E9EE7CA}"/>
              </a:ext>
            </a:extLst>
          </p:cNvPr>
          <p:cNvSpPr/>
          <p:nvPr/>
        </p:nvSpPr>
        <p:spPr>
          <a:xfrm>
            <a:off x="876300" y="36861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F333C984-B2FF-B5B7-62B6-3ACEB6671C55}"/>
              </a:ext>
            </a:extLst>
          </p:cNvPr>
          <p:cNvSpPr/>
          <p:nvPr/>
        </p:nvSpPr>
        <p:spPr>
          <a:xfrm>
            <a:off x="876300" y="40100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2260AEF-7945-B3F0-3200-7C3BE161F4F6}"/>
              </a:ext>
            </a:extLst>
          </p:cNvPr>
          <p:cNvSpPr/>
          <p:nvPr/>
        </p:nvSpPr>
        <p:spPr>
          <a:xfrm>
            <a:off x="876300" y="43338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9497F2FD-6703-794E-9533-A3FE8DE4159E}"/>
              </a:ext>
            </a:extLst>
          </p:cNvPr>
          <p:cNvSpPr/>
          <p:nvPr/>
        </p:nvSpPr>
        <p:spPr>
          <a:xfrm>
            <a:off x="876300" y="46577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DC257261-1EFA-22B7-CF14-BC3541E471D9}"/>
              </a:ext>
            </a:extLst>
          </p:cNvPr>
          <p:cNvSpPr/>
          <p:nvPr/>
        </p:nvSpPr>
        <p:spPr>
          <a:xfrm>
            <a:off x="876300" y="51720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7D6FA4A6-B094-AA2A-FF79-0F2CE897A5FA}"/>
              </a:ext>
            </a:extLst>
          </p:cNvPr>
          <p:cNvSpPr/>
          <p:nvPr/>
        </p:nvSpPr>
        <p:spPr>
          <a:xfrm>
            <a:off x="6858000" y="2699361"/>
            <a:ext cx="47178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Certificación Desarrollo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056A3339-C537-D47A-1D38-07BE0CB70C97}"/>
              </a:ext>
            </a:extLst>
          </p:cNvPr>
          <p:cNvSpPr/>
          <p:nvPr/>
        </p:nvSpPr>
        <p:spPr>
          <a:xfrm>
            <a:off x="6858000" y="1132670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E7AFB20A-00D4-AD54-CF63-E4470C4F5C5B}"/>
              </a:ext>
            </a:extLst>
          </p:cNvPr>
          <p:cNvSpPr/>
          <p:nvPr/>
        </p:nvSpPr>
        <p:spPr>
          <a:xfrm>
            <a:off x="8486775" y="1615753"/>
            <a:ext cx="15621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Ingeniero de Calidad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DB477D68-BB60-2F6E-69AB-781C2D6A5DBF}"/>
              </a:ext>
            </a:extLst>
          </p:cNvPr>
          <p:cNvSpPr/>
          <p:nvPr/>
        </p:nvSpPr>
        <p:spPr>
          <a:xfrm>
            <a:off x="8486775" y="2101884"/>
            <a:ext cx="15621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</a:t>
            </a:r>
            <a:endParaRPr lang="en-US" sz="1200" b="1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45852F60-465B-8501-CB89-AFB78DFEE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52C9F044-BCCC-D4D7-165E-BFD46A4BA03F}"/>
              </a:ext>
            </a:extLst>
          </p:cNvPr>
          <p:cNvSpPr/>
          <p:nvPr/>
        </p:nvSpPr>
        <p:spPr>
          <a:xfrm>
            <a:off x="1371600" y="36385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Analizar requerimientos funcionales y criterios de aceptación</a:t>
            </a:r>
            <a:endParaRPr lang="en-US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E712D2BD-A788-0A30-5CA2-F645ACF93646}"/>
              </a:ext>
            </a:extLst>
          </p:cNvPr>
          <p:cNvSpPr/>
          <p:nvPr/>
        </p:nvSpPr>
        <p:spPr>
          <a:xfrm>
            <a:off x="1371600" y="39624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Diseñar y/o actualizar casos de prueba</a:t>
            </a:r>
            <a:endParaRPr lang="en-US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A655ED58-D4C6-621F-B140-606518136E61}"/>
              </a:ext>
            </a:extLst>
          </p:cNvPr>
          <p:cNvSpPr/>
          <p:nvPr/>
        </p:nvSpPr>
        <p:spPr>
          <a:xfrm>
            <a:off x="1371600" y="42862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Ejecutar pruebas funcionales (manuales y automatizadas)</a:t>
            </a:r>
            <a:endParaRPr lang="en-US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A161D61C-5EC0-1B41-294C-681F8948D5EE}"/>
              </a:ext>
            </a:extLst>
          </p:cNvPr>
          <p:cNvSpPr/>
          <p:nvPr/>
        </p:nvSpPr>
        <p:spPr>
          <a:xfrm>
            <a:off x="1371600" y="46101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Registrar, gestionar y hacer seguimiento a defectos o novedades</a:t>
            </a:r>
            <a:endParaRPr lang="en-US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CAE55E8A-1104-F1EE-DC6D-FAB9569FFFDF}"/>
              </a:ext>
            </a:extLst>
          </p:cNvPr>
          <p:cNvSpPr/>
          <p:nvPr/>
        </p:nvSpPr>
        <p:spPr>
          <a:xfrm>
            <a:off x="1371600" y="51244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Generar reporte de resultados, estado de calidad</a:t>
            </a:r>
            <a:endParaRPr lang="es-419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811F9BB-0FD6-6B74-9616-C41638CE3711}"/>
              </a:ext>
            </a:extLst>
          </p:cNvPr>
          <p:cNvSpPr/>
          <p:nvPr/>
        </p:nvSpPr>
        <p:spPr>
          <a:xfrm>
            <a:off x="10115550" y="1610906"/>
            <a:ext cx="15621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TI</a:t>
            </a:r>
            <a:endParaRPr lang="en-US" sz="1200" b="1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526514D8-1818-B261-7FBC-53A68C2E1771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A24E918-A94F-DC3A-75C8-963CD6CADDBC}"/>
              </a:ext>
            </a:extLst>
          </p:cNvPr>
          <p:cNvSpPr/>
          <p:nvPr/>
        </p:nvSpPr>
        <p:spPr>
          <a:xfrm>
            <a:off x="1590675" y="657225"/>
            <a:ext cx="496810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Funcionales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2D3B9E3-45B6-9E4F-4E38-9E396BFE8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52400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059DE8B-D8F3-4383-45C7-6A419044BDE3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222ED2-C6C4-5B64-1F8D-6A1944A5B583}"/>
              </a:ext>
            </a:extLst>
          </p:cNvPr>
          <p:cNvSpPr/>
          <p:nvPr/>
        </p:nvSpPr>
        <p:spPr>
          <a:xfrm>
            <a:off x="10115550" y="2104391"/>
            <a:ext cx="15621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</a:t>
            </a:r>
          </a:p>
        </p:txBody>
      </p:sp>
      <p:sp>
        <p:nvSpPr>
          <p:cNvPr id="22" name="Shape 34">
            <a:extLst>
              <a:ext uri="{FF2B5EF4-FFF2-40B4-BE49-F238E27FC236}">
                <a16:creationId xmlns:a16="http://schemas.microsoft.com/office/drawing/2014/main" id="{2889C7F2-35D0-A6AA-D734-B43AB6BCAFAA}"/>
              </a:ext>
            </a:extLst>
          </p:cNvPr>
          <p:cNvSpPr/>
          <p:nvPr/>
        </p:nvSpPr>
        <p:spPr>
          <a:xfrm>
            <a:off x="876300" y="54959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3" name="Text 39">
            <a:extLst>
              <a:ext uri="{FF2B5EF4-FFF2-40B4-BE49-F238E27FC236}">
                <a16:creationId xmlns:a16="http://schemas.microsoft.com/office/drawing/2014/main" id="{FBD6B9A6-6730-8563-BD99-7806078DD12E}"/>
              </a:ext>
            </a:extLst>
          </p:cNvPr>
          <p:cNvSpPr/>
          <p:nvPr/>
        </p:nvSpPr>
        <p:spPr>
          <a:xfrm>
            <a:off x="1371600" y="54483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Ceremonia UAT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EDA6360-CCB2-1DC0-35C5-39E0DC9ED227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A91233E-D8B6-2535-5D3B-78EF17D51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B18B873-CD76-D999-565B-0AF13EF059E1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hape 6">
            <a:extLst>
              <a:ext uri="{FF2B5EF4-FFF2-40B4-BE49-F238E27FC236}">
                <a16:creationId xmlns:a16="http://schemas.microsoft.com/office/drawing/2014/main" id="{8ED53FBA-F2E9-4DA7-4BAF-3DDC7E74CBDE}"/>
              </a:ext>
            </a:extLst>
          </p:cNvPr>
          <p:cNvSpPr/>
          <p:nvPr/>
        </p:nvSpPr>
        <p:spPr>
          <a:xfrm>
            <a:off x="6858000" y="5063930"/>
            <a:ext cx="4815840" cy="132973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419" sz="160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Líder  de  célula  participa:</a:t>
            </a:r>
          </a:p>
          <a:p>
            <a:r>
              <a:rPr lang="es-419" sz="1600" b="1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Construcción de  pruebas  </a:t>
            </a:r>
          </a:p>
          <a:p>
            <a:r>
              <a:rPr lang="es-419" sz="1600" b="1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Aprueba las pruebas de usuario final (UAT)</a:t>
            </a:r>
          </a:p>
          <a:p>
            <a:r>
              <a:rPr lang="es-419" sz="1600" b="1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</a:t>
            </a:r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12374A89-7837-8F0D-0CC9-0783FD5B2439}"/>
              </a:ext>
            </a:extLst>
          </p:cNvPr>
          <p:cNvSpPr/>
          <p:nvPr/>
        </p:nvSpPr>
        <p:spPr>
          <a:xfrm>
            <a:off x="6858000" y="1602574"/>
            <a:ext cx="15621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 err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55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2F8E2B-24CF-5677-E131-9776A6196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7202DCB1-877B-C9CC-19AC-A03B93B49C89}"/>
              </a:ext>
            </a:extLst>
          </p:cNvPr>
          <p:cNvSpPr/>
          <p:nvPr/>
        </p:nvSpPr>
        <p:spPr>
          <a:xfrm>
            <a:off x="72390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BD8B25-B13F-4278-13AE-61AE48E6E2E5}"/>
              </a:ext>
            </a:extLst>
          </p:cNvPr>
          <p:cNvSpPr/>
          <p:nvPr/>
        </p:nvSpPr>
        <p:spPr>
          <a:xfrm>
            <a:off x="723900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Consisten en evaluar cómo se comporta un sistema (Aplicación, sitio web, </a:t>
            </a:r>
            <a:r>
              <a:rPr lang="es-419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etc</a:t>
            </a: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), cuando es sometido a diferentes niveles de carga y condiciones de uso. Sirven para medir su comportamiento y asegurar que sea rápido, estable y escalable.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3FC9320-8E64-23B2-756E-7CBE72C020D7}"/>
              </a:ext>
            </a:extLst>
          </p:cNvPr>
          <p:cNvSpPr/>
          <p:nvPr/>
        </p:nvSpPr>
        <p:spPr>
          <a:xfrm>
            <a:off x="6858000" y="3446062"/>
            <a:ext cx="4815840" cy="1167050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DOR de Performance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Script con escenarios de prueba.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Evidencias de ejecución (logs)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Informe con resultado de las pruebas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B05FAC5-3636-7EEC-6129-3C4B1819566E}"/>
              </a:ext>
            </a:extLst>
          </p:cNvPr>
          <p:cNvSpPr/>
          <p:nvPr/>
        </p:nvSpPr>
        <p:spPr>
          <a:xfrm>
            <a:off x="723900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9E422F0-6CB9-1184-09F8-87FA22B6B679}"/>
              </a:ext>
            </a:extLst>
          </p:cNvPr>
          <p:cNvSpPr/>
          <p:nvPr/>
        </p:nvSpPr>
        <p:spPr>
          <a:xfrm>
            <a:off x="876300" y="36861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947A6707-51F4-443D-0505-D35FE7381ADB}"/>
              </a:ext>
            </a:extLst>
          </p:cNvPr>
          <p:cNvSpPr/>
          <p:nvPr/>
        </p:nvSpPr>
        <p:spPr>
          <a:xfrm>
            <a:off x="876300" y="40100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09A3A1C-E95D-68B5-E7CB-E87788EF7659}"/>
              </a:ext>
            </a:extLst>
          </p:cNvPr>
          <p:cNvSpPr/>
          <p:nvPr/>
        </p:nvSpPr>
        <p:spPr>
          <a:xfrm>
            <a:off x="876300" y="45243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7E301A1-A2EC-FA26-0B08-20273EB5EB81}"/>
              </a:ext>
            </a:extLst>
          </p:cNvPr>
          <p:cNvSpPr/>
          <p:nvPr/>
        </p:nvSpPr>
        <p:spPr>
          <a:xfrm>
            <a:off x="876300" y="50387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BABB32A-E297-9F5C-7B7B-B4F1E932B02E}"/>
              </a:ext>
            </a:extLst>
          </p:cNvPr>
          <p:cNvSpPr/>
          <p:nvPr/>
        </p:nvSpPr>
        <p:spPr>
          <a:xfrm>
            <a:off x="876300" y="55530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B8452403-142B-F894-2CCA-8EEF7A3FA976}"/>
              </a:ext>
            </a:extLst>
          </p:cNvPr>
          <p:cNvSpPr/>
          <p:nvPr/>
        </p:nvSpPr>
        <p:spPr>
          <a:xfrm>
            <a:off x="6858000" y="3015127"/>
            <a:ext cx="4799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Pruebas de Performance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D382F0A4-BE66-DCA0-989C-7930A1629DCA}"/>
              </a:ext>
            </a:extLst>
          </p:cNvPr>
          <p:cNvSpPr/>
          <p:nvPr/>
        </p:nvSpPr>
        <p:spPr>
          <a:xfrm>
            <a:off x="6858000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43AD574-05EA-C96D-C66B-C1490776A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BC8BD143-A412-8CA4-3EA1-EAD423C60464}"/>
              </a:ext>
            </a:extLst>
          </p:cNvPr>
          <p:cNvSpPr/>
          <p:nvPr/>
        </p:nvSpPr>
        <p:spPr>
          <a:xfrm>
            <a:off x="1371600" y="36385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Analizar  DOR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86219800-DE40-CCF3-3021-0958F6F262B7}"/>
              </a:ext>
            </a:extLst>
          </p:cNvPr>
          <p:cNvSpPr/>
          <p:nvPr/>
        </p:nvSpPr>
        <p:spPr>
          <a:xfrm>
            <a:off x="1371600" y="39624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Realizar diseño de script y configurar escenarios de prueba en </a:t>
            </a:r>
            <a:r>
              <a:rPr lang="es-419" sz="13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Celerabit</a:t>
            </a:r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.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890ADC5B-DCB9-DB34-C8E2-686CD853145D}"/>
              </a:ext>
            </a:extLst>
          </p:cNvPr>
          <p:cNvSpPr/>
          <p:nvPr/>
        </p:nvSpPr>
        <p:spPr>
          <a:xfrm>
            <a:off x="1371600" y="447675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Solicitar monitoreo de recursos – CPU, Memoria, réplicas de pods.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6C3CFA7D-BABA-EA33-0934-002AF6AFBD2E}"/>
              </a:ext>
            </a:extLst>
          </p:cNvPr>
          <p:cNvSpPr/>
          <p:nvPr/>
        </p:nvSpPr>
        <p:spPr>
          <a:xfrm>
            <a:off x="1371600" y="49911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Realizar ejecución de escenarios y dar seguimiento de errores encontrados en la prueba.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7589C62D-0454-A028-FAC1-9D034795879D}"/>
              </a:ext>
            </a:extLst>
          </p:cNvPr>
          <p:cNvSpPr/>
          <p:nvPr/>
        </p:nvSpPr>
        <p:spPr>
          <a:xfrm>
            <a:off x="1371600" y="55054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 de resultados - UAT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55E0C490-DFE5-973A-FDEE-909F8C251FDA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443B3F4-E682-4270-6D57-613AB28803E1}"/>
              </a:ext>
            </a:extLst>
          </p:cNvPr>
          <p:cNvSpPr/>
          <p:nvPr/>
        </p:nvSpPr>
        <p:spPr>
          <a:xfrm>
            <a:off x="1590675" y="657225"/>
            <a:ext cx="496810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Performance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92508DF4-76A1-9081-EF52-94BD83075C98}"/>
              </a:ext>
            </a:extLst>
          </p:cNvPr>
          <p:cNvSpPr/>
          <p:nvPr/>
        </p:nvSpPr>
        <p:spPr>
          <a:xfrm>
            <a:off x="6853891" y="1390854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Ingeniero de Calidad</a:t>
            </a: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40E3200-CD20-5CFD-4ED2-5757875D4E66}"/>
              </a:ext>
            </a:extLst>
          </p:cNvPr>
          <p:cNvSpPr/>
          <p:nvPr/>
        </p:nvSpPr>
        <p:spPr>
          <a:xfrm>
            <a:off x="6853891" y="1895177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A791DDD-3522-E495-2F53-FC128649C829}"/>
              </a:ext>
            </a:extLst>
          </p:cNvPr>
          <p:cNvSpPr/>
          <p:nvPr/>
        </p:nvSpPr>
        <p:spPr>
          <a:xfrm>
            <a:off x="8843337" y="1386007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Técnico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B2DEF805-879F-1964-11C5-D1F6B7FA1994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F981F540-36C3-6C19-6831-C50BD85FE1D7}"/>
              </a:ext>
            </a:extLst>
          </p:cNvPr>
          <p:cNvSpPr/>
          <p:nvPr/>
        </p:nvSpPr>
        <p:spPr>
          <a:xfrm>
            <a:off x="8843336" y="1879492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0B100CE-3608-7E1F-8615-CB88308B03FD}"/>
              </a:ext>
            </a:extLst>
          </p:cNvPr>
          <p:cNvSpPr/>
          <p:nvPr/>
        </p:nvSpPr>
        <p:spPr>
          <a:xfrm>
            <a:off x="6853891" y="2399499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SMT-Nube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C722BE-D4D6-710A-28DA-B6BCEA7A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52400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0EAED71-6B81-D000-B88D-7441EB2DD40C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8F519ADC-4A68-F73A-F302-635A1E4F7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84CBFA1-01F1-EC44-2101-7AA67B697617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hape 6">
            <a:extLst>
              <a:ext uri="{FF2B5EF4-FFF2-40B4-BE49-F238E27FC236}">
                <a16:creationId xmlns:a16="http://schemas.microsoft.com/office/drawing/2014/main" id="{72084272-7A00-45A9-0A16-C6BAE277EC10}"/>
              </a:ext>
            </a:extLst>
          </p:cNvPr>
          <p:cNvSpPr/>
          <p:nvPr/>
        </p:nvSpPr>
        <p:spPr>
          <a:xfrm>
            <a:off x="6858000" y="4678287"/>
            <a:ext cx="4815840" cy="171537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Líderes participan en la entrega de resultados final para aprobación según los criterios de aceptación.</a:t>
            </a:r>
          </a:p>
          <a:p>
            <a:endParaRPr lang="es-419" sz="1400">
              <a:solidFill>
                <a:srgbClr val="222A35"/>
              </a:solidFill>
              <a:latin typeface="Roboto"/>
              <a:ea typeface="Roboto"/>
              <a:cs typeface="Roboto"/>
            </a:endParaRPr>
          </a:p>
          <a:p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¿Qué pasa cuando en las pruebas no se llega a los resultados esperados?</a:t>
            </a:r>
          </a:p>
          <a:p>
            <a:pPr marL="285750" indent="-285750">
              <a:buFont typeface="Calibri"/>
              <a:buChar char="-"/>
            </a:pPr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Aprobación bajo riesgos.</a:t>
            </a:r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2556A4EF-A6F2-BC28-7116-D838051D8ADD}"/>
              </a:ext>
            </a:extLst>
          </p:cNvPr>
          <p:cNvSpPr/>
          <p:nvPr/>
        </p:nvSpPr>
        <p:spPr>
          <a:xfrm>
            <a:off x="8838854" y="2399499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PO</a:t>
            </a:r>
            <a:endParaRPr lang="en-US" sz="1200" b="1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70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D7E7B9-427B-799C-8055-206CCF24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8ED5F27B-0545-E3CD-D5BF-9446CD507E3A}"/>
              </a:ext>
            </a:extLst>
          </p:cNvPr>
          <p:cNvSpPr/>
          <p:nvPr/>
        </p:nvSpPr>
        <p:spPr>
          <a:xfrm>
            <a:off x="72390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086563-E955-2686-7ACF-91661525DF3F}"/>
              </a:ext>
            </a:extLst>
          </p:cNvPr>
          <p:cNvSpPr/>
          <p:nvPr/>
        </p:nvSpPr>
        <p:spPr>
          <a:xfrm>
            <a:off x="723900" y="19306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identificar, analizar y validar posibles vectores de ataque sobre los aplicativos en etapas tempranas del desarrollo. Su objetivo es evidenciar vulnerabilidades de manera anticipada, priorizar su remediación y disminuir la exposición al riesgo en ambientes productivos, facilitando despliegues más ágiles, seguros y controlados</a:t>
            </a:r>
            <a:endParaRPr lang="en-US">
              <a:latin typeface="Roboto" pitchFamily="2" charset="0"/>
              <a:ea typeface="Roboto" pitchFamily="2" charset="0"/>
              <a:cs typeface="Roboto" pitchFamily="2" charset="0"/>
            </a:endParaRPr>
          </a:p>
          <a:p>
            <a:pPr algn="just"/>
            <a:endParaRPr lang="es-CO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61DA77F-E587-72D5-4DB2-DE6C24C18D8C}"/>
              </a:ext>
            </a:extLst>
          </p:cNvPr>
          <p:cNvSpPr/>
          <p:nvPr/>
        </p:nvSpPr>
        <p:spPr>
          <a:xfrm>
            <a:off x="6858000" y="2832579"/>
            <a:ext cx="4815840" cy="2594683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5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6430011-C5E7-1EFB-823E-2A8320B9E713}"/>
              </a:ext>
            </a:extLst>
          </p:cNvPr>
          <p:cNvSpPr/>
          <p:nvPr/>
        </p:nvSpPr>
        <p:spPr>
          <a:xfrm>
            <a:off x="723900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4A5FA337-D2DB-115E-29E4-4BDC79F6C05B}"/>
              </a:ext>
            </a:extLst>
          </p:cNvPr>
          <p:cNvSpPr/>
          <p:nvPr/>
        </p:nvSpPr>
        <p:spPr>
          <a:xfrm>
            <a:off x="876300" y="36861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B0BAF647-0024-DEC1-C9A5-79CF174522B3}"/>
              </a:ext>
            </a:extLst>
          </p:cNvPr>
          <p:cNvSpPr/>
          <p:nvPr/>
        </p:nvSpPr>
        <p:spPr>
          <a:xfrm>
            <a:off x="876300" y="42005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79275CDC-8620-A6C2-13D8-3EA979051E58}"/>
              </a:ext>
            </a:extLst>
          </p:cNvPr>
          <p:cNvSpPr/>
          <p:nvPr/>
        </p:nvSpPr>
        <p:spPr>
          <a:xfrm>
            <a:off x="6858000" y="240100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Pruebas Seguridad 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99225C34-7CCF-E216-061C-351427E5811C}"/>
              </a:ext>
            </a:extLst>
          </p:cNvPr>
          <p:cNvSpPr/>
          <p:nvPr/>
        </p:nvSpPr>
        <p:spPr>
          <a:xfrm>
            <a:off x="6858000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CB4F1A47-B29C-A173-DA7D-9DB0F6208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6DFBC62C-9791-1132-1A92-8DFDB98EE68A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B3AA7DB3-82D3-014C-7A8C-8EA084A9E6B4}"/>
              </a:ext>
            </a:extLst>
          </p:cNvPr>
          <p:cNvSpPr/>
          <p:nvPr/>
        </p:nvSpPr>
        <p:spPr>
          <a:xfrm>
            <a:off x="1590675" y="657225"/>
            <a:ext cx="496810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Seguridad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108883F9-2EB7-7119-74B5-9496E16798CF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2" name="Text 39">
            <a:extLst>
              <a:ext uri="{FF2B5EF4-FFF2-40B4-BE49-F238E27FC236}">
                <a16:creationId xmlns:a16="http://schemas.microsoft.com/office/drawing/2014/main" id="{BB531D16-3BB1-3ADF-C4C0-BEA27912E283}"/>
              </a:ext>
            </a:extLst>
          </p:cNvPr>
          <p:cNvSpPr/>
          <p:nvPr/>
        </p:nvSpPr>
        <p:spPr>
          <a:xfrm>
            <a:off x="1371600" y="363855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Realizar pruebas de </a:t>
            </a:r>
            <a:r>
              <a:rPr lang="es-CO" sz="13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pentesting</a:t>
            </a:r>
            <a:r>
              <a:rPr lang="es-CO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al sistema, aplicación o proceso evaluado.</a:t>
            </a:r>
            <a:endParaRPr lang="en-US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3" name="Text 39">
            <a:extLst>
              <a:ext uri="{FF2B5EF4-FFF2-40B4-BE49-F238E27FC236}">
                <a16:creationId xmlns:a16="http://schemas.microsoft.com/office/drawing/2014/main" id="{3EB0A097-65B8-FE26-DB11-5B573A6DAE2E}"/>
              </a:ext>
            </a:extLst>
          </p:cNvPr>
          <p:cNvSpPr/>
          <p:nvPr/>
        </p:nvSpPr>
        <p:spPr>
          <a:xfrm>
            <a:off x="1371600" y="4152900"/>
            <a:ext cx="52006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Validar que las recomendaciones de seguridad conserven su efectividad a lo largo del tiempo, evitando la degradación de los controles implementados.</a:t>
            </a:r>
            <a:endParaRPr lang="en-US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D8166CF-F4E2-05CE-F5C3-1BFD40D61FA4}"/>
              </a:ext>
            </a:extLst>
          </p:cNvPr>
          <p:cNvSpPr txBox="1"/>
          <p:nvPr/>
        </p:nvSpPr>
        <p:spPr>
          <a:xfrm>
            <a:off x="6858000" y="2823419"/>
            <a:ext cx="4767125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endParaRPr lang="es-E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/>
            </a:endParaRP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Definición de plan de pruebas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para la etapa de </a:t>
            </a:r>
            <a:r>
              <a:rPr lang="es-ES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Pentesting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en ambiente no productivo.</a:t>
            </a: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Artefacto de </a:t>
            </a:r>
            <a:r>
              <a:rPr lang="es-ES" sz="1400" b="1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Pentesting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el cual contempla las pruebas realizadas con sus respectivas evidencias de los hallazgos identificados.</a:t>
            </a: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Planes de acción en la plataforma GRC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con los hallazgos que no se puedan implementar al momento y requieran ser </a:t>
            </a:r>
            <a:r>
              <a:rPr lang="es-ES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asumidos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33E6C91-0F7D-E5F8-976E-814C3C559DBE}"/>
              </a:ext>
            </a:extLst>
          </p:cNvPr>
          <p:cNvSpPr/>
          <p:nvPr/>
        </p:nvSpPr>
        <p:spPr>
          <a:xfrm>
            <a:off x="6873395" y="1390854"/>
            <a:ext cx="20035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Estrategia de seguridad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4EE5C242-376C-9451-0E9C-272F1395174E}"/>
              </a:ext>
            </a:extLst>
          </p:cNvPr>
          <p:cNvSpPr/>
          <p:nvPr/>
        </p:nvSpPr>
        <p:spPr>
          <a:xfrm>
            <a:off x="8986212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</a:t>
            </a: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CAB9C05-07BC-70D2-1940-3227AE9A6896}"/>
              </a:ext>
            </a:extLst>
          </p:cNvPr>
          <p:cNvSpPr/>
          <p:nvPr/>
        </p:nvSpPr>
        <p:spPr>
          <a:xfrm>
            <a:off x="6860544" y="1876985"/>
            <a:ext cx="203258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TI</a:t>
            </a: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7F4A5BD-4ED8-6CC8-03EF-C8C648342D6F}"/>
              </a:ext>
            </a:extLst>
          </p:cNvPr>
          <p:cNvSpPr/>
          <p:nvPr/>
        </p:nvSpPr>
        <p:spPr>
          <a:xfrm>
            <a:off x="8986212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E9C0BD5-F65C-838E-4D8D-D85279A07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52400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4C7AF08-FAAE-C30B-09AD-EF413EFF1AD0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B882FD-C8F0-D52F-27D8-D7EDFBBED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3689B3D-82C4-1B28-2393-61E9C72A91DC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74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FC5D78-9882-10B0-DE97-27D61509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A4F3196-DA3C-293C-FD0C-F11D8A460756}"/>
              </a:ext>
            </a:extLst>
          </p:cNvPr>
          <p:cNvSpPr/>
          <p:nvPr/>
        </p:nvSpPr>
        <p:spPr>
          <a:xfrm>
            <a:off x="72390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2747E7-05EC-6A0B-26FF-15AB917FA494}"/>
              </a:ext>
            </a:extLst>
          </p:cNvPr>
          <p:cNvSpPr/>
          <p:nvPr/>
        </p:nvSpPr>
        <p:spPr>
          <a:xfrm>
            <a:off x="723900" y="1981402"/>
            <a:ext cx="5660136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Se realiza el comité de cambios en el cual se evalúan los despliegues a producción asociados a todos los cambios que impactan los ambientes productivos de la compañía, incluyendo la valoración de riesgos con el fin de mitigar posibles afectaciones a la operación.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32B479-F70E-086B-6F10-E56418D17075}"/>
              </a:ext>
            </a:extLst>
          </p:cNvPr>
          <p:cNvSpPr/>
          <p:nvPr/>
        </p:nvSpPr>
        <p:spPr>
          <a:xfrm>
            <a:off x="6858000" y="3848100"/>
            <a:ext cx="4815840" cy="1228464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Acta de aprobación comité de cambios.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Tareas de despliegues a los diferentes equipos.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Sesiones de entendimiento para despliegues y validaciones. </a:t>
            </a: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pruebas.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7B5CA1-91A7-66B7-12B6-9A1ACEB149A6}"/>
              </a:ext>
            </a:extLst>
          </p:cNvPr>
          <p:cNvSpPr/>
          <p:nvPr/>
        </p:nvSpPr>
        <p:spPr>
          <a:xfrm>
            <a:off x="723900" y="29870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F1FC037-FC3D-2D52-1ECC-FEFA76D990CD}"/>
              </a:ext>
            </a:extLst>
          </p:cNvPr>
          <p:cNvSpPr/>
          <p:nvPr/>
        </p:nvSpPr>
        <p:spPr>
          <a:xfrm>
            <a:off x="876300" y="34956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08FB5254-B676-5D04-D835-12C5E22FDD5F}"/>
              </a:ext>
            </a:extLst>
          </p:cNvPr>
          <p:cNvSpPr/>
          <p:nvPr/>
        </p:nvSpPr>
        <p:spPr>
          <a:xfrm>
            <a:off x="876300" y="38195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9A43A40-6370-D70F-05E3-119DC860367E}"/>
              </a:ext>
            </a:extLst>
          </p:cNvPr>
          <p:cNvSpPr/>
          <p:nvPr/>
        </p:nvSpPr>
        <p:spPr>
          <a:xfrm>
            <a:off x="876300" y="41433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636D53C6-F0C5-BAE2-9440-895E25F00F41}"/>
              </a:ext>
            </a:extLst>
          </p:cNvPr>
          <p:cNvSpPr/>
          <p:nvPr/>
        </p:nvSpPr>
        <p:spPr>
          <a:xfrm>
            <a:off x="876300" y="46196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A61188CB-543E-FBA7-420D-704B9966CE2F}"/>
              </a:ext>
            </a:extLst>
          </p:cNvPr>
          <p:cNvSpPr/>
          <p:nvPr/>
        </p:nvSpPr>
        <p:spPr>
          <a:xfrm>
            <a:off x="876300" y="50958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895E90A1-B35A-951A-5351-C96B17546ADF}"/>
              </a:ext>
            </a:extLst>
          </p:cNvPr>
          <p:cNvSpPr/>
          <p:nvPr/>
        </p:nvSpPr>
        <p:spPr>
          <a:xfrm>
            <a:off x="6858000" y="3415177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Cambio ejecutado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6D7C87F8-71CF-A134-F517-989F12632FEB}"/>
              </a:ext>
            </a:extLst>
          </p:cNvPr>
          <p:cNvSpPr/>
          <p:nvPr/>
        </p:nvSpPr>
        <p:spPr>
          <a:xfrm>
            <a:off x="6858000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56BFC51E-5926-DF20-6C4A-CC9BAB401CE3}"/>
              </a:ext>
            </a:extLst>
          </p:cNvPr>
          <p:cNvSpPr/>
          <p:nvPr/>
        </p:nvSpPr>
        <p:spPr>
          <a:xfrm>
            <a:off x="6853891" y="1390854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Desarrolladores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849193A6-07BD-42C9-71A5-708D7CCBB449}"/>
              </a:ext>
            </a:extLst>
          </p:cNvPr>
          <p:cNvSpPr/>
          <p:nvPr/>
        </p:nvSpPr>
        <p:spPr>
          <a:xfrm>
            <a:off x="9525000" y="2887942"/>
            <a:ext cx="215265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DevOps/Nube/Admin plataforma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206E2AB6-7EE1-C636-4EBC-846521DDBCF3}"/>
              </a:ext>
            </a:extLst>
          </p:cNvPr>
          <p:cNvSpPr/>
          <p:nvPr/>
        </p:nvSpPr>
        <p:spPr>
          <a:xfrm>
            <a:off x="6853891" y="1897350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Seguridad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D6F63210-6075-76C2-A1D9-2934AA46B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87D66C91-F0E9-FE0E-426A-625A1086428E}"/>
              </a:ext>
            </a:extLst>
          </p:cNvPr>
          <p:cNvSpPr/>
          <p:nvPr/>
        </p:nvSpPr>
        <p:spPr>
          <a:xfrm>
            <a:off x="1371600" y="34480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Registra el comité de cambios con toda la documentación requerida.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965BD3E3-57EE-A1A6-4ED5-19A11D110001}"/>
              </a:ext>
            </a:extLst>
          </p:cNvPr>
          <p:cNvSpPr/>
          <p:nvPr/>
        </p:nvSpPr>
        <p:spPr>
          <a:xfrm>
            <a:off x="1371600" y="37719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Elaborar matriz de riesgos y plan de pruebas de despliegue.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7270FA92-FEC9-9ED7-B55E-D14D395B6A80}"/>
              </a:ext>
            </a:extLst>
          </p:cNvPr>
          <p:cNvSpPr/>
          <p:nvPr/>
        </p:nvSpPr>
        <p:spPr>
          <a:xfrm>
            <a:off x="1371600" y="4095750"/>
            <a:ext cx="5200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Aprobación de ciberseguridad, seguridad del negocio e ingeniería de software para llevar el cambio a </a:t>
            </a: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sustentación en comité de cambios.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E9CD971B-C706-94CD-8D71-A9B8852ACF7A}"/>
              </a:ext>
            </a:extLst>
          </p:cNvPr>
          <p:cNvSpPr/>
          <p:nvPr/>
        </p:nvSpPr>
        <p:spPr>
          <a:xfrm>
            <a:off x="1371600" y="4572000"/>
            <a:ext cx="5200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Despliegue con nube, DevOps, seguridad, administradores de plataforma y otros. 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0333A54-3B79-F2F6-2742-C193AF0F51E5}"/>
              </a:ext>
            </a:extLst>
          </p:cNvPr>
          <p:cNvSpPr/>
          <p:nvPr/>
        </p:nvSpPr>
        <p:spPr>
          <a:xfrm>
            <a:off x="8889375" y="1398907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Técnico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FBB5501-69E9-3785-4549-E2B9406FF235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7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EFC0E8C-DD21-6ABB-6457-80690C1D77A1}"/>
              </a:ext>
            </a:extLst>
          </p:cNvPr>
          <p:cNvSpPr/>
          <p:nvPr/>
        </p:nvSpPr>
        <p:spPr>
          <a:xfrm>
            <a:off x="1590675" y="657225"/>
            <a:ext cx="496810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Paso a producción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DC86E2C-DD06-4E97-6097-27FD68387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52400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hape 34">
            <a:extLst>
              <a:ext uri="{FF2B5EF4-FFF2-40B4-BE49-F238E27FC236}">
                <a16:creationId xmlns:a16="http://schemas.microsoft.com/office/drawing/2014/main" id="{CC0C7B26-8C67-8C0F-28FF-BEF586044FD1}"/>
              </a:ext>
            </a:extLst>
          </p:cNvPr>
          <p:cNvSpPr/>
          <p:nvPr/>
        </p:nvSpPr>
        <p:spPr>
          <a:xfrm>
            <a:off x="876300" y="541972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6</a:t>
            </a:r>
          </a:p>
        </p:txBody>
      </p:sp>
      <p:sp>
        <p:nvSpPr>
          <p:cNvPr id="4" name="Text 39">
            <a:extLst>
              <a:ext uri="{FF2B5EF4-FFF2-40B4-BE49-F238E27FC236}">
                <a16:creationId xmlns:a16="http://schemas.microsoft.com/office/drawing/2014/main" id="{27D24632-0C45-EB25-0339-ECBAA28F6F0C}"/>
              </a:ext>
            </a:extLst>
          </p:cNvPr>
          <p:cNvSpPr/>
          <p:nvPr/>
        </p:nvSpPr>
        <p:spPr>
          <a:xfrm>
            <a:off x="1371600" y="50482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Ejecutar y validar paso a producción.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59BB1D8C-CF3C-46F4-7CD5-197C093FBFE2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5" name="Shape 34">
            <a:extLst>
              <a:ext uri="{FF2B5EF4-FFF2-40B4-BE49-F238E27FC236}">
                <a16:creationId xmlns:a16="http://schemas.microsoft.com/office/drawing/2014/main" id="{C9616AC1-7402-FFCF-5322-93AF0C602B84}"/>
              </a:ext>
            </a:extLst>
          </p:cNvPr>
          <p:cNvSpPr/>
          <p:nvPr/>
        </p:nvSpPr>
        <p:spPr>
          <a:xfrm>
            <a:off x="876300" y="5743575"/>
            <a:ext cx="285750" cy="28575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7</a:t>
            </a: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1E22C2C8-E8C2-0872-E6BA-EDE5BB715B16}"/>
              </a:ext>
            </a:extLst>
          </p:cNvPr>
          <p:cNvSpPr/>
          <p:nvPr/>
        </p:nvSpPr>
        <p:spPr>
          <a:xfrm>
            <a:off x="1371600" y="5695950"/>
            <a:ext cx="5200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Diligenciar resultado del cambio en la herramienta de gestión. (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Servicenow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) </a:t>
            </a:r>
          </a:p>
        </p:txBody>
      </p:sp>
      <p:sp>
        <p:nvSpPr>
          <p:cNvPr id="25" name="Text 39">
            <a:extLst>
              <a:ext uri="{FF2B5EF4-FFF2-40B4-BE49-F238E27FC236}">
                <a16:creationId xmlns:a16="http://schemas.microsoft.com/office/drawing/2014/main" id="{42595C4C-C2CE-64CA-1338-2B1EA64F735E}"/>
              </a:ext>
            </a:extLst>
          </p:cNvPr>
          <p:cNvSpPr/>
          <p:nvPr/>
        </p:nvSpPr>
        <p:spPr>
          <a:xfrm>
            <a:off x="1371600" y="53721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Evidencias paso a producción exitosa con sus pruebas. </a:t>
            </a: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7B9F4C23-B9C8-9B5E-9C37-954F257F08A7}"/>
              </a:ext>
            </a:extLst>
          </p:cNvPr>
          <p:cNvSpPr/>
          <p:nvPr/>
        </p:nvSpPr>
        <p:spPr>
          <a:xfrm>
            <a:off x="6853891" y="2403846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Ciberinteligencia</a:t>
            </a:r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95B5C7E4-D991-773B-C37A-EF6E5D2ECACF}"/>
              </a:ext>
            </a:extLst>
          </p:cNvPr>
          <p:cNvSpPr/>
          <p:nvPr/>
        </p:nvSpPr>
        <p:spPr>
          <a:xfrm>
            <a:off x="8889375" y="2403846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Ingeniería del software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238D1ECC-8B58-EDC8-7602-7A9F57CA736D}"/>
              </a:ext>
            </a:extLst>
          </p:cNvPr>
          <p:cNvSpPr/>
          <p:nvPr/>
        </p:nvSpPr>
        <p:spPr>
          <a:xfrm>
            <a:off x="6858000" y="2893272"/>
            <a:ext cx="259493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de gobierno y gestión TI </a:t>
            </a: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DCF362E1-791C-10CD-8FC5-E057F8300353}"/>
              </a:ext>
            </a:extLst>
          </p:cNvPr>
          <p:cNvSpPr/>
          <p:nvPr/>
        </p:nvSpPr>
        <p:spPr>
          <a:xfrm>
            <a:off x="8889375" y="1902011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4438903-DE39-E97B-B451-32861E1DABC1}"/>
              </a:ext>
            </a:extLst>
          </p:cNvPr>
          <p:cNvSpPr txBox="1"/>
          <p:nvPr/>
        </p:nvSpPr>
        <p:spPr>
          <a:xfrm>
            <a:off x="6858000" y="5112888"/>
            <a:ext cx="4819650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Técnico valida que se hayan cumplido los criterios técnicos, de calidad, controles y aprobaciones requeridas para ejecutar el paso a producción. El equipo ejecuta la liberación según el proceso definido</a:t>
            </a:r>
            <a:endParaRPr lang="en-US">
              <a:latin typeface="Roboto" pitchFamily="2" charset="0"/>
              <a:ea typeface="Roboto" pitchFamily="2" charset="0"/>
              <a:cs typeface="Roboto" pitchFamily="2" charset="0"/>
            </a:endParaRPr>
          </a:p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 de célula  es  informado y debe  estar al tanto del resultado del paso a producción- Planes   de  acción  y correcciones</a:t>
            </a:r>
          </a:p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dueño del cambio orquesta la creación de tareas, pruebas antes y después de la salida a producción, en conjunto con el negocio.</a:t>
            </a:r>
          </a:p>
        </p:txBody>
      </p:sp>
    </p:spTree>
    <p:extLst>
      <p:ext uri="{BB962C8B-B14F-4D97-AF65-F5344CB8AC3E}">
        <p14:creationId xmlns:p14="http://schemas.microsoft.com/office/powerpoint/2010/main" val="1603952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6128AE-5A18-15FA-80AC-3F4ACCC83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478419D-E5B0-CE52-92BF-4ABCF81B1E2F}"/>
              </a:ext>
            </a:extLst>
          </p:cNvPr>
          <p:cNvSpPr/>
          <p:nvPr/>
        </p:nvSpPr>
        <p:spPr>
          <a:xfrm>
            <a:off x="723900" y="13427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2D33FF-5588-CEB5-6E7B-3EDB4FFC3988}"/>
              </a:ext>
            </a:extLst>
          </p:cNvPr>
          <p:cNvSpPr/>
          <p:nvPr/>
        </p:nvSpPr>
        <p:spPr>
          <a:xfrm>
            <a:off x="723900" y="1808039"/>
            <a:ext cx="5786727" cy="131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O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La estabilización es realizada por el responsable de la iniciativa una vez implementado el cambio en producción, asegurando su correcto funcionamiento y la ausencia de impactos en la operación durante un periodo objetivo de 15 a 20 días. Finalizada esta fase, se da paso al proceso de Gestión de Entregas, el cual es asumido por el área de soporte TI de la compañía.</a:t>
            </a:r>
            <a:endParaRPr lang="es-E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70CFA86-69F8-4216-D92A-EE7BEA3605ED}"/>
              </a:ext>
            </a:extLst>
          </p:cNvPr>
          <p:cNvSpPr/>
          <p:nvPr/>
        </p:nvSpPr>
        <p:spPr>
          <a:xfrm>
            <a:off x="6858000" y="4051490"/>
            <a:ext cx="4815840" cy="1502771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Documentación del entregable a la operación en la wiki.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Formación conocimiento técnico para soporte de incidentes y solicitudes.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Atención operación de incidentes nivel 1 y 2.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b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Deuda  técnica  - Problemas - Incidentes</a:t>
            </a:r>
            <a:endParaRPr lang="es-419" sz="1500" b="1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3DA91A5-1BF2-66DD-7D35-398A49253342}"/>
              </a:ext>
            </a:extLst>
          </p:cNvPr>
          <p:cNvSpPr/>
          <p:nvPr/>
        </p:nvSpPr>
        <p:spPr>
          <a:xfrm>
            <a:off x="723900" y="31902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ACTIVIDADES CLAVE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3AE5C2F-0C4F-5E7C-2DE3-62D87E9EAA88}"/>
              </a:ext>
            </a:extLst>
          </p:cNvPr>
          <p:cNvSpPr/>
          <p:nvPr/>
        </p:nvSpPr>
        <p:spPr>
          <a:xfrm>
            <a:off x="876300" y="3698875"/>
            <a:ext cx="285750" cy="28575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1B8D7D32-D668-1E27-A72D-0CCBEDF8A3AD}"/>
              </a:ext>
            </a:extLst>
          </p:cNvPr>
          <p:cNvSpPr/>
          <p:nvPr/>
        </p:nvSpPr>
        <p:spPr>
          <a:xfrm>
            <a:off x="876300" y="4213225"/>
            <a:ext cx="285750" cy="28575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0258750D-9E09-8AB6-C7B3-CB4C1798D07B}"/>
              </a:ext>
            </a:extLst>
          </p:cNvPr>
          <p:cNvSpPr/>
          <p:nvPr/>
        </p:nvSpPr>
        <p:spPr>
          <a:xfrm>
            <a:off x="876300" y="4727575"/>
            <a:ext cx="285750" cy="28575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BB8AE21F-DB42-053D-9226-FE19299B864C}"/>
              </a:ext>
            </a:extLst>
          </p:cNvPr>
          <p:cNvSpPr/>
          <p:nvPr/>
        </p:nvSpPr>
        <p:spPr>
          <a:xfrm>
            <a:off x="876300" y="5241925"/>
            <a:ext cx="285750" cy="28575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DA359252-CD78-A195-F988-C3BDDBA68B9B}"/>
              </a:ext>
            </a:extLst>
          </p:cNvPr>
          <p:cNvSpPr/>
          <p:nvPr/>
        </p:nvSpPr>
        <p:spPr>
          <a:xfrm>
            <a:off x="876300" y="5756275"/>
            <a:ext cx="285750" cy="28575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8D4D02D-B524-28AB-3B89-1A90D4C25C3D}"/>
              </a:ext>
            </a:extLst>
          </p:cNvPr>
          <p:cNvSpPr/>
          <p:nvPr/>
        </p:nvSpPr>
        <p:spPr>
          <a:xfrm>
            <a:off x="6858000" y="3596258"/>
            <a:ext cx="471517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Entregable: </a:t>
            </a:r>
            <a:r>
              <a:rPr lang="es-419" sz="1400" b="1" kern="0" spc="0" noProof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Servicio iniciativas estable para soporte en producción. </a:t>
            </a:r>
            <a:endParaRPr lang="es-419" sz="1400" noProof="0" b="1" spc="0">
              <a:solidFill>
                <a:srgbClr val="1B2A5E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B1BA00B7-59DC-1CA6-9189-A9861B2BF565}"/>
              </a:ext>
            </a:extLst>
          </p:cNvPr>
          <p:cNvSpPr/>
          <p:nvPr/>
        </p:nvSpPr>
        <p:spPr>
          <a:xfrm>
            <a:off x="6858000" y="1342788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b="1" kern="0" spc="100" noProof="0" cap="all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 QUE INTERVIENEN</a:t>
            </a:r>
            <a:endParaRPr lang="es-419" sz="1200" noProof="0" b="1" cap="all" spc="100">
              <a:solidFill>
                <a:srgbClr val="2E5FA3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6D56D86F-5EAF-CD94-6B1D-7328A8CEDAB5}"/>
              </a:ext>
            </a:extLst>
          </p:cNvPr>
          <p:cNvSpPr/>
          <p:nvPr/>
        </p:nvSpPr>
        <p:spPr>
          <a:xfrm>
            <a:off x="6853891" y="186710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</a:t>
            </a:r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técnico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DBD23EC3-D4D1-B89B-C460-15305D0E4861}"/>
              </a:ext>
            </a:extLst>
          </p:cNvPr>
          <p:cNvSpPr/>
          <p:nvPr/>
        </p:nvSpPr>
        <p:spPr>
          <a:xfrm>
            <a:off x="6853891" y="2340983"/>
            <a:ext cx="189303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técnico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808F13B7-F4C7-038C-6BB9-E61D6B84FA88}"/>
              </a:ext>
            </a:extLst>
          </p:cNvPr>
          <p:cNvSpPr/>
          <p:nvPr/>
        </p:nvSpPr>
        <p:spPr>
          <a:xfrm>
            <a:off x="8839524" y="2320359"/>
            <a:ext cx="2245196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Ingeniero de infraestructura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35516994-722A-0AB9-B25D-58F0571A3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C9AE0B9D-6FFB-4BFD-6CBF-F03F5C6ED8B0}"/>
              </a:ext>
            </a:extLst>
          </p:cNvPr>
          <p:cNvSpPr/>
          <p:nvPr/>
        </p:nvSpPr>
        <p:spPr>
          <a:xfrm>
            <a:off x="1371600" y="365125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Monitoreo </a:t>
            </a:r>
            <a:r>
              <a:rPr lang="es-419" sz="13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post-despliegue</a:t>
            </a:r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: logs, métricas y alertas  (</a:t>
            </a:r>
            <a:r>
              <a:rPr lang="es-419" sz="13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Instana</a:t>
            </a:r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, torre de control).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7C81B9D4-0A87-AF17-97CF-BAE7879FBFEC}"/>
              </a:ext>
            </a:extLst>
          </p:cNvPr>
          <p:cNvSpPr/>
          <p:nvPr/>
        </p:nvSpPr>
        <p:spPr>
          <a:xfrm>
            <a:off x="1371600" y="41656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Atención de incidentes (incluyendo horas nocturnas, madrugadas y fines de semana).</a:t>
            </a:r>
            <a:endParaRPr lang="es-419" sz="13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580672FA-3ED6-FB23-298C-6B14B520C6FB}"/>
              </a:ext>
            </a:extLst>
          </p:cNvPr>
          <p:cNvSpPr/>
          <p:nvPr/>
        </p:nvSpPr>
        <p:spPr>
          <a:xfrm>
            <a:off x="1371600" y="467995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Análisis de causa raíz de incidentes y documentación de soluciones.</a:t>
            </a:r>
            <a:endParaRPr lang="es-419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DD614D85-31E6-E9D8-0F1C-E2490CCA6557}"/>
              </a:ext>
            </a:extLst>
          </p:cNvPr>
          <p:cNvSpPr/>
          <p:nvPr/>
        </p:nvSpPr>
        <p:spPr>
          <a:xfrm>
            <a:off x="1371600" y="51943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Documentación técnica para entrega a Operación TI (Wiki, manual primeros auxilios).</a:t>
            </a:r>
            <a:endParaRPr lang="es-419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3BAC94B0-3ED3-1DF4-E196-FBC714BE5826}"/>
              </a:ext>
            </a:extLst>
          </p:cNvPr>
          <p:cNvSpPr/>
          <p:nvPr/>
        </p:nvSpPr>
        <p:spPr>
          <a:xfrm>
            <a:off x="1371600" y="57086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Documentación funcional con Líder de célula.</a:t>
            </a:r>
            <a:endParaRPr lang="es-419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B356954-4AFB-9F27-DA3E-7FFC8BF9F4DA}"/>
              </a:ext>
            </a:extLst>
          </p:cNvPr>
          <p:cNvSpPr/>
          <p:nvPr/>
        </p:nvSpPr>
        <p:spPr>
          <a:xfrm>
            <a:off x="8843337" y="1825061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Ingeniero de operaciones</a:t>
            </a:r>
            <a:endParaRPr lang="es-419" sz="1200" b="1" noProof="0">
              <a:solidFill>
                <a:srgbClr val="1B2A5E"/>
              </a:solidFill>
              <a:latin typeface="Roboto Condensed" pitchFamily="2" charset="0"/>
              <a:ea typeface="Roboto Condensed" pitchFamily="2" charset="0"/>
              <a:cs typeface="Roboto Condensed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AB607D6B-98E8-73F1-B447-4E89EA07D4C7}"/>
              </a:ext>
            </a:extLst>
          </p:cNvPr>
          <p:cNvSpPr>
            <a:spLocks noChangeAspect="1"/>
          </p:cNvSpPr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2E5FA3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8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F675527-4B38-C2AD-9E17-E7C588FDD55B}"/>
              </a:ext>
            </a:extLst>
          </p:cNvPr>
          <p:cNvSpPr/>
          <p:nvPr/>
        </p:nvSpPr>
        <p:spPr>
          <a:xfrm>
            <a:off x="1590675" y="657225"/>
            <a:ext cx="553800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Estabilización y entrega</a:t>
            </a:r>
            <a:endParaRPr lang="es-419" sz="3733" noProof="0">
              <a:solidFill>
                <a:srgbClr val="2E5FA3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4" name="Shape 34">
            <a:extLst>
              <a:ext uri="{FF2B5EF4-FFF2-40B4-BE49-F238E27FC236}">
                <a16:creationId xmlns:a16="http://schemas.microsoft.com/office/drawing/2014/main" id="{F66D7854-7AC0-6E9F-B2CD-D2F03CDE813B}"/>
              </a:ext>
            </a:extLst>
          </p:cNvPr>
          <p:cNvSpPr/>
          <p:nvPr/>
        </p:nvSpPr>
        <p:spPr>
          <a:xfrm>
            <a:off x="876300" y="6080125"/>
            <a:ext cx="285750" cy="28575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4" name="Text 39">
            <a:extLst>
              <a:ext uri="{FF2B5EF4-FFF2-40B4-BE49-F238E27FC236}">
                <a16:creationId xmlns:a16="http://schemas.microsoft.com/office/drawing/2014/main" id="{C1758195-205F-04A6-A14A-20B4A7AEAE46}"/>
              </a:ext>
            </a:extLst>
          </p:cNvPr>
          <p:cNvSpPr/>
          <p:nvPr/>
        </p:nvSpPr>
        <p:spPr>
          <a:xfrm>
            <a:off x="1371600" y="60325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3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Proceso formal de entrega y transferencia de conocimiento a Operación TI</a:t>
            </a:r>
            <a:endParaRPr lang="es-419" sz="13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54F7D97B-5B41-C322-7F4E-A4CB9C618057}"/>
              </a:ext>
            </a:extLst>
          </p:cNvPr>
          <p:cNvSpPr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 </a:t>
            </a:r>
            <a:endParaRPr lang="es-419" sz="1400" noProof="0" b="1">
              <a:solidFill>
                <a:srgbClr val="5B6B82"/>
              </a:solidFill>
              <a:latin typeface="Roboto" pitchFamily="2" charset="0"/>
              <a:ea typeface="Roboto" pitchFamily="2" charset="0"/>
              <a:cs typeface="Roboto" pitchFamily="2" charset="0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807400B6-5DEE-2E36-C716-086EAF0B4DD1}"/>
              </a:ext>
            </a:extLst>
          </p:cNvPr>
          <p:cNvSpPr/>
          <p:nvPr/>
        </p:nvSpPr>
        <p:spPr>
          <a:xfrm>
            <a:off x="6853891" y="2845345"/>
            <a:ext cx="3108231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Analista de gobierno y gestión TI </a:t>
            </a:r>
          </a:p>
        </p:txBody>
      </p:sp>
    </p:spTree>
    <p:extLst>
      <p:ext uri="{BB962C8B-B14F-4D97-AF65-F5344CB8AC3E}">
        <p14:creationId xmlns:p14="http://schemas.microsoft.com/office/powerpoint/2010/main" val="328065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ítulo"/>
          <p:cNvSpPr txBox="1"/>
          <p:nvPr/>
        </p:nvSpPr>
        <p:spPr>
          <a:xfrm>
            <a:off x="666750" y="323850"/>
            <a:ext cx="8572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4400" b="1" i="0" dirty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Deuda técnica</a:t>
            </a:r>
          </a:p>
        </p:txBody>
      </p:sp>
      <p:pic>
        <p:nvPicPr>
          <p:cNvPr id="92" name="Logo somos tu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5" y="200025"/>
            <a:ext cx="866775" cy="581025"/>
          </a:xfrm>
          <a:prstGeom prst="rect">
            <a:avLst/>
          </a:prstGeom>
        </p:spPr>
      </p:pic>
      <p:sp>
        <p:nvSpPr>
          <p:cNvPr id="93" name="Definición"/>
          <p:cNvSpPr txBox="1"/>
          <p:nvPr/>
        </p:nvSpPr>
        <p:spPr>
          <a:xfrm>
            <a:off x="723900" y="1276350"/>
            <a:ext cx="109442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6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Atajos técnicos que permiten entregar hoy, pero encarecen cada cambio futuro hasta que se pagan.</a:t>
            </a:r>
          </a:p>
        </p:txBody>
      </p:sp>
      <p:sp>
        <p:nvSpPr>
          <p:cNvPr id="94" name="Etiqueta tipos"/>
          <p:cNvSpPr txBox="1"/>
          <p:nvPr/>
        </p:nvSpPr>
        <p:spPr>
          <a:xfrm>
            <a:off x="723900" y="177165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Cuatro tipos, de la más costosa a la más frecuente</a:t>
            </a:r>
          </a:p>
        </p:txBody>
      </p:sp>
      <p:sp>
        <p:nvSpPr>
          <p:cNvPr id="95" name="Tipo Arquitectura"/>
          <p:cNvSpPr/>
          <p:nvPr/>
        </p:nvSpPr>
        <p:spPr>
          <a:xfrm>
            <a:off x="723900" y="1981200"/>
            <a:ext cx="2609850" cy="2000250"/>
          </a:xfrm>
          <a:prstGeom prst="roundRect">
            <a:avLst>
              <a:gd name="adj" fmla="val 4762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96" name="Tipo Arquitectura título"/>
          <p:cNvSpPr txBox="1"/>
          <p:nvPr/>
        </p:nvSpPr>
        <p:spPr>
          <a:xfrm>
            <a:off x="857250" y="21145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5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Arquitectura</a:t>
            </a:r>
          </a:p>
        </p:txBody>
      </p:sp>
      <p:sp>
        <p:nvSpPr>
          <p:cNvPr id="97" name="Tipo tag"/>
          <p:cNvSpPr/>
          <p:nvPr/>
        </p:nvSpPr>
        <p:spPr>
          <a:xfrm>
            <a:off x="2076450" y="2152650"/>
            <a:ext cx="1123950" cy="209550"/>
          </a:xfrm>
          <a:prstGeom prst="roundRect">
            <a:avLst>
              <a:gd name="adj" fmla="val 22727"/>
            </a:avLst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La más costosa</a:t>
            </a:r>
          </a:p>
        </p:txBody>
      </p:sp>
      <p:sp>
        <p:nvSpPr>
          <p:cNvPr id="98" name="Tipo Arquitectura ejemplo"/>
          <p:cNvSpPr txBox="1"/>
          <p:nvPr/>
        </p:nvSpPr>
        <p:spPr>
          <a:xfrm>
            <a:off x="857250" y="2495550"/>
            <a:ext cx="23431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Una dependencia impide cumplir TPS, tiempos de respuesta o disponibilidad.</a:t>
            </a:r>
          </a:p>
        </p:txBody>
      </p:sp>
      <p:sp>
        <p:nvSpPr>
          <p:cNvPr id="99" name="Tipo Arquitectura alerta"/>
          <p:cNvSpPr/>
          <p:nvPr/>
        </p:nvSpPr>
        <p:spPr>
          <a:xfrm>
            <a:off x="857250" y="3409950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100" name="Tipo Arquitectura impacto"/>
          <p:cNvSpPr txBox="1"/>
          <p:nvPr/>
        </p:nvSpPr>
        <p:spPr>
          <a:xfrm>
            <a:off x="1123950" y="3333750"/>
            <a:ext cx="2076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Lentitud, caídas, no escala.</a:t>
            </a:r>
          </a:p>
        </p:txBody>
      </p:sp>
      <p:sp>
        <p:nvSpPr>
          <p:cNvPr id="101" name="Tipo Desarrollo"/>
          <p:cNvSpPr/>
          <p:nvPr/>
        </p:nvSpPr>
        <p:spPr>
          <a:xfrm>
            <a:off x="3502025" y="1981200"/>
            <a:ext cx="2609850" cy="2000250"/>
          </a:xfrm>
          <a:prstGeom prst="roundRect">
            <a:avLst>
              <a:gd name="adj" fmla="val 4762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02" name="Tipo Desarrollo título"/>
          <p:cNvSpPr txBox="1"/>
          <p:nvPr/>
        </p:nvSpPr>
        <p:spPr>
          <a:xfrm>
            <a:off x="3635375" y="21145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5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Desarrollo</a:t>
            </a:r>
          </a:p>
        </p:txBody>
      </p:sp>
      <p:sp>
        <p:nvSpPr>
          <p:cNvPr id="103" name="Tipo Desarrollo ejemplo"/>
          <p:cNvSpPr txBox="1"/>
          <p:nvPr/>
        </p:nvSpPr>
        <p:spPr>
          <a:xfrm>
            <a:off x="3635375" y="2495550"/>
            <a:ext cx="23431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Lo que marca Sonar: poca cobertura de pruebas, código duplicado, malas prácticas.</a:t>
            </a:r>
          </a:p>
        </p:txBody>
      </p:sp>
      <p:sp>
        <p:nvSpPr>
          <p:cNvPr id="104" name="Tipo Desarrollo alerta"/>
          <p:cNvSpPr/>
          <p:nvPr/>
        </p:nvSpPr>
        <p:spPr>
          <a:xfrm>
            <a:off x="3635375" y="3409950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105" name="Tipo Desarrollo impacto"/>
          <p:cNvSpPr txBox="1"/>
          <p:nvPr/>
        </p:nvSpPr>
        <p:spPr>
          <a:xfrm>
            <a:off x="3902075" y="3333750"/>
            <a:ext cx="2076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Cada cambio cuesta más y se rompe.</a:t>
            </a:r>
          </a:p>
        </p:txBody>
      </p:sp>
      <p:sp>
        <p:nvSpPr>
          <p:cNvPr id="106" name="Tipo Calidad"/>
          <p:cNvSpPr/>
          <p:nvPr/>
        </p:nvSpPr>
        <p:spPr>
          <a:xfrm>
            <a:off x="6280150" y="1981200"/>
            <a:ext cx="2609850" cy="2000250"/>
          </a:xfrm>
          <a:prstGeom prst="roundRect">
            <a:avLst>
              <a:gd name="adj" fmla="val 4762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07" name="Tipo Calidad título"/>
          <p:cNvSpPr txBox="1"/>
          <p:nvPr/>
        </p:nvSpPr>
        <p:spPr>
          <a:xfrm>
            <a:off x="6413500" y="21145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5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Calidad</a:t>
            </a:r>
          </a:p>
        </p:txBody>
      </p:sp>
      <p:sp>
        <p:nvSpPr>
          <p:cNvPr id="108" name="Tipo Calidad ejemplo"/>
          <p:cNvSpPr txBox="1"/>
          <p:nvPr/>
        </p:nvSpPr>
        <p:spPr>
          <a:xfrm>
            <a:off x="6413500" y="2495550"/>
            <a:ext cx="23431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Pruebas funcionales sin automatizar porque no se priorizan.</a:t>
            </a:r>
          </a:p>
        </p:txBody>
      </p:sp>
      <p:sp>
        <p:nvSpPr>
          <p:cNvPr id="109" name="Tipo Calidad alerta"/>
          <p:cNvSpPr/>
          <p:nvPr/>
        </p:nvSpPr>
        <p:spPr>
          <a:xfrm>
            <a:off x="6413500" y="3409950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110" name="Tipo Calidad impacto"/>
          <p:cNvSpPr txBox="1"/>
          <p:nvPr/>
        </p:nvSpPr>
        <p:spPr>
          <a:xfrm>
            <a:off x="6680200" y="3333750"/>
            <a:ext cx="2076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Certificaciones lentas, defectos que se escapan.</a:t>
            </a:r>
          </a:p>
        </p:txBody>
      </p:sp>
      <p:sp>
        <p:nvSpPr>
          <p:cNvPr id="111" name="Tipo Seguridad"/>
          <p:cNvSpPr/>
          <p:nvPr/>
        </p:nvSpPr>
        <p:spPr>
          <a:xfrm>
            <a:off x="9058275" y="1981200"/>
            <a:ext cx="2609850" cy="2000250"/>
          </a:xfrm>
          <a:prstGeom prst="roundRect">
            <a:avLst>
              <a:gd name="adj" fmla="val 4762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12" name="Tipo Seguridad título"/>
          <p:cNvSpPr txBox="1"/>
          <p:nvPr/>
        </p:nvSpPr>
        <p:spPr>
          <a:xfrm>
            <a:off x="9191625" y="21145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5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Seguridad</a:t>
            </a:r>
          </a:p>
        </p:txBody>
      </p:sp>
      <p:sp>
        <p:nvSpPr>
          <p:cNvPr id="113" name="Tipo Seguridad ejemplo"/>
          <p:cNvSpPr txBox="1"/>
          <p:nvPr/>
        </p:nvSpPr>
        <p:spPr>
          <a:xfrm>
            <a:off x="9191625" y="2495550"/>
            <a:ext cx="23431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Vulnerabilidades sin remediar, antes o después de publicar.</a:t>
            </a:r>
          </a:p>
        </p:txBody>
      </p:sp>
      <p:sp>
        <p:nvSpPr>
          <p:cNvPr id="114" name="Tipo Seguridad alerta"/>
          <p:cNvSpPr/>
          <p:nvPr/>
        </p:nvSpPr>
        <p:spPr>
          <a:xfrm>
            <a:off x="9191625" y="3409950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115" name="Tipo Seguridad impacto"/>
          <p:cNvSpPr txBox="1"/>
          <p:nvPr/>
        </p:nvSpPr>
        <p:spPr>
          <a:xfrm>
            <a:off x="9458325" y="3333750"/>
            <a:ext cx="2076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Riesgo de incidente o fraude.</a:t>
            </a:r>
          </a:p>
        </p:txBody>
      </p:sp>
      <p:sp>
        <p:nvSpPr>
          <p:cNvPr id="116" name="Etiqueta qué hacemos"/>
          <p:cNvSpPr txBox="1"/>
          <p:nvPr/>
        </p:nvSpPr>
        <p:spPr>
          <a:xfrm>
            <a:off x="723900" y="417195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hacemos con ella</a:t>
            </a:r>
          </a:p>
        </p:txBody>
      </p:sp>
      <p:sp>
        <p:nvSpPr>
          <p:cNvPr id="117" name="Ciclo 1"/>
          <p:cNvSpPr/>
          <p:nvPr/>
        </p:nvSpPr>
        <p:spPr>
          <a:xfrm>
            <a:off x="723900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18" name="Ciclo 1 número"/>
          <p:cNvSpPr/>
          <p:nvPr/>
        </p:nvSpPr>
        <p:spPr>
          <a:xfrm>
            <a:off x="838200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119" name="Ciclo 1 título"/>
          <p:cNvSpPr txBox="1"/>
          <p:nvPr/>
        </p:nvSpPr>
        <p:spPr>
          <a:xfrm>
            <a:off x="1162050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Registrar</a:t>
            </a:r>
          </a:p>
        </p:txBody>
      </p:sp>
      <p:sp>
        <p:nvSpPr>
          <p:cNvPr id="120" name="Ciclo 1 detalle"/>
          <p:cNvSpPr txBox="1"/>
          <p:nvPr/>
        </p:nvSpPr>
        <p:spPr>
          <a:xfrm>
            <a:off x="838200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el backlog</a:t>
            </a:r>
          </a:p>
        </p:txBody>
      </p:sp>
      <p:sp>
        <p:nvSpPr>
          <p:cNvPr id="121" name="Flecha"/>
          <p:cNvSpPr/>
          <p:nvPr/>
        </p:nvSpPr>
        <p:spPr>
          <a:xfrm>
            <a:off x="2830116" y="4752975"/>
            <a:ext cx="95250" cy="1714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22" name="Ciclo 2"/>
          <p:cNvSpPr/>
          <p:nvPr/>
        </p:nvSpPr>
        <p:spPr>
          <a:xfrm>
            <a:off x="2936081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23" name="Ciclo 2 número"/>
          <p:cNvSpPr/>
          <p:nvPr/>
        </p:nvSpPr>
        <p:spPr>
          <a:xfrm>
            <a:off x="3050381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124" name="Ciclo 2 título"/>
          <p:cNvSpPr txBox="1"/>
          <p:nvPr/>
        </p:nvSpPr>
        <p:spPr>
          <a:xfrm>
            <a:off x="3374231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Entender impacto</a:t>
            </a:r>
          </a:p>
        </p:txBody>
      </p:sp>
      <p:sp>
        <p:nvSpPr>
          <p:cNvPr id="125" name="Ciclo 2 detalle"/>
          <p:cNvSpPr txBox="1"/>
          <p:nvPr/>
        </p:nvSpPr>
        <p:spPr>
          <a:xfrm>
            <a:off x="3050381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incidentes, lentitud, riesgo</a:t>
            </a:r>
          </a:p>
        </p:txBody>
      </p:sp>
      <p:sp>
        <p:nvSpPr>
          <p:cNvPr id="126" name="Flecha"/>
          <p:cNvSpPr/>
          <p:nvPr/>
        </p:nvSpPr>
        <p:spPr>
          <a:xfrm>
            <a:off x="5042297" y="4752975"/>
            <a:ext cx="95250" cy="1714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27" name="Ciclo 3"/>
          <p:cNvSpPr/>
          <p:nvPr/>
        </p:nvSpPr>
        <p:spPr>
          <a:xfrm>
            <a:off x="5148263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28" name="Ciclo 3 número"/>
          <p:cNvSpPr/>
          <p:nvPr/>
        </p:nvSpPr>
        <p:spPr>
          <a:xfrm>
            <a:off x="5262563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129" name="Ciclo 3 título"/>
          <p:cNvSpPr txBox="1"/>
          <p:nvPr/>
        </p:nvSpPr>
        <p:spPr>
          <a:xfrm>
            <a:off x="5586413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Priorizar</a:t>
            </a:r>
          </a:p>
        </p:txBody>
      </p:sp>
      <p:sp>
        <p:nvSpPr>
          <p:cNvPr id="130" name="Ciclo 3 detalle"/>
          <p:cNvSpPr txBox="1"/>
          <p:nvPr/>
        </p:nvSpPr>
        <p:spPr>
          <a:xfrm>
            <a:off x="5262563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por riesgo e impacto</a:t>
            </a:r>
          </a:p>
        </p:txBody>
      </p:sp>
      <p:sp>
        <p:nvSpPr>
          <p:cNvPr id="131" name="Flecha"/>
          <p:cNvSpPr/>
          <p:nvPr/>
        </p:nvSpPr>
        <p:spPr>
          <a:xfrm>
            <a:off x="7254478" y="4752975"/>
            <a:ext cx="95250" cy="1714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32" name="Ciclo 4"/>
          <p:cNvSpPr/>
          <p:nvPr/>
        </p:nvSpPr>
        <p:spPr>
          <a:xfrm>
            <a:off x="7360444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33" name="Ciclo 4 número"/>
          <p:cNvSpPr/>
          <p:nvPr/>
        </p:nvSpPr>
        <p:spPr>
          <a:xfrm>
            <a:off x="7474744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134" name="Ciclo 4 título"/>
          <p:cNvSpPr txBox="1"/>
          <p:nvPr/>
        </p:nvSpPr>
        <p:spPr>
          <a:xfrm>
            <a:off x="7798594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Escalar</a:t>
            </a:r>
          </a:p>
        </p:txBody>
      </p:sp>
      <p:sp>
        <p:nvSpPr>
          <p:cNvPr id="135" name="Ciclo 4 detalle"/>
          <p:cNvSpPr txBox="1"/>
          <p:nvPr/>
        </p:nvSpPr>
        <p:spPr>
          <a:xfrm>
            <a:off x="7474744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la que la célula no resuelve</a:t>
            </a:r>
          </a:p>
        </p:txBody>
      </p:sp>
      <p:sp>
        <p:nvSpPr>
          <p:cNvPr id="136" name="Flecha"/>
          <p:cNvSpPr/>
          <p:nvPr/>
        </p:nvSpPr>
        <p:spPr>
          <a:xfrm>
            <a:off x="9466659" y="4752975"/>
            <a:ext cx="95250" cy="1714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37" name="Ciclo 5"/>
          <p:cNvSpPr/>
          <p:nvPr/>
        </p:nvSpPr>
        <p:spPr>
          <a:xfrm>
            <a:off x="9572625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38" name="Ciclo 5 número"/>
          <p:cNvSpPr/>
          <p:nvPr/>
        </p:nvSpPr>
        <p:spPr>
          <a:xfrm>
            <a:off x="9686925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139" name="Ciclo 5 título"/>
          <p:cNvSpPr txBox="1"/>
          <p:nvPr/>
        </p:nvSpPr>
        <p:spPr>
          <a:xfrm>
            <a:off x="10010775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Seguimiento</a:t>
            </a:r>
          </a:p>
        </p:txBody>
      </p:sp>
      <p:sp>
        <p:nvSpPr>
          <p:cNvPr id="140" name="Ciclo 5 detalle"/>
          <p:cNvSpPr txBox="1"/>
          <p:nvPr/>
        </p:nvSpPr>
        <p:spPr>
          <a:xfrm>
            <a:off x="9686925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hasta cerrarla o aceptar el riesgo</a:t>
            </a:r>
          </a:p>
        </p:txBody>
      </p:sp>
      <p:sp>
        <p:nvSpPr>
          <p:cNvPr id="141" name="Roles"/>
          <p:cNvSpPr/>
          <p:nvPr/>
        </p:nvSpPr>
        <p:spPr>
          <a:xfrm>
            <a:off x="723900" y="5486400"/>
            <a:ext cx="10944225" cy="685800"/>
          </a:xfrm>
          <a:prstGeom prst="roundRect">
            <a:avLst>
              <a:gd name="adj" fmla="val 11111"/>
            </a:avLst>
          </a:prstGeom>
          <a:solidFill>
            <a:srgbClr val="E8F5F5"/>
          </a:solidFill>
          <a:ln w="19050">
            <a:solidFill>
              <a:srgbClr val="0E9594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42" name="Roles etiqueta"/>
          <p:cNvSpPr txBox="1"/>
          <p:nvPr/>
        </p:nvSpPr>
        <p:spPr>
          <a:xfrm>
            <a:off x="876300" y="5486400"/>
            <a:ext cx="7048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10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ROLES</a:t>
            </a:r>
          </a:p>
        </p:txBody>
      </p:sp>
      <p:sp>
        <p:nvSpPr>
          <p:cNvPr id="143" name="Roles texto"/>
          <p:cNvSpPr txBox="1"/>
          <p:nvPr/>
        </p:nvSpPr>
        <p:spPr>
          <a:xfrm>
            <a:off x="1714500" y="5486400"/>
            <a:ext cx="98012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El </a:t>
            </a: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Líder Técnico</a:t>
            </a: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la identifica y la presenta con su impacto en lenguaje de negocio. El </a:t>
            </a: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Líder de Célula (PO)</a:t>
            </a: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la prioriza junto a las historias y decide, con él, qué se paga ahora y qué riesgo se acepta.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C86BB-A49C-F754-BA77-8969CF65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F82CC4-D451-9107-BF33-94F0F0966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26" y="2855029"/>
            <a:ext cx="2374407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389F233-215F-91CC-310D-5CAD198E0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276" y="1813106"/>
            <a:ext cx="2378916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6512180C-63BD-4263-F383-7BB78091E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78" y="859494"/>
            <a:ext cx="2167146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C27B55A5-867A-73AE-51AD-731B3303F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8254" y="5068852"/>
            <a:ext cx="1910048" cy="5120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F5852633-C342-3918-C36E-936ADE5DC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8254" y="4034935"/>
            <a:ext cx="2195848" cy="5087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D597297C-5792-945B-BB35-E2CB15E49A93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H="1">
            <a:off x="960760" y="1620715"/>
            <a:ext cx="588307" cy="566726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57204CFB-E78E-451B-D027-F6813FB93359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1806460" y="2765389"/>
            <a:ext cx="649508" cy="300024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angular 62">
            <a:extLst>
              <a:ext uri="{FF2B5EF4-FFF2-40B4-BE49-F238E27FC236}">
                <a16:creationId xmlns:a16="http://schemas.microsoft.com/office/drawing/2014/main" id="{4C40292E-A356-D6BA-B09B-1EDEA20B0CF1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2586220" y="3747272"/>
            <a:ext cx="664026" cy="420041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CA188E3D-970A-CEDF-4048-923A98AE85C4}"/>
              </a:ext>
            </a:extLst>
          </p:cNvPr>
          <p:cNvCxnSpPr>
            <a:cxnSpLocks/>
            <a:endCxn id="55" idx="1"/>
          </p:cNvCxnSpPr>
          <p:nvPr/>
        </p:nvCxnSpPr>
        <p:spPr>
          <a:xfrm rot="16200000" flipH="1">
            <a:off x="2146808" y="4343414"/>
            <a:ext cx="1542853" cy="420040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886BF72E-27F8-E528-F747-A273993C05E6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2409998" y="5485388"/>
            <a:ext cx="1013668" cy="422842"/>
          </a:xfrm>
          <a:prstGeom prst="bentConnector4">
            <a:avLst>
              <a:gd name="adj1" fmla="val 50000"/>
              <a:gd name="adj2" fmla="val 154423"/>
            </a:avLst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1910E71-8A21-0250-1C79-F9BCBB10A5B5}"/>
              </a:ext>
            </a:extLst>
          </p:cNvPr>
          <p:cNvSpPr txBox="1"/>
          <p:nvPr/>
        </p:nvSpPr>
        <p:spPr>
          <a:xfrm>
            <a:off x="2755199" y="967620"/>
            <a:ext cx="86260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nuestros </a:t>
            </a:r>
            <a:r>
              <a:rPr lang="es-419" sz="1500" b="1" noProof="0" err="1">
                <a:latin typeface="Roboto" panose="02000000000000000000" pitchFamily="2" charset="0"/>
                <a:ea typeface="Roboto" panose="02000000000000000000" pitchFamily="2" charset="0"/>
              </a:rPr>
              <a:t>OKRS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de Célula/COE/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SMT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garantizando que sean visibles para todos miembros de equipo y la alineación con la estrategia de la compañía. 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6DD2FF81-BCD8-7968-DA08-B90CEFD71A40}"/>
              </a:ext>
            </a:extLst>
          </p:cNvPr>
          <p:cNvSpPr txBox="1"/>
          <p:nvPr/>
        </p:nvSpPr>
        <p:spPr>
          <a:xfrm>
            <a:off x="4083277" y="1923531"/>
            <a:ext cx="77562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las iniciativas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que nos proponemos lograr durante el Q. Se incluye una descripción corta para garantizar el entendimiento de todo el equipo.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62BFAFD-6719-75C4-3180-457BC0A65DDE}"/>
              </a:ext>
            </a:extLst>
          </p:cNvPr>
          <p:cNvSpPr txBox="1"/>
          <p:nvPr/>
        </p:nvSpPr>
        <p:spPr>
          <a:xfrm>
            <a:off x="4779458" y="2847739"/>
            <a:ext cx="706011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los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incrementos de valor, entregables, funcionalidades de nuestra iniciativa.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Esto nos permite detallar como estamos abordando la iniciativa y generar un 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roadmap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FC42FC97-EFE5-455C-44E7-3EA562179FA1}"/>
              </a:ext>
            </a:extLst>
          </p:cNvPr>
          <p:cNvSpPr txBox="1"/>
          <p:nvPr/>
        </p:nvSpPr>
        <p:spPr>
          <a:xfrm>
            <a:off x="5318664" y="3866337"/>
            <a:ext cx="652091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demandar las áreas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habilitadoras.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Son actividades que van más allá de una tarea y que por su complejidad demandan 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un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esfuerzo mayor por parte de 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una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Célula/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CoE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SMT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endParaRPr lang="es-419" sz="1500" noProof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FC549F47-F41E-CF2F-3894-A02BCC333D2F}"/>
              </a:ext>
            </a:extLst>
          </p:cNvPr>
          <p:cNvSpPr txBox="1"/>
          <p:nvPr/>
        </p:nvSpPr>
        <p:spPr>
          <a:xfrm>
            <a:off x="5318664" y="4932446"/>
            <a:ext cx="65780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Se usa para describir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las historias de usuario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, que son  una descripción simple y suficiente de una necesidad, explicada desde la perspectiva del cliente o usuario.</a:t>
            </a:r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BB569319-9971-FB5A-4FAB-6E9B825D0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CuadroTexto 86">
            <a:extLst>
              <a:ext uri="{FF2B5EF4-FFF2-40B4-BE49-F238E27FC236}">
                <a16:creationId xmlns:a16="http://schemas.microsoft.com/office/drawing/2014/main" id="{AC0BE1D1-B527-3631-D3BA-F5C327A65936}"/>
              </a:ext>
            </a:extLst>
          </p:cNvPr>
          <p:cNvSpPr txBox="1"/>
          <p:nvPr/>
        </p:nvSpPr>
        <p:spPr>
          <a:xfrm>
            <a:off x="5318664" y="6079429"/>
            <a:ext cx="65209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Este </a:t>
            </a:r>
            <a:r>
              <a:rPr lang="es-419" sz="1500" err="1">
                <a:latin typeface="Roboto" panose="02000000000000000000" pitchFamily="2" charset="0"/>
                <a:ea typeface="Roboto" panose="02000000000000000000" pitchFamily="2" charset="0"/>
              </a:rPr>
              <a:t>item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los casos de prueba realizados por el equipo de 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QA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95" name="Text 0">
            <a:extLst>
              <a:ext uri="{FF2B5EF4-FFF2-40B4-BE49-F238E27FC236}">
                <a16:creationId xmlns:a16="http://schemas.microsoft.com/office/drawing/2014/main" id="{02B80764-7BC2-9EBE-032A-63529A4D2C61}"/>
              </a:ext>
            </a:extLst>
          </p:cNvPr>
          <p:cNvSpPr/>
          <p:nvPr/>
        </p:nvSpPr>
        <p:spPr>
          <a:xfrm>
            <a:off x="312673" y="145653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Estructura</a:t>
            </a:r>
            <a:endParaRPr lang="es-419" sz="3600" noProof="0">
              <a:solidFill>
                <a:srgbClr val="1B2A5E"/>
              </a:solidFill>
              <a:latin typeface="Roboto Bk" pitchFamily="2" charset="0"/>
              <a:ea typeface="Roboto Bk" pitchFamily="2" charset="0"/>
              <a:cs typeface="Roboto Bk" pitchFamily="2" charset="0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F8B3002-F0AA-A3CD-20E9-CFE7F27BD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040" y="4062934"/>
            <a:ext cx="846542" cy="84654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84C898F-450C-211A-CC98-EC9CFFA558C4}"/>
              </a:ext>
            </a:extLst>
          </p:cNvPr>
          <p:cNvSpPr txBox="1"/>
          <p:nvPr/>
        </p:nvSpPr>
        <p:spPr>
          <a:xfrm>
            <a:off x="422307" y="4955529"/>
            <a:ext cx="1740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8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/>
          </a:p>
        </p:txBody>
      </p: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2DCE2049-7AF0-7FDC-9625-E967CC106DB0}"/>
              </a:ext>
            </a:extLst>
          </p:cNvPr>
          <p:cNvCxnSpPr>
            <a:cxnSpLocks/>
            <a:stCxn id="55" idx="2"/>
            <a:endCxn id="5" idx="0"/>
          </p:cNvCxnSpPr>
          <p:nvPr/>
        </p:nvCxnSpPr>
        <p:spPr>
          <a:xfrm rot="5400000">
            <a:off x="3845363" y="5713727"/>
            <a:ext cx="370773" cy="105058"/>
          </a:xfrm>
          <a:prstGeom prst="bentConnector4">
            <a:avLst>
              <a:gd name="adj1" fmla="val 50000"/>
              <a:gd name="adj2" fmla="val 24410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CE85614B-4E55-3A03-F0A4-BC889C52CA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8253" y="5951643"/>
            <a:ext cx="1699934" cy="50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7304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1125A-1CB0-7C9D-13B6-66B11374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ángulo: esquinas superiores redondeadas 159">
            <a:extLst>
              <a:ext uri="{FF2B5EF4-FFF2-40B4-BE49-F238E27FC236}">
                <a16:creationId xmlns:a16="http://schemas.microsoft.com/office/drawing/2014/main" id="{EAE2F600-E7EE-5811-1169-EBE095316A81}"/>
              </a:ext>
            </a:extLst>
          </p:cNvPr>
          <p:cNvSpPr/>
          <p:nvPr/>
        </p:nvSpPr>
        <p:spPr>
          <a:xfrm rot="16200000">
            <a:off x="9948841" y="604861"/>
            <a:ext cx="1832019" cy="2679692"/>
          </a:xfrm>
          <a:prstGeom prst="round2SameRect">
            <a:avLst>
              <a:gd name="adj1" fmla="val 11154"/>
              <a:gd name="adj2" fmla="val 0"/>
            </a:avLst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813826D2-49AD-1FC5-8005-FE15D7534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342804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 0">
            <a:extLst>
              <a:ext uri="{FF2B5EF4-FFF2-40B4-BE49-F238E27FC236}">
                <a16:creationId xmlns:a16="http://schemas.microsoft.com/office/drawing/2014/main" id="{C0570A15-76D8-E864-4BB1-7A4761007092}"/>
              </a:ext>
            </a:extLst>
          </p:cNvPr>
          <p:cNvSpPr/>
          <p:nvPr/>
        </p:nvSpPr>
        <p:spPr>
          <a:xfrm>
            <a:off x="312674" y="202099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Azure DevOps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9AE93E4-DCB3-B781-454E-74D462828F8C}"/>
              </a:ext>
            </a:extLst>
          </p:cNvPr>
          <p:cNvSpPr txBox="1"/>
          <p:nvPr/>
        </p:nvSpPr>
        <p:spPr>
          <a:xfrm>
            <a:off x="7193601" y="4377914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496FBA-EFFA-4AD1-54E2-F185EE2BD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860" y="1628123"/>
            <a:ext cx="151930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ECA981A-68B3-9CFB-4C9C-80E7342236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60"/>
          <a:stretch>
            <a:fillRect/>
          </a:stretch>
        </p:blipFill>
        <p:spPr>
          <a:xfrm>
            <a:off x="5448400" y="2529161"/>
            <a:ext cx="136822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DE92D0D-6D1D-0901-A638-05B0CD05C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215" y="3447006"/>
            <a:ext cx="16645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40BD2CE-2A13-C8F7-B3C6-7DE29F026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958" y="4383093"/>
            <a:ext cx="201441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CFC15B9-084E-E262-B04E-238775F43B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8926" y="4383093"/>
            <a:ext cx="233079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7A6AFB6-6440-E2A2-7495-4ED60A9A2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719" y="1628123"/>
            <a:ext cx="151930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A48ECFC6-56AA-1DF4-B620-DC7540A93306}"/>
              </a:ext>
            </a:extLst>
          </p:cNvPr>
          <p:cNvSpPr txBox="1"/>
          <p:nvPr/>
        </p:nvSpPr>
        <p:spPr>
          <a:xfrm>
            <a:off x="320747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err="1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</a:t>
            </a:r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. Habilitador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03076A6-A55B-F805-3CE8-2903DBDBEFCD}"/>
              </a:ext>
            </a:extLst>
          </p:cNvPr>
          <p:cNvSpPr txBox="1"/>
          <p:nvPr/>
        </p:nvSpPr>
        <p:spPr>
          <a:xfrm>
            <a:off x="554361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Equipo Negocio</a:t>
            </a:r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65822EA2-71F3-0179-7643-639A13B6A30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0915"/>
          <a:stretch>
            <a:fillRect/>
          </a:stretch>
        </p:blipFill>
        <p:spPr>
          <a:xfrm>
            <a:off x="3021893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6BB36BDE-AFC7-D67A-E461-FE1D76A4A1B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7822"/>
          <a:stretch>
            <a:fillRect/>
          </a:stretch>
        </p:blipFill>
        <p:spPr>
          <a:xfrm>
            <a:off x="5335674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983C2C3F-8BDF-C838-4A68-66240559E5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1525"/>
          <a:stretch>
            <a:fillRect/>
          </a:stretch>
        </p:blipFill>
        <p:spPr>
          <a:xfrm>
            <a:off x="9860532" y="2130190"/>
            <a:ext cx="1260289" cy="460527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A97C8BA7-0BEE-A0ED-2BDA-D39475C377E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1621"/>
          <a:stretch>
            <a:fillRect/>
          </a:stretch>
        </p:blipFill>
        <p:spPr>
          <a:xfrm>
            <a:off x="7649456" y="5959773"/>
            <a:ext cx="1512343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48943E28-3635-B69C-23B4-EC0D3220A01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8902"/>
          <a:stretch>
            <a:fillRect/>
          </a:stretch>
        </p:blipFill>
        <p:spPr>
          <a:xfrm>
            <a:off x="9860532" y="1677217"/>
            <a:ext cx="2103255" cy="454386"/>
          </a:xfrm>
          <a:prstGeom prst="rect">
            <a:avLst/>
          </a:prstGeom>
        </p:spPr>
      </p:pic>
      <p:cxnSp>
        <p:nvCxnSpPr>
          <p:cNvPr id="52" name="Conector recto de flecha 218">
            <a:extLst>
              <a:ext uri="{FF2B5EF4-FFF2-40B4-BE49-F238E27FC236}">
                <a16:creationId xmlns:a16="http://schemas.microsoft.com/office/drawing/2014/main" id="{A9492D58-B98C-10EC-3E75-A37595EE2F9A}"/>
              </a:ext>
            </a:extLst>
          </p:cNvPr>
          <p:cNvCxnSpPr>
            <a:cxnSpLocks/>
            <a:stCxn id="20" idx="1"/>
            <a:endCxn id="43" idx="1"/>
          </p:cNvCxnSpPr>
          <p:nvPr/>
        </p:nvCxnSpPr>
        <p:spPr>
          <a:xfrm rot="10800000" flipH="1">
            <a:off x="2008925" y="1898123"/>
            <a:ext cx="1027793" cy="2754970"/>
          </a:xfrm>
          <a:prstGeom prst="bentConnector3">
            <a:avLst>
              <a:gd name="adj1" fmla="val -22242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824E9A7D-DBE8-186D-C62D-0FDE633834C7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6132513" y="2168123"/>
            <a:ext cx="0" cy="361038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788DF388-7D07-DC54-CCA3-FC0B9519F927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6132513" y="3069161"/>
            <a:ext cx="0" cy="37784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ector recto de flecha 218">
            <a:extLst>
              <a:ext uri="{FF2B5EF4-FFF2-40B4-BE49-F238E27FC236}">
                <a16:creationId xmlns:a16="http://schemas.microsoft.com/office/drawing/2014/main" id="{DC778439-22E4-9C69-40FF-BE477FBEA664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5400000">
            <a:off x="4455374" y="2705953"/>
            <a:ext cx="396087" cy="295819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de flecha 218">
            <a:extLst>
              <a:ext uri="{FF2B5EF4-FFF2-40B4-BE49-F238E27FC236}">
                <a16:creationId xmlns:a16="http://schemas.microsoft.com/office/drawing/2014/main" id="{D440AE4C-8227-03B4-8EB1-400B1DAB146D}"/>
              </a:ext>
            </a:extLst>
          </p:cNvPr>
          <p:cNvCxnSpPr>
            <a:cxnSpLocks/>
          </p:cNvCxnSpPr>
          <p:nvPr/>
        </p:nvCxnSpPr>
        <p:spPr>
          <a:xfrm rot="5400000">
            <a:off x="5937058" y="4182460"/>
            <a:ext cx="39090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218">
            <a:extLst>
              <a:ext uri="{FF2B5EF4-FFF2-40B4-BE49-F238E27FC236}">
                <a16:creationId xmlns:a16="http://schemas.microsoft.com/office/drawing/2014/main" id="{18BADCBF-AA0C-3AD0-5EB7-0DBE21DE7544}"/>
              </a:ext>
            </a:extLst>
          </p:cNvPr>
          <p:cNvCxnSpPr>
            <a:cxnSpLocks/>
            <a:stCxn id="19" idx="2"/>
            <a:endCxn id="61" idx="0"/>
          </p:cNvCxnSpPr>
          <p:nvPr/>
        </p:nvCxnSpPr>
        <p:spPr>
          <a:xfrm rot="5400000">
            <a:off x="4461112" y="4285722"/>
            <a:ext cx="1036680" cy="231142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ector recto de flecha 218">
            <a:extLst>
              <a:ext uri="{FF2B5EF4-FFF2-40B4-BE49-F238E27FC236}">
                <a16:creationId xmlns:a16="http://schemas.microsoft.com/office/drawing/2014/main" id="{1E24EA87-F038-78A1-380E-687A84D5FEAD}"/>
              </a:ext>
            </a:extLst>
          </p:cNvPr>
          <p:cNvCxnSpPr>
            <a:cxnSpLocks/>
            <a:stCxn id="19" idx="2"/>
            <a:endCxn id="67" idx="0"/>
          </p:cNvCxnSpPr>
          <p:nvPr/>
        </p:nvCxnSpPr>
        <p:spPr>
          <a:xfrm rot="16200000" flipH="1">
            <a:off x="5618002" y="5440253"/>
            <a:ext cx="1036680" cy="235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de flecha 218">
            <a:extLst>
              <a:ext uri="{FF2B5EF4-FFF2-40B4-BE49-F238E27FC236}">
                <a16:creationId xmlns:a16="http://schemas.microsoft.com/office/drawing/2014/main" id="{F6A15440-FB2E-2AFD-AC7D-4783155B916F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2782455" y="5314959"/>
            <a:ext cx="1036679" cy="252946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2DAB62F-8B45-AF6F-1187-E8A1F8D4F366}"/>
              </a:ext>
            </a:extLst>
          </p:cNvPr>
          <p:cNvSpPr txBox="1"/>
          <p:nvPr/>
        </p:nvSpPr>
        <p:spPr>
          <a:xfrm rot="16200000">
            <a:off x="1103550" y="3047816"/>
            <a:ext cx="107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1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Contribute</a:t>
            </a:r>
            <a:r>
              <a:rPr lang="es-CO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to</a:t>
            </a:r>
            <a:endParaRPr lang="es-CO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A7AE5122-8B39-CC4E-034A-6F1ABCCD423B}"/>
              </a:ext>
            </a:extLst>
          </p:cNvPr>
          <p:cNvSpPr txBox="1"/>
          <p:nvPr/>
        </p:nvSpPr>
        <p:spPr>
          <a:xfrm>
            <a:off x="6132511" y="222575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BF863E28-6B6B-50E4-6211-1B2B97714FFD}"/>
              </a:ext>
            </a:extLst>
          </p:cNvPr>
          <p:cNvSpPr txBox="1"/>
          <p:nvPr/>
        </p:nvSpPr>
        <p:spPr>
          <a:xfrm>
            <a:off x="6132511" y="312558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D822C4A7-1C48-D988-8673-4BE009BAAD2E}"/>
              </a:ext>
            </a:extLst>
          </p:cNvPr>
          <p:cNvSpPr txBox="1"/>
          <p:nvPr/>
        </p:nvSpPr>
        <p:spPr>
          <a:xfrm>
            <a:off x="4374825" y="392085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9D90DEC5-13F3-4BEA-A0D2-526904D11A50}"/>
              </a:ext>
            </a:extLst>
          </p:cNvPr>
          <p:cNvSpPr txBox="1"/>
          <p:nvPr/>
        </p:nvSpPr>
        <p:spPr>
          <a:xfrm>
            <a:off x="2889735" y="5536497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DC4ADDBA-319B-1A9F-E941-2B78552F1C18}"/>
              </a:ext>
            </a:extLst>
          </p:cNvPr>
          <p:cNvSpPr txBox="1"/>
          <p:nvPr/>
        </p:nvSpPr>
        <p:spPr>
          <a:xfrm>
            <a:off x="5594017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98C6254D-8F79-448F-BF3A-A3751AAAB0A5}"/>
              </a:ext>
            </a:extLst>
          </p:cNvPr>
          <p:cNvSpPr txBox="1"/>
          <p:nvPr/>
        </p:nvSpPr>
        <p:spPr>
          <a:xfrm>
            <a:off x="3860134" y="5538943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872883C9-7659-94C4-11E6-E89209D5EF50}"/>
              </a:ext>
            </a:extLst>
          </p:cNvPr>
          <p:cNvSpPr/>
          <p:nvPr/>
        </p:nvSpPr>
        <p:spPr>
          <a:xfrm>
            <a:off x="9860532" y="1189542"/>
            <a:ext cx="1820356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1600" b="1" kern="0" spc="267" noProof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Otros </a:t>
            </a:r>
            <a:r>
              <a:rPr lang="es-419" sz="1600" b="1" kern="0" spc="267" noProof="0" err="1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Items</a:t>
            </a:r>
            <a:endParaRPr lang="es-419" sz="1600" noProof="0">
              <a:solidFill>
                <a:srgbClr val="0070C0"/>
              </a:solidFill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165" name="Conector recto de flecha 218">
            <a:extLst>
              <a:ext uri="{FF2B5EF4-FFF2-40B4-BE49-F238E27FC236}">
                <a16:creationId xmlns:a16="http://schemas.microsoft.com/office/drawing/2014/main" id="{29564BA3-DA54-84E8-67EB-EC86EFD2FBA2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7297217" y="2822302"/>
            <a:ext cx="396087" cy="2725494"/>
          </a:xfrm>
          <a:prstGeom prst="bentConnector4">
            <a:avLst>
              <a:gd name="adj1" fmla="val 50000"/>
              <a:gd name="adj2" fmla="val 10768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Conector recto de flecha 218">
            <a:extLst>
              <a:ext uri="{FF2B5EF4-FFF2-40B4-BE49-F238E27FC236}">
                <a16:creationId xmlns:a16="http://schemas.microsoft.com/office/drawing/2014/main" id="{B71F0066-A201-B2DB-D343-49E41BF2202C}"/>
              </a:ext>
            </a:extLst>
          </p:cNvPr>
          <p:cNvCxnSpPr>
            <a:cxnSpLocks/>
            <a:stCxn id="19" idx="2"/>
            <a:endCxn id="72" idx="0"/>
          </p:cNvCxnSpPr>
          <p:nvPr/>
        </p:nvCxnSpPr>
        <p:spPr>
          <a:xfrm rot="16200000" flipH="1">
            <a:off x="6752055" y="4306200"/>
            <a:ext cx="1036680" cy="227046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68F19347-E433-06C9-5504-8664CF8B2E50}"/>
              </a:ext>
            </a:extLst>
          </p:cNvPr>
          <p:cNvSpPr txBox="1"/>
          <p:nvPr/>
        </p:nvSpPr>
        <p:spPr>
          <a:xfrm>
            <a:off x="7848164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09E3D99D-2B33-0B8F-1216-AA1747C4F28D}"/>
              </a:ext>
            </a:extLst>
          </p:cNvPr>
          <p:cNvSpPr txBox="1"/>
          <p:nvPr/>
        </p:nvSpPr>
        <p:spPr>
          <a:xfrm>
            <a:off x="7344246" y="389056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B12376A3-63E7-5D54-57C6-1CC9B7C39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55355" y="163505"/>
            <a:ext cx="754316" cy="754316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C20523C-8261-33E4-D2D1-30F63A3D2AB9}"/>
              </a:ext>
            </a:extLst>
          </p:cNvPr>
          <p:cNvGrpSpPr/>
          <p:nvPr/>
        </p:nvGrpSpPr>
        <p:grpSpPr>
          <a:xfrm>
            <a:off x="312674" y="991173"/>
            <a:ext cx="1177799" cy="563305"/>
            <a:chOff x="314192" y="955061"/>
            <a:chExt cx="1177799" cy="563305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03889DC3-48C1-7260-1811-915596ACB1D4}"/>
                </a:ext>
              </a:extLst>
            </p:cNvPr>
            <p:cNvSpPr/>
            <p:nvPr/>
          </p:nvSpPr>
          <p:spPr>
            <a:xfrm>
              <a:off x="314192" y="955061"/>
              <a:ext cx="1177799" cy="5633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149" name="Conector recto de flecha 148">
              <a:extLst>
                <a:ext uri="{FF2B5EF4-FFF2-40B4-BE49-F238E27FC236}">
                  <a16:creationId xmlns:a16="http://schemas.microsoft.com/office/drawing/2014/main" id="{74C7A0FD-ABC1-9E2E-AE06-B62BB61B0F2C}"/>
                </a:ext>
              </a:extLst>
            </p:cNvPr>
            <p:cNvCxnSpPr>
              <a:cxnSpLocks/>
            </p:cNvCxnSpPr>
            <p:nvPr/>
          </p:nvCxnSpPr>
          <p:spPr>
            <a:xfrm>
              <a:off x="437373" y="1356884"/>
              <a:ext cx="931437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  <a:headEnd type="oval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CuadroTexto 151">
              <a:extLst>
                <a:ext uri="{FF2B5EF4-FFF2-40B4-BE49-F238E27FC236}">
                  <a16:creationId xmlns:a16="http://schemas.microsoft.com/office/drawing/2014/main" id="{C8380602-F05B-2929-87D3-BC55DCCB51B1}"/>
                </a:ext>
              </a:extLst>
            </p:cNvPr>
            <p:cNvSpPr txBox="1"/>
            <p:nvPr/>
          </p:nvSpPr>
          <p:spPr>
            <a:xfrm>
              <a:off x="486057" y="1046755"/>
              <a:ext cx="834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>
                  <a:solidFill>
                    <a:schemeClr val="bg1">
                      <a:lumMod val="65000"/>
                    </a:schemeClr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Relación</a:t>
              </a: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94063DD3-BE38-EBB8-9026-4756FF42EE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47328" y="4383093"/>
            <a:ext cx="182135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0BC506CF-48D5-C906-93AF-278F9D1CBCF9}"/>
              </a:ext>
            </a:extLst>
          </p:cNvPr>
          <p:cNvCxnSpPr>
            <a:cxnSpLocks/>
            <a:stCxn id="5" idx="1"/>
            <a:endCxn id="19" idx="3"/>
          </p:cNvCxnSpPr>
          <p:nvPr/>
        </p:nvCxnSpPr>
        <p:spPr>
          <a:xfrm flipH="1">
            <a:off x="7142368" y="4653093"/>
            <a:ext cx="804960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483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7FA58-A003-7CC2-4866-43D4B6B86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ángulo: esquinas superiores redondeadas 159">
            <a:extLst>
              <a:ext uri="{FF2B5EF4-FFF2-40B4-BE49-F238E27FC236}">
                <a16:creationId xmlns:a16="http://schemas.microsoft.com/office/drawing/2014/main" id="{05C69BCF-EE26-43A5-C605-0017C5076D6E}"/>
              </a:ext>
            </a:extLst>
          </p:cNvPr>
          <p:cNvSpPr/>
          <p:nvPr/>
        </p:nvSpPr>
        <p:spPr>
          <a:xfrm rot="16200000">
            <a:off x="9948841" y="604861"/>
            <a:ext cx="1832019" cy="2679692"/>
          </a:xfrm>
          <a:prstGeom prst="round2SameRect">
            <a:avLst>
              <a:gd name="adj1" fmla="val 11154"/>
              <a:gd name="adj2" fmla="val 0"/>
            </a:avLst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E07CCE01-A26C-3C8F-8EEF-2AD9981C4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5" y="200025"/>
            <a:ext cx="866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 0">
            <a:extLst>
              <a:ext uri="{FF2B5EF4-FFF2-40B4-BE49-F238E27FC236}">
                <a16:creationId xmlns:a16="http://schemas.microsoft.com/office/drawing/2014/main" id="{5D0683D5-CC0B-BD23-FC30-8BFEE5232B56}"/>
              </a:ext>
            </a:extLst>
          </p:cNvPr>
          <p:cNvSpPr/>
          <p:nvPr/>
        </p:nvSpPr>
        <p:spPr>
          <a:xfrm>
            <a:off x="312674" y="202099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Estructura Azure DevOps</a:t>
            </a:r>
            <a:endParaRPr lang="es-419" sz="3600" noProof="0">
              <a:solidFill>
                <a:srgbClr val="1B2A5E"/>
              </a:solidFill>
              <a:latin typeface="Roboto Bk" pitchFamily="2" charset="0"/>
              <a:ea typeface="Roboto Bk" pitchFamily="2" charset="0"/>
              <a:cs typeface="Roboto Bk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48ED2EC-D191-654F-31B1-BBD8D4C051D2}"/>
              </a:ext>
            </a:extLst>
          </p:cNvPr>
          <p:cNvSpPr txBox="1"/>
          <p:nvPr/>
        </p:nvSpPr>
        <p:spPr>
          <a:xfrm>
            <a:off x="7193601" y="4377914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CE4E4B-2D3B-39B8-EE6B-617931B1C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860" y="1628123"/>
            <a:ext cx="151930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42604D3-F06B-F14E-5345-DCDE99301B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60"/>
          <a:stretch>
            <a:fillRect/>
          </a:stretch>
        </p:blipFill>
        <p:spPr>
          <a:xfrm>
            <a:off x="5448400" y="2529161"/>
            <a:ext cx="136822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08191A5-2C9F-5825-F22E-9D1182145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215" y="3447006"/>
            <a:ext cx="16645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8E52517-182D-C486-D730-4EEB0B63BC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958" y="4383093"/>
            <a:ext cx="201441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6CF7A28-2E9E-C928-5DE7-43EDC1B271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8926" y="4383093"/>
            <a:ext cx="233079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E09C75E6-5EE7-BF44-1668-90DE1DBAC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719" y="1628123"/>
            <a:ext cx="151930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0C7AC4E2-FD96-5C0B-E3A6-AC2AAB26885B}"/>
              </a:ext>
            </a:extLst>
          </p:cNvPr>
          <p:cNvSpPr txBox="1"/>
          <p:nvPr/>
        </p:nvSpPr>
        <p:spPr>
          <a:xfrm>
            <a:off x="320747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err="1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</a:t>
            </a:r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. Habilitador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8D0D382-4678-2D99-9EB2-BE2250599E05}"/>
              </a:ext>
            </a:extLst>
          </p:cNvPr>
          <p:cNvSpPr txBox="1"/>
          <p:nvPr/>
        </p:nvSpPr>
        <p:spPr>
          <a:xfrm>
            <a:off x="554361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Equipo Negocio</a:t>
            </a:r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9DA462CB-B283-4698-F41D-A7B9ADC3E2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0915"/>
          <a:stretch>
            <a:fillRect/>
          </a:stretch>
        </p:blipFill>
        <p:spPr>
          <a:xfrm>
            <a:off x="3021893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CF76CD10-C157-106A-BF44-056CA488D7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7822"/>
          <a:stretch>
            <a:fillRect/>
          </a:stretch>
        </p:blipFill>
        <p:spPr>
          <a:xfrm>
            <a:off x="5335674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2FFFA301-2D26-4CF0-2802-973C3F8D403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1525"/>
          <a:stretch>
            <a:fillRect/>
          </a:stretch>
        </p:blipFill>
        <p:spPr>
          <a:xfrm>
            <a:off x="9860532" y="2130190"/>
            <a:ext cx="1260289" cy="460527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794FA95E-DE8A-2EB6-6217-7148FCE0178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1621"/>
          <a:stretch>
            <a:fillRect/>
          </a:stretch>
        </p:blipFill>
        <p:spPr>
          <a:xfrm>
            <a:off x="7649456" y="5959773"/>
            <a:ext cx="1512343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E33DD36A-FE98-95DD-1040-9B4BD571945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8902"/>
          <a:stretch>
            <a:fillRect/>
          </a:stretch>
        </p:blipFill>
        <p:spPr>
          <a:xfrm>
            <a:off x="9860532" y="1677217"/>
            <a:ext cx="2103255" cy="454386"/>
          </a:xfrm>
          <a:prstGeom prst="rect">
            <a:avLst/>
          </a:prstGeom>
        </p:spPr>
      </p:pic>
      <p:cxnSp>
        <p:nvCxnSpPr>
          <p:cNvPr id="52" name="Conector recto de flecha 218">
            <a:extLst>
              <a:ext uri="{FF2B5EF4-FFF2-40B4-BE49-F238E27FC236}">
                <a16:creationId xmlns:a16="http://schemas.microsoft.com/office/drawing/2014/main" id="{6B51BA19-2084-6CCC-749A-574804B6C57A}"/>
              </a:ext>
            </a:extLst>
          </p:cNvPr>
          <p:cNvCxnSpPr>
            <a:cxnSpLocks/>
            <a:stCxn id="20" idx="1"/>
            <a:endCxn id="43" idx="1"/>
          </p:cNvCxnSpPr>
          <p:nvPr/>
        </p:nvCxnSpPr>
        <p:spPr>
          <a:xfrm rot="10800000" flipH="1">
            <a:off x="2008925" y="1898123"/>
            <a:ext cx="1027793" cy="2754970"/>
          </a:xfrm>
          <a:prstGeom prst="bentConnector3">
            <a:avLst>
              <a:gd name="adj1" fmla="val -22242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57B497E8-05DA-4500-9FD4-7151834CCAFF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6132513" y="2168123"/>
            <a:ext cx="0" cy="361038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70F20BDB-52B7-A936-09CD-DD92C9FB1D18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6132513" y="3069161"/>
            <a:ext cx="0" cy="37784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ector recto de flecha 218">
            <a:extLst>
              <a:ext uri="{FF2B5EF4-FFF2-40B4-BE49-F238E27FC236}">
                <a16:creationId xmlns:a16="http://schemas.microsoft.com/office/drawing/2014/main" id="{E812A6A2-61D8-5C73-64A1-907E664542DB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5400000">
            <a:off x="4455374" y="2705953"/>
            <a:ext cx="396087" cy="295819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de flecha 218">
            <a:extLst>
              <a:ext uri="{FF2B5EF4-FFF2-40B4-BE49-F238E27FC236}">
                <a16:creationId xmlns:a16="http://schemas.microsoft.com/office/drawing/2014/main" id="{0B373E8C-161B-5A5A-5A61-D2EB5ECE39DD}"/>
              </a:ext>
            </a:extLst>
          </p:cNvPr>
          <p:cNvCxnSpPr>
            <a:cxnSpLocks/>
          </p:cNvCxnSpPr>
          <p:nvPr/>
        </p:nvCxnSpPr>
        <p:spPr>
          <a:xfrm rot="5400000">
            <a:off x="5937058" y="4182460"/>
            <a:ext cx="39090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218">
            <a:extLst>
              <a:ext uri="{FF2B5EF4-FFF2-40B4-BE49-F238E27FC236}">
                <a16:creationId xmlns:a16="http://schemas.microsoft.com/office/drawing/2014/main" id="{FB45579E-A7D3-1812-860B-E12FE90426B3}"/>
              </a:ext>
            </a:extLst>
          </p:cNvPr>
          <p:cNvCxnSpPr>
            <a:cxnSpLocks/>
            <a:stCxn id="19" idx="2"/>
            <a:endCxn id="61" idx="0"/>
          </p:cNvCxnSpPr>
          <p:nvPr/>
        </p:nvCxnSpPr>
        <p:spPr>
          <a:xfrm rot="5400000">
            <a:off x="4461112" y="4285722"/>
            <a:ext cx="1036680" cy="231142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ector recto de flecha 218">
            <a:extLst>
              <a:ext uri="{FF2B5EF4-FFF2-40B4-BE49-F238E27FC236}">
                <a16:creationId xmlns:a16="http://schemas.microsoft.com/office/drawing/2014/main" id="{FB0F10C3-1366-B853-6340-C43FCC3F8B37}"/>
              </a:ext>
            </a:extLst>
          </p:cNvPr>
          <p:cNvCxnSpPr>
            <a:cxnSpLocks/>
            <a:stCxn id="19" idx="2"/>
            <a:endCxn id="67" idx="0"/>
          </p:cNvCxnSpPr>
          <p:nvPr/>
        </p:nvCxnSpPr>
        <p:spPr>
          <a:xfrm rot="16200000" flipH="1">
            <a:off x="5618002" y="5440253"/>
            <a:ext cx="1036680" cy="235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de flecha 218">
            <a:extLst>
              <a:ext uri="{FF2B5EF4-FFF2-40B4-BE49-F238E27FC236}">
                <a16:creationId xmlns:a16="http://schemas.microsoft.com/office/drawing/2014/main" id="{6D9BAF2A-BC21-AF57-D7FA-0C02CC56310A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2782455" y="5314959"/>
            <a:ext cx="1036679" cy="252946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20E1ACE-2E7E-C8A3-07D7-1FC40ABD8FEF}"/>
              </a:ext>
            </a:extLst>
          </p:cNvPr>
          <p:cNvSpPr txBox="1"/>
          <p:nvPr/>
        </p:nvSpPr>
        <p:spPr>
          <a:xfrm rot="16200000">
            <a:off x="1103550" y="3047816"/>
            <a:ext cx="107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1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Contribute</a:t>
            </a:r>
            <a:r>
              <a:rPr lang="es-CO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to</a:t>
            </a:r>
            <a:endParaRPr lang="es-CO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E9FEF8E8-691E-9CA4-7DAB-26AE98917296}"/>
              </a:ext>
            </a:extLst>
          </p:cNvPr>
          <p:cNvSpPr txBox="1"/>
          <p:nvPr/>
        </p:nvSpPr>
        <p:spPr>
          <a:xfrm>
            <a:off x="6132511" y="222575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447A4C6F-6BB5-78C4-2C89-61500C080816}"/>
              </a:ext>
            </a:extLst>
          </p:cNvPr>
          <p:cNvSpPr txBox="1"/>
          <p:nvPr/>
        </p:nvSpPr>
        <p:spPr>
          <a:xfrm>
            <a:off x="6132511" y="312558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7D93C207-8A15-8ED8-8C52-789413C81302}"/>
              </a:ext>
            </a:extLst>
          </p:cNvPr>
          <p:cNvSpPr txBox="1"/>
          <p:nvPr/>
        </p:nvSpPr>
        <p:spPr>
          <a:xfrm>
            <a:off x="4374825" y="392085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7DCE20F7-7A5E-89DA-DC7A-0E6478924B4B}"/>
              </a:ext>
            </a:extLst>
          </p:cNvPr>
          <p:cNvSpPr txBox="1"/>
          <p:nvPr/>
        </p:nvSpPr>
        <p:spPr>
          <a:xfrm>
            <a:off x="2889735" y="5536497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BB3C6BA6-F69E-48A2-AA07-05B75DA482E9}"/>
              </a:ext>
            </a:extLst>
          </p:cNvPr>
          <p:cNvSpPr txBox="1"/>
          <p:nvPr/>
        </p:nvSpPr>
        <p:spPr>
          <a:xfrm>
            <a:off x="5594017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85A81AD5-0FBA-844F-0F70-9F375FA6533A}"/>
              </a:ext>
            </a:extLst>
          </p:cNvPr>
          <p:cNvSpPr txBox="1"/>
          <p:nvPr/>
        </p:nvSpPr>
        <p:spPr>
          <a:xfrm>
            <a:off x="3860134" y="5538943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790399F2-55B4-E8D4-8737-DB4B581C1CF0}"/>
              </a:ext>
            </a:extLst>
          </p:cNvPr>
          <p:cNvSpPr/>
          <p:nvPr/>
        </p:nvSpPr>
        <p:spPr>
          <a:xfrm>
            <a:off x="9860532" y="1189542"/>
            <a:ext cx="1820356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1600" b="1" kern="0" spc="267" noProof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Otros </a:t>
            </a:r>
            <a:r>
              <a:rPr lang="es-419" sz="1600" b="1" kern="0" spc="267" noProof="0" err="1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Items</a:t>
            </a:r>
            <a:endParaRPr lang="es-419" sz="1600" noProof="0">
              <a:solidFill>
                <a:srgbClr val="0070C0"/>
              </a:solidFill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165" name="Conector recto de flecha 218">
            <a:extLst>
              <a:ext uri="{FF2B5EF4-FFF2-40B4-BE49-F238E27FC236}">
                <a16:creationId xmlns:a16="http://schemas.microsoft.com/office/drawing/2014/main" id="{D0EEF8B8-13D0-D132-5156-2BD87916C56E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7297217" y="2822302"/>
            <a:ext cx="396087" cy="2725494"/>
          </a:xfrm>
          <a:prstGeom prst="bentConnector4">
            <a:avLst>
              <a:gd name="adj1" fmla="val 50000"/>
              <a:gd name="adj2" fmla="val 10768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Conector recto de flecha 218">
            <a:extLst>
              <a:ext uri="{FF2B5EF4-FFF2-40B4-BE49-F238E27FC236}">
                <a16:creationId xmlns:a16="http://schemas.microsoft.com/office/drawing/2014/main" id="{F2717F19-C3D6-8325-87F2-08FA97FDC23C}"/>
              </a:ext>
            </a:extLst>
          </p:cNvPr>
          <p:cNvCxnSpPr>
            <a:cxnSpLocks/>
            <a:stCxn id="19" idx="2"/>
            <a:endCxn id="72" idx="0"/>
          </p:cNvCxnSpPr>
          <p:nvPr/>
        </p:nvCxnSpPr>
        <p:spPr>
          <a:xfrm rot="16200000" flipH="1">
            <a:off x="6752055" y="4306200"/>
            <a:ext cx="1036680" cy="227046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1235C91B-F891-CF6B-76B1-14DAE6B25A23}"/>
              </a:ext>
            </a:extLst>
          </p:cNvPr>
          <p:cNvSpPr txBox="1"/>
          <p:nvPr/>
        </p:nvSpPr>
        <p:spPr>
          <a:xfrm>
            <a:off x="7848164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20498100-E27E-4695-6523-C481AC58AE0C}"/>
              </a:ext>
            </a:extLst>
          </p:cNvPr>
          <p:cNvSpPr txBox="1"/>
          <p:nvPr/>
        </p:nvSpPr>
        <p:spPr>
          <a:xfrm>
            <a:off x="7344246" y="389056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FA3AB94-C3DE-81A2-39DD-F150920E4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55355" y="163505"/>
            <a:ext cx="754316" cy="754316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FD7F61D-8CD7-6C79-38B7-B10B723EF2F5}"/>
              </a:ext>
            </a:extLst>
          </p:cNvPr>
          <p:cNvGrpSpPr/>
          <p:nvPr/>
        </p:nvGrpSpPr>
        <p:grpSpPr>
          <a:xfrm>
            <a:off x="312674" y="991173"/>
            <a:ext cx="1177799" cy="563305"/>
            <a:chOff x="314192" y="955061"/>
            <a:chExt cx="1177799" cy="563305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9FA25678-F5F5-1532-80A1-7D0E42B5967A}"/>
                </a:ext>
              </a:extLst>
            </p:cNvPr>
            <p:cNvSpPr/>
            <p:nvPr/>
          </p:nvSpPr>
          <p:spPr>
            <a:xfrm>
              <a:off x="314192" y="955061"/>
              <a:ext cx="1177799" cy="5633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149" name="Conector recto de flecha 148">
              <a:extLst>
                <a:ext uri="{FF2B5EF4-FFF2-40B4-BE49-F238E27FC236}">
                  <a16:creationId xmlns:a16="http://schemas.microsoft.com/office/drawing/2014/main" id="{6E03DF01-CBA8-E240-9C46-6ACB3C7C95E8}"/>
                </a:ext>
              </a:extLst>
            </p:cNvPr>
            <p:cNvCxnSpPr>
              <a:cxnSpLocks/>
            </p:cNvCxnSpPr>
            <p:nvPr/>
          </p:nvCxnSpPr>
          <p:spPr>
            <a:xfrm>
              <a:off x="437373" y="1356884"/>
              <a:ext cx="931437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  <a:headEnd type="oval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CuadroTexto 151">
              <a:extLst>
                <a:ext uri="{FF2B5EF4-FFF2-40B4-BE49-F238E27FC236}">
                  <a16:creationId xmlns:a16="http://schemas.microsoft.com/office/drawing/2014/main" id="{D649BBCC-E01F-26AA-33D8-1F420BDF2AA9}"/>
                </a:ext>
              </a:extLst>
            </p:cNvPr>
            <p:cNvSpPr txBox="1"/>
            <p:nvPr/>
          </p:nvSpPr>
          <p:spPr>
            <a:xfrm>
              <a:off x="486057" y="1046755"/>
              <a:ext cx="834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>
                  <a:solidFill>
                    <a:schemeClr val="bg1">
                      <a:lumMod val="65000"/>
                    </a:schemeClr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Relación</a:t>
              </a: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CC6CFFFF-A4AE-41C5-E5F5-4096C4DB1DF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47328" y="4383093"/>
            <a:ext cx="182135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C59C95D6-9471-0554-622D-0E8856DBE088}"/>
              </a:ext>
            </a:extLst>
          </p:cNvPr>
          <p:cNvCxnSpPr>
            <a:cxnSpLocks/>
            <a:stCxn id="5" idx="1"/>
            <a:endCxn id="19" idx="3"/>
          </p:cNvCxnSpPr>
          <p:nvPr/>
        </p:nvCxnSpPr>
        <p:spPr>
          <a:xfrm flipH="1">
            <a:off x="7142368" y="4653093"/>
            <a:ext cx="804960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103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217874-6E1C-1AAC-B08A-E2E19574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B9E824-DD43-BEAC-67C9-A86784D6ECE0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la </a:t>
            </a:r>
            <a:r>
              <a:rPr lang="es-419" sz="3733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Feature</a:t>
            </a:r>
            <a:endParaRPr lang="es-419" sz="3733" b="1">
              <a:solidFill>
                <a:srgbClr val="1B2A5E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1FF698-A24A-4585-9259-9EDE76276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265379D-DCF3-0A65-4513-E4C8FB3AE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78" b="13705"/>
          <a:stretch>
            <a:fillRect/>
          </a:stretch>
        </p:blipFill>
        <p:spPr>
          <a:xfrm>
            <a:off x="746556" y="1104441"/>
            <a:ext cx="2220712" cy="48855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E0753517-4458-7455-1FCD-6D1986FF3F38}"/>
              </a:ext>
            </a:extLst>
          </p:cNvPr>
          <p:cNvSpPr/>
          <p:nvPr/>
        </p:nvSpPr>
        <p:spPr>
          <a:xfrm>
            <a:off x="3010023" y="1954324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F223505-435B-716B-86EE-8036B326524D}"/>
              </a:ext>
            </a:extLst>
          </p:cNvPr>
          <p:cNvSpPr/>
          <p:nvPr/>
        </p:nvSpPr>
        <p:spPr>
          <a:xfrm>
            <a:off x="3010023" y="291903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 En este estado se debe construir el DOR.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EFAA239E-6C76-AD44-C7A5-7B29BF896353}"/>
              </a:ext>
            </a:extLst>
          </p:cNvPr>
          <p:cNvSpPr/>
          <p:nvPr/>
        </p:nvSpPr>
        <p:spPr>
          <a:xfrm rot="5400000">
            <a:off x="1356743" y="1476601"/>
            <a:ext cx="97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08F32AA9-6B48-54C2-4B1C-73CFDAED1BB7}"/>
              </a:ext>
            </a:extLst>
          </p:cNvPr>
          <p:cNvSpPr/>
          <p:nvPr/>
        </p:nvSpPr>
        <p:spPr>
          <a:xfrm rot="5400000">
            <a:off x="1356743" y="2378032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1" name="Flecha: cheurón 10">
            <a:extLst>
              <a:ext uri="{FF2B5EF4-FFF2-40B4-BE49-F238E27FC236}">
                <a16:creationId xmlns:a16="http://schemas.microsoft.com/office/drawing/2014/main" id="{AA703CCF-077D-987F-7A1A-615E69A42F75}"/>
              </a:ext>
            </a:extLst>
          </p:cNvPr>
          <p:cNvSpPr/>
          <p:nvPr/>
        </p:nvSpPr>
        <p:spPr>
          <a:xfrm rot="5400000">
            <a:off x="1356743" y="3279463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280E210B-896F-D3E9-5161-D6C847828CB1}"/>
              </a:ext>
            </a:extLst>
          </p:cNvPr>
          <p:cNvSpPr/>
          <p:nvPr/>
        </p:nvSpPr>
        <p:spPr>
          <a:xfrm rot="5400000">
            <a:off x="1342574" y="4180894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14" name="Flecha: cheurón 13">
            <a:extLst>
              <a:ext uri="{FF2B5EF4-FFF2-40B4-BE49-F238E27FC236}">
                <a16:creationId xmlns:a16="http://schemas.microsoft.com/office/drawing/2014/main" id="{21421C6E-5118-9F6B-693F-CFCF51330E3D}"/>
              </a:ext>
            </a:extLst>
          </p:cNvPr>
          <p:cNvSpPr/>
          <p:nvPr/>
        </p:nvSpPr>
        <p:spPr>
          <a:xfrm rot="5400000">
            <a:off x="1342574" y="5082324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50E1B5E5-2C1B-14D7-200C-EEC62C4CFDC2}"/>
              </a:ext>
            </a:extLst>
          </p:cNvPr>
          <p:cNvSpPr/>
          <p:nvPr/>
        </p:nvSpPr>
        <p:spPr>
          <a:xfrm>
            <a:off x="3010023" y="380178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C278BF3D-373A-E12B-D555-F8F4BF626407}"/>
              </a:ext>
            </a:extLst>
          </p:cNvPr>
          <p:cNvSpPr/>
          <p:nvPr/>
        </p:nvSpPr>
        <p:spPr>
          <a:xfrm>
            <a:off x="3010023" y="4737221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CA2B9F48-2495-5454-5A0E-C57448CD7E99}"/>
              </a:ext>
            </a:extLst>
          </p:cNvPr>
          <p:cNvSpPr/>
          <p:nvPr/>
        </p:nvSpPr>
        <p:spPr>
          <a:xfrm>
            <a:off x="3010023" y="566779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E8B198E3-150A-500F-DA58-C5282DEF4A52}"/>
              </a:ext>
            </a:extLst>
          </p:cNvPr>
          <p:cNvSpPr/>
          <p:nvPr/>
        </p:nvSpPr>
        <p:spPr>
          <a:xfrm>
            <a:off x="8215796" y="1953357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BF5964E-6F83-4285-FAF6-8D957B7D8775}"/>
              </a:ext>
            </a:extLst>
          </p:cNvPr>
          <p:cNvSpPr txBox="1"/>
          <p:nvPr/>
        </p:nvSpPr>
        <p:spPr>
          <a:xfrm>
            <a:off x="8215796" y="2315681"/>
            <a:ext cx="3546344" cy="5232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 este actualizado.</a:t>
            </a:r>
          </a:p>
        </p:txBody>
      </p:sp>
      <p:sp>
        <p:nvSpPr>
          <p:cNvPr id="27" name="Abrir corchete 26">
            <a:extLst>
              <a:ext uri="{FF2B5EF4-FFF2-40B4-BE49-F238E27FC236}">
                <a16:creationId xmlns:a16="http://schemas.microsoft.com/office/drawing/2014/main" id="{47710527-BAD7-BB61-F2CE-653AAB4DDEFD}"/>
              </a:ext>
            </a:extLst>
          </p:cNvPr>
          <p:cNvSpPr/>
          <p:nvPr/>
        </p:nvSpPr>
        <p:spPr>
          <a:xfrm>
            <a:off x="654069" y="3187077"/>
            <a:ext cx="290982" cy="1832613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0B9F65A-0967-7166-CC77-E43C5DE2B878}"/>
              </a:ext>
            </a:extLst>
          </p:cNvPr>
          <p:cNvSpPr txBox="1"/>
          <p:nvPr/>
        </p:nvSpPr>
        <p:spPr>
          <a:xfrm rot="16200000">
            <a:off x="-10573" y="4012226"/>
            <a:ext cx="1313774" cy="2004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</a:rPr>
              <a:t>Time </a:t>
            </a:r>
            <a:r>
              <a:rPr lang="es-419" sz="1200" b="1" noProof="0" err="1">
                <a:latin typeface="Roboto" pitchFamily="2" charset="0"/>
                <a:ea typeface="Roboto" pitchFamily="2" charset="0"/>
              </a:rPr>
              <a:t>to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</a:t>
            </a:r>
            <a:r>
              <a:rPr lang="es-419" sz="1200" b="1" noProof="0" err="1">
                <a:latin typeface="Roboto" pitchFamily="2" charset="0"/>
                <a:ea typeface="Roboto" pitchFamily="2" charset="0"/>
              </a:rPr>
              <a:t>market</a:t>
            </a:r>
            <a:endParaRPr lang="es-419" sz="120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CF9A50C-A2BC-55A6-1384-61D52328DC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80E77FE-716A-F971-7679-315E49B69A6A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4160926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EC3CD7-404E-E3E0-C876-9C6D11CE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8E4E1E6-CFE6-3645-31D4-630B93CB300E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la Historia de Usuario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4F75FD3-F5A0-9F1E-2DE4-F29CEB338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CFFE8F3B-6D09-BA3E-669A-252D4CBDA26D}"/>
              </a:ext>
            </a:extLst>
          </p:cNvPr>
          <p:cNvSpPr/>
          <p:nvPr/>
        </p:nvSpPr>
        <p:spPr>
          <a:xfrm>
            <a:off x="3010023" y="1866900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A1267F8-2F8C-23EE-7D60-37A824A47BB7}"/>
              </a:ext>
            </a:extLst>
          </p:cNvPr>
          <p:cNvSpPr/>
          <p:nvPr/>
        </p:nvSpPr>
        <p:spPr>
          <a:xfrm>
            <a:off x="3010024" y="2363060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el entendimiento y refinamiento de la necesidad.</a:t>
            </a:r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2D051A06-D321-8E56-A021-2C420B213E68}"/>
              </a:ext>
            </a:extLst>
          </p:cNvPr>
          <p:cNvSpPr/>
          <p:nvPr/>
        </p:nvSpPr>
        <p:spPr>
          <a:xfrm rot="5400000">
            <a:off x="1567043" y="1290901"/>
            <a:ext cx="576000" cy="17280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7F82CC88-E855-38DB-AAC1-F2582EEF3FA9}"/>
              </a:ext>
            </a:extLst>
          </p:cNvPr>
          <p:cNvSpPr/>
          <p:nvPr/>
        </p:nvSpPr>
        <p:spPr>
          <a:xfrm rot="5400000">
            <a:off x="1567043" y="1863782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1E41FC77-0B08-48B0-F37C-1BE671532D32}"/>
              </a:ext>
            </a:extLst>
          </p:cNvPr>
          <p:cNvSpPr/>
          <p:nvPr/>
        </p:nvSpPr>
        <p:spPr>
          <a:xfrm rot="5400000">
            <a:off x="1567043" y="2436663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8" name="Flecha: cheurón 17">
            <a:extLst>
              <a:ext uri="{FF2B5EF4-FFF2-40B4-BE49-F238E27FC236}">
                <a16:creationId xmlns:a16="http://schemas.microsoft.com/office/drawing/2014/main" id="{5C31A66F-BFC7-2D95-9E61-A3EF1E623B9E}"/>
              </a:ext>
            </a:extLst>
          </p:cNvPr>
          <p:cNvSpPr/>
          <p:nvPr/>
        </p:nvSpPr>
        <p:spPr>
          <a:xfrm rot="5400000">
            <a:off x="1567043" y="4728187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 err="1">
                <a:latin typeface="Roboto" pitchFamily="2" charset="0"/>
                <a:ea typeface="Roboto" pitchFamily="2" charset="0"/>
              </a:rPr>
              <a:t>Closed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19" name="Flecha: cheurón 18">
            <a:extLst>
              <a:ext uri="{FF2B5EF4-FFF2-40B4-BE49-F238E27FC236}">
                <a16:creationId xmlns:a16="http://schemas.microsoft.com/office/drawing/2014/main" id="{00A3E81E-30B0-1B53-646F-6EB8F968CB63}"/>
              </a:ext>
            </a:extLst>
          </p:cNvPr>
          <p:cNvSpPr/>
          <p:nvPr/>
        </p:nvSpPr>
        <p:spPr>
          <a:xfrm rot="5400000">
            <a:off x="1567043" y="5301070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CEA8615B-616F-5E22-F5AE-4E5D4FAA3CAC}"/>
              </a:ext>
            </a:extLst>
          </p:cNvPr>
          <p:cNvSpPr/>
          <p:nvPr/>
        </p:nvSpPr>
        <p:spPr>
          <a:xfrm>
            <a:off x="3010024" y="291761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2292A02B-9EE6-AD1C-D53C-AA9EF25712D1}"/>
              </a:ext>
            </a:extLst>
          </p:cNvPr>
          <p:cNvSpPr/>
          <p:nvPr/>
        </p:nvSpPr>
        <p:spPr>
          <a:xfrm>
            <a:off x="3138586" y="3822488"/>
            <a:ext cx="4580873" cy="11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Estos estados son usados en aquellas historias de usuario que </a:t>
            </a:r>
            <a:r>
              <a:rPr lang="es-419" sz="1400" b="1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tienen desarrollo + </a:t>
            </a:r>
            <a:r>
              <a:rPr lang="es-419" sz="1400" b="1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QA</a:t>
            </a:r>
            <a:r>
              <a:rPr lang="es-419" sz="1400" b="1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 la solución.</a:t>
            </a:r>
          </a:p>
          <a:p>
            <a:pPr algn="just"/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 historias de usuario que no tienen tecnología, no hacen uso de estos estados, por lo tanto después puede pasar de estado</a:t>
            </a:r>
          </a:p>
          <a:p>
            <a:pPr algn="just"/>
            <a:r>
              <a:rPr lang="es-419" sz="1400" i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En Progreso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 </a:t>
            </a:r>
            <a:r>
              <a:rPr lang="es-419" sz="1400" i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Finalizado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6DE246F-A14F-5D41-7D19-2E55512E4682}"/>
              </a:ext>
            </a:extLst>
          </p:cNvPr>
          <p:cNvSpPr/>
          <p:nvPr/>
        </p:nvSpPr>
        <p:spPr>
          <a:xfrm>
            <a:off x="3010023" y="523582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 historia de usuario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593ABEE5-E010-A9D3-8850-F9AF9FAA9C0E}"/>
              </a:ext>
            </a:extLst>
          </p:cNvPr>
          <p:cNvSpPr/>
          <p:nvPr/>
        </p:nvSpPr>
        <p:spPr>
          <a:xfrm>
            <a:off x="3010023" y="583811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la historia de usuario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des-priorizada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o cancelada y por tanto no se trabajar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á.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2222E411-4ABC-95F6-2594-3AF8B147ECDE}"/>
              </a:ext>
            </a:extLst>
          </p:cNvPr>
          <p:cNvSpPr/>
          <p:nvPr/>
        </p:nvSpPr>
        <p:spPr>
          <a:xfrm>
            <a:off x="8203699" y="1129969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</a:t>
            </a:r>
            <a:r>
              <a:rPr lang="es-419" sz="1100" b="1" kern="0" spc="267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y actualiza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EA3A2B0-AB5D-C775-7785-39C4AFD8E436}"/>
              </a:ext>
            </a:extLst>
          </p:cNvPr>
          <p:cNvSpPr txBox="1"/>
          <p:nvPr/>
        </p:nvSpPr>
        <p:spPr>
          <a:xfrm>
            <a:off x="8203699" y="1492783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 permanezca actualizado.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este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item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también puede ser creado por la persona que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está asignad@ como responsable de la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HU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actualizar </a:t>
            </a:r>
            <a:r>
              <a:rPr lang="es-419" sz="1400" b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la información 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y </a:t>
            </a:r>
            <a:r>
              <a:rPr lang="es-419" sz="1400" b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el estado 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de la misma.</a:t>
            </a:r>
          </a:p>
        </p:txBody>
      </p:sp>
      <p:sp>
        <p:nvSpPr>
          <p:cNvPr id="35" name="Abrir corchete 34">
            <a:extLst>
              <a:ext uri="{FF2B5EF4-FFF2-40B4-BE49-F238E27FC236}">
                <a16:creationId xmlns:a16="http://schemas.microsoft.com/office/drawing/2014/main" id="{5F582CD0-2C0A-2472-7D7B-EE73734B1E96}"/>
              </a:ext>
            </a:extLst>
          </p:cNvPr>
          <p:cNvSpPr/>
          <p:nvPr/>
        </p:nvSpPr>
        <p:spPr>
          <a:xfrm>
            <a:off x="571500" y="2695575"/>
            <a:ext cx="423518" cy="2857500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31C2349-85BB-C592-B495-1787544B5939}"/>
              </a:ext>
            </a:extLst>
          </p:cNvPr>
          <p:cNvSpPr txBox="1"/>
          <p:nvPr/>
        </p:nvSpPr>
        <p:spPr>
          <a:xfrm rot="16200000">
            <a:off x="120485" y="4016325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0AB22B31-E162-EE9C-4DEF-3D6E1778D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02" y="1039589"/>
            <a:ext cx="2207235" cy="59168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0" name="Flecha: cheurón 39">
            <a:extLst>
              <a:ext uri="{FF2B5EF4-FFF2-40B4-BE49-F238E27FC236}">
                <a16:creationId xmlns:a16="http://schemas.microsoft.com/office/drawing/2014/main" id="{C6E4E83D-C896-03A0-DEDD-F02044931058}"/>
              </a:ext>
            </a:extLst>
          </p:cNvPr>
          <p:cNvSpPr/>
          <p:nvPr/>
        </p:nvSpPr>
        <p:spPr>
          <a:xfrm rot="5400000">
            <a:off x="1567043" y="3009544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Listo para </a:t>
            </a:r>
            <a:r>
              <a:rPr lang="es-419" sz="1600" b="1" err="1">
                <a:latin typeface="Roboto" pitchFamily="2" charset="0"/>
                <a:ea typeface="Roboto" pitchFamily="2" charset="0"/>
              </a:rPr>
              <a:t>QA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41" name="Flecha: cheurón 40">
            <a:extLst>
              <a:ext uri="{FF2B5EF4-FFF2-40B4-BE49-F238E27FC236}">
                <a16:creationId xmlns:a16="http://schemas.microsoft.com/office/drawing/2014/main" id="{DACE55AB-D992-F80C-37FE-67CA1B542182}"/>
              </a:ext>
            </a:extLst>
          </p:cNvPr>
          <p:cNvSpPr/>
          <p:nvPr/>
        </p:nvSpPr>
        <p:spPr>
          <a:xfrm rot="5400000">
            <a:off x="1567043" y="3582425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Pruebas</a:t>
            </a:r>
          </a:p>
        </p:txBody>
      </p:sp>
      <p:sp>
        <p:nvSpPr>
          <p:cNvPr id="42" name="Flecha: cheurón 41">
            <a:extLst>
              <a:ext uri="{FF2B5EF4-FFF2-40B4-BE49-F238E27FC236}">
                <a16:creationId xmlns:a16="http://schemas.microsoft.com/office/drawing/2014/main" id="{E7ABD21D-F50A-53BB-4652-5D4DBECD6556}"/>
              </a:ext>
            </a:extLst>
          </p:cNvPr>
          <p:cNvSpPr/>
          <p:nvPr/>
        </p:nvSpPr>
        <p:spPr>
          <a:xfrm rot="5400000">
            <a:off x="1567043" y="4155306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Listo para </a:t>
            </a:r>
            <a:r>
              <a:rPr lang="es-419" sz="1600" b="1" err="1">
                <a:latin typeface="Roboto" pitchFamily="2" charset="0"/>
                <a:ea typeface="Roboto" pitchFamily="2" charset="0"/>
              </a:rPr>
              <a:t>Prod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43" name="Abrir corchete 42">
            <a:extLst>
              <a:ext uri="{FF2B5EF4-FFF2-40B4-BE49-F238E27FC236}">
                <a16:creationId xmlns:a16="http://schemas.microsoft.com/office/drawing/2014/main" id="{39F83A1A-27BC-4698-A44C-55D7C8DA4872}"/>
              </a:ext>
            </a:extLst>
          </p:cNvPr>
          <p:cNvSpPr/>
          <p:nvPr/>
        </p:nvSpPr>
        <p:spPr>
          <a:xfrm flipH="1">
            <a:off x="2711223" y="3833053"/>
            <a:ext cx="298799" cy="1157007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885F0B80-E7BE-85D5-0A89-7FBDCDD37EAA}"/>
              </a:ext>
            </a:extLst>
          </p:cNvPr>
          <p:cNvGrpSpPr/>
          <p:nvPr/>
        </p:nvGrpSpPr>
        <p:grpSpPr>
          <a:xfrm>
            <a:off x="8010438" y="3892550"/>
            <a:ext cx="4044257" cy="1282700"/>
            <a:chOff x="8010438" y="3892550"/>
            <a:chExt cx="4044257" cy="1282700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DF9E4A6E-C89C-839C-3BDE-854980040F2D}"/>
                </a:ext>
              </a:extLst>
            </p:cNvPr>
            <p:cNvSpPr/>
            <p:nvPr/>
          </p:nvSpPr>
          <p:spPr>
            <a:xfrm>
              <a:off x="8010438" y="3892550"/>
              <a:ext cx="4044257" cy="1282700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0"/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A49DFC06-A046-C917-11F2-78AC6E6D6389}"/>
                </a:ext>
              </a:extLst>
            </p:cNvPr>
            <p:cNvCxnSpPr>
              <a:cxnSpLocks/>
            </p:cNvCxnSpPr>
            <p:nvPr/>
          </p:nvCxnSpPr>
          <p:spPr>
            <a:xfrm>
              <a:off x="8087100" y="4405075"/>
              <a:ext cx="3856442" cy="0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AD565B8D-D54B-DE50-A59F-5313148F1A76}"/>
                </a:ext>
              </a:extLst>
            </p:cNvPr>
            <p:cNvSpPr txBox="1"/>
            <p:nvPr/>
          </p:nvSpPr>
          <p:spPr>
            <a:xfrm>
              <a:off x="8191018" y="3957240"/>
              <a:ext cx="37599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Type</a:t>
              </a:r>
              <a:br>
                <a:rPr lang="es-CO" sz="1000">
                  <a:latin typeface="Roboto" pitchFamily="2" charset="0"/>
                  <a:ea typeface="Roboto" pitchFamily="2" charset="0"/>
                </a:rPr>
              </a:br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Integration, Cloud Front, Cloud Back, Legacy, AS400, RPA</a:t>
              </a:r>
              <a:endParaRPr lang="es-CO" sz="1000"/>
            </a:p>
          </p:txBody>
        </p: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AA5DF3B2-EEDF-0A54-91AB-C8DE6A27718E}"/>
                </a:ext>
              </a:extLst>
            </p:cNvPr>
            <p:cNvCxnSpPr>
              <a:cxnSpLocks/>
            </p:cNvCxnSpPr>
            <p:nvPr/>
          </p:nvCxnSpPr>
          <p:spPr>
            <a:xfrm>
              <a:off x="8087100" y="4737325"/>
              <a:ext cx="3856442" cy="0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D450975-8F1E-457C-8304-28F2764CB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3367" y="4411556"/>
              <a:ext cx="7577" cy="763694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Gráfico 54" descr="Bloquear con relleno sólido">
              <a:extLst>
                <a:ext uri="{FF2B5EF4-FFF2-40B4-BE49-F238E27FC236}">
                  <a16:creationId xmlns:a16="http://schemas.microsoft.com/office/drawing/2014/main" id="{1B467448-906C-05F6-6D6E-43BAD9C930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43734" y="4768884"/>
              <a:ext cx="216873" cy="218249"/>
            </a:xfrm>
            <a:prstGeom prst="rect">
              <a:avLst/>
            </a:prstGeom>
          </p:spPr>
        </p:pic>
        <p:pic>
          <p:nvPicPr>
            <p:cNvPr id="56" name="Gráfico 55" descr="Calendario giratorio con relleno sólido">
              <a:extLst>
                <a:ext uri="{FF2B5EF4-FFF2-40B4-BE49-F238E27FC236}">
                  <a16:creationId xmlns:a16="http://schemas.microsoft.com/office/drawing/2014/main" id="{76372299-88EE-9028-1299-286A6FC29B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54952" y="4463922"/>
              <a:ext cx="193550" cy="194779"/>
            </a:xfrm>
            <a:prstGeom prst="rect">
              <a:avLst/>
            </a:prstGeom>
          </p:spPr>
        </p:pic>
        <p:pic>
          <p:nvPicPr>
            <p:cNvPr id="57" name="Gráfico 56" descr="Etiqueta con relleno sólido">
              <a:extLst>
                <a:ext uri="{FF2B5EF4-FFF2-40B4-BE49-F238E27FC236}">
                  <a16:creationId xmlns:a16="http://schemas.microsoft.com/office/drawing/2014/main" id="{0930E2BE-28E6-A472-7C51-7694B0F9B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41403" y="3961675"/>
              <a:ext cx="214562" cy="215924"/>
            </a:xfrm>
            <a:prstGeom prst="rect">
              <a:avLst/>
            </a:prstGeom>
          </p:spPr>
        </p:pic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2EA5BC8B-D4EA-38C4-3C5A-2BCF9C31ECF6}"/>
                </a:ext>
              </a:extLst>
            </p:cNvPr>
            <p:cNvSpPr txBox="1"/>
            <p:nvPr/>
          </p:nvSpPr>
          <p:spPr>
            <a:xfrm>
              <a:off x="8255964" y="4439796"/>
              <a:ext cx="13974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Production</a:t>
              </a:r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 date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335DCD3E-EE59-A571-3F04-AE841487C863}"/>
                </a:ext>
              </a:extLst>
            </p:cNvPr>
            <p:cNvSpPr txBox="1"/>
            <p:nvPr/>
          </p:nvSpPr>
          <p:spPr>
            <a:xfrm>
              <a:off x="9660944" y="4445585"/>
              <a:ext cx="22900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paso a producción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18FD9555-9710-7E50-9B6D-399A3357BCCA}"/>
                </a:ext>
              </a:extLst>
            </p:cNvPr>
            <p:cNvSpPr txBox="1"/>
            <p:nvPr/>
          </p:nvSpPr>
          <p:spPr>
            <a:xfrm>
              <a:off x="8268182" y="4764641"/>
              <a:ext cx="10306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Block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06E09ABD-71FF-7B43-789F-C14C2C6AEE2A}"/>
                </a:ext>
              </a:extLst>
            </p:cNvPr>
            <p:cNvSpPr txBox="1"/>
            <p:nvPr/>
          </p:nvSpPr>
          <p:spPr>
            <a:xfrm>
              <a:off x="9668522" y="4743114"/>
              <a:ext cx="1894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¿Está bloqueado?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C85EE944-A799-6016-FEB2-C7060C098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E0B59CBC-5E59-0D90-2EF8-035736F90E67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1213563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9F6AA4-E959-10AB-15D1-8E5CF638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69F070-56CC-4BB1-E345-8EA95BABD543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los habilitadores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1A4037-8BB7-01D4-DA8C-41440BCF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858BE26-4DD7-7C6E-8D1B-6E8EC5FE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04" y="1044607"/>
            <a:ext cx="2510540" cy="58164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3" name="Text 2">
            <a:extLst>
              <a:ext uri="{FF2B5EF4-FFF2-40B4-BE49-F238E27FC236}">
                <a16:creationId xmlns:a16="http://schemas.microsoft.com/office/drawing/2014/main" id="{D52266FC-8809-D2B7-20AA-423455CF96EF}"/>
              </a:ext>
            </a:extLst>
          </p:cNvPr>
          <p:cNvSpPr/>
          <p:nvPr/>
        </p:nvSpPr>
        <p:spPr>
          <a:xfrm>
            <a:off x="3010023" y="1710786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6BA8B61-B765-FC4F-EA40-9F334D663943}"/>
              </a:ext>
            </a:extLst>
          </p:cNvPr>
          <p:cNvSpPr/>
          <p:nvPr/>
        </p:nvSpPr>
        <p:spPr>
          <a:xfrm>
            <a:off x="3010024" y="258794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</a:t>
            </a:r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203B492D-651C-48AB-2510-96DDC8E35FCC}"/>
              </a:ext>
            </a:extLst>
          </p:cNvPr>
          <p:cNvSpPr/>
          <p:nvPr/>
        </p:nvSpPr>
        <p:spPr>
          <a:xfrm rot="5400000">
            <a:off x="1446743" y="1230487"/>
            <a:ext cx="79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4380FA80-006A-4FE3-7CC6-58B56E05A2CA}"/>
              </a:ext>
            </a:extLst>
          </p:cNvPr>
          <p:cNvSpPr/>
          <p:nvPr/>
        </p:nvSpPr>
        <p:spPr>
          <a:xfrm rot="5400000">
            <a:off x="1446743" y="2032521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6933501A-04A1-67BA-37D1-A7CEE136648D}"/>
              </a:ext>
            </a:extLst>
          </p:cNvPr>
          <p:cNvSpPr/>
          <p:nvPr/>
        </p:nvSpPr>
        <p:spPr>
          <a:xfrm rot="5400000">
            <a:off x="1446743" y="2834555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9" name="Flecha: cheurón 18">
            <a:extLst>
              <a:ext uri="{FF2B5EF4-FFF2-40B4-BE49-F238E27FC236}">
                <a16:creationId xmlns:a16="http://schemas.microsoft.com/office/drawing/2014/main" id="{AC49CF0B-CD88-455B-55D3-0E03BE127E07}"/>
              </a:ext>
            </a:extLst>
          </p:cNvPr>
          <p:cNvSpPr/>
          <p:nvPr/>
        </p:nvSpPr>
        <p:spPr>
          <a:xfrm rot="5400000">
            <a:off x="1446743" y="3636589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Entregado</a:t>
            </a:r>
          </a:p>
        </p:txBody>
      </p:sp>
      <p:sp>
        <p:nvSpPr>
          <p:cNvPr id="21" name="Flecha: cheurón 20">
            <a:extLst>
              <a:ext uri="{FF2B5EF4-FFF2-40B4-BE49-F238E27FC236}">
                <a16:creationId xmlns:a16="http://schemas.microsoft.com/office/drawing/2014/main" id="{21D7647A-41CA-4867-EF6F-A9FB04C5EE23}"/>
              </a:ext>
            </a:extLst>
          </p:cNvPr>
          <p:cNvSpPr/>
          <p:nvPr/>
        </p:nvSpPr>
        <p:spPr>
          <a:xfrm rot="5400000">
            <a:off x="1446743" y="4438623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23" name="Flecha: cheurón 22">
            <a:extLst>
              <a:ext uri="{FF2B5EF4-FFF2-40B4-BE49-F238E27FC236}">
                <a16:creationId xmlns:a16="http://schemas.microsoft.com/office/drawing/2014/main" id="{0A45A7EF-570E-014E-DF34-A3AF68A59191}"/>
              </a:ext>
            </a:extLst>
          </p:cNvPr>
          <p:cNvSpPr/>
          <p:nvPr/>
        </p:nvSpPr>
        <p:spPr>
          <a:xfrm rot="5400000">
            <a:off x="1446743" y="5240656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E82C8BB-2940-6B78-D660-2108C77545E2}"/>
              </a:ext>
            </a:extLst>
          </p:cNvPr>
          <p:cNvSpPr/>
          <p:nvPr/>
        </p:nvSpPr>
        <p:spPr>
          <a:xfrm>
            <a:off x="3010023" y="336499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47ECA87-18B1-3299-5D93-8A0DE9D25C0A}"/>
              </a:ext>
            </a:extLst>
          </p:cNvPr>
          <p:cNvSpPr/>
          <p:nvPr/>
        </p:nvSpPr>
        <p:spPr>
          <a:xfrm>
            <a:off x="3010023" y="414893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para indicar que la solución fue entregada al solicitante para que este revise y valide si cumple con las condiciones (DoD) solicitadas.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2FC65D0-3F81-A1F5-2691-8530EAD86C76}"/>
              </a:ext>
            </a:extLst>
          </p:cNvPr>
          <p:cNvSpPr/>
          <p:nvPr/>
        </p:nvSpPr>
        <p:spPr>
          <a:xfrm>
            <a:off x="3010023" y="4915260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CF4ED80-4E09-26AA-4F7E-1FD9F3B700A3}"/>
              </a:ext>
            </a:extLst>
          </p:cNvPr>
          <p:cNvSpPr/>
          <p:nvPr/>
        </p:nvSpPr>
        <p:spPr>
          <a:xfrm>
            <a:off x="3010023" y="576495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AD209A8-D493-9570-F5DE-DFE158552065}"/>
              </a:ext>
            </a:extLst>
          </p:cNvPr>
          <p:cNvSpPr/>
          <p:nvPr/>
        </p:nvSpPr>
        <p:spPr>
          <a:xfrm>
            <a:off x="8226255" y="1078885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B6FFAD4-D550-00C4-C565-FCC3D1C8E5D6}"/>
              </a:ext>
            </a:extLst>
          </p:cNvPr>
          <p:cNvSpPr txBox="1"/>
          <p:nvPr/>
        </p:nvSpPr>
        <p:spPr>
          <a:xfrm>
            <a:off x="8226255" y="1434612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backlog, incluyendo las historias habilitadoras sean creadas.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esta también puede ser creada por quien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esta trabajando en la solución (asignad@) actualizar la información y el estado de sus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ítems</a:t>
            </a:r>
            <a:endParaRPr lang="es-419" sz="1400" noProof="0">
              <a:latin typeface="Roboto Condensed Light" panose="02000000000000000000" pitchFamily="2" charset="0"/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18" name="Abrir corchete 17">
            <a:extLst>
              <a:ext uri="{FF2B5EF4-FFF2-40B4-BE49-F238E27FC236}">
                <a16:creationId xmlns:a16="http://schemas.microsoft.com/office/drawing/2014/main" id="{408D1059-2F4D-BFD6-345A-836B1E8A2320}"/>
              </a:ext>
            </a:extLst>
          </p:cNvPr>
          <p:cNvSpPr/>
          <p:nvPr/>
        </p:nvSpPr>
        <p:spPr>
          <a:xfrm>
            <a:off x="675461" y="2841087"/>
            <a:ext cx="290982" cy="2444750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F02CF2F-382A-A6A6-3CF9-60C2836E1E8A}"/>
              </a:ext>
            </a:extLst>
          </p:cNvPr>
          <p:cNvSpPr txBox="1"/>
          <p:nvPr/>
        </p:nvSpPr>
        <p:spPr>
          <a:xfrm rot="16200000">
            <a:off x="225606" y="3955462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13DF7D23-6562-E701-EF0E-BC3229ACF762}"/>
              </a:ext>
            </a:extLst>
          </p:cNvPr>
          <p:cNvGrpSpPr/>
          <p:nvPr/>
        </p:nvGrpSpPr>
        <p:grpSpPr>
          <a:xfrm>
            <a:off x="7960608" y="3890778"/>
            <a:ext cx="4077638" cy="2036221"/>
            <a:chOff x="8010439" y="4397106"/>
            <a:chExt cx="4077638" cy="2036221"/>
          </a:xfrm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E62A94F3-298F-8063-168E-C6FA1F45B275}"/>
                </a:ext>
              </a:extLst>
            </p:cNvPr>
            <p:cNvSpPr/>
            <p:nvPr/>
          </p:nvSpPr>
          <p:spPr>
            <a:xfrm>
              <a:off x="8010439" y="4402006"/>
              <a:ext cx="4077638" cy="2031321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0"/>
            </a:p>
          </p:txBody>
        </p: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0487944D-F0BE-28A2-8C53-C5714463E3F1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4397106"/>
              <a:ext cx="3419505" cy="0"/>
            </a:xfrm>
            <a:prstGeom prst="line">
              <a:avLst/>
            </a:prstGeom>
            <a:ln w="3175">
              <a:solidFill>
                <a:srgbClr val="C5CCD6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B6736461-5272-C260-A2B1-5F7F7155855B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4991499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99BEDD70-8A12-A871-9D1E-917281414C53}"/>
                </a:ext>
              </a:extLst>
            </p:cNvPr>
            <p:cNvSpPr txBox="1"/>
            <p:nvPr/>
          </p:nvSpPr>
          <p:spPr>
            <a:xfrm>
              <a:off x="8247707" y="4441436"/>
              <a:ext cx="3768580" cy="569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Type</a:t>
              </a:r>
              <a:br>
                <a:rPr lang="es-CO" sz="1000">
                  <a:latin typeface="Roboto" pitchFamily="2" charset="0"/>
                  <a:ea typeface="Roboto" pitchFamily="2" charset="0"/>
                </a:rPr>
              </a:b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Solution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</a:t>
              </a: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integration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Security, </a:t>
              </a: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Infraestructure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Cloud, DevOps, servers</a:t>
              </a:r>
            </a:p>
          </p:txBody>
        </p: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388507F8-3CC1-D81C-CB9D-0BBD2F2E5853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267396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39E74A49-A60F-D9C7-5BF4-CC80A4691668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551959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1C632521-2CA0-7388-62D6-7E4ABA75410B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984516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E6F76C5E-690C-A1A0-09C9-0EA6445249F7}"/>
                </a:ext>
              </a:extLst>
            </p:cNvPr>
            <p:cNvCxnSpPr>
              <a:cxnSpLocks/>
            </p:cNvCxnSpPr>
            <p:nvPr/>
          </p:nvCxnSpPr>
          <p:spPr>
            <a:xfrm>
              <a:off x="9772735" y="4991499"/>
              <a:ext cx="0" cy="1441828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6" name="Gráfico 85" descr="Casilla marcada con relleno sólido">
              <a:extLst>
                <a:ext uri="{FF2B5EF4-FFF2-40B4-BE49-F238E27FC236}">
                  <a16:creationId xmlns:a16="http://schemas.microsoft.com/office/drawing/2014/main" id="{0C318A39-5293-CEDF-6D9F-3CEACD82D3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3023" y="5596302"/>
              <a:ext cx="190251" cy="190274"/>
            </a:xfrm>
            <a:prstGeom prst="rect">
              <a:avLst/>
            </a:prstGeom>
          </p:spPr>
        </p:pic>
        <p:pic>
          <p:nvPicPr>
            <p:cNvPr id="87" name="Gráfico 86" descr="Bloquear con relleno sólido">
              <a:extLst>
                <a:ext uri="{FF2B5EF4-FFF2-40B4-BE49-F238E27FC236}">
                  <a16:creationId xmlns:a16="http://schemas.microsoft.com/office/drawing/2014/main" id="{E0B90BBF-8FE0-874B-F101-D005BCF270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63023" y="6058726"/>
              <a:ext cx="192301" cy="192324"/>
            </a:xfrm>
            <a:prstGeom prst="rect">
              <a:avLst/>
            </a:prstGeom>
          </p:spPr>
        </p:pic>
        <p:pic>
          <p:nvPicPr>
            <p:cNvPr id="88" name="Gráfico 87" descr="Calendario giratorio con relleno sólido">
              <a:extLst>
                <a:ext uri="{FF2B5EF4-FFF2-40B4-BE49-F238E27FC236}">
                  <a16:creationId xmlns:a16="http://schemas.microsoft.com/office/drawing/2014/main" id="{6A358CEE-6696-7407-A458-F77B861E36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84277" y="5025516"/>
              <a:ext cx="171620" cy="171641"/>
            </a:xfrm>
            <a:prstGeom prst="rect">
              <a:avLst/>
            </a:prstGeom>
          </p:spPr>
        </p:pic>
        <p:pic>
          <p:nvPicPr>
            <p:cNvPr id="89" name="Gráfico 88" descr="Etiqueta con relleno sólido">
              <a:extLst>
                <a:ext uri="{FF2B5EF4-FFF2-40B4-BE49-F238E27FC236}">
                  <a16:creationId xmlns:a16="http://schemas.microsoft.com/office/drawing/2014/main" id="{23DC44B8-91C1-FAF1-46D0-0A9BFCCB7B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85731" y="4476350"/>
              <a:ext cx="190252" cy="190275"/>
            </a:xfrm>
            <a:prstGeom prst="rect">
              <a:avLst/>
            </a:prstGeom>
          </p:spPr>
        </p:pic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FC703F71-C333-550E-61F6-E91AFB42C75B}"/>
                </a:ext>
              </a:extLst>
            </p:cNvPr>
            <p:cNvSpPr txBox="1"/>
            <p:nvPr/>
          </p:nvSpPr>
          <p:spPr>
            <a:xfrm>
              <a:off x="8282257" y="5004254"/>
              <a:ext cx="13805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Target</a:t>
              </a:r>
              <a:r>
                <a:rPr lang="es-CO" sz="1000" b="1">
                  <a:solidFill>
                    <a:srgbClr val="1F6ACB"/>
                  </a:solidFill>
                  <a:latin typeface="Roboto" pitchFamily="2" charset="0"/>
                  <a:ea typeface="Roboto" pitchFamily="2" charset="0"/>
                </a:rPr>
                <a:t> </a:t>
              </a:r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date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99B6556F-48B9-DEE7-67EA-FC6779D3B02A}"/>
                </a:ext>
              </a:extLst>
            </p:cNvPr>
            <p:cNvSpPr txBox="1"/>
            <p:nvPr/>
          </p:nvSpPr>
          <p:spPr>
            <a:xfrm>
              <a:off x="9796639" y="5000863"/>
              <a:ext cx="13539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objetivo</a:t>
              </a:r>
            </a:p>
          </p:txBody>
        </p:sp>
        <p:pic>
          <p:nvPicPr>
            <p:cNvPr id="93" name="Gráfico 92" descr="Calendario giratorio con relleno sólido">
              <a:extLst>
                <a:ext uri="{FF2B5EF4-FFF2-40B4-BE49-F238E27FC236}">
                  <a16:creationId xmlns:a16="http://schemas.microsoft.com/office/drawing/2014/main" id="{2DA07948-5E01-A3D9-D9EC-277B9B2052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84277" y="5323371"/>
              <a:ext cx="171620" cy="171641"/>
            </a:xfrm>
            <a:prstGeom prst="rect">
              <a:avLst/>
            </a:prstGeom>
          </p:spPr>
        </p:pic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8CA7633D-A274-C440-437E-7FFAA9197285}"/>
                </a:ext>
              </a:extLst>
            </p:cNvPr>
            <p:cNvSpPr txBox="1"/>
            <p:nvPr/>
          </p:nvSpPr>
          <p:spPr>
            <a:xfrm>
              <a:off x="8282601" y="5272609"/>
              <a:ext cx="11279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 err="1"/>
                <a:t>Finish</a:t>
              </a:r>
              <a:r>
                <a:rPr lang="es-CO"/>
                <a:t> date</a:t>
              </a: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F52A55B5-92E9-CA21-937F-2B7252ECEF21}"/>
                </a:ext>
              </a:extLst>
            </p:cNvPr>
            <p:cNvSpPr txBox="1"/>
            <p:nvPr/>
          </p:nvSpPr>
          <p:spPr>
            <a:xfrm>
              <a:off x="9793056" y="5286095"/>
              <a:ext cx="16523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de finalización</a:t>
              </a: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99EED41A-9FCE-A23D-280D-2B2B1EF1001A}"/>
                </a:ext>
              </a:extLst>
            </p:cNvPr>
            <p:cNvSpPr txBox="1"/>
            <p:nvPr/>
          </p:nvSpPr>
          <p:spPr>
            <a:xfrm>
              <a:off x="8282257" y="5577318"/>
              <a:ext cx="14991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Complete </a:t>
              </a:r>
              <a:r>
                <a:rPr lang="es-CO" err="1"/>
                <a:t>requirement</a:t>
              </a:r>
              <a:endParaRPr lang="es-CO"/>
            </a:p>
          </p:txBody>
        </p: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55996312-3E01-7AF8-8B71-F3FC2486DE38}"/>
                </a:ext>
              </a:extLst>
            </p:cNvPr>
            <p:cNvSpPr txBox="1"/>
            <p:nvPr/>
          </p:nvSpPr>
          <p:spPr>
            <a:xfrm>
              <a:off x="9789845" y="5567829"/>
              <a:ext cx="21418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¿El requerimiento esta completo?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B41F6370-754E-E6A9-B116-D503C79C51D3}"/>
                </a:ext>
              </a:extLst>
            </p:cNvPr>
            <p:cNvSpPr txBox="1"/>
            <p:nvPr/>
          </p:nvSpPr>
          <p:spPr>
            <a:xfrm>
              <a:off x="8280585" y="6015280"/>
              <a:ext cx="988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Block</a:t>
              </a:r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765AB462-6D2D-4116-2632-916B9B2F94D0}"/>
                </a:ext>
              </a:extLst>
            </p:cNvPr>
            <p:cNvSpPr txBox="1"/>
            <p:nvPr/>
          </p:nvSpPr>
          <p:spPr>
            <a:xfrm>
              <a:off x="9788595" y="5998824"/>
              <a:ext cx="14580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¿Está bloqueado?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</p:grpSp>
      <p:pic>
        <p:nvPicPr>
          <p:cNvPr id="45" name="Gráfico 44">
            <a:extLst>
              <a:ext uri="{FF2B5EF4-FFF2-40B4-BE49-F238E27FC236}">
                <a16:creationId xmlns:a16="http://schemas.microsoft.com/office/drawing/2014/main" id="{ADBDDA85-8985-516A-EA28-499672EF0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B3B5AB4B-BD10-1E30-1859-30369FD3D775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4133869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9A7CE8-DBB0-16C2-A8D8-6B2447FA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ACE02F-068E-85C2-A923-3F455A381764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del </a:t>
            </a:r>
            <a:r>
              <a:rPr lang="es-419" sz="3733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Testing</a:t>
            </a:r>
            <a:endParaRPr lang="es-419" sz="3733" b="1">
              <a:solidFill>
                <a:srgbClr val="1B2A5E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6ABB5-D7A6-EA3A-AB7A-2AEDAD895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87ECDF4-F183-980F-BA4B-12B1E2A5CE02}"/>
              </a:ext>
            </a:extLst>
          </p:cNvPr>
          <p:cNvSpPr/>
          <p:nvPr/>
        </p:nvSpPr>
        <p:spPr>
          <a:xfrm>
            <a:off x="3010023" y="1798209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BF64CE0-26FE-35B7-0184-5DAA9DBC818C}"/>
              </a:ext>
            </a:extLst>
          </p:cNvPr>
          <p:cNvSpPr/>
          <p:nvPr/>
        </p:nvSpPr>
        <p:spPr>
          <a:xfrm>
            <a:off x="3010023" y="2762923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CDD99509-E259-1B19-55DD-8F738B9033E0}"/>
              </a:ext>
            </a:extLst>
          </p:cNvPr>
          <p:cNvSpPr/>
          <p:nvPr/>
        </p:nvSpPr>
        <p:spPr>
          <a:xfrm rot="5400000">
            <a:off x="1356743" y="1320486"/>
            <a:ext cx="97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70C92820-FF53-B55C-D06A-733FD63EFB51}"/>
              </a:ext>
            </a:extLst>
          </p:cNvPr>
          <p:cNvSpPr/>
          <p:nvPr/>
        </p:nvSpPr>
        <p:spPr>
          <a:xfrm rot="5400000">
            <a:off x="1356743" y="2221917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F3A55CE1-945C-CBEB-DC52-BE8E39CE6A06}"/>
              </a:ext>
            </a:extLst>
          </p:cNvPr>
          <p:cNvSpPr/>
          <p:nvPr/>
        </p:nvSpPr>
        <p:spPr>
          <a:xfrm rot="5400000">
            <a:off x="1356743" y="3123348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FF57CE61-0CF0-6339-3E3E-0B171D89F00D}"/>
              </a:ext>
            </a:extLst>
          </p:cNvPr>
          <p:cNvSpPr/>
          <p:nvPr/>
        </p:nvSpPr>
        <p:spPr>
          <a:xfrm rot="5400000">
            <a:off x="1342574" y="4024779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16" name="Flecha: cheurón 15">
            <a:extLst>
              <a:ext uri="{FF2B5EF4-FFF2-40B4-BE49-F238E27FC236}">
                <a16:creationId xmlns:a16="http://schemas.microsoft.com/office/drawing/2014/main" id="{AA1A37B4-8032-1A1F-8BDF-864B2B3744DA}"/>
              </a:ext>
            </a:extLst>
          </p:cNvPr>
          <p:cNvSpPr/>
          <p:nvPr/>
        </p:nvSpPr>
        <p:spPr>
          <a:xfrm rot="5400000">
            <a:off x="1342574" y="4926209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A08118FE-53F8-F85F-F193-CD05D55B3682}"/>
              </a:ext>
            </a:extLst>
          </p:cNvPr>
          <p:cNvSpPr/>
          <p:nvPr/>
        </p:nvSpPr>
        <p:spPr>
          <a:xfrm>
            <a:off x="3010023" y="3645674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A78A0B9A-7F74-579F-BFDA-EA1037196EBC}"/>
              </a:ext>
            </a:extLst>
          </p:cNvPr>
          <p:cNvSpPr/>
          <p:nvPr/>
        </p:nvSpPr>
        <p:spPr>
          <a:xfrm>
            <a:off x="3010023" y="458110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9B47E4C-E645-03F9-3BE1-0597501EE5F9}"/>
              </a:ext>
            </a:extLst>
          </p:cNvPr>
          <p:cNvSpPr/>
          <p:nvPr/>
        </p:nvSpPr>
        <p:spPr>
          <a:xfrm>
            <a:off x="3010023" y="5511684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EE3CD38-ADA9-48C3-0819-19E7AD8FFB7E}"/>
              </a:ext>
            </a:extLst>
          </p:cNvPr>
          <p:cNvSpPr/>
          <p:nvPr/>
        </p:nvSpPr>
        <p:spPr>
          <a:xfrm>
            <a:off x="8215796" y="1167606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97EDD12-17E3-46E9-BB9E-237585D627AE}"/>
              </a:ext>
            </a:extLst>
          </p:cNvPr>
          <p:cNvSpPr txBox="1"/>
          <p:nvPr/>
        </p:nvSpPr>
        <p:spPr>
          <a:xfrm>
            <a:off x="8215796" y="1545355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backlog, incluyendo las historias habilitadoras sean creadas.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esta también puede ser creada por quien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esta trabajando en la solución (asignad@) actualizar la información y el estado de sus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ítems.</a:t>
            </a:r>
          </a:p>
        </p:txBody>
      </p:sp>
      <p:sp>
        <p:nvSpPr>
          <p:cNvPr id="28" name="Abrir corchete 27">
            <a:extLst>
              <a:ext uri="{FF2B5EF4-FFF2-40B4-BE49-F238E27FC236}">
                <a16:creationId xmlns:a16="http://schemas.microsoft.com/office/drawing/2014/main" id="{57392363-B54C-A64E-A103-D5B31220E14F}"/>
              </a:ext>
            </a:extLst>
          </p:cNvPr>
          <p:cNvSpPr/>
          <p:nvPr/>
        </p:nvSpPr>
        <p:spPr>
          <a:xfrm>
            <a:off x="654069" y="3030962"/>
            <a:ext cx="290982" cy="1832613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E296FF8-49C7-FEE1-94F9-7ADD26C251C7}"/>
              </a:ext>
            </a:extLst>
          </p:cNvPr>
          <p:cNvSpPr txBox="1"/>
          <p:nvPr/>
        </p:nvSpPr>
        <p:spPr>
          <a:xfrm rot="16200000">
            <a:off x="203054" y="3828499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249B6D68-C2C3-A8E8-75A9-455C38D8F562}"/>
              </a:ext>
            </a:extLst>
          </p:cNvPr>
          <p:cNvGrpSpPr/>
          <p:nvPr/>
        </p:nvGrpSpPr>
        <p:grpSpPr>
          <a:xfrm>
            <a:off x="7983129" y="4289201"/>
            <a:ext cx="3913596" cy="1340073"/>
            <a:chOff x="6433547" y="263131"/>
            <a:chExt cx="2648541" cy="953298"/>
          </a:xfrm>
        </p:grpSpPr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4197F2C6-7230-E645-8A22-71555EAA4DAC}"/>
                </a:ext>
              </a:extLst>
            </p:cNvPr>
            <p:cNvSpPr/>
            <p:nvPr/>
          </p:nvSpPr>
          <p:spPr>
            <a:xfrm>
              <a:off x="6433547" y="263131"/>
              <a:ext cx="2648541" cy="953298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7030A0"/>
                </a:solidFill>
              </a:endParaRPr>
            </a:p>
          </p:txBody>
        </p: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EEA98246-CBB0-768B-6E13-080C78E36040}"/>
                </a:ext>
              </a:extLst>
            </p:cNvPr>
            <p:cNvCxnSpPr>
              <a:cxnSpLocks/>
            </p:cNvCxnSpPr>
            <p:nvPr/>
          </p:nvCxnSpPr>
          <p:spPr>
            <a:xfrm>
              <a:off x="6494361" y="737112"/>
              <a:ext cx="2463902" cy="2668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B0F17A39-ECA9-56E0-DB21-283A58AAE693}"/>
                </a:ext>
              </a:extLst>
            </p:cNvPr>
            <p:cNvSpPr txBox="1"/>
            <p:nvPr/>
          </p:nvSpPr>
          <p:spPr>
            <a:xfrm>
              <a:off x="6636438" y="312493"/>
              <a:ext cx="22390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B2A5E"/>
                  </a:solidFill>
                  <a:latin typeface="Roboto" pitchFamily="2" charset="0"/>
                  <a:ea typeface="Roboto" pitchFamily="2" charset="0"/>
                </a:rPr>
                <a:t>Type</a:t>
              </a:r>
              <a:br>
                <a:rPr lang="es-CO" sz="1000">
                  <a:solidFill>
                    <a:srgbClr val="7030A0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Functional, Performance, Security</a:t>
              </a:r>
              <a:endParaRPr lang="es-CO" sz="1000">
                <a:solidFill>
                  <a:srgbClr val="3F4652"/>
                </a:solidFill>
              </a:endParaRPr>
            </a:p>
          </p:txBody>
        </p:sp>
        <p:pic>
          <p:nvPicPr>
            <p:cNvPr id="41" name="Gráfico 40" descr="Robot con relleno sólido">
              <a:extLst>
                <a:ext uri="{FF2B5EF4-FFF2-40B4-BE49-F238E27FC236}">
                  <a16:creationId xmlns:a16="http://schemas.microsoft.com/office/drawing/2014/main" id="{0FD9DD9E-5550-D290-111D-20CE2C68A8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498525" y="829398"/>
              <a:ext cx="137913" cy="141502"/>
            </a:xfrm>
            <a:prstGeom prst="rect">
              <a:avLst/>
            </a:prstGeom>
          </p:spPr>
        </p:pic>
        <p:pic>
          <p:nvPicPr>
            <p:cNvPr id="42" name="Gráfico 41" descr="Etiqueta con relleno sólido">
              <a:extLst>
                <a:ext uri="{FF2B5EF4-FFF2-40B4-BE49-F238E27FC236}">
                  <a16:creationId xmlns:a16="http://schemas.microsoft.com/office/drawing/2014/main" id="{60F5F08C-D2B2-49A5-28AE-661FB7A068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464590" y="356768"/>
              <a:ext cx="152885" cy="156864"/>
            </a:xfrm>
            <a:prstGeom prst="rect">
              <a:avLst/>
            </a:prstGeom>
          </p:spPr>
        </p:pic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E57FE9E8-7B87-7257-CFD5-183544024687}"/>
                </a:ext>
              </a:extLst>
            </p:cNvPr>
            <p:cNvSpPr txBox="1"/>
            <p:nvPr/>
          </p:nvSpPr>
          <p:spPr>
            <a:xfrm>
              <a:off x="6636438" y="776498"/>
              <a:ext cx="23505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B2A5E"/>
                  </a:solidFill>
                  <a:latin typeface="Roboto" pitchFamily="2" charset="0"/>
                  <a:ea typeface="Roboto" pitchFamily="2" charset="0"/>
                </a:rPr>
                <a:t>AutomationType</a:t>
              </a:r>
              <a:endParaRPr lang="es-CO" sz="1000" b="1">
                <a:solidFill>
                  <a:srgbClr val="1B2A5E"/>
                </a:solidFill>
                <a:latin typeface="Roboto" pitchFamily="2" charset="0"/>
                <a:ea typeface="Roboto" pitchFamily="2" charset="0"/>
              </a:endParaRPr>
            </a:p>
            <a:p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Manual, Automated, Semi-Automated</a:t>
              </a:r>
              <a:endParaRPr lang="es-CO" sz="1000">
                <a:solidFill>
                  <a:srgbClr val="3F4652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  <p:pic>
        <p:nvPicPr>
          <p:cNvPr id="22" name="Gráfico 21">
            <a:extLst>
              <a:ext uri="{FF2B5EF4-FFF2-40B4-BE49-F238E27FC236}">
                <a16:creationId xmlns:a16="http://schemas.microsoft.com/office/drawing/2014/main" id="{C0B26569-65B5-C940-769D-23DD076025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59965410-4CE1-ADDA-A0EE-2E05439FE5EE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94E3E5-C4A1-8DF2-6448-1AB88D12B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776" y="1054766"/>
            <a:ext cx="1699934" cy="50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221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51A767BB-2FB4-BA24-761F-387E48E6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3"/>
          <a:stretch>
            <a:fillRect/>
          </a:stretch>
        </p:blipFill>
        <p:spPr>
          <a:xfrm>
            <a:off x="-9138" y="876059"/>
            <a:ext cx="12192000" cy="5981941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3D8B4455-820E-5B32-38E1-4F0FEA8BF6D2}"/>
              </a:ext>
            </a:extLst>
          </p:cNvPr>
          <p:cNvSpPr/>
          <p:nvPr/>
        </p:nvSpPr>
        <p:spPr>
          <a:xfrm>
            <a:off x="414567" y="-6883"/>
            <a:ext cx="534273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¿Cómo se ve en Azure?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253E0-5FDA-07D7-93D3-526A61614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E911354-CF64-088E-1D5D-4F2B4BF58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513" y="3215148"/>
            <a:ext cx="5950245" cy="26585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4F834AC-A02B-5ACE-58FF-B8853004F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7305" y="92241"/>
            <a:ext cx="754316" cy="754316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598BB2D-F7D6-884A-11A8-546AFABBCD2C}"/>
              </a:ext>
            </a:extLst>
          </p:cNvPr>
          <p:cNvSpPr/>
          <p:nvPr/>
        </p:nvSpPr>
        <p:spPr>
          <a:xfrm>
            <a:off x="4630994" y="1406013"/>
            <a:ext cx="1455868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B3B256A-9628-D35C-B7C8-76F7BC3465CB}"/>
              </a:ext>
            </a:extLst>
          </p:cNvPr>
          <p:cNvSpPr/>
          <p:nvPr/>
        </p:nvSpPr>
        <p:spPr>
          <a:xfrm>
            <a:off x="10550013" y="3291348"/>
            <a:ext cx="1532745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99A094-72C1-6C16-02BB-0FAF1A621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" y="1830504"/>
            <a:ext cx="6152756" cy="34722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017EC8A-2E0B-E6DA-3CD2-AFD7B1E5DDD7}"/>
              </a:ext>
            </a:extLst>
          </p:cNvPr>
          <p:cNvSpPr/>
          <p:nvPr/>
        </p:nvSpPr>
        <p:spPr>
          <a:xfrm>
            <a:off x="4629569" y="1793140"/>
            <a:ext cx="1532745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0291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3452A6-6C77-64A1-9796-C843C8AA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7B7A55D-A8E1-DC76-172B-1E067E37658C}"/>
              </a:ext>
            </a:extLst>
          </p:cNvPr>
          <p:cNvSpPr/>
          <p:nvPr/>
        </p:nvSpPr>
        <p:spPr>
          <a:xfrm>
            <a:off x="347471" y="274320"/>
            <a:ext cx="4107987" cy="19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kern="0" spc="180" noProof="0">
                <a:solidFill>
                  <a:srgbClr val="2D50D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PALANCA 1  </a:t>
            </a:r>
            <a:endParaRPr lang="es-CO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271A46A-DEB6-BD5D-E516-8C7BEE44283A}"/>
              </a:ext>
            </a:extLst>
          </p:cNvPr>
          <p:cNvSpPr/>
          <p:nvPr/>
        </p:nvSpPr>
        <p:spPr>
          <a:xfrm>
            <a:off x="347472" y="61264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28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Medición del </a:t>
            </a:r>
            <a:r>
              <a:rPr lang="es-CO" sz="2800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endParaRPr lang="es-CO" sz="28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Box">
            <a:extLst>
              <a:ext uri="{FF2B5EF4-FFF2-40B4-BE49-F238E27FC236}">
                <a16:creationId xmlns:a16="http://schemas.microsoft.com/office/drawing/2014/main" id="{3FF2EBD5-DB5E-E40A-A249-1D7BE6E99A2C}"/>
              </a:ext>
            </a:extLst>
          </p:cNvPr>
          <p:cNvSpPr txBox="1"/>
          <p:nvPr/>
        </p:nvSpPr>
        <p:spPr>
          <a:xfrm>
            <a:off x="502920" y="4829625"/>
            <a:ext cx="11183112" cy="1508760"/>
          </a:xfrm>
          <a:prstGeom prst="roundRect">
            <a:avLst>
              <a:gd name="adj" fmla="val 9000"/>
            </a:avLst>
          </a:prstGeom>
          <a:solidFill>
            <a:srgbClr val="07133D"/>
          </a:solidFill>
          <a:ln>
            <a:noFill/>
          </a:ln>
        </p:spPr>
        <p:txBody>
          <a:bodyPr wrap="square" lIns="118872" tIns="82296" rIns="118872" bIns="82296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3" name="TextBox">
            <a:extLst>
              <a:ext uri="{FF2B5EF4-FFF2-40B4-BE49-F238E27FC236}">
                <a16:creationId xmlns:a16="http://schemas.microsoft.com/office/drawing/2014/main" id="{411A3B7A-8D96-C2BC-6209-A3A99F6E7589}"/>
              </a:ext>
            </a:extLst>
          </p:cNvPr>
          <p:cNvSpPr txBox="1"/>
          <p:nvPr/>
        </p:nvSpPr>
        <p:spPr>
          <a:xfrm>
            <a:off x="600075" y="4985073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ctr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¿Qué necesitamos del comité?</a:t>
            </a:r>
          </a:p>
        </p:txBody>
      </p:sp>
      <p:sp>
        <p:nvSpPr>
          <p:cNvPr id="15" name="TextBox">
            <a:extLst>
              <a:ext uri="{FF2B5EF4-FFF2-40B4-BE49-F238E27FC236}">
                <a16:creationId xmlns:a16="http://schemas.microsoft.com/office/drawing/2014/main" id="{9B4412DE-5C73-7530-FC3C-9FDA3E77E6FA}"/>
              </a:ext>
            </a:extLst>
          </p:cNvPr>
          <p:cNvSpPr txBox="1"/>
          <p:nvPr/>
        </p:nvSpPr>
        <p:spPr>
          <a:xfrm>
            <a:off x="27432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1  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Adoptar la métrica como práctica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Incorporar la revisión de </a:t>
            </a:r>
            <a:r>
              <a:rPr lang="es-CO" sz="1200" b="0" i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en las agendas, con cadencia y un responsable por Vicepresidencia.</a:t>
            </a:r>
          </a:p>
        </p:txBody>
      </p:sp>
      <p:sp>
        <p:nvSpPr>
          <p:cNvPr id="17" name="TextBox">
            <a:extLst>
              <a:ext uri="{FF2B5EF4-FFF2-40B4-BE49-F238E27FC236}">
                <a16:creationId xmlns:a16="http://schemas.microsoft.com/office/drawing/2014/main" id="{179A6F3A-DBCC-5827-BF84-918C471C92D9}"/>
              </a:ext>
            </a:extLst>
          </p:cNvPr>
          <p:cNvSpPr txBox="1"/>
          <p:nvPr/>
        </p:nvSpPr>
        <p:spPr>
          <a:xfrm>
            <a:off x="57150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2 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Definir metas por nivel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Acordar objetivos de tiempo y entregas de valor a partir de la línea base medida, para pasar de informar a gestionar.</a:t>
            </a:r>
          </a:p>
        </p:txBody>
      </p:sp>
      <p:sp>
        <p:nvSpPr>
          <p:cNvPr id="19" name="TextBox">
            <a:extLst>
              <a:ext uri="{FF2B5EF4-FFF2-40B4-BE49-F238E27FC236}">
                <a16:creationId xmlns:a16="http://schemas.microsoft.com/office/drawing/2014/main" id="{4C4CA4E1-5EE6-6EAE-7EFB-E565FF84302C}"/>
              </a:ext>
            </a:extLst>
          </p:cNvPr>
          <p:cNvSpPr txBox="1"/>
          <p:nvPr/>
        </p:nvSpPr>
        <p:spPr>
          <a:xfrm>
            <a:off x="86868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fontScale="925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3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 Resolver el trabajo envejecido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Dar criterio para cerrar, cancelar o </a:t>
            </a:r>
            <a:r>
              <a:rPr lang="es-CO" sz="1200" b="0" i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repriorizar</a:t>
            </a: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el backlog.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7D929FED-1DB9-79B6-7E35-DC4566BDA4BB}"/>
              </a:ext>
            </a:extLst>
          </p:cNvPr>
          <p:cNvSpPr/>
          <p:nvPr/>
        </p:nvSpPr>
        <p:spPr>
          <a:xfrm>
            <a:off x="347472" y="9924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400" noProof="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Sistema de Gestión · Piloto con datos reales de Azure DevOps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BE49B49-CAE4-8937-AD13-2DBB448AD8C6}"/>
              </a:ext>
            </a:extLst>
          </p:cNvPr>
          <p:cNvSpPr/>
          <p:nvPr/>
        </p:nvSpPr>
        <p:spPr>
          <a:xfrm>
            <a:off x="347472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016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1FCCFB4-B868-66F3-99D6-524006CB90CA}"/>
              </a:ext>
            </a:extLst>
          </p:cNvPr>
          <p:cNvSpPr/>
          <p:nvPr/>
        </p:nvSpPr>
        <p:spPr>
          <a:xfrm>
            <a:off x="530352" y="1688411"/>
            <a:ext cx="429768" cy="429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01D4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52FFE1E-3322-CE8C-B889-89490F53CF14}"/>
              </a:ext>
            </a:extLst>
          </p:cNvPr>
          <p:cNvSpPr/>
          <p:nvPr/>
        </p:nvSpPr>
        <p:spPr>
          <a:xfrm>
            <a:off x="530352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01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ADB7FBE-BA9F-FFAF-9AA9-D7B66374A58B}"/>
              </a:ext>
            </a:extLst>
          </p:cNvPr>
          <p:cNvSpPr/>
          <p:nvPr/>
        </p:nvSpPr>
        <p:spPr>
          <a:xfrm>
            <a:off x="1106424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SITUACIÓN ACTUAL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B1F2FB61-8E56-A299-D9DE-EF22B98142C2}"/>
              </a:ext>
            </a:extLst>
          </p:cNvPr>
          <p:cNvSpPr/>
          <p:nvPr/>
        </p:nvSpPr>
        <p:spPr>
          <a:xfrm>
            <a:off x="530352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A4275C4-DAFA-684E-58A1-E9F99E784D52}"/>
              </a:ext>
            </a:extLst>
          </p:cNvPr>
          <p:cNvSpPr/>
          <p:nvPr/>
        </p:nvSpPr>
        <p:spPr>
          <a:xfrm>
            <a:off x="530352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No medimos el </a:t>
            </a:r>
            <a:r>
              <a:rPr lang="es-CO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endParaRPr lang="es-CO" b="1" noProof="0">
              <a:solidFill>
                <a:srgbClr val="101D47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Los datos existen en Azure DevOps, pero nadie los convierte en información para decidir</a:t>
            </a: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F6282111-FC1C-69F2-97BC-C4ABD5804DDA}"/>
              </a:ext>
            </a:extLst>
          </p:cNvPr>
          <p:cNvSpPr/>
          <p:nvPr/>
        </p:nvSpPr>
        <p:spPr>
          <a:xfrm>
            <a:off x="548640" y="3352619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ED26CAB-E7F9-DDF8-E683-DBFA6EB9A64D}"/>
              </a:ext>
            </a:extLst>
          </p:cNvPr>
          <p:cNvSpPr/>
          <p:nvPr/>
        </p:nvSpPr>
        <p:spPr>
          <a:xfrm>
            <a:off x="822960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Cada área reporta con criterios propios.</a:t>
            </a: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CEF2CC12-93B7-05CD-B9AB-768D9063C3FC}"/>
              </a:ext>
            </a:extLst>
          </p:cNvPr>
          <p:cNvSpPr/>
          <p:nvPr/>
        </p:nvSpPr>
        <p:spPr>
          <a:xfrm>
            <a:off x="548640" y="3736667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C181BFFB-0867-4768-C902-3B0F8171078B}"/>
              </a:ext>
            </a:extLst>
          </p:cNvPr>
          <p:cNvSpPr/>
          <p:nvPr/>
        </p:nvSpPr>
        <p:spPr>
          <a:xfrm>
            <a:off x="822960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Decidimos sobre percepciones, no sobre evidencia.</a:t>
            </a: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519130D6-09F9-39A2-C97D-AFD7B47A2813}"/>
              </a:ext>
            </a:extLst>
          </p:cNvPr>
          <p:cNvSpPr/>
          <p:nvPr/>
        </p:nvSpPr>
        <p:spPr>
          <a:xfrm>
            <a:off x="548640" y="4120715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2B6CE782-57F7-673F-1964-AFCA850A0216}"/>
              </a:ext>
            </a:extLst>
          </p:cNvPr>
          <p:cNvSpPr/>
          <p:nvPr/>
        </p:nvSpPr>
        <p:spPr>
          <a:xfrm>
            <a:off x="822960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riesgo se descubre cuando ya no se puede intervenir.</a:t>
            </a:r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200ADDF2-2360-E238-D78C-C275CBB5B3D4}"/>
              </a:ext>
            </a:extLst>
          </p:cNvPr>
          <p:cNvSpPr/>
          <p:nvPr/>
        </p:nvSpPr>
        <p:spPr>
          <a:xfrm>
            <a:off x="4169664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016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A1A46CCA-E54A-F80C-1233-D4567E5B9C44}"/>
              </a:ext>
            </a:extLst>
          </p:cNvPr>
          <p:cNvSpPr/>
          <p:nvPr/>
        </p:nvSpPr>
        <p:spPr>
          <a:xfrm>
            <a:off x="4352544" y="1688411"/>
            <a:ext cx="429768" cy="429768"/>
          </a:xfrm>
          <a:prstGeom prst="ellipse">
            <a:avLst/>
          </a:prstGeom>
          <a:solidFill>
            <a:srgbClr val="2D50D7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3B5B2005-0B2A-D925-48D2-E24E7A5D13F2}"/>
              </a:ext>
            </a:extLst>
          </p:cNvPr>
          <p:cNvSpPr/>
          <p:nvPr/>
        </p:nvSpPr>
        <p:spPr>
          <a:xfrm>
            <a:off x="4352544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02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3E50428E-3099-CBFD-D3CF-A3B53E30AA77}"/>
              </a:ext>
            </a:extLst>
          </p:cNvPr>
          <p:cNvSpPr/>
          <p:nvPr/>
        </p:nvSpPr>
        <p:spPr>
          <a:xfrm>
            <a:off x="4928616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OPORTUNIDAD 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28EBF0FA-1F11-B868-16C8-12CF07C7681D}"/>
              </a:ext>
            </a:extLst>
          </p:cNvPr>
          <p:cNvSpPr/>
          <p:nvPr/>
        </p:nvSpPr>
        <p:spPr>
          <a:xfrm>
            <a:off x="4352544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D566010A-ACDE-A6EB-C5BB-E5C187FF70BD}"/>
              </a:ext>
            </a:extLst>
          </p:cNvPr>
          <p:cNvSpPr/>
          <p:nvPr/>
        </p:nvSpPr>
        <p:spPr>
          <a:xfrm>
            <a:off x="4370832" y="3352619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C3141960-0A99-8DAA-1207-6F5A1E6A7809}"/>
              </a:ext>
            </a:extLst>
          </p:cNvPr>
          <p:cNvSpPr/>
          <p:nvPr/>
        </p:nvSpPr>
        <p:spPr>
          <a:xfrm>
            <a:off x="4645152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Ver el </a:t>
            </a:r>
            <a:r>
              <a:rPr lang="es-CO" sz="1100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a escala de iniciativa, no de historia.</a:t>
            </a: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57155FA9-1533-207C-8CFB-62DF88591914}"/>
              </a:ext>
            </a:extLst>
          </p:cNvPr>
          <p:cNvSpPr/>
          <p:nvPr/>
        </p:nvSpPr>
        <p:spPr>
          <a:xfrm>
            <a:off x="4370832" y="3736667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D8A49532-42A1-CFF7-55AF-23FE263453E2}"/>
              </a:ext>
            </a:extLst>
          </p:cNvPr>
          <p:cNvSpPr/>
          <p:nvPr/>
        </p:nvSpPr>
        <p:spPr>
          <a:xfrm>
            <a:off x="4645152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Actuar sobre la espera: la mitad del tiempo ocurre antes de activar.</a:t>
            </a:r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51D03805-7BD7-64F7-6080-27E5E66095F1}"/>
              </a:ext>
            </a:extLst>
          </p:cNvPr>
          <p:cNvSpPr/>
          <p:nvPr/>
        </p:nvSpPr>
        <p:spPr>
          <a:xfrm>
            <a:off x="4370832" y="4120715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B5ADE7E4-E72A-F5E3-2003-217C8D128CEC}"/>
              </a:ext>
            </a:extLst>
          </p:cNvPr>
          <p:cNvSpPr/>
          <p:nvPr/>
        </p:nvSpPr>
        <p:spPr>
          <a:xfrm>
            <a:off x="4645152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Anticipar el riesgo del trabajo que hoy envejece.</a:t>
            </a:r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32DC5A43-F993-35DE-1C82-592DB9F33A7C}"/>
              </a:ext>
            </a:extLst>
          </p:cNvPr>
          <p:cNvSpPr/>
          <p:nvPr/>
        </p:nvSpPr>
        <p:spPr>
          <a:xfrm>
            <a:off x="7991856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EAF0FF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760880E2-ACE6-8752-6DAD-6E161160DCC7}"/>
              </a:ext>
            </a:extLst>
          </p:cNvPr>
          <p:cNvSpPr/>
          <p:nvPr/>
        </p:nvSpPr>
        <p:spPr>
          <a:xfrm>
            <a:off x="8174736" y="1688411"/>
            <a:ext cx="429768" cy="429768"/>
          </a:xfrm>
          <a:prstGeom prst="ellipse">
            <a:avLst/>
          </a:prstGeom>
          <a:solidFill>
            <a:srgbClr val="2D50D7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C1F1B51D-3F1D-3D49-0892-90E3E70F213E}"/>
              </a:ext>
            </a:extLst>
          </p:cNvPr>
          <p:cNvSpPr/>
          <p:nvPr/>
        </p:nvSpPr>
        <p:spPr>
          <a:xfrm>
            <a:off x="8174736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03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ACCE52C8-AE19-F41D-CD23-2EA7429F8894}"/>
              </a:ext>
            </a:extLst>
          </p:cNvPr>
          <p:cNvSpPr/>
          <p:nvPr/>
        </p:nvSpPr>
        <p:spPr>
          <a:xfrm>
            <a:off x="8750808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2D50D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TRANSFORMACIÓN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EFA56241-C964-DFE0-DE33-6E8047D006D5}"/>
              </a:ext>
            </a:extLst>
          </p:cNvPr>
          <p:cNvSpPr/>
          <p:nvPr/>
        </p:nvSpPr>
        <p:spPr>
          <a:xfrm>
            <a:off x="8174736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606CE4F4-46C3-7BC2-C44B-D2F899D5AB16}"/>
              </a:ext>
            </a:extLst>
          </p:cNvPr>
          <p:cNvSpPr/>
          <p:nvPr/>
        </p:nvSpPr>
        <p:spPr>
          <a:xfrm>
            <a:off x="8193024" y="3352619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1CFF58D0-2C77-CB2A-777A-0F6222866A45}"/>
              </a:ext>
            </a:extLst>
          </p:cNvPr>
          <p:cNvSpPr/>
          <p:nvPr/>
        </p:nvSpPr>
        <p:spPr>
          <a:xfrm>
            <a:off x="8467344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Definiciones únicas para toda la organización.</a:t>
            </a:r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F407849F-145E-BA14-78BE-8F13632B5BAB}"/>
              </a:ext>
            </a:extLst>
          </p:cNvPr>
          <p:cNvSpPr/>
          <p:nvPr/>
        </p:nvSpPr>
        <p:spPr>
          <a:xfrm>
            <a:off x="8193024" y="3736667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680B1E5E-EE39-7243-F571-4B7372280D88}"/>
              </a:ext>
            </a:extLst>
          </p:cNvPr>
          <p:cNvSpPr/>
          <p:nvPr/>
        </p:nvSpPr>
        <p:spPr>
          <a:xfrm>
            <a:off x="8467344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Vista ejecutiva y vista detallada del mismo dato.</a:t>
            </a:r>
          </a:p>
        </p:txBody>
      </p:sp>
      <p:sp>
        <p:nvSpPr>
          <p:cNvPr id="82" name="Shape 37">
            <a:extLst>
              <a:ext uri="{FF2B5EF4-FFF2-40B4-BE49-F238E27FC236}">
                <a16:creationId xmlns:a16="http://schemas.microsoft.com/office/drawing/2014/main" id="{DD3BBC7D-C3CE-4D04-8CC8-1BDB055D076C}"/>
              </a:ext>
            </a:extLst>
          </p:cNvPr>
          <p:cNvSpPr/>
          <p:nvPr/>
        </p:nvSpPr>
        <p:spPr>
          <a:xfrm>
            <a:off x="8193024" y="4120715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4" name="Text 38">
            <a:extLst>
              <a:ext uri="{FF2B5EF4-FFF2-40B4-BE49-F238E27FC236}">
                <a16:creationId xmlns:a16="http://schemas.microsoft.com/office/drawing/2014/main" id="{C5B141AD-FBC7-6104-9F52-F5EC7EDEA7C1}"/>
              </a:ext>
            </a:extLst>
          </p:cNvPr>
          <p:cNvSpPr/>
          <p:nvPr/>
        </p:nvSpPr>
        <p:spPr>
          <a:xfrm>
            <a:off x="8467344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Cadencia mensual con responsable por Vicepresidencia.</a:t>
            </a:r>
          </a:p>
        </p:txBody>
      </p:sp>
      <p:sp>
        <p:nvSpPr>
          <p:cNvPr id="86" name="Shape 39">
            <a:extLst>
              <a:ext uri="{FF2B5EF4-FFF2-40B4-BE49-F238E27FC236}">
                <a16:creationId xmlns:a16="http://schemas.microsoft.com/office/drawing/2014/main" id="{310CF701-2538-6FE0-ACAF-BE5FE1254EE8}"/>
              </a:ext>
            </a:extLst>
          </p:cNvPr>
          <p:cNvSpPr/>
          <p:nvPr/>
        </p:nvSpPr>
        <p:spPr>
          <a:xfrm>
            <a:off x="3895344" y="2675963"/>
            <a:ext cx="182880" cy="438912"/>
          </a:xfrm>
          <a:prstGeom prst="chevron">
            <a:avLst/>
          </a:prstGeom>
          <a:solidFill>
            <a:srgbClr val="5A9BD5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8" name="Shape 40">
            <a:extLst>
              <a:ext uri="{FF2B5EF4-FFF2-40B4-BE49-F238E27FC236}">
                <a16:creationId xmlns:a16="http://schemas.microsoft.com/office/drawing/2014/main" id="{CDCBDEDE-7BA3-883E-2AD9-BB890634A4C1}"/>
              </a:ext>
            </a:extLst>
          </p:cNvPr>
          <p:cNvSpPr/>
          <p:nvPr/>
        </p:nvSpPr>
        <p:spPr>
          <a:xfrm>
            <a:off x="7717536" y="2675963"/>
            <a:ext cx="182880" cy="438912"/>
          </a:xfrm>
          <a:prstGeom prst="chevron">
            <a:avLst/>
          </a:prstGeom>
          <a:solidFill>
            <a:srgbClr val="5A9BD5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34EF13B9-DC9B-537E-F306-9E3C2F1D7AB2}"/>
              </a:ext>
            </a:extLst>
          </p:cNvPr>
          <p:cNvSpPr/>
          <p:nvPr/>
        </p:nvSpPr>
        <p:spPr>
          <a:xfrm>
            <a:off x="4411980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Los datos están</a:t>
            </a: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Medirlo no consume capacidad de los equipos y revela palancas que hoy no usamos</a:t>
            </a:r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65D7B153-909C-1464-3181-5B2889ADA9C5}"/>
              </a:ext>
            </a:extLst>
          </p:cNvPr>
          <p:cNvSpPr/>
          <p:nvPr/>
        </p:nvSpPr>
        <p:spPr>
          <a:xfrm>
            <a:off x="8234172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 sistema, no un tablero</a:t>
            </a: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Dato → métrica → conversación → decisión</a:t>
            </a:r>
          </a:p>
          <a:p>
            <a:r>
              <a:rPr lang="es-CO" sz="1400" b="1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 cadencia fija en cada sprint.</a:t>
            </a:r>
          </a:p>
        </p:txBody>
      </p:sp>
    </p:spTree>
    <p:extLst>
      <p:ext uri="{BB962C8B-B14F-4D97-AF65-F5344CB8AC3E}">
        <p14:creationId xmlns:p14="http://schemas.microsoft.com/office/powerpoint/2010/main" val="981990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"/>
          <p:cNvSpPr txBox="1"/>
          <p:nvPr/>
        </p:nvSpPr>
        <p:spPr>
          <a:xfrm>
            <a:off x="822960" y="18745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400" b="1" noProof="0">
                <a:solidFill>
                  <a:srgbClr val="4DAA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· DEMO EN VIVO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822960" y="2240280"/>
            <a:ext cx="9601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3200" b="1" noProof="0" err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Dashboard</a:t>
            </a:r>
            <a:r>
              <a:rPr lang="es-CO" sz="32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 Métricas</a:t>
            </a:r>
          </a:p>
        </p:txBody>
      </p:sp>
      <p:sp>
        <p:nvSpPr>
          <p:cNvPr id="80" name="Shape"/>
          <p:cNvSpPr txBox="1"/>
          <p:nvPr/>
        </p:nvSpPr>
        <p:spPr>
          <a:xfrm>
            <a:off x="868680" y="3611880"/>
            <a:ext cx="3657600" cy="27432"/>
          </a:xfrm>
          <a:prstGeom prst="rect">
            <a:avLst/>
          </a:prstGeom>
          <a:solidFill>
            <a:srgbClr val="4DAAFF"/>
          </a:solidFill>
          <a:ln>
            <a:noFill/>
          </a:ln>
        </p:spPr>
        <p:txBody>
          <a:bodyPr wrap="square" lIns="118872" tIns="91440" rIns="118872" bIns="91440" anchor="t">
            <a:normAutofit fontScale="25000" lnSpcReduction="20000"/>
          </a:bodyPr>
          <a:lstStyle/>
          <a:p>
            <a:pPr>
              <a:buNone/>
            </a:pPr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1" name="TextBox"/>
          <p:cNvSpPr txBox="1"/>
          <p:nvPr/>
        </p:nvSpPr>
        <p:spPr>
          <a:xfrm>
            <a:off x="822960" y="3794760"/>
            <a:ext cx="398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Lead time, 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TTM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Aging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s-CO" sz="130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hroughput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en un solo tablero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822960" y="4572000"/>
            <a:ext cx="1463040" cy="384048"/>
          </a:xfrm>
          <a:prstGeom prst="roundRect">
            <a:avLst>
              <a:gd name="adj" fmla="val 9000"/>
            </a:avLst>
          </a:prstGeom>
          <a:solidFill>
            <a:srgbClr val="4DAAFF"/>
          </a:solidFill>
          <a:ln>
            <a:noFill/>
          </a:ln>
        </p:spPr>
        <p:txBody>
          <a:bodyPr wrap="square" lIns="118872" tIns="91440" rIns="118872" bIns="9144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100" b="1" noProof="0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 VIVO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1E3CB9-5C93-BD64-7BBD-84D1F7877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394" y="1734312"/>
            <a:ext cx="6455840" cy="3426961"/>
          </a:xfrm>
          <a:prstGeom prst="roundRect">
            <a:avLst>
              <a:gd name="adj" fmla="val 7069"/>
            </a:avLst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7B79E76-7D12-9830-D1B0-70BD6F34BBD7}"/>
              </a:ext>
            </a:extLst>
          </p:cNvPr>
          <p:cNvSpPr txBox="1"/>
          <p:nvPr/>
        </p:nvSpPr>
        <p:spPr>
          <a:xfrm>
            <a:off x="1231958" y="1964216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 err="1">
                <a:effectLst/>
                <a:latin typeface="Segoe UI" panose="020B0502040204020203" pitchFamily="34" charset="0"/>
              </a:rPr>
              <a:t>Cycle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Time por etapa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606FBA-4ACC-61D0-4AAD-A384A7D9EDEE}"/>
              </a:ext>
            </a:extLst>
          </p:cNvPr>
          <p:cNvSpPr txBox="1"/>
          <p:nvPr/>
        </p:nvSpPr>
        <p:spPr>
          <a:xfrm>
            <a:off x="1231958" y="3160412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>
                <a:effectLst/>
                <a:latin typeface="Segoe UI" panose="020B0502040204020203" pitchFamily="34" charset="0"/>
              </a:rPr>
              <a:t>Lead time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end-to-end</a:t>
            </a:r>
            <a:endParaRPr lang="es-419" b="1" i="0" noProof="0">
              <a:effectLst/>
              <a:latin typeface="Segoe UI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90263A-EF36-20B1-21B3-DEC73057ECAA}"/>
              </a:ext>
            </a:extLst>
          </p:cNvPr>
          <p:cNvSpPr txBox="1"/>
          <p:nvPr/>
        </p:nvSpPr>
        <p:spPr>
          <a:xfrm>
            <a:off x="1231958" y="5474147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 err="1">
                <a:effectLst/>
                <a:latin typeface="Segoe UI" panose="020B0502040204020203" pitchFamily="34" charset="0"/>
              </a:rPr>
              <a:t>Troughput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30558E-EBC5-7EE4-7C41-8C645A45E633}"/>
              </a:ext>
            </a:extLst>
          </p:cNvPr>
          <p:cNvSpPr txBox="1"/>
          <p:nvPr/>
        </p:nvSpPr>
        <p:spPr>
          <a:xfrm>
            <a:off x="7796390" y="1282424"/>
            <a:ext cx="3414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¿Qué significa?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675EA7-EDB5-0406-3234-AF1A05759C57}"/>
              </a:ext>
            </a:extLst>
          </p:cNvPr>
          <p:cNvSpPr txBox="1"/>
          <p:nvPr/>
        </p:nvSpPr>
        <p:spPr>
          <a:xfrm>
            <a:off x="3785840" y="1269448"/>
            <a:ext cx="3414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¿Qué mide?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B4849A9-CCD2-E1F3-28C9-F108EF3EF2EA}"/>
              </a:ext>
            </a:extLst>
          </p:cNvPr>
          <p:cNvSpPr txBox="1"/>
          <p:nvPr/>
        </p:nvSpPr>
        <p:spPr>
          <a:xfrm>
            <a:off x="1035415" y="1257500"/>
            <a:ext cx="2157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Métrica 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93BC7B-426E-7E0B-A4C6-E1A7103A14A1}"/>
              </a:ext>
            </a:extLst>
          </p:cNvPr>
          <p:cNvSpPr txBox="1"/>
          <p:nvPr/>
        </p:nvSpPr>
        <p:spPr>
          <a:xfrm>
            <a:off x="3785840" y="1964216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de cada etapa del proceso de desarrollo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5AF89A4-7BA6-CE84-4C0A-80E46F73D72B}"/>
              </a:ext>
            </a:extLst>
          </p:cNvPr>
          <p:cNvSpPr txBox="1"/>
          <p:nvPr/>
        </p:nvSpPr>
        <p:spPr>
          <a:xfrm>
            <a:off x="3686174" y="4338496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Sobre la Entrega de valor (</a:t>
            </a:r>
            <a:r>
              <a:rPr lang="es-419" b="0" i="0" noProof="0" err="1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Feature</a:t>
            </a:r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)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C803B8-F76F-5D4B-3310-A1161CB85CD9}"/>
              </a:ext>
            </a:extLst>
          </p:cNvPr>
          <p:cNvSpPr txBox="1"/>
          <p:nvPr/>
        </p:nvSpPr>
        <p:spPr>
          <a:xfrm>
            <a:off x="3785840" y="5474147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Cantidad de elementos terminados en periodo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7A89E65-CF3F-F89F-8825-37AAD6BC1672}"/>
              </a:ext>
            </a:extLst>
          </p:cNvPr>
          <p:cNvSpPr txBox="1"/>
          <p:nvPr/>
        </p:nvSpPr>
        <p:spPr>
          <a:xfrm>
            <a:off x="7796390" y="1964216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tiempo que se toma una etapa dentro del flujo.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A7CFAEF-1B9C-69F7-665C-A66D4EE18993}"/>
              </a:ext>
            </a:extLst>
          </p:cNvPr>
          <p:cNvSpPr txBox="1"/>
          <p:nvPr/>
        </p:nvSpPr>
        <p:spPr>
          <a:xfrm>
            <a:off x="7796390" y="4354222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Que tan rápido la organización entrega valor al cliente (Entrega de valor iterativa e Incremental)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6ED4D29-EEB1-9E43-6FBF-49F6E0DFDC46}"/>
              </a:ext>
            </a:extLst>
          </p:cNvPr>
          <p:cNvSpPr txBox="1"/>
          <p:nvPr/>
        </p:nvSpPr>
        <p:spPr>
          <a:xfrm>
            <a:off x="7796390" y="5474147"/>
            <a:ext cx="3629026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Muestra la capacidad productiva del equipo </a:t>
            </a:r>
            <a:endParaRPr lang="es-419" noProof="0">
              <a:highlight>
                <a:srgbClr val="FFFF00"/>
              </a:highlight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99540A9E-3FF6-73C2-22A0-F9166EE8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037FE97-A6B1-7338-CF4C-15779794FF7D}"/>
              </a:ext>
            </a:extLst>
          </p:cNvPr>
          <p:cNvSpPr txBox="1"/>
          <p:nvPr/>
        </p:nvSpPr>
        <p:spPr>
          <a:xfrm>
            <a:off x="1231958" y="4317280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>
                <a:effectLst/>
                <a:latin typeface="Segoe UI" panose="020B0502040204020203" pitchFamily="34" charset="0"/>
              </a:rPr>
              <a:t>Time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To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market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6981C9-504A-FF4E-0E9A-1EA219AEE48E}"/>
              </a:ext>
            </a:extLst>
          </p:cNvPr>
          <p:cNvSpPr txBox="1"/>
          <p:nvPr/>
        </p:nvSpPr>
        <p:spPr>
          <a:xfrm>
            <a:off x="3780447" y="3134379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Sobre la Iniciativa (Épica)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5FFAD5-B52C-A80F-4324-537D65D51434}"/>
              </a:ext>
            </a:extLst>
          </p:cNvPr>
          <p:cNvSpPr txBox="1"/>
          <p:nvPr/>
        </p:nvSpPr>
        <p:spPr>
          <a:xfrm>
            <a:off x="7796390" y="3134379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Que tan rápido la organización entrega valor la iniciativa </a:t>
            </a:r>
            <a:endParaRPr lang="es-419" noProof="0">
              <a:highlight>
                <a:srgbClr val="FFFF00"/>
              </a:highlight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FBC6144-5148-4658-91F5-28EF6B3B8EA5}"/>
              </a:ext>
            </a:extLst>
          </p:cNvPr>
          <p:cNvSpPr/>
          <p:nvPr/>
        </p:nvSpPr>
        <p:spPr>
          <a:xfrm>
            <a:off x="708448" y="169530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Métricas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B309261-4031-867B-0306-D50DFA954F85}"/>
              </a:ext>
            </a:extLst>
          </p:cNvPr>
          <p:cNvSpPr/>
          <p:nvPr/>
        </p:nvSpPr>
        <p:spPr>
          <a:xfrm>
            <a:off x="981003" y="2948280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F02F4789-D7C5-7311-A2E9-7B17F4C3828D}"/>
              </a:ext>
            </a:extLst>
          </p:cNvPr>
          <p:cNvSpPr/>
          <p:nvPr/>
        </p:nvSpPr>
        <p:spPr>
          <a:xfrm>
            <a:off x="981003" y="4163763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DE8EADBA-CCEB-13DA-755A-8B7D390400E8}"/>
              </a:ext>
            </a:extLst>
          </p:cNvPr>
          <p:cNvSpPr/>
          <p:nvPr/>
        </p:nvSpPr>
        <p:spPr>
          <a:xfrm>
            <a:off x="981003" y="5365135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F7AEAC02-130F-7D57-64CD-B14A697205FD}"/>
              </a:ext>
            </a:extLst>
          </p:cNvPr>
          <p:cNvSpPr/>
          <p:nvPr/>
        </p:nvSpPr>
        <p:spPr>
          <a:xfrm>
            <a:off x="981003" y="1805129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473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2A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C6534-6CE1-73D6-2F3D-FA0A2AF47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3A5925-E184-E1FD-02C7-F07A659F3A3B}"/>
              </a:ext>
            </a:extLst>
          </p:cNvPr>
          <p:cNvSpPr/>
          <p:nvPr/>
        </p:nvSpPr>
        <p:spPr>
          <a:xfrm>
            <a:off x="9875520" y="4754880"/>
            <a:ext cx="3901440" cy="3901440"/>
          </a:xfrm>
          <a:prstGeom prst="ellipse">
            <a:avLst/>
          </a:prstGeom>
          <a:solidFill>
            <a:srgbClr val="2E5FA3">
              <a:alpha val="45000"/>
            </a:srgbClr>
          </a:solidFill>
          <a:ln/>
        </p:spPr>
        <p:txBody>
          <a:bodyPr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DBE276-D65D-5E35-BE0C-BA8543819CAD}"/>
              </a:ext>
            </a:extLst>
          </p:cNvPr>
          <p:cNvSpPr/>
          <p:nvPr/>
        </p:nvSpPr>
        <p:spPr>
          <a:xfrm>
            <a:off x="218173" y="351976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7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Bk" pitchFamily="2" charset="0"/>
                <a:ea typeface="Roboto Bk" pitchFamily="2" charset="0"/>
                <a:cs typeface="Roboto Bk" pitchFamily="2" charset="0"/>
              </a:rPr>
              <a:t>Puntos Claves </a:t>
            </a:r>
            <a:endParaRPr kumimoji="0" lang="es-419" sz="37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Bk" pitchFamily="2" charset="0"/>
              <a:ea typeface="Roboto Bk" pitchFamily="2" charset="0"/>
              <a:cs typeface="Roboto Bk" pitchFamily="2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D8B192-2805-CF94-7D53-98BC152AF7D4}"/>
              </a:ext>
            </a:extLst>
          </p:cNvPr>
          <p:cNvSpPr>
            <a:spLocks noChangeAspect="1"/>
          </p:cNvSpPr>
          <p:nvPr/>
        </p:nvSpPr>
        <p:spPr>
          <a:xfrm>
            <a:off x="842886" y="1516692"/>
            <a:ext cx="576000" cy="577616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Bk" pitchFamily="2" charset="0"/>
                <a:ea typeface="Roboto Bk" pitchFamily="2" charset="0"/>
              </a:rPr>
              <a:t>1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86DABA6-D425-CE9E-280D-B4491743EACB}"/>
              </a:ext>
            </a:extLst>
          </p:cNvPr>
          <p:cNvSpPr/>
          <p:nvPr/>
        </p:nvSpPr>
        <p:spPr>
          <a:xfrm>
            <a:off x="842888" y="2616209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2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9A4D4D2-6C71-E56F-CE3B-62FD992C5115}"/>
              </a:ext>
            </a:extLst>
          </p:cNvPr>
          <p:cNvSpPr/>
          <p:nvPr/>
        </p:nvSpPr>
        <p:spPr>
          <a:xfrm>
            <a:off x="842888" y="3714110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3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E628C18-4E74-2859-5119-3F2C5A35AE84}"/>
              </a:ext>
            </a:extLst>
          </p:cNvPr>
          <p:cNvSpPr/>
          <p:nvPr/>
        </p:nvSpPr>
        <p:spPr>
          <a:xfrm>
            <a:off x="842888" y="4812012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9613C8-5C61-38A3-AB59-9AF312D432A9}"/>
              </a:ext>
            </a:extLst>
          </p:cNvPr>
          <p:cNvSpPr txBox="1"/>
          <p:nvPr/>
        </p:nvSpPr>
        <p:spPr>
          <a:xfrm>
            <a:off x="1539212" y="1499500"/>
            <a:ext cx="867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Cuando una persona tiene asignación en una </a:t>
            </a:r>
            <a:r>
              <a:rPr lang="es-419" sz="160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célula de negocio 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 a su vez temas en el </a:t>
            </a:r>
            <a:r>
              <a:rPr lang="es-419" sz="160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equipo interno 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 que pertenece, debe interactuar con ambos tableros en </a:t>
            </a:r>
            <a:r>
              <a:rPr lang="es-419" sz="160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azure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s-419" sz="1600" noProof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D59A29-B265-6AE2-AF8C-0E65829BF952}"/>
              </a:ext>
            </a:extLst>
          </p:cNvPr>
          <p:cNvSpPr txBox="1"/>
          <p:nvPr/>
        </p:nvSpPr>
        <p:spPr>
          <a:xfrm>
            <a:off x="1539212" y="2611283"/>
            <a:ext cx="867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just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>
                <a:latin typeface="Roboto" pitchFamily="2" charset="0"/>
                <a:ea typeface="Roboto" pitchFamily="2" charset="0"/>
                <a:cs typeface="Roboto" pitchFamily="2" charset="0"/>
              </a:rPr>
              <a:t>Los tiempos de las métricas son calculados con base en las fechas de los </a:t>
            </a:r>
            <a:r>
              <a:rPr lang="es-419" err="1">
                <a:latin typeface="Roboto" pitchFamily="2" charset="0"/>
                <a:ea typeface="Roboto" pitchFamily="2" charset="0"/>
                <a:cs typeface="Roboto" pitchFamily="2" charset="0"/>
              </a:rPr>
              <a:t>work</a:t>
            </a:r>
            <a:r>
              <a:rPr lang="es-419">
                <a:latin typeface="Roboto" pitchFamily="2" charset="0"/>
                <a:ea typeface="Roboto" pitchFamily="2" charset="0"/>
                <a:cs typeface="Roboto" pitchFamily="2" charset="0"/>
              </a:rPr>
              <a:t> ítems, por lo tanto es importante hacer el </a:t>
            </a:r>
            <a:r>
              <a:rPr lang="es-419">
                <a:solidFill>
                  <a:srgbClr val="FFC000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cambio de estados </a:t>
            </a:r>
            <a:r>
              <a:rPr lang="es-419">
                <a:latin typeface="Roboto" pitchFamily="2" charset="0"/>
                <a:ea typeface="Roboto" pitchFamily="2" charset="0"/>
                <a:cs typeface="Roboto" pitchFamily="2" charset="0"/>
              </a:rPr>
              <a:t>en cada etapa en el tiempo adecuado.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869D55-6706-BA02-33DE-E6C0AE18F3B6}"/>
              </a:ext>
            </a:extLst>
          </p:cNvPr>
          <p:cNvSpPr txBox="1"/>
          <p:nvPr/>
        </p:nvSpPr>
        <p:spPr>
          <a:xfrm>
            <a:off x="1539212" y="4807625"/>
            <a:ext cx="8676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s-ES"/>
            </a:defPPr>
            <a:lvl1pPr algn="just">
              <a:defRPr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 sz="1600">
                <a:latin typeface="Roboto" pitchFamily="2" charset="0"/>
                <a:ea typeface="Roboto" pitchFamily="2" charset="0"/>
                <a:cs typeface="Roboto" pitchFamily="2" charset="0"/>
              </a:rPr>
              <a:t>Si tienes dudas sobre el </a:t>
            </a:r>
            <a:r>
              <a:rPr lang="es-419" sz="1600">
                <a:solidFill>
                  <a:srgbClr val="FFC000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manejo de Azure DevOps </a:t>
            </a:r>
            <a:r>
              <a:rPr lang="es-419" sz="1600">
                <a:latin typeface="Roboto" pitchFamily="2" charset="0"/>
                <a:ea typeface="Roboto" pitchFamily="2" charset="0"/>
                <a:cs typeface="Roboto" pitchFamily="2" charset="0"/>
              </a:rPr>
              <a:t>y el manejo de tableros  Azure, comunícate con el equipo de Diseño organizacional y agilidad 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41B9276-F1FE-9CFC-BDA8-C5DF00DC6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EE58E1B0-307C-E21C-9678-EE60306E4EDA}"/>
              </a:ext>
            </a:extLst>
          </p:cNvPr>
          <p:cNvSpPr txBox="1"/>
          <p:nvPr/>
        </p:nvSpPr>
        <p:spPr>
          <a:xfrm>
            <a:off x="1539212" y="3723066"/>
            <a:ext cx="8676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s-ES"/>
            </a:defPPr>
            <a:lvl1pPr algn="just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>
                <a:latin typeface="Roboto" pitchFamily="2" charset="0"/>
                <a:ea typeface="Roboto" pitchFamily="2" charset="0"/>
                <a:cs typeface="Roboto" pitchFamily="2" charset="0"/>
              </a:rPr>
              <a:t>Si quieres profundizar o tienes dudas sobre alguna </a:t>
            </a:r>
            <a:r>
              <a:rPr lang="es-419">
                <a:solidFill>
                  <a:srgbClr val="FFC000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etapa del flujo o sobre los estado </a:t>
            </a:r>
            <a:r>
              <a:rPr lang="es-419">
                <a:latin typeface="Roboto" pitchFamily="2" charset="0"/>
                <a:ea typeface="Roboto" pitchFamily="2" charset="0"/>
                <a:cs typeface="Roboto" pitchFamily="2" charset="0"/>
              </a:rPr>
              <a:t>de los Work Ítems en </a:t>
            </a:r>
            <a:r>
              <a:rPr lang="es-419" err="1">
                <a:latin typeface="Roboto" pitchFamily="2" charset="0"/>
                <a:ea typeface="Roboto" pitchFamily="2" charset="0"/>
                <a:cs typeface="Roboto" pitchFamily="2" charset="0"/>
              </a:rPr>
              <a:t>azure</a:t>
            </a:r>
            <a:r>
              <a:rPr lang="es-419">
                <a:latin typeface="Roboto" pitchFamily="2" charset="0"/>
                <a:ea typeface="Roboto" pitchFamily="2" charset="0"/>
                <a:cs typeface="Roboto" pitchFamily="2" charset="0"/>
              </a:rPr>
              <a:t>, por favor a cada responsables que vimos en la explicación del proceso .</a:t>
            </a:r>
          </a:p>
        </p:txBody>
      </p:sp>
    </p:spTree>
    <p:extLst>
      <p:ext uri="{BB962C8B-B14F-4D97-AF65-F5344CB8AC3E}">
        <p14:creationId xmlns:p14="http://schemas.microsoft.com/office/powerpoint/2010/main" val="3045083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E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D8BE4-930E-7806-7C43-33029C4D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5A9AAB-D70F-5262-FAA3-897A1DEC0E85}"/>
              </a:ext>
            </a:extLst>
          </p:cNvPr>
          <p:cNvSpPr/>
          <p:nvPr/>
        </p:nvSpPr>
        <p:spPr>
          <a:xfrm>
            <a:off x="1133856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FE478A-8E62-8F6A-B952-B996A1F596B5}"/>
              </a:ext>
            </a:extLst>
          </p:cNvPr>
          <p:cNvSpPr/>
          <p:nvPr/>
        </p:nvSpPr>
        <p:spPr>
          <a:xfrm>
            <a:off x="1170432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5C9AFC-4200-F532-3CD3-B82CB9B35AAB}"/>
              </a:ext>
            </a:extLst>
          </p:cNvPr>
          <p:cNvSpPr/>
          <p:nvPr/>
        </p:nvSpPr>
        <p:spPr>
          <a:xfrm>
            <a:off x="1133856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F3E17A-5B0E-6396-F2C3-B5406D1BB052}"/>
              </a:ext>
            </a:extLst>
          </p:cNvPr>
          <p:cNvSpPr/>
          <p:nvPr/>
        </p:nvSpPr>
        <p:spPr>
          <a:xfrm>
            <a:off x="1170432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CFE5C5-48A1-8822-592E-27F3795E5093}"/>
              </a:ext>
            </a:extLst>
          </p:cNvPr>
          <p:cNvSpPr/>
          <p:nvPr/>
        </p:nvSpPr>
        <p:spPr>
          <a:xfrm>
            <a:off x="1097280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6257C1F-6C20-43D6-8E1E-B7DD6FEF7706}"/>
              </a:ext>
            </a:extLst>
          </p:cNvPr>
          <p:cNvSpPr/>
          <p:nvPr/>
        </p:nvSpPr>
        <p:spPr>
          <a:xfrm>
            <a:off x="1097280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DB1FF2-E29A-B5B9-2E93-A0C18B64FAFB}"/>
              </a:ext>
            </a:extLst>
          </p:cNvPr>
          <p:cNvSpPr/>
          <p:nvPr/>
        </p:nvSpPr>
        <p:spPr>
          <a:xfrm>
            <a:off x="1133856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DE40952-0418-CC55-E9D3-D4630C680363}"/>
              </a:ext>
            </a:extLst>
          </p:cNvPr>
          <p:cNvSpPr/>
          <p:nvPr/>
        </p:nvSpPr>
        <p:spPr>
          <a:xfrm>
            <a:off x="1170432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BC9988C-C0AF-D85D-E2D6-0880BCC3AEEC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BCB160-2DF9-7EF0-5A52-FE7E5174FCA1}"/>
              </a:ext>
            </a:extLst>
          </p:cNvPr>
          <p:cNvSpPr/>
          <p:nvPr/>
        </p:nvSpPr>
        <p:spPr>
          <a:xfrm>
            <a:off x="1389333" y="2237867"/>
            <a:ext cx="8476562" cy="171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¡</a:t>
            </a:r>
            <a:r>
              <a:rPr lang="es-419" sz="6000" b="1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Queremos conocer tú opinión sobre la sesión!</a:t>
            </a:r>
            <a:endParaRPr kumimoji="0" lang="es-419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B1BAD3E-2C2A-98DA-A6D5-7E4A844C4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16" name="CuadroTexto 15">
            <a:hlinkClick r:id="rId4"/>
            <a:extLst>
              <a:ext uri="{FF2B5EF4-FFF2-40B4-BE49-F238E27FC236}">
                <a16:creationId xmlns:a16="http://schemas.microsoft.com/office/drawing/2014/main" id="{B34F75DD-F4CD-8192-EBC4-BA292DBD5E14}"/>
              </a:ext>
            </a:extLst>
          </p:cNvPr>
          <p:cNvSpPr txBox="1"/>
          <p:nvPr/>
        </p:nvSpPr>
        <p:spPr>
          <a:xfrm>
            <a:off x="1389333" y="4448076"/>
            <a:ext cx="3702431" cy="5788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419" sz="2800" b="1">
                <a:solidFill>
                  <a:srgbClr val="FFC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Ingresa aquí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03315774-1864-EA9B-DC9E-D8C138472303}"/>
              </a:ext>
            </a:extLst>
          </p:cNvPr>
          <p:cNvSpPr/>
          <p:nvPr/>
        </p:nvSpPr>
        <p:spPr>
          <a:xfrm>
            <a:off x="1389333" y="1218261"/>
            <a:ext cx="4177679" cy="71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Ayúdanos a mejorar</a:t>
            </a:r>
          </a:p>
        </p:txBody>
      </p:sp>
    </p:spTree>
    <p:extLst>
      <p:ext uri="{BB962C8B-B14F-4D97-AF65-F5344CB8AC3E}">
        <p14:creationId xmlns:p14="http://schemas.microsoft.com/office/powerpoint/2010/main" val="581248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Badge User S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42875"/>
            <a:ext cx="1581150" cy="428625"/>
          </a:xfrm>
          <a:prstGeom prst="rect">
            <a:avLst/>
          </a:prstGeom>
        </p:spPr>
      </p:pic>
      <p:sp>
        <p:nvSpPr>
          <p:cNvPr id="60" name="Número etapa"/>
          <p:cNvSpPr/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3600" b="0" i="0" dirty="0">
                <a:solidFill>
                  <a:srgbClr val="FFFFFF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5</a:t>
            </a:r>
          </a:p>
        </p:txBody>
      </p:sp>
      <p:sp>
        <p:nvSpPr>
          <p:cNvPr id="61" name="Título"/>
          <p:cNvSpPr txBox="1"/>
          <p:nvPr/>
        </p:nvSpPr>
        <p:spPr>
          <a:xfrm>
            <a:off x="1524000" y="723900"/>
            <a:ext cx="66675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3733" b="1" i="0" dirty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Proceso de Desarrollo</a:t>
            </a:r>
          </a:p>
        </p:txBody>
      </p:sp>
      <p:sp>
        <p:nvSpPr>
          <p:cNvPr id="62" name="Nombre del flujo"/>
          <p:cNvSpPr txBox="1"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</a:t>
            </a:r>
          </a:p>
        </p:txBody>
      </p:sp>
      <p:pic>
        <p:nvPicPr>
          <p:cNvPr id="63" name="Logo somos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180975"/>
            <a:ext cx="866775" cy="571500"/>
          </a:xfrm>
          <a:prstGeom prst="rect">
            <a:avLst/>
          </a:prstGeom>
        </p:spPr>
      </p:pic>
      <p:sp>
        <p:nvSpPr>
          <p:cNvPr id="64" name="Subtítulo"/>
          <p:cNvSpPr txBox="1"/>
          <p:nvPr/>
        </p:nvSpPr>
        <p:spPr>
          <a:xfrm>
            <a:off x="1524000" y="135255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Rol del Líder de Célula (PO)</a:t>
            </a:r>
          </a:p>
        </p:txBody>
      </p:sp>
      <p:sp>
        <p:nvSpPr>
          <p:cNvPr id="65" name="Panel necesitamos"/>
          <p:cNvSpPr/>
          <p:nvPr/>
        </p:nvSpPr>
        <p:spPr>
          <a:xfrm>
            <a:off x="723900" y="1676400"/>
            <a:ext cx="10944225" cy="1809750"/>
          </a:xfrm>
          <a:prstGeom prst="roundRect">
            <a:avLst>
              <a:gd name="adj" fmla="val 526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66" name="Etiqueta necesitamos"/>
          <p:cNvSpPr txBox="1"/>
          <p:nvPr/>
        </p:nvSpPr>
        <p:spPr>
          <a:xfrm>
            <a:off x="876300" y="18097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necesitamos del Líder de Célula</a:t>
            </a:r>
          </a:p>
        </p:txBody>
      </p:sp>
      <p:sp>
        <p:nvSpPr>
          <p:cNvPr id="67" name="Necesitamos check 1"/>
          <p:cNvSpPr txBox="1"/>
          <p:nvPr/>
        </p:nvSpPr>
        <p:spPr>
          <a:xfrm>
            <a:off x="876300" y="2095500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68" name="Necesitamos 1"/>
          <p:cNvSpPr txBox="1"/>
          <p:nvPr/>
        </p:nvSpPr>
        <p:spPr>
          <a:xfrm>
            <a:off x="1123950" y="2095500"/>
            <a:ext cx="10391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Historias claras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, con criterios de aceptación, antes de empezar: evitan el retrabajo.</a:t>
            </a:r>
          </a:p>
        </p:txBody>
      </p:sp>
      <p:sp>
        <p:nvSpPr>
          <p:cNvPr id="69" name="Necesitamos check 2"/>
          <p:cNvSpPr txBox="1"/>
          <p:nvPr/>
        </p:nvSpPr>
        <p:spPr>
          <a:xfrm>
            <a:off x="876300" y="2419350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70" name="Necesitamos 2"/>
          <p:cNvSpPr txBox="1"/>
          <p:nvPr/>
        </p:nvSpPr>
        <p:spPr>
          <a:xfrm>
            <a:off x="1123950" y="2419350"/>
            <a:ext cx="10391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Respuestas rápidas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a las dudas de negocio y presencia en refinamiento y review.</a:t>
            </a:r>
          </a:p>
        </p:txBody>
      </p:sp>
      <p:sp>
        <p:nvSpPr>
          <p:cNvPr id="71" name="Necesitamos check 3"/>
          <p:cNvSpPr txBox="1"/>
          <p:nvPr/>
        </p:nvSpPr>
        <p:spPr>
          <a:xfrm>
            <a:off x="876300" y="2743200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72" name="Necesitamos 3"/>
          <p:cNvSpPr txBox="1"/>
          <p:nvPr/>
        </p:nvSpPr>
        <p:spPr>
          <a:xfrm>
            <a:off x="1123950" y="2743200"/>
            <a:ext cx="10391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Cambios de alcance conversados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y planeados con el equipo, no agregados sobre la marcha.</a:t>
            </a:r>
          </a:p>
        </p:txBody>
      </p:sp>
      <p:sp>
        <p:nvSpPr>
          <p:cNvPr id="73" name="Necesitamos check 4"/>
          <p:cNvSpPr txBox="1"/>
          <p:nvPr/>
        </p:nvSpPr>
        <p:spPr>
          <a:xfrm>
            <a:off x="876300" y="3067050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74" name="Necesitamos 4"/>
          <p:cNvSpPr txBox="1"/>
          <p:nvPr/>
        </p:nvSpPr>
        <p:spPr>
          <a:xfrm>
            <a:off x="1123950" y="3067050"/>
            <a:ext cx="10391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Priorizar la deuda técnica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que presenta el líder técnico.</a:t>
            </a:r>
          </a:p>
        </p:txBody>
      </p:sp>
      <p:sp>
        <p:nvSpPr>
          <p:cNvPr id="75" name="Panel retrasos"/>
          <p:cNvSpPr/>
          <p:nvPr/>
        </p:nvSpPr>
        <p:spPr>
          <a:xfrm>
            <a:off x="723900" y="3638550"/>
            <a:ext cx="10944225" cy="2457450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9050">
            <a:solidFill>
              <a:srgbClr val="DCE8F8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76" name="Etiqueta retrasos"/>
          <p:cNvSpPr txBox="1"/>
          <p:nvPr/>
        </p:nvSpPr>
        <p:spPr>
          <a:xfrm>
            <a:off x="876300" y="37719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puede retrasar la entrega</a:t>
            </a:r>
          </a:p>
        </p:txBody>
      </p:sp>
      <p:sp>
        <p:nvSpPr>
          <p:cNvPr id="77" name="Retraso alerta 1"/>
          <p:cNvSpPr/>
          <p:nvPr/>
        </p:nvSpPr>
        <p:spPr>
          <a:xfrm>
            <a:off x="876300" y="410527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78" name="Retraso 1"/>
          <p:cNvSpPr txBox="1"/>
          <p:nvPr/>
        </p:nvSpPr>
        <p:spPr>
          <a:xfrm>
            <a:off x="1143000" y="405765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Historias ambiguas: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se construye algo distinto y toca rehacerlo.</a:t>
            </a:r>
          </a:p>
        </p:txBody>
      </p:sp>
      <p:sp>
        <p:nvSpPr>
          <p:cNvPr id="79" name="Retraso alerta 2"/>
          <p:cNvSpPr/>
          <p:nvPr/>
        </p:nvSpPr>
        <p:spPr>
          <a:xfrm>
            <a:off x="876300" y="442912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0" name="Retraso 2"/>
          <p:cNvSpPr txBox="1"/>
          <p:nvPr/>
        </p:nvSpPr>
        <p:spPr>
          <a:xfrm>
            <a:off x="1143000" y="438150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Prioridades que cambian o personas compartidas entre células: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el equipo pierde foco y las historias envejecen.</a:t>
            </a:r>
          </a:p>
        </p:txBody>
      </p:sp>
      <p:sp>
        <p:nvSpPr>
          <p:cNvPr id="81" name="Retraso alerta 3"/>
          <p:cNvSpPr/>
          <p:nvPr/>
        </p:nvSpPr>
        <p:spPr>
          <a:xfrm>
            <a:off x="876300" y="475297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2" name="Retraso 3"/>
          <p:cNvSpPr txBox="1"/>
          <p:nvPr/>
        </p:nvSpPr>
        <p:spPr>
          <a:xfrm>
            <a:off x="1143000" y="470535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Muchas historias abiertas a la vez, o muy grandes: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nada termina.</a:t>
            </a:r>
          </a:p>
        </p:txBody>
      </p:sp>
      <p:sp>
        <p:nvSpPr>
          <p:cNvPr id="83" name="Retraso alerta 4"/>
          <p:cNvSpPr/>
          <p:nvPr/>
        </p:nvSpPr>
        <p:spPr>
          <a:xfrm>
            <a:off x="876300" y="507682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4" name="Retraso 4"/>
          <p:cNvSpPr txBox="1"/>
          <p:nvPr/>
        </p:nvSpPr>
        <p:spPr>
          <a:xfrm>
            <a:off x="1143000" y="502920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Dos iniciativas sobre el mismo módulo: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hay que coordinar los cambios y eso mueve fechas.</a:t>
            </a:r>
          </a:p>
        </p:txBody>
      </p:sp>
      <p:sp>
        <p:nvSpPr>
          <p:cNvPr id="85" name="Retraso alerta 5"/>
          <p:cNvSpPr/>
          <p:nvPr/>
        </p:nvSpPr>
        <p:spPr>
          <a:xfrm>
            <a:off x="876300" y="540067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6" name="Retraso 5"/>
          <p:cNvSpPr txBox="1"/>
          <p:nvPr/>
        </p:nvSpPr>
        <p:spPr>
          <a:xfrm>
            <a:off x="1143000" y="535305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Dependencias de otros equipos o proveedores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(accesos, aprobaciones): esperas en colas ajenas.</a:t>
            </a:r>
          </a:p>
        </p:txBody>
      </p:sp>
      <p:sp>
        <p:nvSpPr>
          <p:cNvPr id="87" name="Retraso alerta 6"/>
          <p:cNvSpPr/>
          <p:nvPr/>
        </p:nvSpPr>
        <p:spPr>
          <a:xfrm>
            <a:off x="876300" y="572452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8" name="Retraso 6"/>
          <p:cNvSpPr txBox="1"/>
          <p:nvPr/>
        </p:nvSpPr>
        <p:spPr>
          <a:xfrm>
            <a:off x="1143000" y="567690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Ambientes no homologados o hallazgos tardíos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(seguridad, pruebas, UAT): retrabajo al final.</a:t>
            </a:r>
          </a:p>
        </p:txBody>
      </p:sp>
      <p:sp>
        <p:nvSpPr>
          <p:cNvPr id="89" name="Franja Bloqueada"/>
          <p:cNvSpPr/>
          <p:nvPr/>
        </p:nvSpPr>
        <p:spPr>
          <a:xfrm>
            <a:off x="723900" y="6229350"/>
            <a:ext cx="109442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DCE8F8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90" name="Bloqueada texto"/>
          <p:cNvSpPr txBox="1"/>
          <p:nvPr/>
        </p:nvSpPr>
        <p:spPr>
          <a:xfrm>
            <a:off x="876300" y="6229350"/>
            <a:ext cx="106394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Cuando algo de esto frena una historia, se marca </a:t>
            </a:r>
            <a:r>
              <a:rPr lang="es-CO" sz="12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Bloqueada</a:t>
            </a: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en Azure DevOps para que sea visible en el tablero y se gestione a tiempo.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Badge User S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42875"/>
            <a:ext cx="1581150" cy="428625"/>
          </a:xfrm>
          <a:prstGeom prst="rect">
            <a:avLst/>
          </a:prstGeom>
        </p:spPr>
      </p:pic>
      <p:sp>
        <p:nvSpPr>
          <p:cNvPr id="228" name="Conector Tested By"/>
          <p:cNvSpPr/>
          <p:nvPr/>
        </p:nvSpPr>
        <p:spPr>
          <a:xfrm>
            <a:off x="2314575" y="342900"/>
            <a:ext cx="1238250" cy="14288"/>
          </a:xfrm>
          <a:prstGeom prst="rect">
            <a:avLst/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29" name="Tested By"/>
          <p:cNvSpPr txBox="1"/>
          <p:nvPr/>
        </p:nvSpPr>
        <p:spPr>
          <a:xfrm>
            <a:off x="2505075" y="381000"/>
            <a:ext cx="8382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Tested By</a:t>
            </a:r>
          </a:p>
        </p:txBody>
      </p:sp>
      <p:pic>
        <p:nvPicPr>
          <p:cNvPr id="230" name="Badge Tes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350" y="133350"/>
            <a:ext cx="1457325" cy="428625"/>
          </a:xfrm>
          <a:prstGeom prst="rect">
            <a:avLst/>
          </a:prstGeom>
        </p:spPr>
      </p:pic>
      <p:sp>
        <p:nvSpPr>
          <p:cNvPr id="231" name="Número etapa"/>
          <p:cNvSpPr/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3600" b="0" i="0" dirty="0">
                <a:solidFill>
                  <a:srgbClr val="FFFFFF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6</a:t>
            </a:r>
          </a:p>
        </p:txBody>
      </p:sp>
      <p:sp>
        <p:nvSpPr>
          <p:cNvPr id="232" name="Título"/>
          <p:cNvSpPr txBox="1"/>
          <p:nvPr/>
        </p:nvSpPr>
        <p:spPr>
          <a:xfrm>
            <a:off x="1590675" y="657225"/>
            <a:ext cx="6667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3733" b="1" i="0" dirty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Pruebas | </a:t>
            </a:r>
            <a:r>
              <a:rPr lang="es-CO" sz="3733" b="1" i="0" dirty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Funcionales</a:t>
            </a:r>
          </a:p>
        </p:txBody>
      </p:sp>
      <p:sp>
        <p:nvSpPr>
          <p:cNvPr id="233" name="Nombre del flujo"/>
          <p:cNvSpPr txBox="1"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</a:t>
            </a:r>
          </a:p>
        </p:txBody>
      </p:sp>
      <p:pic>
        <p:nvPicPr>
          <p:cNvPr id="234" name="Logo somos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5" y="200025"/>
            <a:ext cx="866775" cy="581025"/>
          </a:xfrm>
          <a:prstGeom prst="rect">
            <a:avLst/>
          </a:prstGeom>
        </p:spPr>
      </p:pic>
      <p:sp>
        <p:nvSpPr>
          <p:cNvPr id="235" name="Subtítulo"/>
          <p:cNvSpPr txBox="1"/>
          <p:nvPr/>
        </p:nvSpPr>
        <p:spPr>
          <a:xfrm>
            <a:off x="1590675" y="13525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Rol del Líder de Célula (PO) en la calidad y la UAT</a:t>
            </a:r>
          </a:p>
        </p:txBody>
      </p:sp>
      <p:sp>
        <p:nvSpPr>
          <p:cNvPr id="236" name="Mensaje clave"/>
          <p:cNvSpPr/>
          <p:nvPr/>
        </p:nvSpPr>
        <p:spPr>
          <a:xfrm>
            <a:off x="723900" y="1676400"/>
            <a:ext cx="10944225" cy="419100"/>
          </a:xfrm>
          <a:prstGeom prst="roundRect">
            <a:avLst>
              <a:gd name="adj" fmla="val 18182"/>
            </a:avLst>
          </a:prstGeom>
          <a:solidFill>
            <a:srgbClr val="E8F5F5"/>
          </a:solidFill>
          <a:ln w="19050">
            <a:solidFill>
              <a:srgbClr val="0E9594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37" name="Mensaje clave etiqueta"/>
          <p:cNvSpPr txBox="1"/>
          <p:nvPr/>
        </p:nvSpPr>
        <p:spPr>
          <a:xfrm>
            <a:off x="876300" y="167640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100" cap="all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Mensaje clave</a:t>
            </a:r>
          </a:p>
        </p:txBody>
      </p:sp>
      <p:sp>
        <p:nvSpPr>
          <p:cNvPr id="238" name="Mensaje clave texto"/>
          <p:cNvSpPr txBox="1"/>
          <p:nvPr/>
        </p:nvSpPr>
        <p:spPr>
          <a:xfrm>
            <a:off x="2381250" y="1676400"/>
            <a:ext cx="9144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5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Sin participación activa del Líder de Célula (PO), no hay pruebas realmente efectivas.</a:t>
            </a:r>
          </a:p>
        </p:txBody>
      </p:sp>
      <p:sp>
        <p:nvSpPr>
          <p:cNvPr id="239" name="Etiqueta necesitamos QA"/>
          <p:cNvSpPr txBox="1"/>
          <p:nvPr/>
        </p:nvSpPr>
        <p:spPr>
          <a:xfrm>
            <a:off x="723900" y="224790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necesitamos del Líder de Célula desde el inicio</a:t>
            </a:r>
          </a:p>
        </p:txBody>
      </p:sp>
      <p:sp>
        <p:nvSpPr>
          <p:cNvPr id="240" name="Necesidad QA 1 número"/>
          <p:cNvSpPr/>
          <p:nvPr/>
        </p:nvSpPr>
        <p:spPr>
          <a:xfrm>
            <a:off x="723900" y="2524125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241" name="Necesidad QA 1 título"/>
          <p:cNvSpPr txBox="1"/>
          <p:nvPr/>
        </p:nvSpPr>
        <p:spPr>
          <a:xfrm>
            <a:off x="1066800" y="251460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Historias de usuario bien definidas</a:t>
            </a:r>
          </a:p>
        </p:txBody>
      </p:sp>
      <p:sp>
        <p:nvSpPr>
          <p:cNvPr id="242" name="Necesidad QA 1 detalle"/>
          <p:cNvSpPr txBox="1"/>
          <p:nvPr/>
        </p:nvSpPr>
        <p:spPr>
          <a:xfrm>
            <a:off x="1066800" y="2771775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Objetivo claro · Contexto de negocio · Alcance y fuera de alcance.</a:t>
            </a:r>
          </a:p>
        </p:txBody>
      </p:sp>
      <p:sp>
        <p:nvSpPr>
          <p:cNvPr id="243" name="Necesidad QA 2 número"/>
          <p:cNvSpPr/>
          <p:nvPr/>
        </p:nvSpPr>
        <p:spPr>
          <a:xfrm>
            <a:off x="723900" y="3152775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244" name="Necesidad QA 2 título"/>
          <p:cNvSpPr txBox="1"/>
          <p:nvPr/>
        </p:nvSpPr>
        <p:spPr>
          <a:xfrm>
            <a:off x="1066800" y="314325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Criterios de aceptación concretos y medibles</a:t>
            </a:r>
          </a:p>
        </p:txBody>
      </p:sp>
      <p:sp>
        <p:nvSpPr>
          <p:cNvPr id="245" name="Necesidad QA 2 detalle"/>
          <p:cNvSpPr txBox="1"/>
          <p:nvPr/>
        </p:nvSpPr>
        <p:spPr>
          <a:xfrm>
            <a:off x="1066800" y="3400425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debe pasar · Qué no debe pasar · Qué se considera “terminado”.</a:t>
            </a:r>
          </a:p>
        </p:txBody>
      </p:sp>
      <p:sp>
        <p:nvSpPr>
          <p:cNvPr id="246" name="Necesidad QA 3 número"/>
          <p:cNvSpPr/>
          <p:nvPr/>
        </p:nvSpPr>
        <p:spPr>
          <a:xfrm>
            <a:off x="723900" y="3781425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247" name="Necesidad QA 3 título"/>
          <p:cNvSpPr txBox="1"/>
          <p:nvPr/>
        </p:nvSpPr>
        <p:spPr>
          <a:xfrm>
            <a:off x="1066800" y="377190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Priorización por riesgo e impacto</a:t>
            </a:r>
          </a:p>
        </p:txBody>
      </p:sp>
      <p:sp>
        <p:nvSpPr>
          <p:cNvPr id="248" name="Necesidad QA 3 detalle"/>
          <p:cNvSpPr txBox="1"/>
          <p:nvPr/>
        </p:nvSpPr>
        <p:spPr>
          <a:xfrm>
            <a:off x="1066800" y="4029075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es crítico para el cliente y el negocio · Qué debe probarse primero.</a:t>
            </a:r>
          </a:p>
        </p:txBody>
      </p:sp>
      <p:sp>
        <p:nvSpPr>
          <p:cNvPr id="249" name="Necesidad QA 4 número"/>
          <p:cNvSpPr/>
          <p:nvPr/>
        </p:nvSpPr>
        <p:spPr>
          <a:xfrm>
            <a:off x="723900" y="4410075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250" name="Necesidad QA 4 título"/>
          <p:cNvSpPr txBox="1"/>
          <p:nvPr/>
        </p:nvSpPr>
        <p:spPr>
          <a:xfrm>
            <a:off x="1066800" y="440055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Disponibilidad para resolver dudas rápido</a:t>
            </a:r>
          </a:p>
        </p:txBody>
      </p:sp>
      <p:sp>
        <p:nvSpPr>
          <p:cNvPr id="251" name="Necesidad QA 4 detalle"/>
          <p:cNvSpPr txBox="1"/>
          <p:nvPr/>
        </p:nvSpPr>
        <p:spPr>
          <a:xfrm>
            <a:off x="1066800" y="4657725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Evita bloqueos y suposiciones en QA · Mejora los tiempos de ejecución.</a:t>
            </a:r>
          </a:p>
        </p:txBody>
      </p:sp>
      <p:sp>
        <p:nvSpPr>
          <p:cNvPr id="252" name="Necesidad QA 5 número"/>
          <p:cNvSpPr/>
          <p:nvPr/>
        </p:nvSpPr>
        <p:spPr>
          <a:xfrm>
            <a:off x="723900" y="5038725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253" name="Necesidad QA 5 título"/>
          <p:cNvSpPr txBox="1"/>
          <p:nvPr/>
        </p:nvSpPr>
        <p:spPr>
          <a:xfrm>
            <a:off x="1066800" y="502920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Liderazgo en la UAT</a:t>
            </a:r>
          </a:p>
        </p:txBody>
      </p:sp>
      <p:sp>
        <p:nvSpPr>
          <p:cNvPr id="254" name="Necesidad QA 5 detalle"/>
          <p:cNvSpPr txBox="1"/>
          <p:nvPr/>
        </p:nvSpPr>
        <p:spPr>
          <a:xfrm>
            <a:off x="1066800" y="5286375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Valida el valor de negocio, no solo el funcionamiento técnico · Da aprobación informada para la salida a producción.</a:t>
            </a:r>
          </a:p>
        </p:txBody>
      </p:sp>
      <p:sp>
        <p:nvSpPr>
          <p:cNvPr id="255" name="Panel impacto"/>
          <p:cNvSpPr/>
          <p:nvPr/>
        </p:nvSpPr>
        <p:spPr>
          <a:xfrm>
            <a:off x="6858000" y="2247900"/>
            <a:ext cx="4819650" cy="3390900"/>
          </a:xfrm>
          <a:prstGeom prst="roundRect">
            <a:avLst>
              <a:gd name="adj" fmla="val 2809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56" name="Etiqueta impacto"/>
          <p:cNvSpPr txBox="1"/>
          <p:nvPr/>
        </p:nvSpPr>
        <p:spPr>
          <a:xfrm>
            <a:off x="7010400" y="2381250"/>
            <a:ext cx="4514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Impacto directo de su participación</a:t>
            </a:r>
          </a:p>
        </p:txBody>
      </p:sp>
      <p:sp>
        <p:nvSpPr>
          <p:cNvPr id="257" name="Impacto check 1"/>
          <p:cNvSpPr txBox="1"/>
          <p:nvPr/>
        </p:nvSpPr>
        <p:spPr>
          <a:xfrm>
            <a:off x="7010400" y="2724150"/>
            <a:ext cx="1714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258" name="Impacto 1"/>
          <p:cNvSpPr txBox="1"/>
          <p:nvPr/>
        </p:nvSpPr>
        <p:spPr>
          <a:xfrm>
            <a:off x="7258050" y="27241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Mejor planeación de pruebas</a:t>
            </a:r>
          </a:p>
        </p:txBody>
      </p:sp>
      <p:sp>
        <p:nvSpPr>
          <p:cNvPr id="259" name="Impacto check 2"/>
          <p:cNvSpPr txBox="1"/>
          <p:nvPr/>
        </p:nvSpPr>
        <p:spPr>
          <a:xfrm>
            <a:off x="7010400" y="3143250"/>
            <a:ext cx="1714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260" name="Impacto 2"/>
          <p:cNvSpPr txBox="1"/>
          <p:nvPr/>
        </p:nvSpPr>
        <p:spPr>
          <a:xfrm>
            <a:off x="7258050" y="31432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Casos de prueba más útiles</a:t>
            </a:r>
          </a:p>
        </p:txBody>
      </p:sp>
      <p:sp>
        <p:nvSpPr>
          <p:cNvPr id="261" name="Impacto check 3"/>
          <p:cNvSpPr txBox="1"/>
          <p:nvPr/>
        </p:nvSpPr>
        <p:spPr>
          <a:xfrm>
            <a:off x="7010400" y="3562350"/>
            <a:ext cx="1714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262" name="Impacto 3"/>
          <p:cNvSpPr txBox="1"/>
          <p:nvPr/>
        </p:nvSpPr>
        <p:spPr>
          <a:xfrm>
            <a:off x="7258050" y="35623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Menos defectos en producción</a:t>
            </a:r>
          </a:p>
        </p:txBody>
      </p:sp>
      <p:sp>
        <p:nvSpPr>
          <p:cNvPr id="263" name="Impacto check 4"/>
          <p:cNvSpPr txBox="1"/>
          <p:nvPr/>
        </p:nvSpPr>
        <p:spPr>
          <a:xfrm>
            <a:off x="7010400" y="3981450"/>
            <a:ext cx="1714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264" name="Impacto 4"/>
          <p:cNvSpPr txBox="1"/>
          <p:nvPr/>
        </p:nvSpPr>
        <p:spPr>
          <a:xfrm>
            <a:off x="7258050" y="39814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UAT más ágil, con menos rechazos</a:t>
            </a:r>
          </a:p>
        </p:txBody>
      </p:sp>
      <p:sp>
        <p:nvSpPr>
          <p:cNvPr id="265" name="Impacto check 5"/>
          <p:cNvSpPr txBox="1"/>
          <p:nvPr/>
        </p:nvSpPr>
        <p:spPr>
          <a:xfrm>
            <a:off x="7010400" y="4400550"/>
            <a:ext cx="1714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266" name="Impacto 5"/>
          <p:cNvSpPr txBox="1"/>
          <p:nvPr/>
        </p:nvSpPr>
        <p:spPr>
          <a:xfrm>
            <a:off x="7258050" y="44005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Mayor confianza en cada release</a:t>
            </a:r>
          </a:p>
        </p:txBody>
      </p:sp>
      <p:sp>
        <p:nvSpPr>
          <p:cNvPr id="267" name="Frase final"/>
          <p:cNvSpPr/>
          <p:nvPr/>
        </p:nvSpPr>
        <p:spPr>
          <a:xfrm>
            <a:off x="723900" y="5791200"/>
            <a:ext cx="10944225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CE8F8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68" name="Frase final texto"/>
          <p:cNvSpPr txBox="1"/>
          <p:nvPr/>
        </p:nvSpPr>
        <p:spPr>
          <a:xfrm>
            <a:off x="876300" y="5791200"/>
            <a:ext cx="106394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300" b="0" i="1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“Un buen Líder de Célula (PO) no solo define qué construir; ayuda a asegurar que se entregue con calidad y valor para el negocio.”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5FD0307304214FB5CD3ADFC21A5AFE" ma:contentTypeVersion="18" ma:contentTypeDescription="Crear nuevo documento." ma:contentTypeScope="" ma:versionID="63c7afbcbcd85ba52e1cc77ee02c33ee">
  <xsd:schema xmlns:xsd="http://www.w3.org/2001/XMLSchema" xmlns:xs="http://www.w3.org/2001/XMLSchema" xmlns:p="http://schemas.microsoft.com/office/2006/metadata/properties" xmlns:ns2="641c25db-f016-4914-8ea0-1a2c022779db" xmlns:ns3="311d0862-5dc9-4442-ab80-e2bd269f3cfd" targetNamespace="http://schemas.microsoft.com/office/2006/metadata/properties" ma:root="true" ma:fieldsID="c63bdff702f621004473b594326d6ef3" ns2:_="" ns3:_="">
    <xsd:import namespace="641c25db-f016-4914-8ea0-1a2c022779db"/>
    <xsd:import namespace="311d0862-5dc9-4442-ab80-e2bd269f3c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c25db-f016-4914-8ea0-1a2c022779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76691495-65bb-4c78-877a-9d1104d2b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3" nillable="true" ma:displayName="Estado de aprobación" ma:internalName="Estado_x0020_de_x0020_aprobaci_x00f3_n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1d0862-5dc9-4442-ab80-e2bd269f3cf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2787e1d-ca23-47ec-a0b5-183214928c3f}" ma:internalName="TaxCatchAll" ma:showField="CatchAllData" ma:web="311d0862-5dc9-4442-ab80-e2bd269f3c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1c25db-f016-4914-8ea0-1a2c022779db">
      <Terms xmlns="http://schemas.microsoft.com/office/infopath/2007/PartnerControls"/>
    </lcf76f155ced4ddcb4097134ff3c332f>
    <TaxCatchAll xmlns="311d0862-5dc9-4442-ab80-e2bd269f3cfd" xsi:nil="true"/>
    <_Flow_SignoffStatus xmlns="641c25db-f016-4914-8ea0-1a2c022779db" xsi:nil="true"/>
  </documentManagement>
</p:properties>
</file>

<file path=customXml/itemProps1.xml><?xml version="1.0" encoding="utf-8"?>
<ds:datastoreItem xmlns:ds="http://schemas.openxmlformats.org/officeDocument/2006/customXml" ds:itemID="{B48A1727-0026-4B81-BC66-EEBE0682B56A}">
  <ds:schemaRefs>
    <ds:schemaRef ds:uri="311d0862-5dc9-4442-ab80-e2bd269f3cfd"/>
    <ds:schemaRef ds:uri="641c25db-f016-4914-8ea0-1a2c022779d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B6D6EB5-F5FC-4465-930A-9BD3DF979A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0C35C8-FB52-4885-BCCE-DD9624B033D3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311d0862-5dc9-4442-ab80-e2bd269f3cfd"/>
    <ds:schemaRef ds:uri="641c25db-f016-4914-8ea0-1a2c022779d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5337</Words>
  <Application>Microsoft Office PowerPoint</Application>
  <PresentationFormat>Panorámica</PresentationFormat>
  <Paragraphs>941</Paragraphs>
  <Slides>34</Slides>
  <Notes>24</Notes>
  <HiddenSlides>11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34</vt:i4>
      </vt:variant>
    </vt:vector>
  </HeadingPairs>
  <TitlesOfParts>
    <vt:vector size="49" baseType="lpstr">
      <vt:lpstr>Aptos</vt:lpstr>
      <vt:lpstr>Aptos Display</vt:lpstr>
      <vt:lpstr>Aptos Narrow</vt:lpstr>
      <vt:lpstr>Arial</vt:lpstr>
      <vt:lpstr>Calibri</vt:lpstr>
      <vt:lpstr>Roboto</vt:lpstr>
      <vt:lpstr>Roboto Bk</vt:lpstr>
      <vt:lpstr>Roboto Black</vt:lpstr>
      <vt:lpstr>Roboto Condensed</vt:lpstr>
      <vt:lpstr>Roboto Condensed Light</vt:lpstr>
      <vt:lpstr>Segoe UI</vt:lpstr>
      <vt:lpstr>Symbol</vt:lpstr>
      <vt:lpstr>Wingdings</vt:lpstr>
      <vt:lpstr>Tema de Office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Luisa Fernanda Mejia Gallego</dc:creator>
  <cp:lastModifiedBy>Estiben Alexander Licona Urrego</cp:lastModifiedBy>
  <cp:revision>1</cp:revision>
  <dcterms:created xsi:type="dcterms:W3CDTF">2026-05-31T11:33:32Z</dcterms:created>
  <dcterms:modified xsi:type="dcterms:W3CDTF">2026-09-16T15:11:39Z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0x010100DF5FD0307304214FB5CD3ADFC21A5AFE</vt:lpwstr>
  </property>
  <property fmtid="{D5CDD505-2E9C-101B-9397-08002B2CF9AE}" pid="3" name="MediaServiceImageTags">
    <vt:lpwstr/>
  </property>
  <property fmtid="{D5CDD505-2E9C-101B-9397-08002B2CF9AE}" pid="4" name="MSIP_Label_d8f7f365-b427-4282-afe7-7dfd95b65c6f_Name">
    <vt:lpwstr>slinternaEmpleados</vt:lpwstr>
  </property>
  <property fmtid="{D5CDD505-2E9C-101B-9397-08002B2CF9AE}" pid="5" name="ClassificationContentMarkingFooterText">
    <vt:lpwstr>Este documento es propiedad de Tuya S.A. Su contenido es confidencial y está protegido por las políticas de seguridad de la compañía. El uso indebido, reproducción o divulgación no autorizada está estrictamente prohibido.</vt:lpwstr>
  </property>
  <property fmtid="{D5CDD505-2E9C-101B-9397-08002B2CF9AE}" pid="6" name="MSIP_Label_d8f7f365-b427-4282-afe7-7dfd95b65c6f_Enabled">
    <vt:lpwstr>true</vt:lpwstr>
  </property>
  <property fmtid="{D5CDD505-2E9C-101B-9397-08002B2CF9AE}" pid="7" name="MSIP_Label_d8f7f365-b427-4282-afe7-7dfd95b65c6f_SetDate">
    <vt:lpwstr>2026-06-24T18:51:43Z</vt:lpwstr>
  </property>
  <property fmtid="{D5CDD505-2E9C-101B-9397-08002B2CF9AE}" pid="8" name="ClassificationContentMarkingFooterLocations">
    <vt:lpwstr>Tema de Office:8\1_Office Theme:3</vt:lpwstr>
  </property>
  <property fmtid="{D5CDD505-2E9C-101B-9397-08002B2CF9AE}" pid="9" name="MSIP_Label_d8f7f365-b427-4282-afe7-7dfd95b65c6f_SiteId">
    <vt:lpwstr>ccf84c1f-f8cb-4f9f-9b55-52ebf4269636</vt:lpwstr>
  </property>
  <property fmtid="{D5CDD505-2E9C-101B-9397-08002B2CF9AE}" pid="10" name="MSIP_Label_d8f7f365-b427-4282-afe7-7dfd95b65c6f_ContentBits">
    <vt:lpwstr>2</vt:lpwstr>
  </property>
  <property fmtid="{D5CDD505-2E9C-101B-9397-08002B2CF9AE}" pid="11" name="MSIP_Label_d8f7f365-b427-4282-afe7-7dfd95b65c6f_Method">
    <vt:lpwstr>Standard</vt:lpwstr>
  </property>
  <property fmtid="{D5CDD505-2E9C-101B-9397-08002B2CF9AE}" pid="12" name="MSIP_Label_d8f7f365-b427-4282-afe7-7dfd95b65c6f_Tag">
    <vt:lpwstr>10, 3, 0, 1</vt:lpwstr>
  </property>
  <property fmtid="{D5CDD505-2E9C-101B-9397-08002B2CF9AE}" pid="13" name="MSIP_Label_d8f7f365-b427-4282-afe7-7dfd95b65c6f_ActionId">
    <vt:lpwstr>def344a5-363b-4ca7-8785-9d036c0dc52e</vt:lpwstr>
  </property>
</Properties>
</file>