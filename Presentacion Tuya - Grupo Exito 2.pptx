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147483638" r:id="rId3"/>
    <p:sldId id="258" r:id="rId4"/>
    <p:sldId id="2147483627" r:id="rId5"/>
    <p:sldId id="2147483635" r:id="rId6"/>
    <p:sldId id="2147483622" r:id="rId7"/>
    <p:sldId id="2147483636" r:id="rId8"/>
    <p:sldId id="2147483620" r:id="rId9"/>
    <p:sldId id="2147483621" r:id="rId10"/>
    <p:sldId id="2147483631" r:id="rId11"/>
    <p:sldId id="2147483634" r:id="rId12"/>
    <p:sldId id="2147483637" r:id="rId13"/>
    <p:sldId id="2147483632" r:id="rId14"/>
    <p:sldId id="2147483639" r:id="rId15"/>
    <p:sldId id="2147483645" r:id="rId16"/>
    <p:sldId id="257" r:id="rId17"/>
    <p:sldId id="2147483647" r:id="rId18"/>
    <p:sldId id="2147483643" r:id="rId19"/>
    <p:sldId id="2147483644" r:id="rId20"/>
    <p:sldId id="259" r:id="rId21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0E1A"/>
    <a:srgbClr val="F0EEE9"/>
    <a:srgbClr val="002060"/>
    <a:srgbClr val="5162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5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017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D4221-0213-2EA5-4D89-0DB25BC1E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F4D06C-A9AF-254E-DECE-9A0EB90E23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B9703C-F09D-9D9C-9B78-9F9A23460D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70B5C2-DC72-D8DD-C96B-484F7DDCF6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21084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CBE51-C932-7456-1285-1E8AD703F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84F4BD-537B-8DF1-5906-3C1802A3D4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F55D30-6C80-A72E-681F-32B17D8767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Trabajar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Situation – </a:t>
            </a:r>
            <a:r>
              <a:rPr lang="en-US" err="1"/>
              <a:t>Oportunidad</a:t>
            </a:r>
            <a:r>
              <a:rPr lang="en-US"/>
              <a:t> – Transformación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3CF93E-0C28-AA95-84BF-CA3C5A60DD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01199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1D65B-4352-6B21-0348-71197CE2B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DAE605-5B76-2E75-7112-4975F2B448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A92A66-41A2-5C85-E2A9-BAD73D196F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15A051-3AE4-CD7E-7A64-40B831D7C8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85708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8D56B-4FFC-84ED-7405-7336193FA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E18FA5-0ABE-A807-7138-767311FB4B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0F1EA4-1CA4-F245-A83C-CBE7D5F828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200" b="0" i="0" u="none" strike="noStrike" kern="1200" cap="none" spc="0" normalizeH="0" baseline="0" noProof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Tenemos una oportunidad en reducir los tiempos de llegada al valor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200" b="0" i="0" u="none" strike="noStrike" kern="1200" cap="none" spc="0" normalizeH="0" baseline="0" noProof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2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Del tiempo total que tarde una iniciativa en llegar al valor, 53 días ocurren antes de que el trabajo se active formalmente </a:t>
            </a:r>
            <a:endParaRPr lang="es-CO" sz="1200" b="1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200" b="0" i="0" u="none" strike="noStrike" kern="1200" cap="none" spc="0" normalizeH="0" baseline="0" noProof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3DB3A4-FF4D-4A31-7A61-3D2F491337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30269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AFBB2-AA7C-E2C8-18FA-6506650E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F9DB00-6DE8-09D5-3BAB-A175A75BFD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111CEB-353B-F825-C849-867EA3B65C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F6112-73EE-10D8-C742-4BE48B1354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26064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74F29-351F-8BEA-95B1-F0B6BB2F8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7238FD-3A98-BDA1-B209-98F2E7BAE3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1B0D60-116A-8A4F-D278-1C3A435C8B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60C87E-A483-FEDC-43A6-DECF785F3C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21181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94846-C9D0-CA48-B7CD-28E41A814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EB4D60-E949-AF19-437B-FFFCA2DAC3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D1A5C1-36E5-648F-765F-62F34B9490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Mucha Info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B56D2-8547-6ADF-6E17-579D82C9C0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1019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78B75-61C8-DE01-239C-B8B9632A5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45DD14-0AD4-A994-0BE2-04A085940B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0B9D3B-6CDD-D8A6-D9DC-2223224EFA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22C380-C706-C7DB-6C58-94039EF05A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00884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EFFFF-56EC-4DE9-BF98-EFB986284DE3}" type="slidenum">
              <a:rPr lang="es-CO" smtClean="0"/>
              <a:t>11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07543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CCCBB-206B-6B7C-67B0-3A01D3652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99D85E6-057B-EFA3-6813-5CE9D213FE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F843066-0087-65AE-94FB-D072FDF90C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Mucho </a:t>
            </a:r>
            <a:r>
              <a:rPr lang="es-MX" err="1"/>
              <a:t>Info</a:t>
            </a:r>
            <a:r>
              <a:rPr lang="es-MX"/>
              <a:t> </a:t>
            </a:r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7C7D35F-0958-68D9-A33B-DCB7338C30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EFFFF-56EC-4DE9-BF98-EFB986284DE3}" type="slidenum">
              <a:rPr kumimoji="0" lang="es-CO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62095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D998B-5C66-1E8A-7B38-2D69CCD03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480FF7-FD5A-58C3-EF94-C90E1D27D3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17B7D2-430A-3CEB-C9F4-CF0FAD92AC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0E05C9-41C3-AEB1-B4E4-99E32372FA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46389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BDD42-B0C0-9DD9-F077-4A092D543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BD9A3E9-B596-FCC8-AC99-5D0E3B1C99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5A27F2E-BB5B-FCC3-9BBC-8EF7BADFAF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AFDA255-2144-BB3D-896B-8655E92066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EFFFF-56EC-4DE9-BF98-EFB986284DE3}" type="slidenum">
              <a:rPr kumimoji="0" lang="es-CO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35100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Contenido adaptado de Atlas_Evolucion_Ingenieria_Plataforma_v4.pptx, slides 3–6.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Contenido adaptado de Atlas_Evolucion_Ingenieria_Plataforma_v4.pptx, slides 7–12.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Estructura de equipo suministrada por el usuario: 15 FTE, compuestos por 10 actuales y 5 perfiles adicionales.
- Atlas_Evolucion_Ingenieria_Plataforma_v4.pptx, slides 9–12.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AD7FC-DE5C-4BBB-77CB-C8FC10D95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7DA59E-75A9-FB80-C243-42633C9558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1772F5-AF91-8901-5F3F-FA468CFB1D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11A1E-2E10-080B-078F-98A4722D19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67012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25852-86CE-B309-97C4-89A6F54CB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81210-4259-9B4E-415E-87E15258E9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483599-6D47-0774-B51C-AD68133FF1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81E439-AE62-4BEC-9E28-AC573AD598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7450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713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7220" y="9779508"/>
            <a:ext cx="9601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7481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Tuya S.A. · Evolución hacia Ingeniería de Plataforma</a:t>
            </a:r>
            <a:endParaRPr lang="en-US" sz="1200"/>
          </a:p>
        </p:txBody>
      </p:sp>
      <p:sp>
        <p:nvSpPr>
          <p:cNvPr id="3" name="Shape 1"/>
          <p:cNvSpPr/>
          <p:nvPr/>
        </p:nvSpPr>
        <p:spPr>
          <a:xfrm>
            <a:off x="617220" y="9628632"/>
            <a:ext cx="17048988" cy="0"/>
          </a:xfrm>
          <a:prstGeom prst="line">
            <a:avLst/>
          </a:prstGeom>
          <a:noFill/>
          <a:ln w="7620">
            <a:solidFill>
              <a:srgbClr val="203167"/>
            </a:solidFill>
            <a:prstDash val="solid"/>
          </a:ln>
        </p:spPr>
        <p:txBody>
          <a:bodyPr/>
          <a:lstStyle/>
          <a:p>
            <a:endParaRPr lang="es-CO" sz="27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802100" y="9779508"/>
            <a:ext cx="754380" cy="2468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7481A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390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5B4DB86-CF4C-5361-865A-C4921E152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95B1E-8C55-4E63-8227-A9EF2FF6EBFE}" type="datetimeFigureOut">
              <a:rPr lang="es-CO" smtClean="0"/>
              <a:t>7/09/2026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7B878CE-AC3B-56F8-7E94-A6F1A8485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5FA178-0B5B-D57C-4EE9-6488F1AE1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AFA4-4218-4F10-8756-B8A9802CA4A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21037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UYA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" y="521208"/>
            <a:ext cx="16774668" cy="0"/>
          </a:xfrm>
          <a:prstGeom prst="line">
            <a:avLst/>
          </a:prstGeom>
          <a:noFill/>
          <a:ln w="1016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795528" y="164592"/>
            <a:ext cx="4800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95">
                <a:solidFill>
                  <a:srgbClr val="867F71"/>
                </a:solidFill>
              </a:rPr>
              <a:t>TUYA  |  EVOLUCIÓN DE TI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14470380" y="164592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165">
                <a:solidFill>
                  <a:srgbClr val="867F71"/>
                </a:solidFill>
              </a:rPr>
              <a:t>COMITÉ DE PRESIDENCIA</a:t>
            </a:r>
            <a:endParaRPr lang="en-US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213580" y="9820656"/>
            <a:ext cx="1200000" cy="45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50">
                <a:solidFill>
                  <a:srgbClr val="867F7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586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1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EE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786705"/>
            <a:ext cx="551111" cy="4191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694111" y="805755"/>
            <a:ext cx="9525" cy="381000"/>
          </a:xfrm>
          <a:prstGeom prst="rect">
            <a:avLst/>
          </a:prstGeom>
          <a:solidFill>
            <a:srgbClr val="DEDBD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1"/>
          <p:cNvSpPr/>
          <p:nvPr/>
        </p:nvSpPr>
        <p:spPr>
          <a:xfrm>
            <a:off x="13940144" y="704850"/>
            <a:ext cx="3433456" cy="620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70000"/>
              </a:lnSpc>
              <a:buNone/>
            </a:pPr>
            <a:r>
              <a:rPr lang="en-US" sz="1350" kern="0" spc="162">
                <a:solidFill>
                  <a:srgbClr val="867F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INTERCAMBIO DE CONOCIMIENTO VISTA DE ALTO NIVEL</a:t>
            </a:r>
            <a:endParaRPr lang="en-US" sz="1350"/>
          </a:p>
        </p:txBody>
      </p:sp>
      <p:sp>
        <p:nvSpPr>
          <p:cNvPr id="6" name="Text 2"/>
          <p:cNvSpPr/>
          <p:nvPr/>
        </p:nvSpPr>
        <p:spPr>
          <a:xfrm>
            <a:off x="914400" y="2430661"/>
            <a:ext cx="1451991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425" b="1" kern="0" spc="285">
                <a:solidFill>
                  <a:srgbClr val="FF0000"/>
                </a:solidFill>
                <a:latin typeface="Roboto Bk" pitchFamily="2" charset="0"/>
                <a:ea typeface="Roboto Bk" pitchFamily="2" charset="0"/>
                <a:cs typeface="Courier New" pitchFamily="34" charset="-120"/>
              </a:rPr>
              <a:t>TUYA</a:t>
            </a:r>
            <a:endParaRPr lang="en-US" sz="1425">
              <a:solidFill>
                <a:srgbClr val="FF0000"/>
              </a:solidFill>
              <a:latin typeface="Roboto Bk" pitchFamily="2" charset="0"/>
              <a:ea typeface="Roboto Bk" pitchFamily="2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914400" y="2887861"/>
            <a:ext cx="14519910" cy="2614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6900" b="1" kern="0" spc="-207">
                <a:solidFill>
                  <a:srgbClr val="1A1714"/>
                </a:solidFill>
                <a:latin typeface="Roboto Bk" pitchFamily="2" charset="0"/>
                <a:ea typeface="Roboto Bk" pitchFamily="2" charset="0"/>
                <a:cs typeface="Helvetica" pitchFamily="34" charset="-120"/>
              </a:rPr>
              <a:t>CARATULA</a:t>
            </a:r>
            <a:endParaRPr lang="en-US" sz="6900">
              <a:latin typeface="Roboto Bk" pitchFamily="2" charset="0"/>
              <a:ea typeface="Roboto Bk" pitchFamily="2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914400" y="4419004"/>
            <a:ext cx="1451991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3200" b="1" kern="0" spc="-29" err="1">
                <a:solidFill>
                  <a:srgbClr val="FF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Dónde</a:t>
            </a:r>
            <a:r>
              <a:rPr lang="en-US" sz="3200" b="1" kern="0" spc="-29">
                <a:solidFill>
                  <a:srgbClr val="FF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</a:t>
            </a:r>
            <a:r>
              <a:rPr lang="en-US" sz="3200" b="1" kern="0" spc="-29" err="1">
                <a:solidFill>
                  <a:srgbClr val="FF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ya</a:t>
            </a:r>
            <a:r>
              <a:rPr lang="en-US" sz="3200" b="1" kern="0" spc="-29">
                <a:solidFill>
                  <a:srgbClr val="FF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</a:t>
            </a:r>
            <a:r>
              <a:rPr lang="en-US" sz="3200" b="1" kern="0" spc="-29" err="1">
                <a:solidFill>
                  <a:srgbClr val="FF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estamos</a:t>
            </a:r>
            <a:r>
              <a:rPr lang="en-US" sz="3200" b="1" kern="0" spc="-29">
                <a:solidFill>
                  <a:srgbClr val="FF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</a:t>
            </a:r>
            <a:r>
              <a:rPr lang="en-US" sz="3200" b="1" kern="0" spc="-29" err="1">
                <a:solidFill>
                  <a:srgbClr val="FF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avanzando</a:t>
            </a:r>
            <a:r>
              <a:rPr lang="en-US" sz="3200" b="1" kern="0" spc="-29">
                <a:solidFill>
                  <a:srgbClr val="FF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.</a:t>
            </a:r>
            <a:endParaRPr lang="en-US" sz="3200">
              <a:solidFill>
                <a:srgbClr val="FF0000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9163050"/>
            <a:ext cx="16459200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E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B87E3B-D602-CC4E-B5C7-C58F8A5A8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2647411-DA13-7700-8F9D-E819AE83542C}"/>
              </a:ext>
            </a:extLst>
          </p:cNvPr>
          <p:cNvSpPr/>
          <p:nvPr/>
        </p:nvSpPr>
        <p:spPr>
          <a:xfrm>
            <a:off x="914400" y="704850"/>
            <a:ext cx="1695297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25" b="1" i="0" u="none" strike="noStrike" kern="0" cap="none" spc="28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QUE VEREMOS HOY</a:t>
            </a:r>
            <a:endParaRPr kumimoji="0" lang="en-US" sz="1425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3458609-6865-B424-04D1-B7C4FFAAFE19}"/>
              </a:ext>
            </a:extLst>
          </p:cNvPr>
          <p:cNvSpPr/>
          <p:nvPr/>
        </p:nvSpPr>
        <p:spPr>
          <a:xfrm>
            <a:off x="914400" y="1803400"/>
            <a:ext cx="16952976" cy="567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50" b="1" i="0" u="none" strike="noStrike" kern="0" cap="none" spc="-81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itchFamily="34" charset="0"/>
                <a:ea typeface="Helvetica" pitchFamily="34" charset="-122"/>
                <a:cs typeface="Helvetica" pitchFamily="34" charset="-120"/>
              </a:rPr>
              <a:t>Itinerario</a:t>
            </a:r>
            <a:endParaRPr kumimoji="0" lang="en-US" sz="4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7B37F2A-E67D-A16F-0B11-F92484C257C0}"/>
              </a:ext>
            </a:extLst>
          </p:cNvPr>
          <p:cNvSpPr/>
          <p:nvPr/>
        </p:nvSpPr>
        <p:spPr>
          <a:xfrm>
            <a:off x="914400" y="3755678"/>
            <a:ext cx="16459200" cy="9525"/>
          </a:xfrm>
          <a:prstGeom prst="rect">
            <a:avLst/>
          </a:prstGeom>
          <a:solidFill>
            <a:srgbClr val="DEDBD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6F4C9DB-12CF-8F5D-A423-18E817191BFF}"/>
              </a:ext>
            </a:extLst>
          </p:cNvPr>
          <p:cNvSpPr/>
          <p:nvPr/>
        </p:nvSpPr>
        <p:spPr>
          <a:xfrm>
            <a:off x="914400" y="2831753"/>
            <a:ext cx="16459200" cy="9525"/>
          </a:xfrm>
          <a:prstGeom prst="rect">
            <a:avLst/>
          </a:prstGeom>
          <a:solidFill>
            <a:srgbClr val="DEDBD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E4BB6B2-E368-6007-5870-C34CAFA763E0}"/>
              </a:ext>
            </a:extLst>
          </p:cNvPr>
          <p:cNvSpPr/>
          <p:nvPr/>
        </p:nvSpPr>
        <p:spPr>
          <a:xfrm>
            <a:off x="990600" y="3050828"/>
            <a:ext cx="12192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38A5ADD-7E7B-F11F-64AD-0C98E4947228}"/>
              </a:ext>
            </a:extLst>
          </p:cNvPr>
          <p:cNvSpPr/>
          <p:nvPr/>
        </p:nvSpPr>
        <p:spPr>
          <a:xfrm>
            <a:off x="2476500" y="3112740"/>
            <a:ext cx="941832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50" b="1" i="0" u="none" strike="noStrike" kern="0" cap="none" spc="-25" normalizeH="0" baseline="0" noProof="0">
                <a:ln>
                  <a:noFill/>
                </a:ln>
                <a:solidFill>
                  <a:srgbClr val="1A1714"/>
                </a:solidFill>
                <a:effectLst/>
                <a:uLnTx/>
                <a:uFillTx/>
                <a:latin typeface="Helvetica" pitchFamily="34" charset="0"/>
                <a:ea typeface="Helvetica" pitchFamily="34" charset="-122"/>
                <a:cs typeface="Helvetica" pitchFamily="34" charset="-120"/>
              </a:rPr>
              <a:t>El </a:t>
            </a:r>
            <a:r>
              <a:rPr kumimoji="0" lang="en-US" sz="2550" b="1" i="0" u="none" strike="noStrike" kern="0" cap="none" spc="-25" normalizeH="0" baseline="0" noProof="0" err="1">
                <a:ln>
                  <a:noFill/>
                </a:ln>
                <a:solidFill>
                  <a:srgbClr val="1A1714"/>
                </a:solidFill>
                <a:effectLst/>
                <a:uLnTx/>
                <a:uFillTx/>
                <a:latin typeface="Helvetica" pitchFamily="34" charset="0"/>
                <a:ea typeface="Helvetica" pitchFamily="34" charset="-122"/>
                <a:cs typeface="Helvetica" pitchFamily="34" charset="-120"/>
              </a:rPr>
              <a:t>proceso</a:t>
            </a:r>
            <a:r>
              <a:rPr kumimoji="0" lang="en-US" sz="2550" b="1" i="0" u="none" strike="noStrike" kern="0" cap="none" spc="-25" normalizeH="0" baseline="0" noProof="0">
                <a:ln>
                  <a:noFill/>
                </a:ln>
                <a:solidFill>
                  <a:srgbClr val="1A1714"/>
                </a:solidFill>
                <a:effectLst/>
                <a:uLnTx/>
                <a:uFillTx/>
                <a:latin typeface="Helvetica" pitchFamily="34" charset="0"/>
                <a:ea typeface="Helvetica" pitchFamily="34" charset="-122"/>
                <a:cs typeface="Helvetica" pitchFamily="34" charset="-120"/>
              </a:rPr>
              <a:t> de </a:t>
            </a:r>
            <a:r>
              <a:rPr kumimoji="0" lang="en-US" sz="2550" b="1" i="0" u="none" strike="noStrike" kern="0" cap="none" spc="-25" normalizeH="0" baseline="0" noProof="0" err="1">
                <a:ln>
                  <a:noFill/>
                </a:ln>
                <a:solidFill>
                  <a:srgbClr val="1A1714"/>
                </a:solidFill>
                <a:effectLst/>
                <a:uLnTx/>
                <a:uFillTx/>
                <a:latin typeface="Helvetica" pitchFamily="34" charset="0"/>
                <a:ea typeface="Helvetica" pitchFamily="34" charset="-122"/>
                <a:cs typeface="Helvetica" pitchFamily="34" charset="-120"/>
              </a:rPr>
              <a:t>desarrollo</a:t>
            </a:r>
            <a:endParaRPr kumimoji="0" lang="en-US" sz="25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048D975-3892-8B36-E2EF-17D7F9CE342D}"/>
              </a:ext>
            </a:extLst>
          </p:cNvPr>
          <p:cNvSpPr/>
          <p:nvPr/>
        </p:nvSpPr>
        <p:spPr>
          <a:xfrm>
            <a:off x="11803380" y="3107978"/>
            <a:ext cx="549402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0" cap="none" spc="41" normalizeH="0" baseline="0" noProof="0">
                <a:ln>
                  <a:noFill/>
                </a:ln>
                <a:solidFill>
                  <a:srgbClr val="867F7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VISTA DE ALTO NIVEL — DE LA PRIORIZACIÓN A LA OPERACIÓN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865E599-C545-CE49-82FF-131C3CAC5483}"/>
              </a:ext>
            </a:extLst>
          </p:cNvPr>
          <p:cNvSpPr/>
          <p:nvPr/>
        </p:nvSpPr>
        <p:spPr>
          <a:xfrm>
            <a:off x="914400" y="4736753"/>
            <a:ext cx="16459200" cy="9525"/>
          </a:xfrm>
          <a:prstGeom prst="rect">
            <a:avLst/>
          </a:prstGeom>
          <a:solidFill>
            <a:srgbClr val="DEDBD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32F7EB4-2C58-CE02-D516-52F1322E4099}"/>
              </a:ext>
            </a:extLst>
          </p:cNvPr>
          <p:cNvSpPr/>
          <p:nvPr/>
        </p:nvSpPr>
        <p:spPr>
          <a:xfrm>
            <a:off x="990600" y="4031903"/>
            <a:ext cx="12192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6E2C8B0-61AE-CC43-43A2-E8A3768005F9}"/>
              </a:ext>
            </a:extLst>
          </p:cNvPr>
          <p:cNvSpPr/>
          <p:nvPr/>
        </p:nvSpPr>
        <p:spPr>
          <a:xfrm>
            <a:off x="2476500" y="4093815"/>
            <a:ext cx="946001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50" b="1" i="0" u="none" strike="noStrike" kern="0" cap="none" spc="-25" normalizeH="0" baseline="0" noProof="0">
                <a:ln>
                  <a:noFill/>
                </a:ln>
                <a:solidFill>
                  <a:srgbClr val="1A1714"/>
                </a:solidFill>
                <a:effectLst/>
                <a:uLnTx/>
                <a:uFillTx/>
                <a:latin typeface="Helvetica" pitchFamily="34" charset="0"/>
                <a:ea typeface="Helvetica" pitchFamily="34" charset="-122"/>
                <a:cs typeface="Helvetica" pitchFamily="34" charset="-120"/>
              </a:rPr>
              <a:t>Modelo de </a:t>
            </a:r>
            <a:r>
              <a:rPr kumimoji="0" lang="en-US" sz="2550" b="1" i="0" u="none" strike="noStrike" kern="0" cap="none" spc="-25" normalizeH="0" baseline="0" noProof="0" err="1">
                <a:ln>
                  <a:noFill/>
                </a:ln>
                <a:solidFill>
                  <a:srgbClr val="1A1714"/>
                </a:solidFill>
                <a:effectLst/>
                <a:uLnTx/>
                <a:uFillTx/>
                <a:latin typeface="Helvetica" pitchFamily="34" charset="0"/>
                <a:ea typeface="Helvetica" pitchFamily="34" charset="-122"/>
                <a:cs typeface="Helvetica" pitchFamily="34" charset="-120"/>
              </a:rPr>
              <a:t>capacidad</a:t>
            </a:r>
            <a:r>
              <a:rPr kumimoji="0" lang="en-US" sz="2550" b="1" i="0" u="none" strike="noStrike" kern="0" cap="none" spc="-25" normalizeH="0" baseline="0" noProof="0">
                <a:ln>
                  <a:noFill/>
                </a:ln>
                <a:solidFill>
                  <a:srgbClr val="1A1714"/>
                </a:solidFill>
                <a:effectLst/>
                <a:uLnTx/>
                <a:uFillTx/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endParaRPr kumimoji="0" lang="en-US" sz="25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1AF2BCA-381B-40B7-9324-1199FAB1F297}"/>
              </a:ext>
            </a:extLst>
          </p:cNvPr>
          <p:cNvSpPr/>
          <p:nvPr/>
        </p:nvSpPr>
        <p:spPr>
          <a:xfrm>
            <a:off x="11877315" y="4136678"/>
            <a:ext cx="545232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lvl="0" algn="r"/>
            <a:r>
              <a:rPr kumimoji="0" lang="en-US" sz="1350" b="0" i="0" u="none" strike="noStrike" kern="0" cap="none" spc="41" normalizeH="0" baseline="0" noProof="0">
                <a:ln>
                  <a:noFill/>
                </a:ln>
                <a:solidFill>
                  <a:srgbClr val="867F7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CPACIDAD INSTALDADA DESARROLLO Y </a:t>
            </a:r>
            <a:r>
              <a:rPr lang="en-US" sz="1350" kern="0" spc="41">
                <a:solidFill>
                  <a:srgbClr val="867F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CALIDAD · </a:t>
            </a:r>
            <a:r>
              <a:rPr kumimoji="0" lang="en-US" sz="1350" b="0" i="0" u="none" strike="noStrike" kern="0" cap="none" spc="41" normalizeH="0" baseline="0" noProof="0">
                <a:ln>
                  <a:noFill/>
                </a:ln>
                <a:solidFill>
                  <a:srgbClr val="867F7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DEMANDA 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3DD9ED7-03AD-2778-6897-701A8D64DD96}"/>
              </a:ext>
            </a:extLst>
          </p:cNvPr>
          <p:cNvSpPr/>
          <p:nvPr/>
        </p:nvSpPr>
        <p:spPr>
          <a:xfrm>
            <a:off x="914400" y="5717828"/>
            <a:ext cx="16459200" cy="9525"/>
          </a:xfrm>
          <a:prstGeom prst="rect">
            <a:avLst/>
          </a:prstGeom>
          <a:solidFill>
            <a:srgbClr val="DEDBD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4170DC5-2716-3722-3888-1E8705655742}"/>
              </a:ext>
            </a:extLst>
          </p:cNvPr>
          <p:cNvSpPr/>
          <p:nvPr/>
        </p:nvSpPr>
        <p:spPr>
          <a:xfrm>
            <a:off x="990600" y="5012978"/>
            <a:ext cx="12192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C06F4D8-1907-9F61-A062-AE9F497D4B44}"/>
              </a:ext>
            </a:extLst>
          </p:cNvPr>
          <p:cNvSpPr/>
          <p:nvPr/>
        </p:nvSpPr>
        <p:spPr>
          <a:xfrm>
            <a:off x="2385060" y="6125022"/>
            <a:ext cx="1046147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r>
              <a:rPr lang="en-US" sz="2550" b="1" kern="0" spc="-25">
                <a:solidFill>
                  <a:srgbClr val="1A1714"/>
                </a:solidFill>
                <a:latin typeface="Helvetica" pitchFamily="34" charset="0"/>
                <a:cs typeface="Helvetica" pitchFamily="34" charset="-120"/>
              </a:rPr>
              <a:t>GitHub Copilot – </a:t>
            </a:r>
            <a:r>
              <a:rPr lang="en-US" sz="2550" b="1" kern="0" spc="-25" err="1">
                <a:solidFill>
                  <a:srgbClr val="1A1714"/>
                </a:solidFill>
                <a:latin typeface="Helvetica" pitchFamily="34" charset="0"/>
                <a:cs typeface="Helvetica" pitchFamily="34" charset="-120"/>
              </a:rPr>
              <a:t>Adopción</a:t>
            </a:r>
            <a:r>
              <a:rPr lang="en-US" sz="2550" b="1" kern="0" spc="-25">
                <a:solidFill>
                  <a:srgbClr val="1A1714"/>
                </a:solidFill>
                <a:latin typeface="Helvetica" pitchFamily="34" charset="0"/>
                <a:cs typeface="Helvetica" pitchFamily="34" charset="-120"/>
              </a:rPr>
              <a:t> IA 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1B8A80E-C2B6-D70E-41D5-41F26B400D6F}"/>
              </a:ext>
            </a:extLst>
          </p:cNvPr>
          <p:cNvSpPr/>
          <p:nvPr/>
        </p:nvSpPr>
        <p:spPr>
          <a:xfrm>
            <a:off x="12846539" y="5165378"/>
            <a:ext cx="445086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lvl="0" algn="r"/>
            <a:r>
              <a:rPr kumimoji="0" lang="en-US" sz="1350" b="0" i="0" u="none" strike="noStrike" kern="0" cap="none" spc="41" normalizeH="0" baseline="0" noProof="0">
                <a:ln>
                  <a:noFill/>
                </a:ln>
                <a:solidFill>
                  <a:srgbClr val="867F7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LEAD TIME</a:t>
            </a:r>
            <a:r>
              <a:rPr lang="en-US" sz="1350" kern="0" spc="41">
                <a:solidFill>
                  <a:srgbClr val="867F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</a:t>
            </a:r>
            <a:r>
              <a:rPr kumimoji="0" lang="en-US" sz="1350" b="0" i="0" u="none" strike="noStrike" kern="0" cap="none" spc="41" normalizeH="0" baseline="0" noProof="0">
                <a:ln>
                  <a:noFill/>
                </a:ln>
                <a:solidFill>
                  <a:srgbClr val="867F7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TTM</a:t>
            </a:r>
            <a:r>
              <a:rPr lang="en-US" sz="1350" kern="0" spc="41">
                <a:solidFill>
                  <a:srgbClr val="867F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DEMO ·PROXIMOS  PASOS 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BA3EEA45-3A6E-F8F5-1D71-A70AC6C6C651}"/>
              </a:ext>
            </a:extLst>
          </p:cNvPr>
          <p:cNvSpPr/>
          <p:nvPr/>
        </p:nvSpPr>
        <p:spPr>
          <a:xfrm>
            <a:off x="914400" y="6698903"/>
            <a:ext cx="16459200" cy="9525"/>
          </a:xfrm>
          <a:prstGeom prst="rect">
            <a:avLst/>
          </a:prstGeom>
          <a:solidFill>
            <a:srgbClr val="DEDBD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A7982CB-1C8F-62CD-2187-51920D796537}"/>
              </a:ext>
            </a:extLst>
          </p:cNvPr>
          <p:cNvSpPr/>
          <p:nvPr/>
        </p:nvSpPr>
        <p:spPr>
          <a:xfrm>
            <a:off x="990600" y="5994053"/>
            <a:ext cx="12192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888C9E0-1E2C-2011-72E3-C447684BCB54}"/>
              </a:ext>
            </a:extLst>
          </p:cNvPr>
          <p:cNvSpPr/>
          <p:nvPr/>
        </p:nvSpPr>
        <p:spPr>
          <a:xfrm>
            <a:off x="2385060" y="5133455"/>
            <a:ext cx="1090648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50" b="1" i="0" u="none" strike="noStrike" kern="0" cap="none" spc="-25" normalizeH="0" baseline="0" noProof="0" err="1">
                <a:ln>
                  <a:noFill/>
                </a:ln>
                <a:solidFill>
                  <a:srgbClr val="1A1714"/>
                </a:solidFill>
                <a:effectLst/>
                <a:uLnTx/>
                <a:uFillTx/>
                <a:latin typeface="Helvetica" pitchFamily="34" charset="0"/>
                <a:ea typeface="Helvetica" pitchFamily="34" charset="-122"/>
                <a:cs typeface="Helvetica" pitchFamily="34" charset="-120"/>
              </a:rPr>
              <a:t>Métricas</a:t>
            </a:r>
            <a:r>
              <a:rPr kumimoji="0" lang="en-US" sz="2550" b="1" i="0" u="none" strike="noStrike" kern="0" cap="none" spc="-25" normalizeH="0" baseline="0" noProof="0">
                <a:ln>
                  <a:noFill/>
                </a:ln>
                <a:solidFill>
                  <a:srgbClr val="1A1714"/>
                </a:solidFill>
                <a:effectLst/>
                <a:uLnTx/>
                <a:uFillTx/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sz="2550" b="1" kern="0" spc="-25">
                <a:solidFill>
                  <a:srgbClr val="1A17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de delivery (</a:t>
            </a:r>
            <a:r>
              <a:rPr kumimoji="0" lang="en-US" sz="2550" b="1" i="0" u="none" strike="noStrike" kern="0" cap="none" spc="-25" normalizeH="0" baseline="0" noProof="0">
                <a:ln>
                  <a:noFill/>
                </a:ln>
                <a:solidFill>
                  <a:srgbClr val="1A1714"/>
                </a:solidFill>
                <a:effectLst/>
                <a:uLnTx/>
                <a:uFillTx/>
                <a:latin typeface="Helvetica" pitchFamily="34" charset="0"/>
                <a:ea typeface="Helvetica" pitchFamily="34" charset="-122"/>
                <a:cs typeface="Helvetica" pitchFamily="34" charset="-120"/>
              </a:rPr>
              <a:t>time-to-market)</a:t>
            </a:r>
            <a:endParaRPr kumimoji="0" lang="en-US" sz="25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FF8E628-FE45-4E26-887E-E53785CB5C0A}"/>
              </a:ext>
            </a:extLst>
          </p:cNvPr>
          <p:cNvSpPr/>
          <p:nvPr/>
        </p:nvSpPr>
        <p:spPr>
          <a:xfrm>
            <a:off x="13291548" y="6146453"/>
            <a:ext cx="40058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0" cap="none" spc="41" normalizeH="0" baseline="0" noProof="0">
                <a:ln>
                  <a:noFill/>
                </a:ln>
                <a:solidFill>
                  <a:srgbClr val="867F7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PILOTO CON CELULAS 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EEA5D2E2-DC78-BEE2-8528-AA9B95A468C7}"/>
              </a:ext>
            </a:extLst>
          </p:cNvPr>
          <p:cNvSpPr/>
          <p:nvPr/>
        </p:nvSpPr>
        <p:spPr>
          <a:xfrm>
            <a:off x="914400" y="7679978"/>
            <a:ext cx="16459200" cy="9525"/>
          </a:xfrm>
          <a:prstGeom prst="rect">
            <a:avLst/>
          </a:prstGeom>
          <a:solidFill>
            <a:srgbClr val="DEDBD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8A46EF43-28DE-4199-9CFE-19E8B81ADF8F}"/>
              </a:ext>
            </a:extLst>
          </p:cNvPr>
          <p:cNvSpPr/>
          <p:nvPr/>
        </p:nvSpPr>
        <p:spPr>
          <a:xfrm>
            <a:off x="990600" y="6975128"/>
            <a:ext cx="12192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7829FB26-B8F4-2E9A-1BFF-3DF5F910135E}"/>
              </a:ext>
            </a:extLst>
          </p:cNvPr>
          <p:cNvSpPr/>
          <p:nvPr/>
        </p:nvSpPr>
        <p:spPr>
          <a:xfrm>
            <a:off x="2476500" y="7037040"/>
            <a:ext cx="1090648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r>
              <a:rPr lang="en-US" sz="2550" b="1" kern="0" spc="-25" err="1">
                <a:solidFill>
                  <a:srgbClr val="1A1714"/>
                </a:solidFill>
                <a:latin typeface="Helvetica" pitchFamily="34" charset="0"/>
                <a:cs typeface="Helvetica" pitchFamily="34" charset="-120"/>
              </a:rPr>
              <a:t>Evolución</a:t>
            </a:r>
            <a:r>
              <a:rPr lang="en-US" sz="2550" b="1" kern="0" spc="-25">
                <a:solidFill>
                  <a:srgbClr val="1A1714"/>
                </a:solidFill>
                <a:latin typeface="Helvetica" pitchFamily="34" charset="0"/>
                <a:cs typeface="Helvetica" pitchFamily="34" charset="-120"/>
              </a:rPr>
              <a:t> hacia Ingeniería de Plataforma</a:t>
            </a: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3517EDC-CBFF-E4ED-6B7B-222EC2D1F789}"/>
              </a:ext>
            </a:extLst>
          </p:cNvPr>
          <p:cNvSpPr/>
          <p:nvPr/>
        </p:nvSpPr>
        <p:spPr>
          <a:xfrm>
            <a:off x="13291548" y="7127528"/>
            <a:ext cx="40058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350" kern="0" spc="41">
                <a:solidFill>
                  <a:srgbClr val="867F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ATLAS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B0205B63-A387-9ECC-872E-07B6A9354D02}"/>
              </a:ext>
            </a:extLst>
          </p:cNvPr>
          <p:cNvSpPr/>
          <p:nvPr/>
        </p:nvSpPr>
        <p:spPr>
          <a:xfrm>
            <a:off x="914400" y="9305925"/>
            <a:ext cx="16459200" cy="9525"/>
          </a:xfrm>
          <a:prstGeom prst="rect">
            <a:avLst/>
          </a:prstGeom>
          <a:solidFill>
            <a:srgbClr val="DEDBD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35CA6042-96C8-9F31-2A6A-BAE5BDC7C208}"/>
              </a:ext>
            </a:extLst>
          </p:cNvPr>
          <p:cNvSpPr/>
          <p:nvPr/>
        </p:nvSpPr>
        <p:spPr>
          <a:xfrm>
            <a:off x="914400" y="9486900"/>
            <a:ext cx="177388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5" b="1" i="0" u="none" strike="noStrike" kern="0" cap="none" spc="68" normalizeH="0" baseline="0" noProof="0">
                <a:ln>
                  <a:noFill/>
                </a:ln>
                <a:solidFill>
                  <a:srgbClr val="564F4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TUYA</a:t>
            </a:r>
            <a:endParaRPr kumimoji="0" lang="en-US" sz="112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E03EFAC6-7B70-70E8-1F18-09AFB681D2FE}"/>
              </a:ext>
            </a:extLst>
          </p:cNvPr>
          <p:cNvSpPr/>
          <p:nvPr/>
        </p:nvSpPr>
        <p:spPr>
          <a:xfrm>
            <a:off x="16430476" y="9501188"/>
            <a:ext cx="101932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5" b="0" i="0" u="none" strike="noStrike" kern="0" cap="none" spc="68" normalizeH="0" baseline="0" noProof="0">
                <a:ln>
                  <a:noFill/>
                </a:ln>
                <a:solidFill>
                  <a:srgbClr val="867F7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ITINERARIO</a:t>
            </a:r>
            <a:endParaRPr kumimoji="0" lang="en-US" sz="112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86149806-C558-D9E4-C27B-F47524C8DD31}"/>
              </a:ext>
            </a:extLst>
          </p:cNvPr>
          <p:cNvSpPr/>
          <p:nvPr/>
        </p:nvSpPr>
        <p:spPr>
          <a:xfrm>
            <a:off x="990600" y="7853363"/>
            <a:ext cx="12192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1">
            <a:extLst>
              <a:ext uri="{FF2B5EF4-FFF2-40B4-BE49-F238E27FC236}">
                <a16:creationId xmlns:a16="http://schemas.microsoft.com/office/drawing/2014/main" id="{D9A11537-41B7-FE78-868E-0B0F56E3FF6E}"/>
              </a:ext>
            </a:extLst>
          </p:cNvPr>
          <p:cNvSpPr/>
          <p:nvPr/>
        </p:nvSpPr>
        <p:spPr>
          <a:xfrm>
            <a:off x="2476500" y="7915275"/>
            <a:ext cx="1090648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US" sz="2550" b="1" kern="0" spc="-25">
                <a:solidFill>
                  <a:srgbClr val="1A1714"/>
                </a:solidFill>
                <a:latin typeface="Helvetica" pitchFamily="34" charset="0"/>
                <a:cs typeface="Helvetica" pitchFamily="34" charset="-120"/>
              </a:rPr>
              <a:t>A/B Testing</a:t>
            </a:r>
          </a:p>
        </p:txBody>
      </p:sp>
      <p:sp>
        <p:nvSpPr>
          <p:cNvPr id="33" name="Shape 3">
            <a:extLst>
              <a:ext uri="{FF2B5EF4-FFF2-40B4-BE49-F238E27FC236}">
                <a16:creationId xmlns:a16="http://schemas.microsoft.com/office/drawing/2014/main" id="{B721FCBA-C9BF-C2E3-6BCB-98FBBDC35ADD}"/>
              </a:ext>
            </a:extLst>
          </p:cNvPr>
          <p:cNvSpPr/>
          <p:nvPr/>
        </p:nvSpPr>
        <p:spPr>
          <a:xfrm>
            <a:off x="870439" y="8566639"/>
            <a:ext cx="16459200" cy="9525"/>
          </a:xfrm>
          <a:prstGeom prst="rect">
            <a:avLst/>
          </a:prstGeom>
          <a:solidFill>
            <a:srgbClr val="DEDBD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22">
            <a:extLst>
              <a:ext uri="{FF2B5EF4-FFF2-40B4-BE49-F238E27FC236}">
                <a16:creationId xmlns:a16="http://schemas.microsoft.com/office/drawing/2014/main" id="{B1AEBBF4-586B-CEE3-4402-86277A370A27}"/>
              </a:ext>
            </a:extLst>
          </p:cNvPr>
          <p:cNvSpPr/>
          <p:nvPr/>
        </p:nvSpPr>
        <p:spPr>
          <a:xfrm>
            <a:off x="13367748" y="8185639"/>
            <a:ext cx="40058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lvl="0" algn="r"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0">
            <a:extLst>
              <a:ext uri="{FF2B5EF4-FFF2-40B4-BE49-F238E27FC236}">
                <a16:creationId xmlns:a16="http://schemas.microsoft.com/office/drawing/2014/main" id="{D1C55352-3EA3-2A9C-7C94-8101E5291655}"/>
              </a:ext>
            </a:extLst>
          </p:cNvPr>
          <p:cNvSpPr/>
          <p:nvPr/>
        </p:nvSpPr>
        <p:spPr>
          <a:xfrm>
            <a:off x="990600" y="8628552"/>
            <a:ext cx="12192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21">
            <a:extLst>
              <a:ext uri="{FF2B5EF4-FFF2-40B4-BE49-F238E27FC236}">
                <a16:creationId xmlns:a16="http://schemas.microsoft.com/office/drawing/2014/main" id="{30E8DF68-BA53-E3BB-5C5D-83083E005881}"/>
              </a:ext>
            </a:extLst>
          </p:cNvPr>
          <p:cNvSpPr/>
          <p:nvPr/>
        </p:nvSpPr>
        <p:spPr>
          <a:xfrm>
            <a:off x="2476500" y="8690464"/>
            <a:ext cx="1090648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s-CO" sz="2800" b="1"/>
              <a:t>Desacople SIIFv6</a:t>
            </a:r>
            <a:endParaRPr lang="en-US" sz="2550" b="1" kern="0" spc="-25">
              <a:solidFill>
                <a:srgbClr val="1A1714"/>
              </a:solidFill>
              <a:latin typeface="Helvetica" pitchFamily="34" charset="0"/>
              <a:cs typeface="Helvetica" pitchFamily="34" charset="-120"/>
            </a:endParaRPr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C678CB1D-8FBF-B4E1-5B50-00C358EDAFB9}"/>
              </a:ext>
            </a:extLst>
          </p:cNvPr>
          <p:cNvSpPr/>
          <p:nvPr/>
        </p:nvSpPr>
        <p:spPr>
          <a:xfrm>
            <a:off x="13291548" y="8157064"/>
            <a:ext cx="40058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350" kern="0" spc="41">
                <a:solidFill>
                  <a:srgbClr val="867F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VWO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7012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E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666750"/>
            <a:ext cx="551111" cy="4191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656011" y="685800"/>
            <a:ext cx="9525" cy="381000"/>
          </a:xfrm>
          <a:prstGeom prst="rect">
            <a:avLst/>
          </a:prstGeom>
          <a:solidFill>
            <a:srgbClr val="DEDBD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1"/>
          <p:cNvSpPr/>
          <p:nvPr/>
        </p:nvSpPr>
        <p:spPr>
          <a:xfrm>
            <a:off x="15456843" y="795338"/>
            <a:ext cx="203105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kern="0" spc="135">
                <a:solidFill>
                  <a:srgbClr val="867F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VISTA DE ALTO NIVEL</a:t>
            </a:r>
            <a:endParaRPr lang="en-US" sz="1125"/>
          </a:p>
        </p:txBody>
      </p:sp>
      <p:sp>
        <p:nvSpPr>
          <p:cNvPr id="8" name="Shape 4"/>
          <p:cNvSpPr/>
          <p:nvPr/>
        </p:nvSpPr>
        <p:spPr>
          <a:xfrm>
            <a:off x="876300" y="5710238"/>
            <a:ext cx="16116300" cy="19050"/>
          </a:xfrm>
          <a:prstGeom prst="rect">
            <a:avLst/>
          </a:prstGeom>
          <a:solidFill>
            <a:srgbClr val="1A1714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6425" y="3638252"/>
            <a:ext cx="361950" cy="3619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76300" y="4162127"/>
            <a:ext cx="2362200" cy="326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2100" b="1" kern="0" spc="-31">
                <a:solidFill>
                  <a:srgbClr val="1A17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Priorización</a:t>
            </a:r>
            <a:endParaRPr lang="en-US" sz="2100"/>
          </a:p>
        </p:txBody>
      </p:sp>
      <p:sp>
        <p:nvSpPr>
          <p:cNvPr id="11" name="Text 6"/>
          <p:cNvSpPr/>
          <p:nvPr/>
        </p:nvSpPr>
        <p:spPr>
          <a:xfrm>
            <a:off x="876300" y="4564410"/>
            <a:ext cx="2362200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88" kern="0" spc="54">
                <a:solidFill>
                  <a:srgbClr val="564F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DIRECCIÓN DE TECNOLOGÍA</a:t>
            </a:r>
            <a:endParaRPr lang="en-US" sz="1088"/>
          </a:p>
        </p:txBody>
      </p:sp>
      <p:sp>
        <p:nvSpPr>
          <p:cNvPr id="12" name="Shape 7"/>
          <p:cNvSpPr/>
          <p:nvPr/>
        </p:nvSpPr>
        <p:spPr>
          <a:xfrm>
            <a:off x="2047875" y="4795838"/>
            <a:ext cx="19050" cy="914400"/>
          </a:xfrm>
          <a:prstGeom prst="rect">
            <a:avLst/>
          </a:prstGeom>
          <a:solidFill>
            <a:srgbClr val="DEDBD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Shape 8"/>
          <p:cNvSpPr/>
          <p:nvPr/>
        </p:nvSpPr>
        <p:spPr>
          <a:xfrm>
            <a:off x="1714500" y="5367338"/>
            <a:ext cx="685800" cy="685800"/>
          </a:xfrm>
          <a:prstGeom prst="ellipse">
            <a:avLst/>
          </a:prstGeom>
          <a:solidFill>
            <a:srgbClr val="F0EEE9"/>
          </a:solidFill>
          <a:ln w="19050">
            <a:solidFill>
              <a:srgbClr val="1A171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9"/>
          <p:cNvSpPr/>
          <p:nvPr/>
        </p:nvSpPr>
        <p:spPr>
          <a:xfrm>
            <a:off x="1943100" y="5581650"/>
            <a:ext cx="3048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>
                <a:solidFill>
                  <a:srgbClr val="1A1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"/>
          </a:p>
        </p:txBody>
      </p:sp>
      <p:sp>
        <p:nvSpPr>
          <p:cNvPr id="15" name="Shape 10"/>
          <p:cNvSpPr/>
          <p:nvPr/>
        </p:nvSpPr>
        <p:spPr>
          <a:xfrm>
            <a:off x="2009775" y="5338763"/>
            <a:ext cx="95250" cy="95250"/>
          </a:xfrm>
          <a:prstGeom prst="ellipse">
            <a:avLst/>
          </a:prstGeom>
          <a:solidFill>
            <a:srgbClr val="ED1C29"/>
          </a:solidFill>
          <a:ln w="9525">
            <a:solidFill>
              <a:srgbClr val="1A171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1"/>
          <p:cNvSpPr/>
          <p:nvPr/>
        </p:nvSpPr>
        <p:spPr>
          <a:xfrm>
            <a:off x="4076700" y="5367338"/>
            <a:ext cx="685800" cy="685800"/>
          </a:xfrm>
          <a:prstGeom prst="ellipse">
            <a:avLst/>
          </a:prstGeom>
          <a:solidFill>
            <a:srgbClr val="F0EEE9"/>
          </a:solidFill>
          <a:ln w="19050">
            <a:solidFill>
              <a:srgbClr val="1A171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2"/>
          <p:cNvSpPr/>
          <p:nvPr/>
        </p:nvSpPr>
        <p:spPr>
          <a:xfrm>
            <a:off x="4305300" y="5581650"/>
            <a:ext cx="3048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>
                <a:solidFill>
                  <a:srgbClr val="1A1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"/>
          </a:p>
        </p:txBody>
      </p:sp>
      <p:sp>
        <p:nvSpPr>
          <p:cNvPr id="18" name="Shape 13"/>
          <p:cNvSpPr/>
          <p:nvPr/>
        </p:nvSpPr>
        <p:spPr>
          <a:xfrm>
            <a:off x="4371975" y="5338763"/>
            <a:ext cx="95250" cy="95250"/>
          </a:xfrm>
          <a:prstGeom prst="ellipse">
            <a:avLst/>
          </a:prstGeom>
          <a:solidFill>
            <a:srgbClr val="ED1C29"/>
          </a:solidFill>
          <a:ln w="9525">
            <a:solidFill>
              <a:srgbClr val="1A171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4"/>
          <p:cNvSpPr/>
          <p:nvPr/>
        </p:nvSpPr>
        <p:spPr>
          <a:xfrm>
            <a:off x="4370933" y="6100762"/>
            <a:ext cx="58192" cy="523875"/>
          </a:xfrm>
          <a:prstGeom prst="rect">
            <a:avLst/>
          </a:prstGeom>
          <a:solidFill>
            <a:srgbClr val="DEDBD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8625" y="6672263"/>
            <a:ext cx="361950" cy="36195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238500" y="7196138"/>
            <a:ext cx="2362200" cy="614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2100" b="1" kern="0" spc="-31">
                <a:solidFill>
                  <a:srgbClr val="1A17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Diseño de Arquitectura</a:t>
            </a:r>
            <a:endParaRPr lang="en-US" sz="2100"/>
          </a:p>
        </p:txBody>
      </p:sp>
      <p:sp>
        <p:nvSpPr>
          <p:cNvPr id="22" name="Text 16"/>
          <p:cNvSpPr/>
          <p:nvPr/>
        </p:nvSpPr>
        <p:spPr>
          <a:xfrm>
            <a:off x="3238500" y="7886402"/>
            <a:ext cx="2362200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88" kern="0" spc="54">
                <a:solidFill>
                  <a:srgbClr val="564F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EQUIPO DE ARQUITECTURA</a:t>
            </a:r>
            <a:endParaRPr lang="en-US" sz="1088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0825" y="3350270"/>
            <a:ext cx="361950" cy="36195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600700" y="3874145"/>
            <a:ext cx="2362200" cy="614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2100" b="1" kern="0" spc="-31" err="1">
                <a:solidFill>
                  <a:srgbClr val="1A17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Diseño</a:t>
            </a:r>
            <a:r>
              <a:rPr lang="en-US" sz="2100" b="1" kern="0" spc="-31">
                <a:solidFill>
                  <a:srgbClr val="1A17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de </a:t>
            </a:r>
            <a:r>
              <a:rPr lang="en-US" sz="2100" b="1" kern="0" spc="-31" err="1">
                <a:solidFill>
                  <a:srgbClr val="1A17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Seguridad</a:t>
            </a:r>
            <a:endParaRPr lang="en-US" sz="2100"/>
          </a:p>
        </p:txBody>
      </p:sp>
      <p:sp>
        <p:nvSpPr>
          <p:cNvPr id="28" name="Text 20"/>
          <p:cNvSpPr/>
          <p:nvPr/>
        </p:nvSpPr>
        <p:spPr>
          <a:xfrm>
            <a:off x="5600700" y="4564410"/>
            <a:ext cx="2362200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88" kern="0" spc="54">
                <a:solidFill>
                  <a:srgbClr val="564F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EQUIPO DE SEGURIDAD</a:t>
            </a:r>
            <a:endParaRPr lang="en-US" sz="1088"/>
          </a:p>
        </p:txBody>
      </p:sp>
      <p:sp>
        <p:nvSpPr>
          <p:cNvPr id="29" name="Shape 21"/>
          <p:cNvSpPr/>
          <p:nvPr/>
        </p:nvSpPr>
        <p:spPr>
          <a:xfrm>
            <a:off x="6772275" y="4795838"/>
            <a:ext cx="19050" cy="914400"/>
          </a:xfrm>
          <a:prstGeom prst="rect">
            <a:avLst/>
          </a:prstGeom>
          <a:solidFill>
            <a:srgbClr val="DEDBD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Shape 22"/>
          <p:cNvSpPr/>
          <p:nvPr/>
        </p:nvSpPr>
        <p:spPr>
          <a:xfrm>
            <a:off x="6438900" y="5367338"/>
            <a:ext cx="685800" cy="685800"/>
          </a:xfrm>
          <a:prstGeom prst="ellipse">
            <a:avLst/>
          </a:prstGeom>
          <a:solidFill>
            <a:srgbClr val="F0EEE9"/>
          </a:solidFill>
          <a:ln w="19050">
            <a:solidFill>
              <a:srgbClr val="1A171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3"/>
          <p:cNvSpPr/>
          <p:nvPr/>
        </p:nvSpPr>
        <p:spPr>
          <a:xfrm>
            <a:off x="6667500" y="5581650"/>
            <a:ext cx="3048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>
                <a:solidFill>
                  <a:srgbClr val="1A1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/>
          </a:p>
        </p:txBody>
      </p:sp>
      <p:sp>
        <p:nvSpPr>
          <p:cNvPr id="32" name="Shape 24"/>
          <p:cNvSpPr/>
          <p:nvPr/>
        </p:nvSpPr>
        <p:spPr>
          <a:xfrm>
            <a:off x="6734175" y="5338763"/>
            <a:ext cx="95250" cy="95250"/>
          </a:xfrm>
          <a:prstGeom prst="ellipse">
            <a:avLst/>
          </a:prstGeom>
          <a:solidFill>
            <a:srgbClr val="ED1C29"/>
          </a:solidFill>
          <a:ln w="9525">
            <a:solidFill>
              <a:srgbClr val="1A171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Shape 25"/>
          <p:cNvSpPr/>
          <p:nvPr/>
        </p:nvSpPr>
        <p:spPr>
          <a:xfrm>
            <a:off x="8801100" y="5367338"/>
            <a:ext cx="685800" cy="685800"/>
          </a:xfrm>
          <a:prstGeom prst="ellipse">
            <a:avLst/>
          </a:prstGeom>
          <a:solidFill>
            <a:srgbClr val="F0EEE9"/>
          </a:solidFill>
          <a:ln w="19050">
            <a:solidFill>
              <a:srgbClr val="1A171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26"/>
          <p:cNvSpPr/>
          <p:nvPr/>
        </p:nvSpPr>
        <p:spPr>
          <a:xfrm>
            <a:off x="9029700" y="5581650"/>
            <a:ext cx="3048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>
                <a:solidFill>
                  <a:srgbClr val="1A1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00"/>
          </a:p>
        </p:txBody>
      </p:sp>
      <p:sp>
        <p:nvSpPr>
          <p:cNvPr id="35" name="Shape 27"/>
          <p:cNvSpPr/>
          <p:nvPr/>
        </p:nvSpPr>
        <p:spPr>
          <a:xfrm>
            <a:off x="9096375" y="5338763"/>
            <a:ext cx="95250" cy="95250"/>
          </a:xfrm>
          <a:prstGeom prst="ellipse">
            <a:avLst/>
          </a:prstGeom>
          <a:solidFill>
            <a:srgbClr val="ED1C29"/>
          </a:solidFill>
          <a:ln w="9525">
            <a:solidFill>
              <a:srgbClr val="1A171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Shape 28"/>
          <p:cNvSpPr/>
          <p:nvPr/>
        </p:nvSpPr>
        <p:spPr>
          <a:xfrm flipH="1">
            <a:off x="9153524" y="6072188"/>
            <a:ext cx="45719" cy="552450"/>
          </a:xfrm>
          <a:prstGeom prst="rect">
            <a:avLst/>
          </a:prstGeom>
          <a:solidFill>
            <a:srgbClr val="DEDBD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3025" y="6672263"/>
            <a:ext cx="361950" cy="36195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7962900" y="7196138"/>
            <a:ext cx="2362200" cy="326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2100" b="1" kern="0" spc="-31" err="1">
                <a:solidFill>
                  <a:srgbClr val="1A17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Aprovisionamiento</a:t>
            </a:r>
            <a:endParaRPr lang="en-US" sz="2100"/>
          </a:p>
        </p:txBody>
      </p:sp>
      <p:sp>
        <p:nvSpPr>
          <p:cNvPr id="39" name="Text 30"/>
          <p:cNvSpPr/>
          <p:nvPr/>
        </p:nvSpPr>
        <p:spPr>
          <a:xfrm>
            <a:off x="7962900" y="7598420"/>
            <a:ext cx="2362200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88" kern="0" spc="54">
                <a:solidFill>
                  <a:srgbClr val="564F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NUBE &amp; DEVOPS</a:t>
            </a:r>
            <a:endParaRPr lang="en-US" sz="1088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25225" y="3295352"/>
            <a:ext cx="361950" cy="36195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10325100" y="3819227"/>
            <a:ext cx="2362200" cy="326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2100" b="1" kern="0" spc="-31">
                <a:solidFill>
                  <a:srgbClr val="1A17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Desarrollo</a:t>
            </a:r>
            <a:endParaRPr lang="en-US" sz="2100"/>
          </a:p>
        </p:txBody>
      </p:sp>
      <p:sp>
        <p:nvSpPr>
          <p:cNvPr id="42" name="Text 32"/>
          <p:cNvSpPr/>
          <p:nvPr/>
        </p:nvSpPr>
        <p:spPr>
          <a:xfrm>
            <a:off x="10325100" y="4221510"/>
            <a:ext cx="2362200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88" kern="0" spc="54">
                <a:solidFill>
                  <a:srgbClr val="564F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EQUIPO DE DESARROLLO</a:t>
            </a:r>
            <a:endParaRPr lang="en-US" sz="1088"/>
          </a:p>
        </p:txBody>
      </p:sp>
      <p:sp>
        <p:nvSpPr>
          <p:cNvPr id="46" name="Shape 35"/>
          <p:cNvSpPr/>
          <p:nvPr/>
        </p:nvSpPr>
        <p:spPr>
          <a:xfrm>
            <a:off x="11496675" y="4795838"/>
            <a:ext cx="19050" cy="914400"/>
          </a:xfrm>
          <a:prstGeom prst="rect">
            <a:avLst/>
          </a:prstGeom>
          <a:solidFill>
            <a:srgbClr val="DEDBD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7" name="Shape 36"/>
          <p:cNvSpPr/>
          <p:nvPr/>
        </p:nvSpPr>
        <p:spPr>
          <a:xfrm>
            <a:off x="11163300" y="5367338"/>
            <a:ext cx="685800" cy="685800"/>
          </a:xfrm>
          <a:prstGeom prst="ellipse">
            <a:avLst/>
          </a:prstGeom>
          <a:solidFill>
            <a:srgbClr val="F0EEE9"/>
          </a:solidFill>
          <a:ln w="19050">
            <a:solidFill>
              <a:srgbClr val="1A171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8" name="Text 37"/>
          <p:cNvSpPr/>
          <p:nvPr/>
        </p:nvSpPr>
        <p:spPr>
          <a:xfrm>
            <a:off x="11391900" y="5581650"/>
            <a:ext cx="3048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>
                <a:solidFill>
                  <a:srgbClr val="1A1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500"/>
          </a:p>
        </p:txBody>
      </p:sp>
      <p:sp>
        <p:nvSpPr>
          <p:cNvPr id="49" name="Shape 38"/>
          <p:cNvSpPr/>
          <p:nvPr/>
        </p:nvSpPr>
        <p:spPr>
          <a:xfrm>
            <a:off x="11458575" y="5338763"/>
            <a:ext cx="95250" cy="95250"/>
          </a:xfrm>
          <a:prstGeom prst="ellipse">
            <a:avLst/>
          </a:prstGeom>
          <a:solidFill>
            <a:srgbClr val="ED1C29"/>
          </a:solidFill>
          <a:ln w="9525">
            <a:solidFill>
              <a:srgbClr val="1A171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0" name="Shape 39"/>
          <p:cNvSpPr/>
          <p:nvPr/>
        </p:nvSpPr>
        <p:spPr>
          <a:xfrm>
            <a:off x="13525500" y="5367338"/>
            <a:ext cx="685800" cy="685800"/>
          </a:xfrm>
          <a:prstGeom prst="ellipse">
            <a:avLst/>
          </a:prstGeom>
          <a:solidFill>
            <a:srgbClr val="F0EEE9"/>
          </a:solidFill>
          <a:ln w="19050">
            <a:solidFill>
              <a:srgbClr val="1A171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1" name="Text 40"/>
          <p:cNvSpPr/>
          <p:nvPr/>
        </p:nvSpPr>
        <p:spPr>
          <a:xfrm>
            <a:off x="13754100" y="5581650"/>
            <a:ext cx="3048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>
                <a:solidFill>
                  <a:srgbClr val="1A1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500"/>
          </a:p>
        </p:txBody>
      </p:sp>
      <p:sp>
        <p:nvSpPr>
          <p:cNvPr id="52" name="Shape 41"/>
          <p:cNvSpPr/>
          <p:nvPr/>
        </p:nvSpPr>
        <p:spPr>
          <a:xfrm>
            <a:off x="13820775" y="5338763"/>
            <a:ext cx="95250" cy="95250"/>
          </a:xfrm>
          <a:prstGeom prst="ellipse">
            <a:avLst/>
          </a:prstGeom>
          <a:solidFill>
            <a:srgbClr val="ED1C29"/>
          </a:solidFill>
          <a:ln w="9525">
            <a:solidFill>
              <a:srgbClr val="1A171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3" name="Shape 42"/>
          <p:cNvSpPr/>
          <p:nvPr/>
        </p:nvSpPr>
        <p:spPr>
          <a:xfrm>
            <a:off x="13829556" y="5977236"/>
            <a:ext cx="48369" cy="647402"/>
          </a:xfrm>
          <a:prstGeom prst="rect">
            <a:avLst/>
          </a:prstGeom>
          <a:solidFill>
            <a:srgbClr val="DEDBD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54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687425" y="6672263"/>
            <a:ext cx="361950" cy="361950"/>
          </a:xfrm>
          <a:prstGeom prst="rect">
            <a:avLst/>
          </a:prstGeom>
        </p:spPr>
      </p:pic>
      <p:sp>
        <p:nvSpPr>
          <p:cNvPr id="55" name="Text 43"/>
          <p:cNvSpPr/>
          <p:nvPr/>
        </p:nvSpPr>
        <p:spPr>
          <a:xfrm>
            <a:off x="12687300" y="7196138"/>
            <a:ext cx="2362200" cy="326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2100" b="1" kern="0" spc="-31">
                <a:solidFill>
                  <a:srgbClr val="1A17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Pruebas</a:t>
            </a:r>
            <a:endParaRPr lang="en-US" sz="2100"/>
          </a:p>
        </p:txBody>
      </p:sp>
      <p:sp>
        <p:nvSpPr>
          <p:cNvPr id="56" name="Text 44"/>
          <p:cNvSpPr/>
          <p:nvPr/>
        </p:nvSpPr>
        <p:spPr>
          <a:xfrm>
            <a:off x="12687300" y="7598420"/>
            <a:ext cx="2362200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88" kern="0" spc="54">
                <a:solidFill>
                  <a:srgbClr val="564F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ASEGURAMIENTO DE CALIDAD</a:t>
            </a:r>
            <a:endParaRPr lang="en-US" sz="1088"/>
          </a:p>
        </p:txBody>
      </p:sp>
      <p:pic>
        <p:nvPicPr>
          <p:cNvPr id="60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049625" y="3295352"/>
            <a:ext cx="361950" cy="361950"/>
          </a:xfrm>
          <a:prstGeom prst="rect">
            <a:avLst/>
          </a:prstGeom>
        </p:spPr>
      </p:pic>
      <p:sp>
        <p:nvSpPr>
          <p:cNvPr id="61" name="Text 47"/>
          <p:cNvSpPr/>
          <p:nvPr/>
        </p:nvSpPr>
        <p:spPr>
          <a:xfrm>
            <a:off x="15049500" y="3819227"/>
            <a:ext cx="2362200" cy="326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2100" b="1" kern="0" spc="-31">
                <a:solidFill>
                  <a:srgbClr val="1A17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Entrega</a:t>
            </a:r>
            <a:endParaRPr lang="en-US" sz="2100"/>
          </a:p>
        </p:txBody>
      </p:sp>
      <p:sp>
        <p:nvSpPr>
          <p:cNvPr id="62" name="Text 48"/>
          <p:cNvSpPr/>
          <p:nvPr/>
        </p:nvSpPr>
        <p:spPr>
          <a:xfrm>
            <a:off x="15049500" y="4221510"/>
            <a:ext cx="2362200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88" kern="0" spc="54">
                <a:solidFill>
                  <a:srgbClr val="564F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OPERACIONES · SOPORTE</a:t>
            </a:r>
            <a:endParaRPr lang="en-US" sz="1088"/>
          </a:p>
        </p:txBody>
      </p:sp>
      <p:sp>
        <p:nvSpPr>
          <p:cNvPr id="66" name="Shape 51"/>
          <p:cNvSpPr/>
          <p:nvPr/>
        </p:nvSpPr>
        <p:spPr>
          <a:xfrm>
            <a:off x="16221075" y="4795838"/>
            <a:ext cx="19050" cy="914400"/>
          </a:xfrm>
          <a:prstGeom prst="rect">
            <a:avLst/>
          </a:prstGeom>
          <a:solidFill>
            <a:srgbClr val="DEDBD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7" name="Shape 52"/>
          <p:cNvSpPr/>
          <p:nvPr/>
        </p:nvSpPr>
        <p:spPr>
          <a:xfrm>
            <a:off x="15887700" y="5367338"/>
            <a:ext cx="685800" cy="685800"/>
          </a:xfrm>
          <a:prstGeom prst="ellipse">
            <a:avLst/>
          </a:prstGeom>
          <a:solidFill>
            <a:srgbClr val="F0EEE9"/>
          </a:solidFill>
          <a:ln w="19050">
            <a:solidFill>
              <a:srgbClr val="1A171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8" name="Text 53"/>
          <p:cNvSpPr/>
          <p:nvPr/>
        </p:nvSpPr>
        <p:spPr>
          <a:xfrm>
            <a:off x="16116300" y="5581650"/>
            <a:ext cx="3048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>
                <a:solidFill>
                  <a:srgbClr val="1A1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500"/>
          </a:p>
        </p:txBody>
      </p:sp>
      <p:sp>
        <p:nvSpPr>
          <p:cNvPr id="69" name="Shape 54"/>
          <p:cNvSpPr/>
          <p:nvPr/>
        </p:nvSpPr>
        <p:spPr>
          <a:xfrm>
            <a:off x="16182975" y="5338763"/>
            <a:ext cx="95250" cy="95250"/>
          </a:xfrm>
          <a:prstGeom prst="ellipse">
            <a:avLst/>
          </a:prstGeom>
          <a:solidFill>
            <a:srgbClr val="ED1C29"/>
          </a:solidFill>
          <a:ln w="9525">
            <a:solidFill>
              <a:srgbClr val="1A171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0" name="Shape 55"/>
          <p:cNvSpPr/>
          <p:nvPr/>
        </p:nvSpPr>
        <p:spPr>
          <a:xfrm rot="2700000">
            <a:off x="3142208" y="5614988"/>
            <a:ext cx="190500" cy="190500"/>
          </a:xfrm>
          <a:prstGeom prst="rect">
            <a:avLst/>
          </a:prstGeom>
          <a:solidFill>
            <a:srgbClr val="ED1C29"/>
          </a:solidFill>
          <a:ln w="19050">
            <a:solidFill>
              <a:srgbClr val="1A171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1" name="Text 56"/>
          <p:cNvSpPr/>
          <p:nvPr/>
        </p:nvSpPr>
        <p:spPr>
          <a:xfrm>
            <a:off x="2437358" y="6091238"/>
            <a:ext cx="16002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kern="0" spc="42">
                <a:solidFill>
                  <a:srgbClr val="1A1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DoR</a:t>
            </a:r>
            <a:endParaRPr lang="en-US" sz="1050"/>
          </a:p>
        </p:txBody>
      </p:sp>
      <p:sp>
        <p:nvSpPr>
          <p:cNvPr id="72" name="Shape 57"/>
          <p:cNvSpPr/>
          <p:nvPr/>
        </p:nvSpPr>
        <p:spPr>
          <a:xfrm rot="2700000">
            <a:off x="14953506" y="5614988"/>
            <a:ext cx="190500" cy="190500"/>
          </a:xfrm>
          <a:prstGeom prst="rect">
            <a:avLst/>
          </a:prstGeom>
          <a:solidFill>
            <a:srgbClr val="ED1C29"/>
          </a:solidFill>
          <a:ln w="19050">
            <a:solidFill>
              <a:srgbClr val="1A171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3" name="Text 58"/>
          <p:cNvSpPr/>
          <p:nvPr/>
        </p:nvSpPr>
        <p:spPr>
          <a:xfrm>
            <a:off x="14248656" y="6091238"/>
            <a:ext cx="16002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kern="0" spc="42">
                <a:solidFill>
                  <a:srgbClr val="1A1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Producción</a:t>
            </a:r>
            <a:endParaRPr lang="en-US" sz="1050"/>
          </a:p>
        </p:txBody>
      </p:sp>
      <p:sp>
        <p:nvSpPr>
          <p:cNvPr id="74" name="Shape 59"/>
          <p:cNvSpPr/>
          <p:nvPr/>
        </p:nvSpPr>
        <p:spPr>
          <a:xfrm>
            <a:off x="876300" y="9353550"/>
            <a:ext cx="16535400" cy="9525"/>
          </a:xfrm>
          <a:prstGeom prst="rect">
            <a:avLst/>
          </a:prstGeom>
          <a:solidFill>
            <a:srgbClr val="DEDBD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5" name="Shape 60"/>
          <p:cNvSpPr/>
          <p:nvPr/>
        </p:nvSpPr>
        <p:spPr>
          <a:xfrm>
            <a:off x="7432572" y="9591675"/>
            <a:ext cx="142875" cy="142875"/>
          </a:xfrm>
          <a:prstGeom prst="ellipse">
            <a:avLst/>
          </a:prstGeom>
          <a:ln w="19050">
            <a:solidFill>
              <a:srgbClr val="1A171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6" name="Text 61"/>
          <p:cNvSpPr/>
          <p:nvPr/>
        </p:nvSpPr>
        <p:spPr>
          <a:xfrm>
            <a:off x="7689747" y="9572625"/>
            <a:ext cx="124331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8" kern="0" spc="54">
                <a:solidFill>
                  <a:srgbClr val="564F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EQUIPO · FASE</a:t>
            </a:r>
            <a:endParaRPr lang="en-US" sz="1088"/>
          </a:p>
        </p:txBody>
      </p:sp>
      <p:sp>
        <p:nvSpPr>
          <p:cNvPr id="77" name="Shape 62"/>
          <p:cNvSpPr/>
          <p:nvPr/>
        </p:nvSpPr>
        <p:spPr>
          <a:xfrm>
            <a:off x="9256907" y="9577388"/>
            <a:ext cx="9525" cy="171450"/>
          </a:xfrm>
          <a:prstGeom prst="rect">
            <a:avLst/>
          </a:prstGeom>
          <a:solidFill>
            <a:srgbClr val="DEDBD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8" name="Shape 63"/>
          <p:cNvSpPr/>
          <p:nvPr/>
        </p:nvSpPr>
        <p:spPr>
          <a:xfrm rot="2700000">
            <a:off x="9666482" y="9591675"/>
            <a:ext cx="142875" cy="142875"/>
          </a:xfrm>
          <a:prstGeom prst="rect">
            <a:avLst/>
          </a:prstGeom>
          <a:solidFill>
            <a:srgbClr val="ED1C29"/>
          </a:solidFill>
          <a:ln w="19050">
            <a:solidFill>
              <a:srgbClr val="1A171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9" name="Text 64"/>
          <p:cNvSpPr/>
          <p:nvPr/>
        </p:nvSpPr>
        <p:spPr>
          <a:xfrm>
            <a:off x="9923657" y="9572625"/>
            <a:ext cx="151268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8" kern="0" spc="54">
                <a:solidFill>
                  <a:srgbClr val="564F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HITO · COMPUERTA</a:t>
            </a:r>
            <a:endParaRPr lang="en-US" sz="1088"/>
          </a:p>
        </p:txBody>
      </p:sp>
      <p:sp>
        <p:nvSpPr>
          <p:cNvPr id="86" name="Text 1">
            <a:extLst>
              <a:ext uri="{FF2B5EF4-FFF2-40B4-BE49-F238E27FC236}">
                <a16:creationId xmlns:a16="http://schemas.microsoft.com/office/drawing/2014/main" id="{F4489FAA-FD07-F1C9-3888-2BD13D84A642}"/>
              </a:ext>
            </a:extLst>
          </p:cNvPr>
          <p:cNvSpPr/>
          <p:nvPr/>
        </p:nvSpPr>
        <p:spPr>
          <a:xfrm>
            <a:off x="2026920" y="597248"/>
            <a:ext cx="16596360" cy="1371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defTabSz="1371600">
              <a:lnSpc>
                <a:spcPct val="90000"/>
              </a:lnSpc>
            </a:pPr>
            <a:r>
              <a:rPr lang="es-CO" sz="4050" b="1">
                <a:solidFill>
                  <a:srgbClr val="111111"/>
                </a:solidFill>
                <a:latin typeface="Segoe UI" panose="020B0502040204020203" pitchFamily="34" charset="0"/>
              </a:rPr>
              <a:t>Proceso de desarrollo de soluciones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E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D0D385-A285-C21A-D7A2-21FEA2505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AFD4DD78-897D-8354-D7CF-16A074B84F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666750"/>
            <a:ext cx="551111" cy="4191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CCA42D73-ECAD-66AC-CDBA-721A7E62BE24}"/>
              </a:ext>
            </a:extLst>
          </p:cNvPr>
          <p:cNvSpPr/>
          <p:nvPr/>
        </p:nvSpPr>
        <p:spPr>
          <a:xfrm>
            <a:off x="2113211" y="685800"/>
            <a:ext cx="9525" cy="381000"/>
          </a:xfrm>
          <a:prstGeom prst="rect">
            <a:avLst/>
          </a:prstGeom>
          <a:solidFill>
            <a:srgbClr val="DEDBD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C76B16FB-0BEB-956C-9E0C-78527512C6A0}"/>
              </a:ext>
            </a:extLst>
          </p:cNvPr>
          <p:cNvSpPr/>
          <p:nvPr/>
        </p:nvSpPr>
        <p:spPr>
          <a:xfrm>
            <a:off x="2663584" y="127015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O" b="1" kern="0" spc="300" noProof="0">
                <a:solidFill>
                  <a:srgbClr val="FF0000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Visibilidad, balance y predictibilidad para la toma de decisiones</a:t>
            </a: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B40B66B9-8828-9584-2A5D-D4EFE0B1C954}"/>
              </a:ext>
            </a:extLst>
          </p:cNvPr>
          <p:cNvSpPr/>
          <p:nvPr/>
        </p:nvSpPr>
        <p:spPr>
          <a:xfrm>
            <a:off x="2600920" y="544914"/>
            <a:ext cx="16596360" cy="1371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defTabSz="1371600">
              <a:lnSpc>
                <a:spcPct val="90000"/>
              </a:lnSpc>
            </a:pPr>
            <a:r>
              <a:rPr lang="es-CO" sz="4050" b="1">
                <a:solidFill>
                  <a:srgbClr val="111111"/>
                </a:solidFill>
                <a:latin typeface="Segoe UI" panose="020B0502040204020203" pitchFamily="34" charset="0"/>
              </a:rPr>
              <a:t>Modelo de capacidad</a:t>
            </a:r>
          </a:p>
        </p:txBody>
      </p:sp>
      <p:sp>
        <p:nvSpPr>
          <p:cNvPr id="77" name="Text 22">
            <a:extLst>
              <a:ext uri="{FF2B5EF4-FFF2-40B4-BE49-F238E27FC236}">
                <a16:creationId xmlns:a16="http://schemas.microsoft.com/office/drawing/2014/main" id="{348F4425-1194-64E3-6738-4746033A02F9}"/>
              </a:ext>
            </a:extLst>
          </p:cNvPr>
          <p:cNvSpPr/>
          <p:nvPr/>
        </p:nvSpPr>
        <p:spPr>
          <a:xfrm>
            <a:off x="2336114" y="9327815"/>
            <a:ext cx="1350637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O" sz="1900" noProof="0">
                <a:solidFill>
                  <a:schemeClr val="bg1"/>
                </a:solidFill>
                <a:highlight>
                  <a:srgbClr val="FF00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Capacidad como </a:t>
            </a:r>
            <a:r>
              <a:rPr lang="es-CO" sz="1900" b="1" noProof="0">
                <a:solidFill>
                  <a:schemeClr val="bg1"/>
                </a:solidFill>
                <a:highlight>
                  <a:srgbClr val="FF00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Activo Estratégico</a:t>
            </a:r>
            <a:r>
              <a:rPr lang="es-CO" sz="1900" noProof="0">
                <a:solidFill>
                  <a:schemeClr val="bg1"/>
                </a:solidFill>
                <a:highlight>
                  <a:srgbClr val="FF00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: </a:t>
            </a:r>
            <a:r>
              <a:rPr lang="es-CO" sz="1900" noProof="0">
                <a:latin typeface="Roboto" pitchFamily="34" charset="0"/>
                <a:ea typeface="Roboto" pitchFamily="34" charset="-122"/>
                <a:cs typeface="Roboto" pitchFamily="34" charset="-120"/>
              </a:rPr>
              <a:t>pasamos de una administración reactiva de recursos a una gestión estratégica de capacidad, con visibilidad, predictibilidad y decisiones de talento sustentadas en datos.</a:t>
            </a:r>
            <a:endParaRPr lang="es-CO" sz="1900" noProof="0"/>
          </a:p>
        </p:txBody>
      </p:sp>
      <p:grpSp>
        <p:nvGrpSpPr>
          <p:cNvPr id="116" name="Grupo 115">
            <a:extLst>
              <a:ext uri="{FF2B5EF4-FFF2-40B4-BE49-F238E27FC236}">
                <a16:creationId xmlns:a16="http://schemas.microsoft.com/office/drawing/2014/main" id="{8B4DEFE1-5EF4-9651-CA24-17DB21317244}"/>
              </a:ext>
            </a:extLst>
          </p:cNvPr>
          <p:cNvGrpSpPr/>
          <p:nvPr/>
        </p:nvGrpSpPr>
        <p:grpSpPr>
          <a:xfrm>
            <a:off x="2702755" y="1854208"/>
            <a:ext cx="14622718" cy="7302966"/>
            <a:chOff x="2462124" y="1786554"/>
            <a:chExt cx="14680467" cy="7556588"/>
          </a:xfrm>
        </p:grpSpPr>
        <p:sp>
          <p:nvSpPr>
            <p:cNvPr id="10" name="Shape 2">
              <a:extLst>
                <a:ext uri="{FF2B5EF4-FFF2-40B4-BE49-F238E27FC236}">
                  <a16:creationId xmlns:a16="http://schemas.microsoft.com/office/drawing/2014/main" id="{45568CC2-E424-1A5B-D5E6-0DD3796656DB}"/>
                </a:ext>
              </a:extLst>
            </p:cNvPr>
            <p:cNvSpPr/>
            <p:nvPr/>
          </p:nvSpPr>
          <p:spPr>
            <a:xfrm>
              <a:off x="2463463" y="1963158"/>
              <a:ext cx="5742071" cy="1259560"/>
            </a:xfrm>
            <a:prstGeom prst="roundRect">
              <a:avLst>
                <a:gd name="adj" fmla="val 4615"/>
              </a:avLst>
            </a:prstGeom>
            <a:solidFill>
              <a:srgbClr val="FFFFFF"/>
            </a:solidFill>
            <a:ln w="12700">
              <a:solidFill>
                <a:srgbClr val="E9F1FA"/>
              </a:solidFill>
              <a:prstDash val="solid"/>
            </a:ln>
            <a:effectLst>
              <a:outerShdw blurRad="101600" dist="38100" dir="5400000" algn="bl" rotWithShape="0">
                <a:srgbClr val="9FB3C8">
                  <a:alpha val="35000"/>
                </a:srgbClr>
              </a:outerShdw>
            </a:effectLst>
          </p:spPr>
          <p:txBody>
            <a:bodyPr/>
            <a:lstStyle/>
            <a:p>
              <a:endParaRPr lang="es-CO" sz="2700" noProof="0"/>
            </a:p>
          </p:txBody>
        </p:sp>
        <p:sp>
          <p:nvSpPr>
            <p:cNvPr id="16" name="Text 5">
              <a:extLst>
                <a:ext uri="{FF2B5EF4-FFF2-40B4-BE49-F238E27FC236}">
                  <a16:creationId xmlns:a16="http://schemas.microsoft.com/office/drawing/2014/main" id="{0EBA65E8-9D4C-E9A8-6DCE-85050DCC0DBF}"/>
                </a:ext>
              </a:extLst>
            </p:cNvPr>
            <p:cNvSpPr/>
            <p:nvPr/>
          </p:nvSpPr>
          <p:spPr>
            <a:xfrm>
              <a:off x="2770273" y="1786554"/>
              <a:ext cx="6103620" cy="10496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s-CO" sz="2400" b="1" noProof="0">
                  <a:latin typeface="Roboto Condensed" pitchFamily="34" charset="0"/>
                  <a:ea typeface="Roboto Condensed" pitchFamily="34" charset="-122"/>
                  <a:cs typeface="Roboto Condensed" pitchFamily="34" charset="-120"/>
                </a:rPr>
                <a:t>Visibilidad limitada de la capacidad</a:t>
              </a:r>
              <a:endParaRPr lang="es-CO" sz="2400" noProof="0"/>
            </a:p>
          </p:txBody>
        </p:sp>
        <p:sp>
          <p:nvSpPr>
            <p:cNvPr id="21" name="Shape 2">
              <a:extLst>
                <a:ext uri="{FF2B5EF4-FFF2-40B4-BE49-F238E27FC236}">
                  <a16:creationId xmlns:a16="http://schemas.microsoft.com/office/drawing/2014/main" id="{5E02CBE0-5D56-5A74-84B4-7DA64FC42FF2}"/>
                </a:ext>
              </a:extLst>
            </p:cNvPr>
            <p:cNvSpPr/>
            <p:nvPr/>
          </p:nvSpPr>
          <p:spPr>
            <a:xfrm>
              <a:off x="9649326" y="1963158"/>
              <a:ext cx="5742071" cy="1259560"/>
            </a:xfrm>
            <a:prstGeom prst="roundRect">
              <a:avLst>
                <a:gd name="adj" fmla="val 4615"/>
              </a:avLst>
            </a:prstGeom>
            <a:solidFill>
              <a:srgbClr val="FF0000">
                <a:alpha val="70000"/>
              </a:srgbClr>
            </a:solidFill>
            <a:ln w="12700">
              <a:solidFill>
                <a:srgbClr val="E9F1FA"/>
              </a:solidFill>
              <a:prstDash val="solid"/>
            </a:ln>
            <a:effectLst>
              <a:outerShdw blurRad="101600" dist="38100" dir="5400000" algn="bl" rotWithShape="0">
                <a:srgbClr val="9FB3C8">
                  <a:alpha val="35000"/>
                </a:srgbClr>
              </a:outerShdw>
            </a:effectLst>
          </p:spPr>
          <p:txBody>
            <a:bodyPr/>
            <a:lstStyle/>
            <a:p>
              <a:endParaRPr lang="es-CO" sz="2700" noProof="0">
                <a:solidFill>
                  <a:schemeClr val="bg1"/>
                </a:solidFill>
              </a:endParaRPr>
            </a:p>
          </p:txBody>
        </p:sp>
        <p:sp>
          <p:nvSpPr>
            <p:cNvPr id="27" name="Text 5">
              <a:extLst>
                <a:ext uri="{FF2B5EF4-FFF2-40B4-BE49-F238E27FC236}">
                  <a16:creationId xmlns:a16="http://schemas.microsoft.com/office/drawing/2014/main" id="{9CEA3444-0D76-A8B7-BAC8-3238FC9F8941}"/>
                </a:ext>
              </a:extLst>
            </p:cNvPr>
            <p:cNvSpPr/>
            <p:nvPr/>
          </p:nvSpPr>
          <p:spPr>
            <a:xfrm>
              <a:off x="11038971" y="2095365"/>
              <a:ext cx="6103620" cy="10496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s-CO" sz="2400" b="1" noProof="0">
                  <a:solidFill>
                    <a:schemeClr val="bg1"/>
                  </a:solidFill>
                  <a:latin typeface="Roboto Condensed" pitchFamily="34" charset="0"/>
                  <a:ea typeface="Roboto Condensed" pitchFamily="34" charset="-122"/>
                  <a:cs typeface="Roboto Condensed" pitchFamily="34" charset="-120"/>
                </a:rPr>
                <a:t>Modelo Gestión de Capacidad.</a:t>
              </a:r>
              <a:endParaRPr lang="es-CO" sz="2400" noProof="0">
                <a:solidFill>
                  <a:schemeClr val="bg1"/>
                </a:solidFill>
              </a:endParaRPr>
            </a:p>
          </p:txBody>
        </p:sp>
        <p:sp>
          <p:nvSpPr>
            <p:cNvPr id="29" name="Shape 2">
              <a:extLst>
                <a:ext uri="{FF2B5EF4-FFF2-40B4-BE49-F238E27FC236}">
                  <a16:creationId xmlns:a16="http://schemas.microsoft.com/office/drawing/2014/main" id="{4FAC14CA-7B57-E6DF-5873-F2F9348E5E6F}"/>
                </a:ext>
              </a:extLst>
            </p:cNvPr>
            <p:cNvSpPr/>
            <p:nvPr/>
          </p:nvSpPr>
          <p:spPr>
            <a:xfrm>
              <a:off x="2463463" y="3403133"/>
              <a:ext cx="5742071" cy="1259560"/>
            </a:xfrm>
            <a:prstGeom prst="roundRect">
              <a:avLst>
                <a:gd name="adj" fmla="val 4615"/>
              </a:avLst>
            </a:prstGeom>
            <a:solidFill>
              <a:srgbClr val="FFFFFF"/>
            </a:solidFill>
            <a:ln w="12700">
              <a:solidFill>
                <a:srgbClr val="E9F1FA"/>
              </a:solidFill>
              <a:prstDash val="solid"/>
            </a:ln>
            <a:effectLst>
              <a:outerShdw blurRad="101600" dist="38100" dir="5400000" algn="bl" rotWithShape="0">
                <a:srgbClr val="9FB3C8">
                  <a:alpha val="35000"/>
                </a:srgbClr>
              </a:outerShdw>
            </a:effectLst>
          </p:spPr>
          <p:txBody>
            <a:bodyPr/>
            <a:lstStyle/>
            <a:p>
              <a:endParaRPr lang="es-CO" sz="2700" noProof="0"/>
            </a:p>
          </p:txBody>
        </p:sp>
        <p:sp>
          <p:nvSpPr>
            <p:cNvPr id="31" name="Text 5">
              <a:extLst>
                <a:ext uri="{FF2B5EF4-FFF2-40B4-BE49-F238E27FC236}">
                  <a16:creationId xmlns:a16="http://schemas.microsoft.com/office/drawing/2014/main" id="{98BE9176-67E9-BF21-1537-97862C2D21A6}"/>
                </a:ext>
              </a:extLst>
            </p:cNvPr>
            <p:cNvSpPr/>
            <p:nvPr/>
          </p:nvSpPr>
          <p:spPr>
            <a:xfrm>
              <a:off x="2794336" y="3265631"/>
              <a:ext cx="5064056" cy="10496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s-CO" sz="2400" b="1" noProof="0">
                  <a:latin typeface="Roboto Condensed" pitchFamily="34" charset="0"/>
                  <a:ea typeface="Roboto Condensed" pitchFamily="34" charset="-122"/>
                  <a:cs typeface="Roboto Condensed" pitchFamily="34" charset="-120"/>
                </a:rPr>
                <a:t>Demanda creciente y dispersa</a:t>
              </a:r>
              <a:endParaRPr lang="es-CO" sz="2400" noProof="0"/>
            </a:p>
          </p:txBody>
        </p:sp>
        <p:sp>
          <p:nvSpPr>
            <p:cNvPr id="33" name="Shape 2">
              <a:extLst>
                <a:ext uri="{FF2B5EF4-FFF2-40B4-BE49-F238E27FC236}">
                  <a16:creationId xmlns:a16="http://schemas.microsoft.com/office/drawing/2014/main" id="{226DC2B8-F6CE-F6F8-FBD2-A009DCE0303C}"/>
                </a:ext>
              </a:extLst>
            </p:cNvPr>
            <p:cNvSpPr/>
            <p:nvPr/>
          </p:nvSpPr>
          <p:spPr>
            <a:xfrm>
              <a:off x="9649326" y="3403133"/>
              <a:ext cx="5742071" cy="1259560"/>
            </a:xfrm>
            <a:prstGeom prst="roundRect">
              <a:avLst>
                <a:gd name="adj" fmla="val 4615"/>
              </a:avLst>
            </a:prstGeom>
            <a:solidFill>
              <a:srgbClr val="FF0000">
                <a:alpha val="70000"/>
              </a:srgbClr>
            </a:solidFill>
            <a:ln w="12700">
              <a:solidFill>
                <a:srgbClr val="E9F1FA"/>
              </a:solidFill>
              <a:prstDash val="solid"/>
            </a:ln>
            <a:effectLst>
              <a:outerShdw blurRad="101600" dist="38100" dir="5400000" algn="bl" rotWithShape="0">
                <a:srgbClr val="9FB3C8">
                  <a:alpha val="35000"/>
                </a:srgbClr>
              </a:outerShdw>
            </a:effectLst>
          </p:spPr>
          <p:txBody>
            <a:bodyPr/>
            <a:lstStyle/>
            <a:p>
              <a:endParaRPr lang="es-CO" sz="2700" noProof="0">
                <a:solidFill>
                  <a:schemeClr val="bg1"/>
                </a:solidFill>
              </a:endParaRPr>
            </a:p>
          </p:txBody>
        </p:sp>
        <p:sp>
          <p:nvSpPr>
            <p:cNvPr id="35" name="Text 5">
              <a:extLst>
                <a:ext uri="{FF2B5EF4-FFF2-40B4-BE49-F238E27FC236}">
                  <a16:creationId xmlns:a16="http://schemas.microsoft.com/office/drawing/2014/main" id="{1C4E9D13-7A7F-9E0C-88CC-840E4F151B5C}"/>
                </a:ext>
              </a:extLst>
            </p:cNvPr>
            <p:cNvSpPr/>
            <p:nvPr/>
          </p:nvSpPr>
          <p:spPr>
            <a:xfrm>
              <a:off x="11037632" y="3460380"/>
              <a:ext cx="3587145" cy="10496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s-CO" sz="2400" b="1" noProof="0">
                  <a:solidFill>
                    <a:schemeClr val="bg1"/>
                  </a:solidFill>
                  <a:latin typeface="Roboto Condensed" pitchFamily="34" charset="0"/>
                  <a:ea typeface="Roboto Condensed" pitchFamily="34" charset="-122"/>
                  <a:cs typeface="Roboto Condensed" pitchFamily="34" charset="-120"/>
                </a:rPr>
                <a:t>Constante Rebalanceo de Capacidades.</a:t>
              </a:r>
              <a:endParaRPr lang="es-CO" sz="2400" noProof="0">
                <a:solidFill>
                  <a:schemeClr val="bg1"/>
                </a:solidFill>
              </a:endParaRPr>
            </a:p>
          </p:txBody>
        </p:sp>
        <p:sp>
          <p:nvSpPr>
            <p:cNvPr id="37" name="Shape 2">
              <a:extLst>
                <a:ext uri="{FF2B5EF4-FFF2-40B4-BE49-F238E27FC236}">
                  <a16:creationId xmlns:a16="http://schemas.microsoft.com/office/drawing/2014/main" id="{4BCEE5F3-67BC-87C4-104B-C4876DABFAB6}"/>
                </a:ext>
              </a:extLst>
            </p:cNvPr>
            <p:cNvSpPr/>
            <p:nvPr/>
          </p:nvSpPr>
          <p:spPr>
            <a:xfrm>
              <a:off x="2463463" y="6250383"/>
              <a:ext cx="5742071" cy="1259560"/>
            </a:xfrm>
            <a:prstGeom prst="roundRect">
              <a:avLst>
                <a:gd name="adj" fmla="val 4615"/>
              </a:avLst>
            </a:prstGeom>
            <a:solidFill>
              <a:srgbClr val="FFFFFF"/>
            </a:solidFill>
            <a:ln w="12700">
              <a:solidFill>
                <a:srgbClr val="E9F1FA"/>
              </a:solidFill>
              <a:prstDash val="solid"/>
            </a:ln>
            <a:effectLst>
              <a:outerShdw blurRad="101600" dist="38100" dir="5400000" algn="bl" rotWithShape="0">
                <a:srgbClr val="9FB3C8">
                  <a:alpha val="35000"/>
                </a:srgbClr>
              </a:outerShdw>
            </a:effectLst>
          </p:spPr>
          <p:txBody>
            <a:bodyPr/>
            <a:lstStyle/>
            <a:p>
              <a:endParaRPr lang="es-CO" sz="2700" noProof="0"/>
            </a:p>
          </p:txBody>
        </p:sp>
        <p:sp>
          <p:nvSpPr>
            <p:cNvPr id="39" name="Text 5">
              <a:extLst>
                <a:ext uri="{FF2B5EF4-FFF2-40B4-BE49-F238E27FC236}">
                  <a16:creationId xmlns:a16="http://schemas.microsoft.com/office/drawing/2014/main" id="{D3588B28-7160-FBB1-EBD0-36812BA92A90}"/>
                </a:ext>
              </a:extLst>
            </p:cNvPr>
            <p:cNvSpPr/>
            <p:nvPr/>
          </p:nvSpPr>
          <p:spPr>
            <a:xfrm>
              <a:off x="2794336" y="5993571"/>
              <a:ext cx="6103620" cy="10496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s-CO" sz="2400" b="1" noProof="0">
                  <a:latin typeface="Roboto Condensed" pitchFamily="34" charset="0"/>
                  <a:ea typeface="Roboto Condensed" pitchFamily="34" charset="-122"/>
                  <a:cs typeface="Roboto Condensed" pitchFamily="34" charset="-120"/>
                </a:rPr>
                <a:t>Sobrecargas y cuellos de botella</a:t>
              </a:r>
              <a:endParaRPr lang="es-CO" sz="2400" noProof="0"/>
            </a:p>
          </p:txBody>
        </p:sp>
        <p:sp>
          <p:nvSpPr>
            <p:cNvPr id="41" name="Shape 2">
              <a:extLst>
                <a:ext uri="{FF2B5EF4-FFF2-40B4-BE49-F238E27FC236}">
                  <a16:creationId xmlns:a16="http://schemas.microsoft.com/office/drawing/2014/main" id="{77E5FAEA-656D-BF79-B39A-67BD5B7CBD2C}"/>
                </a:ext>
              </a:extLst>
            </p:cNvPr>
            <p:cNvSpPr/>
            <p:nvPr/>
          </p:nvSpPr>
          <p:spPr>
            <a:xfrm>
              <a:off x="9649326" y="6250383"/>
              <a:ext cx="5742071" cy="1259560"/>
            </a:xfrm>
            <a:prstGeom prst="roundRect">
              <a:avLst>
                <a:gd name="adj" fmla="val 4615"/>
              </a:avLst>
            </a:prstGeom>
            <a:solidFill>
              <a:srgbClr val="FF0000">
                <a:alpha val="70000"/>
              </a:srgbClr>
            </a:solidFill>
            <a:ln w="12700">
              <a:solidFill>
                <a:srgbClr val="E9F1FA"/>
              </a:solidFill>
              <a:prstDash val="solid"/>
            </a:ln>
            <a:effectLst>
              <a:outerShdw blurRad="101600" dist="38100" dir="5400000" algn="bl" rotWithShape="0">
                <a:srgbClr val="9FB3C8">
                  <a:alpha val="35000"/>
                </a:srgbClr>
              </a:outerShdw>
            </a:effectLst>
          </p:spPr>
          <p:txBody>
            <a:bodyPr/>
            <a:lstStyle/>
            <a:p>
              <a:endParaRPr lang="es-CO" sz="2700" noProof="0">
                <a:solidFill>
                  <a:schemeClr val="bg1"/>
                </a:solidFill>
              </a:endParaRPr>
            </a:p>
          </p:txBody>
        </p:sp>
        <p:sp>
          <p:nvSpPr>
            <p:cNvPr id="43" name="Text 5">
              <a:extLst>
                <a:ext uri="{FF2B5EF4-FFF2-40B4-BE49-F238E27FC236}">
                  <a16:creationId xmlns:a16="http://schemas.microsoft.com/office/drawing/2014/main" id="{EB5F0E2A-547D-A3CB-B6B3-9A417ED7968F}"/>
                </a:ext>
              </a:extLst>
            </p:cNvPr>
            <p:cNvSpPr/>
            <p:nvPr/>
          </p:nvSpPr>
          <p:spPr>
            <a:xfrm>
              <a:off x="11038971" y="6325440"/>
              <a:ext cx="4193006" cy="10496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s-CO" sz="2400" b="1" noProof="0">
                  <a:solidFill>
                    <a:schemeClr val="bg1"/>
                  </a:solidFill>
                  <a:latin typeface="Roboto Condensed" pitchFamily="34" charset="0"/>
                  <a:ea typeface="Roboto Condensed" pitchFamily="34" charset="-122"/>
                  <a:cs typeface="Roboto Condensed" pitchFamily="34" charset="-120"/>
                </a:rPr>
                <a:t>Gestión basada en datos y criterios homogéneos</a:t>
              </a:r>
              <a:endParaRPr lang="es-CO" sz="2400" noProof="0">
                <a:solidFill>
                  <a:schemeClr val="bg1"/>
                </a:solidFill>
              </a:endParaRPr>
            </a:p>
          </p:txBody>
        </p:sp>
        <p:sp>
          <p:nvSpPr>
            <p:cNvPr id="45" name="Shape 2">
              <a:extLst>
                <a:ext uri="{FF2B5EF4-FFF2-40B4-BE49-F238E27FC236}">
                  <a16:creationId xmlns:a16="http://schemas.microsoft.com/office/drawing/2014/main" id="{3F0C1CC8-2099-4910-E0BE-ED34E964D73C}"/>
                </a:ext>
              </a:extLst>
            </p:cNvPr>
            <p:cNvSpPr/>
            <p:nvPr/>
          </p:nvSpPr>
          <p:spPr>
            <a:xfrm>
              <a:off x="2462124" y="7640805"/>
              <a:ext cx="5742071" cy="1259560"/>
            </a:xfrm>
            <a:prstGeom prst="roundRect">
              <a:avLst>
                <a:gd name="adj" fmla="val 4615"/>
              </a:avLst>
            </a:prstGeom>
            <a:solidFill>
              <a:srgbClr val="FFFFFF"/>
            </a:solidFill>
            <a:ln w="12700">
              <a:solidFill>
                <a:srgbClr val="E9F1FA"/>
              </a:solidFill>
              <a:prstDash val="solid"/>
            </a:ln>
            <a:effectLst>
              <a:outerShdw blurRad="101600" dist="38100" dir="5400000" algn="bl" rotWithShape="0">
                <a:srgbClr val="9FB3C8">
                  <a:alpha val="35000"/>
                </a:srgbClr>
              </a:outerShdw>
            </a:effectLst>
          </p:spPr>
          <p:txBody>
            <a:bodyPr/>
            <a:lstStyle/>
            <a:p>
              <a:endParaRPr lang="es-CO" sz="2700" noProof="0"/>
            </a:p>
          </p:txBody>
        </p:sp>
        <p:sp>
          <p:nvSpPr>
            <p:cNvPr id="47" name="Text 5">
              <a:extLst>
                <a:ext uri="{FF2B5EF4-FFF2-40B4-BE49-F238E27FC236}">
                  <a16:creationId xmlns:a16="http://schemas.microsoft.com/office/drawing/2014/main" id="{39871A61-FED1-903E-AFC5-38C471689B59}"/>
                </a:ext>
              </a:extLst>
            </p:cNvPr>
            <p:cNvSpPr/>
            <p:nvPr/>
          </p:nvSpPr>
          <p:spPr>
            <a:xfrm>
              <a:off x="2792997" y="7427106"/>
              <a:ext cx="4535239" cy="10496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s-CO" sz="2400" b="1">
                  <a:latin typeface="Roboto Condensed" pitchFamily="34" charset="0"/>
                  <a:ea typeface="Roboto Condensed" pitchFamily="34" charset="-122"/>
                  <a:cs typeface="Roboto Condensed" pitchFamily="34" charset="-120"/>
                </a:rPr>
                <a:t>P</a:t>
              </a:r>
              <a:r>
                <a:rPr lang="es-CO" sz="2400" b="1" noProof="0" err="1">
                  <a:latin typeface="Roboto Condensed" pitchFamily="34" charset="0"/>
                  <a:ea typeface="Roboto Condensed" pitchFamily="34" charset="-122"/>
                  <a:cs typeface="Roboto Condensed" pitchFamily="34" charset="-120"/>
                </a:rPr>
                <a:t>redictibilidad</a:t>
              </a:r>
              <a:endParaRPr lang="es-CO" sz="2400" b="1" noProof="0"/>
            </a:p>
          </p:txBody>
        </p:sp>
        <p:sp>
          <p:nvSpPr>
            <p:cNvPr id="49" name="Shape 2">
              <a:extLst>
                <a:ext uri="{FF2B5EF4-FFF2-40B4-BE49-F238E27FC236}">
                  <a16:creationId xmlns:a16="http://schemas.microsoft.com/office/drawing/2014/main" id="{3B99F3DB-7A24-1282-1F85-4475622305F3}"/>
                </a:ext>
              </a:extLst>
            </p:cNvPr>
            <p:cNvSpPr/>
            <p:nvPr/>
          </p:nvSpPr>
          <p:spPr>
            <a:xfrm>
              <a:off x="9647987" y="7640805"/>
              <a:ext cx="5742071" cy="1259560"/>
            </a:xfrm>
            <a:prstGeom prst="roundRect">
              <a:avLst>
                <a:gd name="adj" fmla="val 4615"/>
              </a:avLst>
            </a:prstGeom>
            <a:solidFill>
              <a:srgbClr val="FF0000">
                <a:alpha val="70000"/>
              </a:srgbClr>
            </a:solidFill>
            <a:ln w="12700">
              <a:solidFill>
                <a:srgbClr val="E9F1FA"/>
              </a:solidFill>
              <a:prstDash val="solid"/>
            </a:ln>
            <a:effectLst>
              <a:outerShdw blurRad="101600" dist="38100" dir="5400000" algn="bl" rotWithShape="0">
                <a:srgbClr val="9FB3C8">
                  <a:alpha val="35000"/>
                </a:srgbClr>
              </a:outerShdw>
            </a:effectLst>
          </p:spPr>
          <p:txBody>
            <a:bodyPr/>
            <a:lstStyle/>
            <a:p>
              <a:endParaRPr lang="es-CO" sz="2700" noProof="0">
                <a:solidFill>
                  <a:schemeClr val="bg1"/>
                </a:solidFill>
              </a:endParaRPr>
            </a:p>
          </p:txBody>
        </p:sp>
        <p:sp>
          <p:nvSpPr>
            <p:cNvPr id="51" name="Text 5">
              <a:extLst>
                <a:ext uri="{FF2B5EF4-FFF2-40B4-BE49-F238E27FC236}">
                  <a16:creationId xmlns:a16="http://schemas.microsoft.com/office/drawing/2014/main" id="{1E50C9C6-0B0D-1C2A-E600-A623AC5A92BF}"/>
                </a:ext>
              </a:extLst>
            </p:cNvPr>
            <p:cNvSpPr/>
            <p:nvPr/>
          </p:nvSpPr>
          <p:spPr>
            <a:xfrm>
              <a:off x="10845128" y="7696812"/>
              <a:ext cx="4386849" cy="10496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s-CO" sz="2400" b="1" noProof="0">
                  <a:solidFill>
                    <a:schemeClr val="bg1"/>
                  </a:solidFill>
                  <a:latin typeface="Roboto Condensed" pitchFamily="34" charset="0"/>
                  <a:ea typeface="Roboto Condensed" pitchFamily="34" charset="-122"/>
                  <a:cs typeface="Roboto Condensed" pitchFamily="34" charset="-120"/>
                </a:rPr>
                <a:t>Anticipación de brechas, riesgos y necesidades futuras</a:t>
              </a:r>
              <a:endParaRPr lang="es-CO" sz="2400" noProof="0">
                <a:solidFill>
                  <a:schemeClr val="bg1"/>
                </a:solidFill>
              </a:endParaRPr>
            </a:p>
          </p:txBody>
        </p:sp>
        <p:sp>
          <p:nvSpPr>
            <p:cNvPr id="53" name="Text 6">
              <a:extLst>
                <a:ext uri="{FF2B5EF4-FFF2-40B4-BE49-F238E27FC236}">
                  <a16:creationId xmlns:a16="http://schemas.microsoft.com/office/drawing/2014/main" id="{C60E9F3E-0051-9440-388D-81DBACB1A625}"/>
                </a:ext>
              </a:extLst>
            </p:cNvPr>
            <p:cNvSpPr/>
            <p:nvPr/>
          </p:nvSpPr>
          <p:spPr>
            <a:xfrm>
              <a:off x="2784812" y="2522861"/>
              <a:ext cx="4645290" cy="11628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just"/>
              <a:r>
                <a:rPr lang="es-CO" noProof="0">
                  <a:latin typeface="Roboto" pitchFamily="34" charset="0"/>
                  <a:ea typeface="Roboto" pitchFamily="34" charset="-122"/>
                  <a:cs typeface="Roboto" pitchFamily="34" charset="-120"/>
                </a:rPr>
                <a:t>Dificultad para conocer disponibilidad, asignaciones y saturación de los equipos.</a:t>
              </a:r>
              <a:endParaRPr lang="es-CO" noProof="0"/>
            </a:p>
          </p:txBody>
        </p:sp>
        <p:sp>
          <p:nvSpPr>
            <p:cNvPr id="55" name="Text 6">
              <a:extLst>
                <a:ext uri="{FF2B5EF4-FFF2-40B4-BE49-F238E27FC236}">
                  <a16:creationId xmlns:a16="http://schemas.microsoft.com/office/drawing/2014/main" id="{2121A690-44AB-0D31-5E7E-D508654BAB17}"/>
                </a:ext>
              </a:extLst>
            </p:cNvPr>
            <p:cNvSpPr/>
            <p:nvPr/>
          </p:nvSpPr>
          <p:spPr>
            <a:xfrm>
              <a:off x="2788485" y="4097932"/>
              <a:ext cx="5441112" cy="11628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just"/>
              <a:r>
                <a:rPr lang="es-CO" noProof="0">
                  <a:latin typeface="Roboto" pitchFamily="34" charset="0"/>
                  <a:ea typeface="Roboto" pitchFamily="34" charset="-122"/>
                  <a:cs typeface="Roboto" pitchFamily="34" charset="-120"/>
                </a:rPr>
                <a:t>Múltiples iniciativas, prioridades y solicitudes.</a:t>
              </a:r>
              <a:endParaRPr lang="es-CO" noProof="0"/>
            </a:p>
          </p:txBody>
        </p:sp>
        <p:sp>
          <p:nvSpPr>
            <p:cNvPr id="59" name="Shape 2">
              <a:extLst>
                <a:ext uri="{FF2B5EF4-FFF2-40B4-BE49-F238E27FC236}">
                  <a16:creationId xmlns:a16="http://schemas.microsoft.com/office/drawing/2014/main" id="{2BB315CD-3419-4D74-820C-F05AF21A00C8}"/>
                </a:ext>
              </a:extLst>
            </p:cNvPr>
            <p:cNvSpPr/>
            <p:nvPr/>
          </p:nvSpPr>
          <p:spPr>
            <a:xfrm>
              <a:off x="2463463" y="4818522"/>
              <a:ext cx="5742071" cy="1259560"/>
            </a:xfrm>
            <a:prstGeom prst="roundRect">
              <a:avLst>
                <a:gd name="adj" fmla="val 4615"/>
              </a:avLst>
            </a:prstGeom>
            <a:solidFill>
              <a:srgbClr val="FFFFFF"/>
            </a:solidFill>
            <a:ln w="12700">
              <a:solidFill>
                <a:srgbClr val="E9F1FA"/>
              </a:solidFill>
              <a:prstDash val="solid"/>
            </a:ln>
            <a:effectLst>
              <a:outerShdw blurRad="101600" dist="38100" dir="5400000" algn="bl" rotWithShape="0">
                <a:srgbClr val="9FB3C8">
                  <a:alpha val="35000"/>
                </a:srgbClr>
              </a:outerShdw>
            </a:effectLst>
          </p:spPr>
          <p:txBody>
            <a:bodyPr/>
            <a:lstStyle/>
            <a:p>
              <a:endParaRPr lang="es-CO" sz="2700" noProof="0"/>
            </a:p>
          </p:txBody>
        </p:sp>
        <p:sp>
          <p:nvSpPr>
            <p:cNvPr id="61" name="Text 5">
              <a:extLst>
                <a:ext uri="{FF2B5EF4-FFF2-40B4-BE49-F238E27FC236}">
                  <a16:creationId xmlns:a16="http://schemas.microsoft.com/office/drawing/2014/main" id="{11EAA31A-3FF8-2696-850C-75CBB5E9DAEB}"/>
                </a:ext>
              </a:extLst>
            </p:cNvPr>
            <p:cNvSpPr/>
            <p:nvPr/>
          </p:nvSpPr>
          <p:spPr>
            <a:xfrm>
              <a:off x="2794336" y="4682025"/>
              <a:ext cx="6103620" cy="10496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s-CO" sz="2400" b="1" noProof="0">
                  <a:latin typeface="Roboto Condensed" pitchFamily="34" charset="0"/>
                  <a:ea typeface="Roboto Condensed" pitchFamily="34" charset="-122"/>
                  <a:cs typeface="Roboto Condensed" pitchFamily="34" charset="-120"/>
                </a:rPr>
                <a:t>Dimensionamiento de capacidad</a:t>
              </a:r>
              <a:endParaRPr lang="es-CO" sz="2400" noProof="0"/>
            </a:p>
          </p:txBody>
        </p:sp>
        <p:sp>
          <p:nvSpPr>
            <p:cNvPr id="63" name="Shape 2">
              <a:extLst>
                <a:ext uri="{FF2B5EF4-FFF2-40B4-BE49-F238E27FC236}">
                  <a16:creationId xmlns:a16="http://schemas.microsoft.com/office/drawing/2014/main" id="{2C1CC789-9E21-094E-6F48-7F81F70D6283}"/>
                </a:ext>
              </a:extLst>
            </p:cNvPr>
            <p:cNvSpPr/>
            <p:nvPr/>
          </p:nvSpPr>
          <p:spPr>
            <a:xfrm>
              <a:off x="9649326" y="4818522"/>
              <a:ext cx="5742071" cy="1259560"/>
            </a:xfrm>
            <a:prstGeom prst="roundRect">
              <a:avLst>
                <a:gd name="adj" fmla="val 4615"/>
              </a:avLst>
            </a:prstGeom>
            <a:solidFill>
              <a:srgbClr val="FF0000">
                <a:alpha val="70000"/>
              </a:srgbClr>
            </a:solidFill>
            <a:ln w="12700">
              <a:solidFill>
                <a:srgbClr val="E9F1FA"/>
              </a:solidFill>
              <a:prstDash val="solid"/>
            </a:ln>
            <a:effectLst>
              <a:outerShdw blurRad="101600" dist="38100" dir="5400000" algn="bl" rotWithShape="0">
                <a:srgbClr val="9FB3C8">
                  <a:alpha val="35000"/>
                </a:srgbClr>
              </a:outerShdw>
            </a:effectLst>
          </p:spPr>
          <p:txBody>
            <a:bodyPr/>
            <a:lstStyle/>
            <a:p>
              <a:endParaRPr lang="es-CO" sz="2700" noProof="0">
                <a:solidFill>
                  <a:schemeClr val="bg1"/>
                </a:solidFill>
              </a:endParaRPr>
            </a:p>
          </p:txBody>
        </p:sp>
        <p:sp>
          <p:nvSpPr>
            <p:cNvPr id="65" name="Text 5">
              <a:extLst>
                <a:ext uri="{FF2B5EF4-FFF2-40B4-BE49-F238E27FC236}">
                  <a16:creationId xmlns:a16="http://schemas.microsoft.com/office/drawing/2014/main" id="{F682633E-0371-197D-0D86-5F698DA9A8D2}"/>
                </a:ext>
              </a:extLst>
            </p:cNvPr>
            <p:cNvSpPr/>
            <p:nvPr/>
          </p:nvSpPr>
          <p:spPr>
            <a:xfrm>
              <a:off x="11038972" y="4893579"/>
              <a:ext cx="4193006" cy="10496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s-CO" sz="2400" b="1" noProof="0">
                  <a:solidFill>
                    <a:schemeClr val="bg1"/>
                  </a:solidFill>
                  <a:latin typeface="Roboto Condensed" pitchFamily="34" charset="0"/>
                  <a:ea typeface="Roboto Condensed" pitchFamily="34" charset="-122"/>
                  <a:cs typeface="Roboto Condensed" pitchFamily="34" charset="-120"/>
                </a:rPr>
                <a:t>Estimación objetiva de necesidades de capacidad.</a:t>
              </a:r>
              <a:endParaRPr lang="es-CO" sz="2400" noProof="0">
                <a:solidFill>
                  <a:schemeClr val="bg1"/>
                </a:solidFill>
              </a:endParaRPr>
            </a:p>
          </p:txBody>
        </p:sp>
        <p:sp>
          <p:nvSpPr>
            <p:cNvPr id="67" name="Text 6">
              <a:extLst>
                <a:ext uri="{FF2B5EF4-FFF2-40B4-BE49-F238E27FC236}">
                  <a16:creationId xmlns:a16="http://schemas.microsoft.com/office/drawing/2014/main" id="{914C6B52-9C51-E1F4-E9F9-72509E3AA010}"/>
                </a:ext>
              </a:extLst>
            </p:cNvPr>
            <p:cNvSpPr/>
            <p:nvPr/>
          </p:nvSpPr>
          <p:spPr>
            <a:xfrm>
              <a:off x="2792997" y="5475656"/>
              <a:ext cx="4714875" cy="11628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just"/>
              <a:r>
                <a:rPr lang="es-CO" noProof="0">
                  <a:latin typeface="Roboto" pitchFamily="34" charset="0"/>
                  <a:ea typeface="Roboto" pitchFamily="34" charset="-122"/>
                </a:rPr>
                <a:t>Capacidad estimada a juicio de experto.</a:t>
              </a:r>
            </a:p>
          </p:txBody>
        </p:sp>
        <p:sp>
          <p:nvSpPr>
            <p:cNvPr id="71" name="Text 6">
              <a:extLst>
                <a:ext uri="{FF2B5EF4-FFF2-40B4-BE49-F238E27FC236}">
                  <a16:creationId xmlns:a16="http://schemas.microsoft.com/office/drawing/2014/main" id="{B5FA9C23-D684-9FEA-1672-491A1782F6EA}"/>
                </a:ext>
              </a:extLst>
            </p:cNvPr>
            <p:cNvSpPr/>
            <p:nvPr/>
          </p:nvSpPr>
          <p:spPr>
            <a:xfrm>
              <a:off x="2784810" y="6733065"/>
              <a:ext cx="4723061" cy="11628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just"/>
              <a:r>
                <a:rPr lang="es-CO" noProof="0">
                  <a:latin typeface="Roboto" pitchFamily="34" charset="0"/>
                  <a:ea typeface="Roboto" pitchFamily="34" charset="-122"/>
                </a:rPr>
                <a:t>Riesgos de capacidad detectados cuando ya impactaban los compromisos.</a:t>
              </a:r>
            </a:p>
          </p:txBody>
        </p:sp>
        <p:sp>
          <p:nvSpPr>
            <p:cNvPr id="75" name="Text 6">
              <a:extLst>
                <a:ext uri="{FF2B5EF4-FFF2-40B4-BE49-F238E27FC236}">
                  <a16:creationId xmlns:a16="http://schemas.microsoft.com/office/drawing/2014/main" id="{C5F43187-34F3-41AA-3677-46BFB72A52CC}"/>
                </a:ext>
              </a:extLst>
            </p:cNvPr>
            <p:cNvSpPr/>
            <p:nvPr/>
          </p:nvSpPr>
          <p:spPr>
            <a:xfrm>
              <a:off x="2792996" y="8180283"/>
              <a:ext cx="4714875" cy="11628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just"/>
              <a:r>
                <a:rPr lang="es-CO">
                  <a:latin typeface="Roboto" pitchFamily="34" charset="0"/>
                  <a:ea typeface="Roboto" pitchFamily="34" charset="-122"/>
                </a:rPr>
                <a:t>Baja a</a:t>
              </a:r>
              <a:r>
                <a:rPr lang="es-CO" noProof="0" err="1">
                  <a:latin typeface="Roboto" pitchFamily="34" charset="0"/>
                  <a:ea typeface="Roboto" pitchFamily="34" charset="-122"/>
                </a:rPr>
                <a:t>nticipación</a:t>
              </a:r>
              <a:r>
                <a:rPr lang="es-CO" noProof="0">
                  <a:latin typeface="Roboto" pitchFamily="34" charset="0"/>
                  <a:ea typeface="Roboto" pitchFamily="34" charset="-122"/>
                </a:rPr>
                <a:t> de impactos en tiempos de entrega y ejecución del portafolio</a:t>
              </a:r>
            </a:p>
          </p:txBody>
        </p:sp>
        <p:pic>
          <p:nvPicPr>
            <p:cNvPr id="79" name="Image 0" descr="/home/claude/tuya_roles/icons/liderTecnico_white.png">
              <a:extLst>
                <a:ext uri="{FF2B5EF4-FFF2-40B4-BE49-F238E27FC236}">
                  <a16:creationId xmlns:a16="http://schemas.microsoft.com/office/drawing/2014/main" id="{6E1F860C-8FDB-DBF2-FC68-9F3CB1A2C3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944132" y="2173552"/>
              <a:ext cx="800033" cy="954960"/>
            </a:xfrm>
            <a:prstGeom prst="rect">
              <a:avLst/>
            </a:prstGeom>
          </p:spPr>
        </p:pic>
        <p:pic>
          <p:nvPicPr>
            <p:cNvPr id="91" name="Imagen 90">
              <a:extLst>
                <a:ext uri="{FF2B5EF4-FFF2-40B4-BE49-F238E27FC236}">
                  <a16:creationId xmlns:a16="http://schemas.microsoft.com/office/drawing/2014/main" id="{DA1E99F1-DA97-1B82-CA29-BFCBFF7C41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 bright="70000" contrast="-70000"/>
            </a:blip>
            <a:stretch>
              <a:fillRect/>
            </a:stretch>
          </p:blipFill>
          <p:spPr>
            <a:xfrm>
              <a:off x="9784882" y="7981693"/>
              <a:ext cx="792549" cy="792549"/>
            </a:xfrm>
            <a:prstGeom prst="rect">
              <a:avLst/>
            </a:prstGeom>
          </p:spPr>
        </p:pic>
        <p:pic>
          <p:nvPicPr>
            <p:cNvPr id="95" name="Gráfico 94" descr="Diana con relleno sólido">
              <a:extLst>
                <a:ext uri="{FF2B5EF4-FFF2-40B4-BE49-F238E27FC236}">
                  <a16:creationId xmlns:a16="http://schemas.microsoft.com/office/drawing/2014/main" id="{E1EC88CD-05A5-5F51-580B-D34A5D9E4C8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821612" y="4977601"/>
              <a:ext cx="914400" cy="914400"/>
            </a:xfrm>
            <a:prstGeom prst="rect">
              <a:avLst/>
            </a:prstGeom>
          </p:spPr>
        </p:pic>
        <p:pic>
          <p:nvPicPr>
            <p:cNvPr id="97" name="Gráfico 96" descr="Dinero con relleno sólido">
              <a:extLst>
                <a:ext uri="{FF2B5EF4-FFF2-40B4-BE49-F238E27FC236}">
                  <a16:creationId xmlns:a16="http://schemas.microsoft.com/office/drawing/2014/main" id="{7E604C76-B65D-3E86-304D-9CED6B5AEE1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910340" y="3510099"/>
              <a:ext cx="914400" cy="914400"/>
            </a:xfrm>
            <a:prstGeom prst="rect">
              <a:avLst/>
            </a:prstGeom>
          </p:spPr>
        </p:pic>
        <p:pic>
          <p:nvPicPr>
            <p:cNvPr id="99" name="Gráfico 98" descr="Dólar con relleno sólido">
              <a:extLst>
                <a:ext uri="{FF2B5EF4-FFF2-40B4-BE49-F238E27FC236}">
                  <a16:creationId xmlns:a16="http://schemas.microsoft.com/office/drawing/2014/main" id="{DA8C10AE-7FCA-3476-AC0F-37796234884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284510" y="4004053"/>
              <a:ext cx="174822" cy="174822"/>
            </a:xfrm>
            <a:prstGeom prst="rect">
              <a:avLst/>
            </a:prstGeom>
          </p:spPr>
        </p:pic>
        <p:pic>
          <p:nvPicPr>
            <p:cNvPr id="101" name="Gráfico 100" descr="Gráfico de barras con relleno sólido">
              <a:extLst>
                <a:ext uri="{FF2B5EF4-FFF2-40B4-BE49-F238E27FC236}">
                  <a16:creationId xmlns:a16="http://schemas.microsoft.com/office/drawing/2014/main" id="{DCCFCEA3-633F-EB75-453D-851DA30B72B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096888" y="8107315"/>
              <a:ext cx="541303" cy="541303"/>
            </a:xfrm>
            <a:prstGeom prst="rect">
              <a:avLst/>
            </a:prstGeom>
          </p:spPr>
        </p:pic>
        <p:pic>
          <p:nvPicPr>
            <p:cNvPr id="103" name="Gráfico 102" descr="Crecimiento empresarial con relleno sólido">
              <a:extLst>
                <a:ext uri="{FF2B5EF4-FFF2-40B4-BE49-F238E27FC236}">
                  <a16:creationId xmlns:a16="http://schemas.microsoft.com/office/drawing/2014/main" id="{CBFF0C1D-4E47-FC62-F083-616F0F50363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910340" y="6484279"/>
              <a:ext cx="914400" cy="914400"/>
            </a:xfrm>
            <a:prstGeom prst="rect">
              <a:avLst/>
            </a:prstGeom>
          </p:spPr>
        </p:pic>
        <p:cxnSp>
          <p:nvCxnSpPr>
            <p:cNvPr id="105" name="Conector recto de flecha 104">
              <a:extLst>
                <a:ext uri="{FF2B5EF4-FFF2-40B4-BE49-F238E27FC236}">
                  <a16:creationId xmlns:a16="http://schemas.microsoft.com/office/drawing/2014/main" id="{71255A4D-0154-37AE-150D-90273E73B729}"/>
                </a:ext>
              </a:extLst>
            </p:cNvPr>
            <p:cNvCxnSpPr>
              <a:cxnSpLocks/>
              <a:stCxn id="10" idx="3"/>
              <a:endCxn id="21" idx="1"/>
            </p:cNvCxnSpPr>
            <p:nvPr/>
          </p:nvCxnSpPr>
          <p:spPr>
            <a:xfrm>
              <a:off x="8205534" y="2592939"/>
              <a:ext cx="1443792" cy="0"/>
            </a:xfrm>
            <a:prstGeom prst="straightConnector1">
              <a:avLst/>
            </a:prstGeom>
            <a:solidFill>
              <a:schemeClr val="bg1"/>
            </a:solidFill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Elipse 105">
              <a:extLst>
                <a:ext uri="{FF2B5EF4-FFF2-40B4-BE49-F238E27FC236}">
                  <a16:creationId xmlns:a16="http://schemas.microsoft.com/office/drawing/2014/main" id="{C3D0D484-E0F1-E986-BE97-1C1A7A57E069}"/>
                </a:ext>
              </a:extLst>
            </p:cNvPr>
            <p:cNvSpPr/>
            <p:nvPr/>
          </p:nvSpPr>
          <p:spPr>
            <a:xfrm>
              <a:off x="9414110" y="2446776"/>
              <a:ext cx="370772" cy="38941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cxnSp>
          <p:nvCxnSpPr>
            <p:cNvPr id="108" name="Conector recto de flecha 107">
              <a:extLst>
                <a:ext uri="{FF2B5EF4-FFF2-40B4-BE49-F238E27FC236}">
                  <a16:creationId xmlns:a16="http://schemas.microsoft.com/office/drawing/2014/main" id="{9C08D127-4BA7-DB32-07F5-844FF130BF13}"/>
                </a:ext>
              </a:extLst>
            </p:cNvPr>
            <p:cNvCxnSpPr/>
            <p:nvPr/>
          </p:nvCxnSpPr>
          <p:spPr>
            <a:xfrm>
              <a:off x="8211385" y="4067585"/>
              <a:ext cx="1443792" cy="0"/>
            </a:xfrm>
            <a:prstGeom prst="straightConnector1">
              <a:avLst/>
            </a:prstGeom>
            <a:solidFill>
              <a:schemeClr val="bg1"/>
            </a:solidFill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Elipse 108">
              <a:extLst>
                <a:ext uri="{FF2B5EF4-FFF2-40B4-BE49-F238E27FC236}">
                  <a16:creationId xmlns:a16="http://schemas.microsoft.com/office/drawing/2014/main" id="{E57FCC6D-68C5-4F33-6197-0DD1510389BD}"/>
                </a:ext>
              </a:extLst>
            </p:cNvPr>
            <p:cNvSpPr/>
            <p:nvPr/>
          </p:nvSpPr>
          <p:spPr>
            <a:xfrm>
              <a:off x="9419961" y="3921423"/>
              <a:ext cx="370772" cy="38941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cxnSp>
          <p:nvCxnSpPr>
            <p:cNvPr id="110" name="Conector recto de flecha 109">
              <a:extLst>
                <a:ext uri="{FF2B5EF4-FFF2-40B4-BE49-F238E27FC236}">
                  <a16:creationId xmlns:a16="http://schemas.microsoft.com/office/drawing/2014/main" id="{6AE18CD5-C9F0-6688-0DB1-1A964F6EE9CA}"/>
                </a:ext>
              </a:extLst>
            </p:cNvPr>
            <p:cNvCxnSpPr/>
            <p:nvPr/>
          </p:nvCxnSpPr>
          <p:spPr>
            <a:xfrm>
              <a:off x="8192434" y="5492111"/>
              <a:ext cx="1443792" cy="0"/>
            </a:xfrm>
            <a:prstGeom prst="straightConnector1">
              <a:avLst/>
            </a:prstGeom>
            <a:solidFill>
              <a:schemeClr val="bg1"/>
            </a:solidFill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Elipse 110">
              <a:extLst>
                <a:ext uri="{FF2B5EF4-FFF2-40B4-BE49-F238E27FC236}">
                  <a16:creationId xmlns:a16="http://schemas.microsoft.com/office/drawing/2014/main" id="{A3057564-9E06-4E1D-4E30-C20E3268B2E5}"/>
                </a:ext>
              </a:extLst>
            </p:cNvPr>
            <p:cNvSpPr/>
            <p:nvPr/>
          </p:nvSpPr>
          <p:spPr>
            <a:xfrm>
              <a:off x="9401010" y="5345949"/>
              <a:ext cx="370772" cy="38941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cxnSp>
          <p:nvCxnSpPr>
            <p:cNvPr id="112" name="Conector recto de flecha 111">
              <a:extLst>
                <a:ext uri="{FF2B5EF4-FFF2-40B4-BE49-F238E27FC236}">
                  <a16:creationId xmlns:a16="http://schemas.microsoft.com/office/drawing/2014/main" id="{5FAF2AD3-B210-A876-525F-3EF613EF4175}"/>
                </a:ext>
              </a:extLst>
            </p:cNvPr>
            <p:cNvCxnSpPr/>
            <p:nvPr/>
          </p:nvCxnSpPr>
          <p:spPr>
            <a:xfrm>
              <a:off x="8229597" y="6874316"/>
              <a:ext cx="1443792" cy="0"/>
            </a:xfrm>
            <a:prstGeom prst="straightConnector1">
              <a:avLst/>
            </a:prstGeom>
            <a:solidFill>
              <a:schemeClr val="bg1"/>
            </a:solidFill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Elipse 112">
              <a:extLst>
                <a:ext uri="{FF2B5EF4-FFF2-40B4-BE49-F238E27FC236}">
                  <a16:creationId xmlns:a16="http://schemas.microsoft.com/office/drawing/2014/main" id="{4DAC2459-0ADD-3827-634F-EC4EFBAE3459}"/>
                </a:ext>
              </a:extLst>
            </p:cNvPr>
            <p:cNvSpPr/>
            <p:nvPr/>
          </p:nvSpPr>
          <p:spPr>
            <a:xfrm>
              <a:off x="9438173" y="6728154"/>
              <a:ext cx="370772" cy="38941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cxnSp>
          <p:nvCxnSpPr>
            <p:cNvPr id="114" name="Conector recto de flecha 113">
              <a:extLst>
                <a:ext uri="{FF2B5EF4-FFF2-40B4-BE49-F238E27FC236}">
                  <a16:creationId xmlns:a16="http://schemas.microsoft.com/office/drawing/2014/main" id="{7FB692B3-4BEB-5A0E-7895-68E1F841717C}"/>
                </a:ext>
              </a:extLst>
            </p:cNvPr>
            <p:cNvCxnSpPr/>
            <p:nvPr/>
          </p:nvCxnSpPr>
          <p:spPr>
            <a:xfrm>
              <a:off x="8215263" y="8275454"/>
              <a:ext cx="1443792" cy="0"/>
            </a:xfrm>
            <a:prstGeom prst="straightConnector1">
              <a:avLst/>
            </a:prstGeom>
            <a:solidFill>
              <a:schemeClr val="bg1"/>
            </a:solidFill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Elipse 114">
              <a:extLst>
                <a:ext uri="{FF2B5EF4-FFF2-40B4-BE49-F238E27FC236}">
                  <a16:creationId xmlns:a16="http://schemas.microsoft.com/office/drawing/2014/main" id="{ED20F30D-D94E-E551-5230-2347A65A7B69}"/>
                </a:ext>
              </a:extLst>
            </p:cNvPr>
            <p:cNvSpPr/>
            <p:nvPr/>
          </p:nvSpPr>
          <p:spPr>
            <a:xfrm>
              <a:off x="9423839" y="8129292"/>
              <a:ext cx="370772" cy="38941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119" name="Text 1">
            <a:extLst>
              <a:ext uri="{FF2B5EF4-FFF2-40B4-BE49-F238E27FC236}">
                <a16:creationId xmlns:a16="http://schemas.microsoft.com/office/drawing/2014/main" id="{709F0170-FA75-D488-D956-EA90E82FBEC6}"/>
              </a:ext>
            </a:extLst>
          </p:cNvPr>
          <p:cNvSpPr/>
          <p:nvPr/>
        </p:nvSpPr>
        <p:spPr>
          <a:xfrm>
            <a:off x="1038854" y="4862554"/>
            <a:ext cx="167465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CO" sz="4500" b="1" noProof="0">
                <a:solidFill>
                  <a:srgbClr val="FF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As </a:t>
            </a:r>
            <a:r>
              <a:rPr lang="es-CO" sz="4500" b="1" noProof="0" err="1">
                <a:solidFill>
                  <a:srgbClr val="FF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is</a:t>
            </a:r>
            <a:endParaRPr lang="es-CO" sz="4500" noProof="0">
              <a:solidFill>
                <a:srgbClr val="FF0000"/>
              </a:solidFill>
            </a:endParaRPr>
          </a:p>
        </p:txBody>
      </p:sp>
      <p:cxnSp>
        <p:nvCxnSpPr>
          <p:cNvPr id="121" name="Conector: angular 120">
            <a:extLst>
              <a:ext uri="{FF2B5EF4-FFF2-40B4-BE49-F238E27FC236}">
                <a16:creationId xmlns:a16="http://schemas.microsoft.com/office/drawing/2014/main" id="{489C1CA8-5CDE-6732-9153-662F1A80BF56}"/>
              </a:ext>
            </a:extLst>
          </p:cNvPr>
          <p:cNvCxnSpPr>
            <a:cxnSpLocks/>
            <a:stCxn id="10" idx="1"/>
            <a:endCxn id="45" idx="1"/>
          </p:cNvCxnSpPr>
          <p:nvPr/>
        </p:nvCxnSpPr>
        <p:spPr>
          <a:xfrm rot="10800000" flipV="1">
            <a:off x="2702755" y="2633526"/>
            <a:ext cx="1334" cy="5487085"/>
          </a:xfrm>
          <a:prstGeom prst="bentConnector3">
            <a:avLst>
              <a:gd name="adj1" fmla="val 22647976"/>
            </a:avLst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1487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BAC65B-7710-85AD-6E0F-BF6E55D9E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8BCB1CE-E18D-4735-D430-C3BCFE970410}"/>
              </a:ext>
            </a:extLst>
          </p:cNvPr>
          <p:cNvSpPr/>
          <p:nvPr/>
        </p:nvSpPr>
        <p:spPr>
          <a:xfrm>
            <a:off x="667512" y="4139832"/>
            <a:ext cx="16952976" cy="47319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 defTabSz="1371600">
              <a:lnSpc>
                <a:spcPct val="90000"/>
              </a:lnSpc>
            </a:pPr>
            <a:r>
              <a:rPr lang="en-US" sz="7200" b="1" err="1">
                <a:solidFill>
                  <a:schemeClr val="bg1"/>
                </a:solidFill>
                <a:latin typeface="Segoe UI" panose="020B0502040204020203" pitchFamily="34" charset="0"/>
              </a:rPr>
              <a:t>Tablero</a:t>
            </a:r>
            <a:r>
              <a:rPr lang="en-US" sz="7200" b="1">
                <a:solidFill>
                  <a:schemeClr val="bg1"/>
                </a:solidFill>
                <a:latin typeface="Segoe UI" panose="020B0502040204020203" pitchFamily="34" charset="0"/>
              </a:rPr>
              <a:t> de </a:t>
            </a:r>
            <a:r>
              <a:rPr lang="en-US" sz="7200" b="1" err="1">
                <a:solidFill>
                  <a:schemeClr val="bg1"/>
                </a:solidFill>
                <a:latin typeface="Segoe UI" panose="020B0502040204020203" pitchFamily="34" charset="0"/>
              </a:rPr>
              <a:t>Capacidad</a:t>
            </a:r>
            <a:endParaRPr lang="en-US" sz="7200" b="1">
              <a:solidFill>
                <a:schemeClr val="bg1"/>
              </a:solidFill>
              <a:latin typeface="Segoe UI" panose="020B0502040204020203" pitchFamily="34" charset="0"/>
            </a:endParaRPr>
          </a:p>
          <a:p>
            <a:pPr algn="ctr" defTabSz="1371600">
              <a:lnSpc>
                <a:spcPct val="90000"/>
              </a:lnSpc>
            </a:pPr>
            <a:endParaRPr lang="en-US" sz="7200" b="1">
              <a:solidFill>
                <a:schemeClr val="bg1"/>
              </a:solidFill>
              <a:latin typeface="Segoe UI" panose="020B0502040204020203" pitchFamily="34" charset="0"/>
            </a:endParaRPr>
          </a:p>
          <a:p>
            <a:pPr algn="ctr" defTabSz="1371600">
              <a:lnSpc>
                <a:spcPct val="90000"/>
              </a:lnSpc>
            </a:pPr>
            <a:r>
              <a:rPr lang="en-US" sz="7200" b="1">
                <a:solidFill>
                  <a:schemeClr val="bg1"/>
                </a:solidFill>
                <a:latin typeface="Segoe UI" panose="020B0502040204020203" pitchFamily="34" charset="0"/>
              </a:rPr>
              <a:t>  </a:t>
            </a: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581B836E-61F9-613D-41CA-383439110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666750"/>
            <a:ext cx="551111" cy="419100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CD15BEFE-7EF2-86D6-8C72-3ED2C9746FE8}"/>
              </a:ext>
            </a:extLst>
          </p:cNvPr>
          <p:cNvSpPr/>
          <p:nvPr/>
        </p:nvSpPr>
        <p:spPr>
          <a:xfrm>
            <a:off x="914400" y="3676650"/>
            <a:ext cx="1695297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425" b="1" kern="0" spc="285">
                <a:solidFill>
                  <a:srgbClr val="F0E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DEMO EN VIVO</a:t>
            </a:r>
            <a:endParaRPr lang="en-US" sz="1425"/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E6B25A87-C351-6B89-396A-32C7B78C30AF}"/>
              </a:ext>
            </a:extLst>
          </p:cNvPr>
          <p:cNvSpPr/>
          <p:nvPr/>
        </p:nvSpPr>
        <p:spPr>
          <a:xfrm>
            <a:off x="914400" y="6362700"/>
            <a:ext cx="1223516" cy="342900"/>
          </a:xfrm>
          <a:prstGeom prst="roundRect">
            <a:avLst>
              <a:gd name="adj" fmla="val 50000"/>
            </a:avLst>
          </a:prstGeom>
          <a:solidFill>
            <a:srgbClr val="F0EEE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AB11A9F-2B41-DAC8-86C0-F2B2D0868478}"/>
              </a:ext>
            </a:extLst>
          </p:cNvPr>
          <p:cNvSpPr/>
          <p:nvPr/>
        </p:nvSpPr>
        <p:spPr>
          <a:xfrm>
            <a:off x="1066800" y="6486525"/>
            <a:ext cx="95250" cy="95250"/>
          </a:xfrm>
          <a:prstGeom prst="ellipse">
            <a:avLst/>
          </a:prstGeom>
          <a:solidFill>
            <a:srgbClr val="C20E1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FD649355-5C20-3EC8-63B0-144AB5B8B8A5}"/>
              </a:ext>
            </a:extLst>
          </p:cNvPr>
          <p:cNvSpPr/>
          <p:nvPr/>
        </p:nvSpPr>
        <p:spPr>
          <a:xfrm>
            <a:off x="1257300" y="6448425"/>
            <a:ext cx="80441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189">
                <a:solidFill>
                  <a:srgbClr val="C2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VIVO</a:t>
            </a:r>
            <a:endParaRPr lang="en-US" sz="1050"/>
          </a:p>
        </p:txBody>
      </p:sp>
    </p:spTree>
    <p:extLst>
      <p:ext uri="{BB962C8B-B14F-4D97-AF65-F5344CB8AC3E}">
        <p14:creationId xmlns:p14="http://schemas.microsoft.com/office/powerpoint/2010/main" val="1362199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E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E01EEE-C791-0ED2-600F-FCAC423D4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2">
            <a:extLst>
              <a:ext uri="{FF2B5EF4-FFF2-40B4-BE49-F238E27FC236}">
                <a16:creationId xmlns:a16="http://schemas.microsoft.com/office/drawing/2014/main" id="{B77433D4-7049-7B96-F6A4-47C2869AA63D}"/>
              </a:ext>
            </a:extLst>
          </p:cNvPr>
          <p:cNvSpPr/>
          <p:nvPr/>
        </p:nvSpPr>
        <p:spPr>
          <a:xfrm>
            <a:off x="2234869" y="624749"/>
            <a:ext cx="17013251" cy="177157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defTabSz="1371600">
              <a:lnSpc>
                <a:spcPct val="90000"/>
              </a:lnSpc>
            </a:pPr>
            <a:r>
              <a:rPr lang="es-419" sz="4050" b="1">
                <a:solidFill>
                  <a:srgbClr val="111111"/>
                </a:solidFill>
                <a:latin typeface="Segoe UI" panose="020B0502040204020203" pitchFamily="34" charset="0"/>
              </a:rPr>
              <a:t>Métricas de </a:t>
            </a:r>
            <a:r>
              <a:rPr lang="es-419" sz="4050" b="1" err="1">
                <a:solidFill>
                  <a:srgbClr val="111111"/>
                </a:solidFill>
                <a:latin typeface="Segoe UI" panose="020B0502040204020203" pitchFamily="34" charset="0"/>
              </a:rPr>
              <a:t>delivery</a:t>
            </a:r>
            <a:endParaRPr lang="es-419" sz="4050" b="1">
              <a:solidFill>
                <a:srgbClr val="111111"/>
              </a:solidFill>
              <a:latin typeface="Segoe UI" panose="020B0502040204020203" pitchFamily="34" charset="0"/>
            </a:endParaRPr>
          </a:p>
          <a:p>
            <a:pPr defTabSz="1371600">
              <a:lnSpc>
                <a:spcPct val="90000"/>
              </a:lnSpc>
            </a:pPr>
            <a:endParaRPr lang="es-419" sz="4050" b="1">
              <a:solidFill>
                <a:srgbClr val="111111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Text 31">
            <a:extLst>
              <a:ext uri="{FF2B5EF4-FFF2-40B4-BE49-F238E27FC236}">
                <a16:creationId xmlns:a16="http://schemas.microsoft.com/office/drawing/2014/main" id="{16FBAC9B-EF5A-D961-1512-5C2F31E40471}"/>
              </a:ext>
            </a:extLst>
          </p:cNvPr>
          <p:cNvSpPr/>
          <p:nvPr/>
        </p:nvSpPr>
        <p:spPr>
          <a:xfrm>
            <a:off x="6347227" y="365749"/>
            <a:ext cx="11464127" cy="708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2800" b="0" i="0" u="none" strike="noStrike" kern="1200" cap="none" spc="0" normalizeH="0" baseline="0" noProof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9" name="Text 31">
            <a:extLst>
              <a:ext uri="{FF2B5EF4-FFF2-40B4-BE49-F238E27FC236}">
                <a16:creationId xmlns:a16="http://schemas.microsoft.com/office/drawing/2014/main" id="{2E540EEE-A072-7470-3C68-EFFCBE318B8A}"/>
              </a:ext>
            </a:extLst>
          </p:cNvPr>
          <p:cNvSpPr/>
          <p:nvPr/>
        </p:nvSpPr>
        <p:spPr>
          <a:xfrm>
            <a:off x="408669" y="1772179"/>
            <a:ext cx="17348010" cy="708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3200" b="0" i="0" u="none" strike="noStrike" kern="1200" cap="none" spc="0" normalizeH="0" baseline="0" noProof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5FC0F99F-0718-C00A-BFEA-C7C7F5EEE61C}"/>
              </a:ext>
            </a:extLst>
          </p:cNvPr>
          <p:cNvSpPr txBox="1"/>
          <p:nvPr/>
        </p:nvSpPr>
        <p:spPr>
          <a:xfrm>
            <a:off x="6491770" y="2571087"/>
            <a:ext cx="398897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371600"/>
            <a:r>
              <a:rPr lang="es-419" sz="2200" b="1" kern="0" spc="401">
                <a:solidFill>
                  <a:srgbClr val="FF0000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Meta 2026 </a:t>
            </a:r>
            <a:endParaRPr lang="es-419" sz="2200">
              <a:solidFill>
                <a:srgbClr val="FF0000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CC13B3B6-7989-5CA9-0B6E-D62EB3D62DD5}"/>
              </a:ext>
            </a:extLst>
          </p:cNvPr>
          <p:cNvSpPr txBox="1"/>
          <p:nvPr/>
        </p:nvSpPr>
        <p:spPr>
          <a:xfrm>
            <a:off x="3988155" y="2574940"/>
            <a:ext cx="334370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371600"/>
            <a:r>
              <a:rPr lang="es-419" sz="2200" b="1" kern="0" spc="401">
                <a:solidFill>
                  <a:srgbClr val="FF0000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Hoy </a:t>
            </a:r>
            <a:endParaRPr lang="es-419" sz="2200">
              <a:solidFill>
                <a:srgbClr val="FF0000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6D3C16CC-C8FC-72B6-CB05-6301CC64DF31}"/>
              </a:ext>
            </a:extLst>
          </p:cNvPr>
          <p:cNvSpPr txBox="1"/>
          <p:nvPr/>
        </p:nvSpPr>
        <p:spPr>
          <a:xfrm>
            <a:off x="1425948" y="2599159"/>
            <a:ext cx="323563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371600"/>
            <a:r>
              <a:rPr lang="es-419" sz="2200" b="1" kern="0" spc="401">
                <a:solidFill>
                  <a:srgbClr val="FF0000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Indicador </a:t>
            </a:r>
            <a:endParaRPr lang="es-419" sz="2200">
              <a:solidFill>
                <a:srgbClr val="FF0000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A9E3FAEE-D5A0-87E0-EA6A-B7752AA2121C}"/>
              </a:ext>
            </a:extLst>
          </p:cNvPr>
          <p:cNvSpPr txBox="1"/>
          <p:nvPr/>
        </p:nvSpPr>
        <p:spPr>
          <a:xfrm>
            <a:off x="12660746" y="2588137"/>
            <a:ext cx="437119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371600"/>
            <a:r>
              <a:rPr lang="es-419" sz="2200" b="1" kern="0" spc="401">
                <a:solidFill>
                  <a:srgbClr val="FF0000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Lectura </a:t>
            </a:r>
            <a:endParaRPr lang="es-419" sz="2200">
              <a:solidFill>
                <a:srgbClr val="FF0000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C31FE60E-0F91-E7BA-5583-CA09E22EB623}"/>
              </a:ext>
            </a:extLst>
          </p:cNvPr>
          <p:cNvSpPr txBox="1"/>
          <p:nvPr/>
        </p:nvSpPr>
        <p:spPr>
          <a:xfrm>
            <a:off x="8643139" y="2599159"/>
            <a:ext cx="512191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371600"/>
            <a:r>
              <a:rPr lang="es-419" sz="2200" b="1" kern="0" spc="401">
                <a:solidFill>
                  <a:srgbClr val="FF0000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Meta 2027</a:t>
            </a:r>
            <a:endParaRPr lang="es-419" sz="2200">
              <a:solidFill>
                <a:srgbClr val="FF0000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332AD03C-560B-61CE-0F37-7780EC4CC508}"/>
              </a:ext>
            </a:extLst>
          </p:cNvPr>
          <p:cNvSpPr txBox="1"/>
          <p:nvPr/>
        </p:nvSpPr>
        <p:spPr>
          <a:xfrm>
            <a:off x="1732543" y="3436644"/>
            <a:ext cx="2535445" cy="1296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 defTabSz="1371600" fontAlgn="t">
              <a:lnSpc>
                <a:spcPts val="2250"/>
              </a:lnSpc>
            </a:pPr>
            <a:r>
              <a:rPr lang="es-419" sz="2200" b="1">
                <a:solidFill>
                  <a:prstClr val="black"/>
                </a:solidFill>
                <a:latin typeface="Segoe UI" panose="020B0502040204020203" pitchFamily="34" charset="0"/>
              </a:rPr>
              <a:t>Lead time E2E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7D2409D3-8699-F6F5-9553-202183070A2C}"/>
              </a:ext>
            </a:extLst>
          </p:cNvPr>
          <p:cNvSpPr txBox="1"/>
          <p:nvPr/>
        </p:nvSpPr>
        <p:spPr>
          <a:xfrm>
            <a:off x="1474070" y="6228706"/>
            <a:ext cx="2466035" cy="1296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 defTabSz="1371600" fontAlgn="t">
              <a:lnSpc>
                <a:spcPts val="2250"/>
              </a:lnSpc>
            </a:pPr>
            <a:r>
              <a:rPr lang="es-419" sz="2200" b="1" err="1">
                <a:solidFill>
                  <a:prstClr val="black"/>
                </a:solidFill>
                <a:latin typeface="Segoe UI" panose="020B0502040204020203" pitchFamily="34" charset="0"/>
              </a:rPr>
              <a:t>Troughput</a:t>
            </a:r>
            <a:r>
              <a:rPr lang="es-419" sz="2200" b="1">
                <a:solidFill>
                  <a:prstClr val="black"/>
                </a:solidFill>
                <a:latin typeface="Segoe UI" panose="020B0502040204020203" pitchFamily="34" charset="0"/>
              </a:rPr>
              <a:t> </a:t>
            </a: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0056E402-4643-A2FC-6E0A-70DF1950D28B}"/>
              </a:ext>
            </a:extLst>
          </p:cNvPr>
          <p:cNvSpPr txBox="1"/>
          <p:nvPr/>
        </p:nvSpPr>
        <p:spPr>
          <a:xfrm>
            <a:off x="1862951" y="4502064"/>
            <a:ext cx="2466035" cy="1296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 defTabSz="1371600" fontAlgn="t">
              <a:lnSpc>
                <a:spcPts val="2250"/>
              </a:lnSpc>
            </a:pPr>
            <a:r>
              <a:rPr lang="es-419" sz="2200" b="1">
                <a:solidFill>
                  <a:prstClr val="black"/>
                </a:solidFill>
                <a:latin typeface="Segoe UI" panose="020B0502040204020203" pitchFamily="34" charset="0"/>
              </a:rPr>
              <a:t>Time </a:t>
            </a:r>
            <a:r>
              <a:rPr lang="es-419" sz="2200" b="1" err="1">
                <a:solidFill>
                  <a:prstClr val="black"/>
                </a:solidFill>
                <a:latin typeface="Segoe UI" panose="020B0502040204020203" pitchFamily="34" charset="0"/>
              </a:rPr>
              <a:t>To</a:t>
            </a:r>
            <a:r>
              <a:rPr lang="es-419" sz="2200" b="1">
                <a:solidFill>
                  <a:prstClr val="black"/>
                </a:solidFill>
                <a:latin typeface="Segoe UI" panose="020B0502040204020203" pitchFamily="34" charset="0"/>
              </a:rPr>
              <a:t> </a:t>
            </a:r>
            <a:r>
              <a:rPr lang="es-419" sz="2200" b="1" err="1">
                <a:solidFill>
                  <a:prstClr val="black"/>
                </a:solidFill>
                <a:latin typeface="Segoe UI" panose="020B0502040204020203" pitchFamily="34" charset="0"/>
              </a:rPr>
              <a:t>market</a:t>
            </a:r>
            <a:r>
              <a:rPr lang="es-419" sz="2200" b="1">
                <a:solidFill>
                  <a:prstClr val="black"/>
                </a:solidFill>
                <a:latin typeface="Segoe UI" panose="020B0502040204020203" pitchFamily="34" charset="0"/>
              </a:rPr>
              <a:t> </a:t>
            </a:r>
          </a:p>
        </p:txBody>
      </p:sp>
      <p:sp>
        <p:nvSpPr>
          <p:cNvPr id="72" name="Shape 58">
            <a:extLst>
              <a:ext uri="{FF2B5EF4-FFF2-40B4-BE49-F238E27FC236}">
                <a16:creationId xmlns:a16="http://schemas.microsoft.com/office/drawing/2014/main" id="{3FC7CB5B-8836-C4A2-28FC-80F7CF078EA4}"/>
              </a:ext>
            </a:extLst>
          </p:cNvPr>
          <p:cNvSpPr>
            <a:spLocks noChangeAspect="1"/>
          </p:cNvSpPr>
          <p:nvPr/>
        </p:nvSpPr>
        <p:spPr>
          <a:xfrm>
            <a:off x="4832994" y="3811684"/>
            <a:ext cx="1458215" cy="588356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 anchor="ctr" anchorCtr="0"/>
          <a:lstStyle/>
          <a:p>
            <a:pPr defTabSz="1828755"/>
            <a:r>
              <a:rPr lang="es-419" sz="24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133 Días</a:t>
            </a:r>
          </a:p>
        </p:txBody>
      </p:sp>
      <p:sp>
        <p:nvSpPr>
          <p:cNvPr id="74" name="Elipse 73">
            <a:extLst>
              <a:ext uri="{FF2B5EF4-FFF2-40B4-BE49-F238E27FC236}">
                <a16:creationId xmlns:a16="http://schemas.microsoft.com/office/drawing/2014/main" id="{4E3E2C89-8756-2CDB-19E7-6D7AF0187D98}"/>
              </a:ext>
            </a:extLst>
          </p:cNvPr>
          <p:cNvSpPr/>
          <p:nvPr/>
        </p:nvSpPr>
        <p:spPr>
          <a:xfrm>
            <a:off x="6480825" y="3871960"/>
            <a:ext cx="399340" cy="36176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8" name="Shape 58">
            <a:extLst>
              <a:ext uri="{FF2B5EF4-FFF2-40B4-BE49-F238E27FC236}">
                <a16:creationId xmlns:a16="http://schemas.microsoft.com/office/drawing/2014/main" id="{6722311D-C046-B873-3165-246CDA1FE3D9}"/>
              </a:ext>
            </a:extLst>
          </p:cNvPr>
          <p:cNvSpPr>
            <a:spLocks noChangeAspect="1"/>
          </p:cNvSpPr>
          <p:nvPr/>
        </p:nvSpPr>
        <p:spPr>
          <a:xfrm>
            <a:off x="7622569" y="3819714"/>
            <a:ext cx="1440098" cy="588356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 anchor="ctr" anchorCtr="0"/>
          <a:lstStyle/>
          <a:p>
            <a:pPr algn="ctr" defTabSz="1828755"/>
            <a:r>
              <a:rPr lang="es-419" sz="24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&lt;90</a:t>
            </a:r>
          </a:p>
        </p:txBody>
      </p:sp>
      <p:sp>
        <p:nvSpPr>
          <p:cNvPr id="80" name="Elipse 79">
            <a:extLst>
              <a:ext uri="{FF2B5EF4-FFF2-40B4-BE49-F238E27FC236}">
                <a16:creationId xmlns:a16="http://schemas.microsoft.com/office/drawing/2014/main" id="{C14C276F-D4FB-1601-978B-CC9E8894934B}"/>
              </a:ext>
            </a:extLst>
          </p:cNvPr>
          <p:cNvSpPr/>
          <p:nvPr/>
        </p:nvSpPr>
        <p:spPr>
          <a:xfrm>
            <a:off x="9266157" y="3894258"/>
            <a:ext cx="399340" cy="361768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4" name="Shape 58">
            <a:extLst>
              <a:ext uri="{FF2B5EF4-FFF2-40B4-BE49-F238E27FC236}">
                <a16:creationId xmlns:a16="http://schemas.microsoft.com/office/drawing/2014/main" id="{380125F5-029E-5860-C30C-DF9EAA5D042B}"/>
              </a:ext>
            </a:extLst>
          </p:cNvPr>
          <p:cNvSpPr>
            <a:spLocks noChangeAspect="1"/>
          </p:cNvSpPr>
          <p:nvPr/>
        </p:nvSpPr>
        <p:spPr>
          <a:xfrm>
            <a:off x="10447099" y="3823866"/>
            <a:ext cx="1440098" cy="588356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 anchor="ctr" anchorCtr="0"/>
          <a:lstStyle/>
          <a:p>
            <a:pPr algn="ctr" defTabSz="1828755"/>
            <a:r>
              <a:rPr lang="es-419" sz="24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&lt;60</a:t>
            </a:r>
          </a:p>
        </p:txBody>
      </p:sp>
      <p:sp>
        <p:nvSpPr>
          <p:cNvPr id="86" name="Elipse 85">
            <a:extLst>
              <a:ext uri="{FF2B5EF4-FFF2-40B4-BE49-F238E27FC236}">
                <a16:creationId xmlns:a16="http://schemas.microsoft.com/office/drawing/2014/main" id="{6CA5A6A7-6EEE-26A9-E35A-FFBFCF781989}"/>
              </a:ext>
            </a:extLst>
          </p:cNvPr>
          <p:cNvSpPr/>
          <p:nvPr/>
        </p:nvSpPr>
        <p:spPr>
          <a:xfrm>
            <a:off x="12041889" y="3888844"/>
            <a:ext cx="399340" cy="361768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0" name="CuadroTexto 89">
            <a:extLst>
              <a:ext uri="{FF2B5EF4-FFF2-40B4-BE49-F238E27FC236}">
                <a16:creationId xmlns:a16="http://schemas.microsoft.com/office/drawing/2014/main" id="{D4E667C8-C59A-7A4F-0BBB-9677E973BDA2}"/>
              </a:ext>
            </a:extLst>
          </p:cNvPr>
          <p:cNvSpPr txBox="1"/>
          <p:nvPr/>
        </p:nvSpPr>
        <p:spPr>
          <a:xfrm>
            <a:off x="13126473" y="3555883"/>
            <a:ext cx="3428984" cy="14907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 fontAlgn="t"/>
            <a:r>
              <a:rPr lang="es-MX" sz="22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Tiempo Total </a:t>
            </a:r>
            <a:r>
              <a:rPr lang="es-MX" sz="22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desde la Necesidad hasta la solución.</a:t>
            </a:r>
            <a:br>
              <a:rPr lang="es-CO" sz="2200" b="1"/>
            </a:br>
            <a:endParaRPr lang="es-CO" sz="2200" b="1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92" name="Shape 3">
            <a:extLst>
              <a:ext uri="{FF2B5EF4-FFF2-40B4-BE49-F238E27FC236}">
                <a16:creationId xmlns:a16="http://schemas.microsoft.com/office/drawing/2014/main" id="{004EA3C4-167A-DE3C-3C2D-9AE82A5CD3B0}"/>
              </a:ext>
            </a:extLst>
          </p:cNvPr>
          <p:cNvSpPr/>
          <p:nvPr/>
        </p:nvSpPr>
        <p:spPr>
          <a:xfrm>
            <a:off x="181649" y="4629600"/>
            <a:ext cx="18106351" cy="60685"/>
          </a:xfrm>
          <a:prstGeom prst="line">
            <a:avLst/>
          </a:prstGeom>
          <a:noFill/>
          <a:ln w="15875">
            <a:solidFill>
              <a:schemeClr val="bg1"/>
            </a:solidFill>
            <a:prstDash val="solid"/>
            <a:headEnd type="oval"/>
            <a:tailEnd type="oval"/>
          </a:ln>
        </p:spPr>
        <p:txBody>
          <a:bodyPr anchor="ctr"/>
          <a:lstStyle/>
          <a:p>
            <a:pPr algn="ctr" defTabSz="1828755"/>
            <a:endParaRPr lang="es-419" sz="220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4" name="Shape 3">
            <a:extLst>
              <a:ext uri="{FF2B5EF4-FFF2-40B4-BE49-F238E27FC236}">
                <a16:creationId xmlns:a16="http://schemas.microsoft.com/office/drawing/2014/main" id="{D184CD75-B748-FD77-6EC9-FBE4B535F8A1}"/>
              </a:ext>
            </a:extLst>
          </p:cNvPr>
          <p:cNvSpPr/>
          <p:nvPr/>
        </p:nvSpPr>
        <p:spPr>
          <a:xfrm>
            <a:off x="226661" y="6161468"/>
            <a:ext cx="18061339" cy="45217"/>
          </a:xfrm>
          <a:prstGeom prst="line">
            <a:avLst/>
          </a:prstGeom>
          <a:noFill/>
          <a:ln w="15875">
            <a:solidFill>
              <a:schemeClr val="bg1"/>
            </a:solidFill>
            <a:prstDash val="solid"/>
            <a:headEnd type="oval"/>
            <a:tailEnd type="oval"/>
          </a:ln>
        </p:spPr>
        <p:txBody>
          <a:bodyPr anchor="ctr"/>
          <a:lstStyle/>
          <a:p>
            <a:pPr algn="ctr" defTabSz="1828755"/>
            <a:endParaRPr lang="es-419" sz="220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6" name="Shape 58">
            <a:extLst>
              <a:ext uri="{FF2B5EF4-FFF2-40B4-BE49-F238E27FC236}">
                <a16:creationId xmlns:a16="http://schemas.microsoft.com/office/drawing/2014/main" id="{66B74DC2-7F19-9BB2-15B1-A4703B80CD50}"/>
              </a:ext>
            </a:extLst>
          </p:cNvPr>
          <p:cNvSpPr>
            <a:spLocks noChangeAspect="1"/>
          </p:cNvSpPr>
          <p:nvPr/>
        </p:nvSpPr>
        <p:spPr>
          <a:xfrm>
            <a:off x="4804306" y="5192500"/>
            <a:ext cx="1440098" cy="588356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 anchor="ctr" anchorCtr="0"/>
          <a:lstStyle/>
          <a:p>
            <a:pPr defTabSz="1828755"/>
            <a:r>
              <a:rPr lang="es-419" sz="24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80  Días</a:t>
            </a:r>
          </a:p>
        </p:txBody>
      </p:sp>
      <p:sp>
        <p:nvSpPr>
          <p:cNvPr id="98" name="Elipse 97">
            <a:extLst>
              <a:ext uri="{FF2B5EF4-FFF2-40B4-BE49-F238E27FC236}">
                <a16:creationId xmlns:a16="http://schemas.microsoft.com/office/drawing/2014/main" id="{D308F199-104B-6D90-76FF-2279B59E5819}"/>
              </a:ext>
            </a:extLst>
          </p:cNvPr>
          <p:cNvSpPr/>
          <p:nvPr/>
        </p:nvSpPr>
        <p:spPr>
          <a:xfrm>
            <a:off x="6503247" y="5252776"/>
            <a:ext cx="399340" cy="36176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0" name="Shape 58">
            <a:extLst>
              <a:ext uri="{FF2B5EF4-FFF2-40B4-BE49-F238E27FC236}">
                <a16:creationId xmlns:a16="http://schemas.microsoft.com/office/drawing/2014/main" id="{141E590D-07C9-9B9C-418F-753387FFF753}"/>
              </a:ext>
            </a:extLst>
          </p:cNvPr>
          <p:cNvSpPr>
            <a:spLocks noChangeAspect="1"/>
          </p:cNvSpPr>
          <p:nvPr/>
        </p:nvSpPr>
        <p:spPr>
          <a:xfrm>
            <a:off x="7593881" y="5133439"/>
            <a:ext cx="1440098" cy="588356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 anchor="ctr" anchorCtr="0"/>
          <a:lstStyle/>
          <a:p>
            <a:pPr algn="ctr" defTabSz="1828755"/>
            <a:r>
              <a:rPr lang="es-419" sz="24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&lt;60</a:t>
            </a:r>
          </a:p>
        </p:txBody>
      </p:sp>
      <p:sp>
        <p:nvSpPr>
          <p:cNvPr id="102" name="Elipse 101">
            <a:extLst>
              <a:ext uri="{FF2B5EF4-FFF2-40B4-BE49-F238E27FC236}">
                <a16:creationId xmlns:a16="http://schemas.microsoft.com/office/drawing/2014/main" id="{89E1B9EE-4201-56A0-B811-AAFC7D853F34}"/>
              </a:ext>
            </a:extLst>
          </p:cNvPr>
          <p:cNvSpPr/>
          <p:nvPr/>
        </p:nvSpPr>
        <p:spPr>
          <a:xfrm>
            <a:off x="9323306" y="5207983"/>
            <a:ext cx="399340" cy="361768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4" name="Shape 58">
            <a:extLst>
              <a:ext uri="{FF2B5EF4-FFF2-40B4-BE49-F238E27FC236}">
                <a16:creationId xmlns:a16="http://schemas.microsoft.com/office/drawing/2014/main" id="{6CAC3BA2-B21D-B90D-D1C7-166304A9CBBC}"/>
              </a:ext>
            </a:extLst>
          </p:cNvPr>
          <p:cNvSpPr>
            <a:spLocks noChangeAspect="1"/>
          </p:cNvSpPr>
          <p:nvPr/>
        </p:nvSpPr>
        <p:spPr>
          <a:xfrm>
            <a:off x="10447099" y="5162743"/>
            <a:ext cx="1440098" cy="588356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 anchor="ctr" anchorCtr="0"/>
          <a:lstStyle/>
          <a:p>
            <a:pPr algn="ctr" defTabSz="1828755"/>
            <a:r>
              <a:rPr lang="es-419" sz="24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&lt;45</a:t>
            </a:r>
          </a:p>
        </p:txBody>
      </p:sp>
      <p:sp>
        <p:nvSpPr>
          <p:cNvPr id="106" name="Elipse 105">
            <a:extLst>
              <a:ext uri="{FF2B5EF4-FFF2-40B4-BE49-F238E27FC236}">
                <a16:creationId xmlns:a16="http://schemas.microsoft.com/office/drawing/2014/main" id="{6E2B9362-B9D2-A47B-F4CA-34DCEBC0D7BC}"/>
              </a:ext>
            </a:extLst>
          </p:cNvPr>
          <p:cNvSpPr/>
          <p:nvPr/>
        </p:nvSpPr>
        <p:spPr>
          <a:xfrm>
            <a:off x="12091079" y="5323973"/>
            <a:ext cx="399340" cy="361768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4" name="CuadroTexto 113">
            <a:extLst>
              <a:ext uri="{FF2B5EF4-FFF2-40B4-BE49-F238E27FC236}">
                <a16:creationId xmlns:a16="http://schemas.microsoft.com/office/drawing/2014/main" id="{4D453548-19AB-B2AA-673C-B5D3690FF43F}"/>
              </a:ext>
            </a:extLst>
          </p:cNvPr>
          <p:cNvSpPr txBox="1"/>
          <p:nvPr/>
        </p:nvSpPr>
        <p:spPr>
          <a:xfrm>
            <a:off x="13216528" y="4931915"/>
            <a:ext cx="3448942" cy="14907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 fontAlgn="t"/>
            <a:r>
              <a:rPr lang="es-MX" sz="22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Tiempo </a:t>
            </a:r>
            <a:r>
              <a:rPr lang="es-MX" sz="22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desde actuación  hasta entrega.</a:t>
            </a:r>
            <a:br>
              <a:rPr lang="es-CO" sz="2200" b="1"/>
            </a:br>
            <a:endParaRPr lang="es-CO" sz="2200" b="1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16" name="Shape 58">
            <a:extLst>
              <a:ext uri="{FF2B5EF4-FFF2-40B4-BE49-F238E27FC236}">
                <a16:creationId xmlns:a16="http://schemas.microsoft.com/office/drawing/2014/main" id="{2449C4F5-AD9E-ADF6-04F0-985B0D347547}"/>
              </a:ext>
            </a:extLst>
          </p:cNvPr>
          <p:cNvSpPr>
            <a:spLocks noChangeAspect="1"/>
          </p:cNvSpPr>
          <p:nvPr/>
        </p:nvSpPr>
        <p:spPr>
          <a:xfrm>
            <a:off x="4267988" y="6413292"/>
            <a:ext cx="2366445" cy="981874"/>
          </a:xfrm>
          <a:prstGeom prst="roundRect">
            <a:avLst>
              <a:gd name="adj" fmla="val 5882"/>
            </a:avLst>
          </a:prstGeom>
          <a:noFill/>
          <a:ln w="9525">
            <a:noFill/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 anchor="ctr" anchorCtr="0"/>
          <a:lstStyle/>
          <a:p>
            <a:pPr algn="ctr" defTabSz="1828755"/>
            <a:r>
              <a:rPr lang="es-419" sz="20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Hoy: 201 Cerradas</a:t>
            </a:r>
          </a:p>
          <a:p>
            <a:pPr algn="ctr" defTabSz="1828755"/>
            <a:r>
              <a:rPr lang="es-419" sz="20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Trabajo en WIP:  221</a:t>
            </a:r>
          </a:p>
        </p:txBody>
      </p:sp>
      <p:sp>
        <p:nvSpPr>
          <p:cNvPr id="122" name="Flecha: hacia arriba 121">
            <a:extLst>
              <a:ext uri="{FF2B5EF4-FFF2-40B4-BE49-F238E27FC236}">
                <a16:creationId xmlns:a16="http://schemas.microsoft.com/office/drawing/2014/main" id="{DC20A537-63F5-748D-A903-1792EAD03565}"/>
              </a:ext>
            </a:extLst>
          </p:cNvPr>
          <p:cNvSpPr/>
          <p:nvPr/>
        </p:nvSpPr>
        <p:spPr>
          <a:xfrm>
            <a:off x="12005271" y="6567533"/>
            <a:ext cx="655475" cy="443949"/>
          </a:xfrm>
          <a:prstGeom prst="up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4" name="CuadroTexto 123">
            <a:extLst>
              <a:ext uri="{FF2B5EF4-FFF2-40B4-BE49-F238E27FC236}">
                <a16:creationId xmlns:a16="http://schemas.microsoft.com/office/drawing/2014/main" id="{5EDF3467-992E-8D1B-07E9-B912C127A3FD}"/>
              </a:ext>
            </a:extLst>
          </p:cNvPr>
          <p:cNvSpPr txBox="1"/>
          <p:nvPr/>
        </p:nvSpPr>
        <p:spPr>
          <a:xfrm>
            <a:off x="7481632" y="6413292"/>
            <a:ext cx="17219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0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Crecer</a:t>
            </a:r>
          </a:p>
          <a:p>
            <a:pPr algn="ctr"/>
            <a:r>
              <a:rPr lang="es-419" sz="20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Sin aumentar WIP</a:t>
            </a:r>
            <a:endParaRPr lang="es-CO" sz="1600"/>
          </a:p>
        </p:txBody>
      </p:sp>
      <p:sp>
        <p:nvSpPr>
          <p:cNvPr id="128" name="Flecha: hacia arriba 127">
            <a:extLst>
              <a:ext uri="{FF2B5EF4-FFF2-40B4-BE49-F238E27FC236}">
                <a16:creationId xmlns:a16="http://schemas.microsoft.com/office/drawing/2014/main" id="{832369A1-BB56-6DAA-3D19-6B8699E38015}"/>
              </a:ext>
            </a:extLst>
          </p:cNvPr>
          <p:cNvSpPr/>
          <p:nvPr/>
        </p:nvSpPr>
        <p:spPr>
          <a:xfrm>
            <a:off x="9162745" y="6567533"/>
            <a:ext cx="655475" cy="443949"/>
          </a:xfrm>
          <a:prstGeom prst="up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0" name="CuadroTexto 129">
            <a:extLst>
              <a:ext uri="{FF2B5EF4-FFF2-40B4-BE49-F238E27FC236}">
                <a16:creationId xmlns:a16="http://schemas.microsoft.com/office/drawing/2014/main" id="{39DAFD86-B1B8-BB22-3D56-CDFF8D04F537}"/>
              </a:ext>
            </a:extLst>
          </p:cNvPr>
          <p:cNvSpPr txBox="1"/>
          <p:nvPr/>
        </p:nvSpPr>
        <p:spPr>
          <a:xfrm>
            <a:off x="10258803" y="6395396"/>
            <a:ext cx="189058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0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Crecer</a:t>
            </a:r>
          </a:p>
          <a:p>
            <a:pPr algn="ctr"/>
            <a:r>
              <a:rPr lang="es-419" sz="20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Sin aumentar WIP</a:t>
            </a:r>
            <a:endParaRPr lang="es-CO" sz="1600"/>
          </a:p>
        </p:txBody>
      </p:sp>
      <p:sp>
        <p:nvSpPr>
          <p:cNvPr id="132" name="CuadroTexto 131">
            <a:extLst>
              <a:ext uri="{FF2B5EF4-FFF2-40B4-BE49-F238E27FC236}">
                <a16:creationId xmlns:a16="http://schemas.microsoft.com/office/drawing/2014/main" id="{635E8E96-FDFF-C72A-073A-0A1A25343BEF}"/>
              </a:ext>
            </a:extLst>
          </p:cNvPr>
          <p:cNvSpPr txBox="1"/>
          <p:nvPr/>
        </p:nvSpPr>
        <p:spPr>
          <a:xfrm>
            <a:off x="13204583" y="6344236"/>
            <a:ext cx="3183053" cy="14907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 fontAlgn="t"/>
            <a:r>
              <a:rPr lang="es-MX" sz="22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Entregas  de  valor realizadas</a:t>
            </a:r>
            <a:r>
              <a:rPr lang="es-MX" sz="22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.</a:t>
            </a:r>
            <a:br>
              <a:rPr lang="es-CO" sz="2200" b="1"/>
            </a:br>
            <a:endParaRPr lang="es-CO" sz="2200" b="1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34" name="CuadroTexto 133">
            <a:extLst>
              <a:ext uri="{FF2B5EF4-FFF2-40B4-BE49-F238E27FC236}">
                <a16:creationId xmlns:a16="http://schemas.microsoft.com/office/drawing/2014/main" id="{1E6C9745-4123-45CD-960C-1A1DE8EBFF13}"/>
              </a:ext>
            </a:extLst>
          </p:cNvPr>
          <p:cNvSpPr txBox="1"/>
          <p:nvPr/>
        </p:nvSpPr>
        <p:spPr>
          <a:xfrm>
            <a:off x="447697" y="8047993"/>
            <a:ext cx="11631593" cy="151942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 defTabSz="1371600">
              <a:defRPr/>
            </a:pPr>
            <a:r>
              <a:rPr lang="es-MX" sz="28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El reto no es solo ejecutar rápido: </a:t>
            </a:r>
            <a:r>
              <a:rPr lang="es-MX" sz="28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Necesitamos acelerar el flujo completo </a:t>
            </a:r>
          </a:p>
          <a:p>
            <a:pPr algn="ctr" defTabSz="1371600">
              <a:defRPr/>
            </a:pPr>
            <a:r>
              <a:rPr lang="es-MX" sz="2800" b="1" u="sng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desde la demanda hasta la entrega de valor </a:t>
            </a:r>
            <a:endParaRPr lang="es-CO" sz="2800" b="1" u="sng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cxnSp>
        <p:nvCxnSpPr>
          <p:cNvPr id="143" name="Conector recto de flecha 142">
            <a:extLst>
              <a:ext uri="{FF2B5EF4-FFF2-40B4-BE49-F238E27FC236}">
                <a16:creationId xmlns:a16="http://schemas.microsoft.com/office/drawing/2014/main" id="{3A836786-073F-4988-F230-B4BF842A8552}"/>
              </a:ext>
            </a:extLst>
          </p:cNvPr>
          <p:cNvCxnSpPr>
            <a:cxnSpLocks/>
          </p:cNvCxnSpPr>
          <p:nvPr/>
        </p:nvCxnSpPr>
        <p:spPr>
          <a:xfrm flipH="1">
            <a:off x="13294268" y="9372542"/>
            <a:ext cx="1" cy="2578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Shape 58">
            <a:extLst>
              <a:ext uri="{FF2B5EF4-FFF2-40B4-BE49-F238E27FC236}">
                <a16:creationId xmlns:a16="http://schemas.microsoft.com/office/drawing/2014/main" id="{DF4FEF84-8B45-8EDC-E2B2-E35EFC4CD1E1}"/>
              </a:ext>
            </a:extLst>
          </p:cNvPr>
          <p:cNvSpPr>
            <a:spLocks noChangeAspect="1"/>
          </p:cNvSpPr>
          <p:nvPr/>
        </p:nvSpPr>
        <p:spPr>
          <a:xfrm>
            <a:off x="12312173" y="8136293"/>
            <a:ext cx="2077992" cy="1651003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 anchor="ctr" anchorCtr="0"/>
          <a:lstStyle/>
          <a:p>
            <a:pPr defTabSz="1828755"/>
            <a:endParaRPr lang="es-419" sz="2400" b="1">
              <a:solidFill>
                <a:srgbClr val="002060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cxnSp>
        <p:nvCxnSpPr>
          <p:cNvPr id="140" name="Conector recto de flecha 139">
            <a:extLst>
              <a:ext uri="{FF2B5EF4-FFF2-40B4-BE49-F238E27FC236}">
                <a16:creationId xmlns:a16="http://schemas.microsoft.com/office/drawing/2014/main" id="{3F083128-317C-25A9-EE3A-C4CAF909093A}"/>
              </a:ext>
            </a:extLst>
          </p:cNvPr>
          <p:cNvCxnSpPr>
            <a:cxnSpLocks/>
          </p:cNvCxnSpPr>
          <p:nvPr/>
        </p:nvCxnSpPr>
        <p:spPr>
          <a:xfrm flipH="1">
            <a:off x="13294269" y="8538051"/>
            <a:ext cx="1" cy="2461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CuadroTexto 146">
            <a:extLst>
              <a:ext uri="{FF2B5EF4-FFF2-40B4-BE49-F238E27FC236}">
                <a16:creationId xmlns:a16="http://schemas.microsoft.com/office/drawing/2014/main" id="{8130CC5C-0C63-ACC2-CFC4-6FF95FE73251}"/>
              </a:ext>
            </a:extLst>
          </p:cNvPr>
          <p:cNvSpPr txBox="1"/>
          <p:nvPr/>
        </p:nvSpPr>
        <p:spPr>
          <a:xfrm>
            <a:off x="11977820" y="8149905"/>
            <a:ext cx="24702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828755"/>
            <a:r>
              <a:rPr lang="es-419" sz="24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133 Días</a:t>
            </a:r>
          </a:p>
        </p:txBody>
      </p:sp>
      <p:sp>
        <p:nvSpPr>
          <p:cNvPr id="149" name="CuadroTexto 148">
            <a:extLst>
              <a:ext uri="{FF2B5EF4-FFF2-40B4-BE49-F238E27FC236}">
                <a16:creationId xmlns:a16="http://schemas.microsoft.com/office/drawing/2014/main" id="{3D96FFB2-E643-00B7-6A6D-502DAE02629C}"/>
              </a:ext>
            </a:extLst>
          </p:cNvPr>
          <p:cNvSpPr txBox="1"/>
          <p:nvPr/>
        </p:nvSpPr>
        <p:spPr>
          <a:xfrm>
            <a:off x="12312172" y="8749121"/>
            <a:ext cx="20779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828755"/>
            <a:r>
              <a:rPr lang="es-419" sz="24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80 Días</a:t>
            </a:r>
          </a:p>
        </p:txBody>
      </p:sp>
      <p:sp>
        <p:nvSpPr>
          <p:cNvPr id="151" name="CuadroTexto 150">
            <a:extLst>
              <a:ext uri="{FF2B5EF4-FFF2-40B4-BE49-F238E27FC236}">
                <a16:creationId xmlns:a16="http://schemas.microsoft.com/office/drawing/2014/main" id="{B6539291-315C-E818-13FE-81B9260B9CA0}"/>
              </a:ext>
            </a:extLst>
          </p:cNvPr>
          <p:cNvSpPr txBox="1"/>
          <p:nvPr/>
        </p:nvSpPr>
        <p:spPr>
          <a:xfrm>
            <a:off x="12312172" y="9336585"/>
            <a:ext cx="2077992" cy="46166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 defTabSz="1828755"/>
            <a:r>
              <a:rPr lang="es-419" sz="2400" b="1">
                <a:solidFill>
                  <a:srgbClr val="FF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53 Días</a:t>
            </a:r>
          </a:p>
        </p:txBody>
      </p:sp>
      <p:cxnSp>
        <p:nvCxnSpPr>
          <p:cNvPr id="154" name="Conector recto de flecha 153">
            <a:extLst>
              <a:ext uri="{FF2B5EF4-FFF2-40B4-BE49-F238E27FC236}">
                <a16:creationId xmlns:a16="http://schemas.microsoft.com/office/drawing/2014/main" id="{3CF5A848-440E-ABFC-29C8-1FCEC8C765D2}"/>
              </a:ext>
            </a:extLst>
          </p:cNvPr>
          <p:cNvCxnSpPr>
            <a:cxnSpLocks/>
          </p:cNvCxnSpPr>
          <p:nvPr/>
        </p:nvCxnSpPr>
        <p:spPr>
          <a:xfrm flipH="1">
            <a:off x="13282571" y="9109133"/>
            <a:ext cx="1" cy="2461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CuadroTexto 155">
            <a:extLst>
              <a:ext uri="{FF2B5EF4-FFF2-40B4-BE49-F238E27FC236}">
                <a16:creationId xmlns:a16="http://schemas.microsoft.com/office/drawing/2014/main" id="{458A8B41-C4E4-2809-EF55-1DBE89CE89E5}"/>
              </a:ext>
            </a:extLst>
          </p:cNvPr>
          <p:cNvSpPr txBox="1"/>
          <p:nvPr/>
        </p:nvSpPr>
        <p:spPr>
          <a:xfrm>
            <a:off x="14462878" y="8822029"/>
            <a:ext cx="3897836" cy="14907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fontAlgn="t"/>
            <a:r>
              <a:rPr lang="es-MX" sz="2200" b="1">
                <a:solidFill>
                  <a:srgbClr val="FF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Tiempo previo a la activación. </a:t>
            </a:r>
            <a:endParaRPr lang="es-CO" sz="2200" b="1">
              <a:solidFill>
                <a:srgbClr val="FF0000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58" name="Shape 3">
            <a:extLst>
              <a:ext uri="{FF2B5EF4-FFF2-40B4-BE49-F238E27FC236}">
                <a16:creationId xmlns:a16="http://schemas.microsoft.com/office/drawing/2014/main" id="{7127F046-2C90-A3F7-1379-384E5D240847}"/>
              </a:ext>
            </a:extLst>
          </p:cNvPr>
          <p:cNvSpPr/>
          <p:nvPr/>
        </p:nvSpPr>
        <p:spPr>
          <a:xfrm>
            <a:off x="181649" y="3225655"/>
            <a:ext cx="18106351" cy="44151"/>
          </a:xfrm>
          <a:prstGeom prst="line">
            <a:avLst/>
          </a:prstGeom>
          <a:noFill/>
          <a:ln w="15875">
            <a:solidFill>
              <a:schemeClr val="bg1"/>
            </a:solidFill>
            <a:prstDash val="solid"/>
            <a:headEnd type="oval"/>
            <a:tailEnd type="oval"/>
          </a:ln>
        </p:spPr>
        <p:txBody>
          <a:bodyPr anchor="ctr"/>
          <a:lstStyle/>
          <a:p>
            <a:pPr algn="ctr" defTabSz="1828755"/>
            <a:endParaRPr lang="es-419" sz="220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590AEB8-F9F2-3B70-AC4B-F0B9509F7F9C}"/>
              </a:ext>
            </a:extLst>
          </p:cNvPr>
          <p:cNvSpPr txBox="1"/>
          <p:nvPr/>
        </p:nvSpPr>
        <p:spPr>
          <a:xfrm>
            <a:off x="1425948" y="1276977"/>
            <a:ext cx="1507300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371600"/>
            <a:r>
              <a:rPr lang="es-CO" sz="2200" b="1" kern="0" spc="401">
                <a:solidFill>
                  <a:srgbClr val="FF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Mide la efectividad de un equipo para convertir una necesidad en valor entregado</a:t>
            </a: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03A777C0-90E5-002B-A773-83FD3B9CA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666750"/>
            <a:ext cx="551111" cy="419100"/>
          </a:xfrm>
          <a:prstGeom prst="rect">
            <a:avLst/>
          </a:prstGeom>
        </p:spPr>
      </p:pic>
      <p:sp>
        <p:nvSpPr>
          <p:cNvPr id="6" name="Shape 0">
            <a:extLst>
              <a:ext uri="{FF2B5EF4-FFF2-40B4-BE49-F238E27FC236}">
                <a16:creationId xmlns:a16="http://schemas.microsoft.com/office/drawing/2014/main" id="{00A00A8D-479C-C78E-4C8D-5DA159A7679F}"/>
              </a:ext>
            </a:extLst>
          </p:cNvPr>
          <p:cNvSpPr/>
          <p:nvPr/>
        </p:nvSpPr>
        <p:spPr>
          <a:xfrm>
            <a:off x="2113211" y="685800"/>
            <a:ext cx="9525" cy="381000"/>
          </a:xfrm>
          <a:prstGeom prst="rect">
            <a:avLst/>
          </a:prstGeom>
          <a:solidFill>
            <a:srgbClr val="DEDBD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7334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" grpId="0"/>
      <p:bldP spid="153" grpId="0" animBg="1"/>
      <p:bldP spid="147" grpId="0"/>
      <p:bldP spid="149" grpId="0"/>
      <p:bldP spid="151" grpId="0" animBg="1"/>
      <p:bldP spid="15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DC6FEF-8DC6-3C26-2DC8-E922E1DEC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5F97B4C0-9F12-A0E9-235A-A0F0371806D4}"/>
              </a:ext>
            </a:extLst>
          </p:cNvPr>
          <p:cNvSpPr/>
          <p:nvPr/>
        </p:nvSpPr>
        <p:spPr>
          <a:xfrm>
            <a:off x="473790" y="3476388"/>
            <a:ext cx="16952976" cy="2770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0" cap="none" spc="-207" normalizeH="0" baseline="0" noProof="0">
                <a:ln>
                  <a:noFill/>
                </a:ln>
                <a:solidFill>
                  <a:srgbClr val="F0EEE9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Dashboard</a:t>
            </a:r>
          </a:p>
          <a:p>
            <a:pPr marL="0" marR="0" lvl="0" indent="0" algn="ctr" defTabSz="914400" rtl="0" eaLnBrk="1" fontAlgn="auto" latinLnBrk="0" hangingPunct="1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0" cap="none" spc="-207" normalizeH="0" baseline="0" noProof="0" err="1">
                <a:ln>
                  <a:noFill/>
                </a:ln>
                <a:solidFill>
                  <a:srgbClr val="F0EEE9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Metricas</a:t>
            </a:r>
            <a:r>
              <a:rPr kumimoji="0" lang="en-US" sz="8000" b="1" i="0" u="none" strike="noStrike" kern="0" cap="none" spc="-207" normalizeH="0" baseline="0" noProof="0">
                <a:ln>
                  <a:noFill/>
                </a:ln>
                <a:solidFill>
                  <a:srgbClr val="F0EEE9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de delivery</a:t>
            </a:r>
          </a:p>
          <a:p>
            <a:pPr marL="0" marR="0" lvl="0" indent="0" algn="ctr" defTabSz="914400" rtl="0" eaLnBrk="1" fontAlgn="auto" latinLnBrk="0" hangingPunct="1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0" b="1" i="0" u="none" strike="noStrike" kern="0" cap="none" spc="-207" normalizeH="0" baseline="0" noProof="0">
              <a:ln>
                <a:noFill/>
              </a:ln>
              <a:solidFill>
                <a:srgbClr val="F0EEE9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0" cap="none" spc="-207" normalizeH="0" baseline="0" noProof="0">
                <a:ln>
                  <a:noFill/>
                </a:ln>
                <a:solidFill>
                  <a:srgbClr val="F0EEE9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 </a:t>
            </a:r>
            <a:endParaRPr kumimoji="0" lang="en-US" sz="8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23701E78-8D3E-727D-82B2-EB064B405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666750"/>
            <a:ext cx="551111" cy="419100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E0FF951A-0231-AEBD-EF9F-C8CCD680A0CB}"/>
              </a:ext>
            </a:extLst>
          </p:cNvPr>
          <p:cNvSpPr/>
          <p:nvPr/>
        </p:nvSpPr>
        <p:spPr>
          <a:xfrm>
            <a:off x="914400" y="3676650"/>
            <a:ext cx="1695297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425" b="1" kern="0" spc="285">
                <a:solidFill>
                  <a:srgbClr val="F0E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DEMO EN VIVO</a:t>
            </a:r>
            <a:endParaRPr lang="en-US" sz="1425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E19E3A52-33B2-BDA4-FA36-8BD5E562A9DC}"/>
              </a:ext>
            </a:extLst>
          </p:cNvPr>
          <p:cNvSpPr/>
          <p:nvPr/>
        </p:nvSpPr>
        <p:spPr>
          <a:xfrm>
            <a:off x="914400" y="6362700"/>
            <a:ext cx="1223516" cy="342900"/>
          </a:xfrm>
          <a:prstGeom prst="roundRect">
            <a:avLst>
              <a:gd name="adj" fmla="val 50000"/>
            </a:avLst>
          </a:prstGeom>
          <a:solidFill>
            <a:srgbClr val="F0EEE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51A2476D-F4AD-8C34-D438-70B99D1AA4EC}"/>
              </a:ext>
            </a:extLst>
          </p:cNvPr>
          <p:cNvSpPr/>
          <p:nvPr/>
        </p:nvSpPr>
        <p:spPr>
          <a:xfrm>
            <a:off x="1066800" y="6486525"/>
            <a:ext cx="95250" cy="95250"/>
          </a:xfrm>
          <a:prstGeom prst="ellipse">
            <a:avLst/>
          </a:prstGeom>
          <a:solidFill>
            <a:srgbClr val="C20E1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C1522046-DA6E-F075-0D85-72B2129B5F67}"/>
              </a:ext>
            </a:extLst>
          </p:cNvPr>
          <p:cNvSpPr/>
          <p:nvPr/>
        </p:nvSpPr>
        <p:spPr>
          <a:xfrm>
            <a:off x="1257300" y="6448425"/>
            <a:ext cx="80441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189">
                <a:solidFill>
                  <a:srgbClr val="C2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VIVO</a:t>
            </a:r>
            <a:endParaRPr lang="en-US" sz="1050"/>
          </a:p>
        </p:txBody>
      </p:sp>
    </p:spTree>
    <p:extLst>
      <p:ext uri="{BB962C8B-B14F-4D97-AF65-F5344CB8AC3E}">
        <p14:creationId xmlns:p14="http://schemas.microsoft.com/office/powerpoint/2010/main" val="2596673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0EE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DC75B1-97F4-D7C3-B12A-8C365F7C4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E6B4CED2-E5B7-8FDD-BD7B-588C761CC7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1840" y="5551788"/>
            <a:ext cx="3561611" cy="115537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3DBCED4-3924-DE12-071F-BAA49635E1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7414" y="3988904"/>
            <a:ext cx="3568374" cy="115537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7790E836-5423-09FA-9C8E-BB1768986A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067" y="2558486"/>
            <a:ext cx="3250719" cy="115537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EBF984C-9665-98AA-6978-B60B60EEC5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2381" y="8872522"/>
            <a:ext cx="2865072" cy="76802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D59DF34-1979-FF53-359C-FEDD7676D6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2381" y="7321647"/>
            <a:ext cx="3293772" cy="76311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cxnSp>
        <p:nvCxnSpPr>
          <p:cNvPr id="7" name="Conector: angular 6">
            <a:extLst>
              <a:ext uri="{FF2B5EF4-FFF2-40B4-BE49-F238E27FC236}">
                <a16:creationId xmlns:a16="http://schemas.microsoft.com/office/drawing/2014/main" id="{14699F2E-E215-E5D2-C818-A155A40686D3}"/>
              </a:ext>
            </a:extLst>
          </p:cNvPr>
          <p:cNvCxnSpPr>
            <a:cxnSpLocks/>
            <a:endCxn id="3" idx="1"/>
          </p:cNvCxnSpPr>
          <p:nvPr/>
        </p:nvCxnSpPr>
        <p:spPr>
          <a:xfrm rot="16200000" flipH="1">
            <a:off x="1441141" y="3700317"/>
            <a:ext cx="882461" cy="850089"/>
          </a:xfrm>
          <a:prstGeom prst="bentConnector2">
            <a:avLst/>
          </a:prstGeom>
          <a:noFill/>
          <a:ln w="19050" cap="flat" cmpd="sng" algn="ctr">
            <a:solidFill>
              <a:srgbClr val="1B2A5E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8" name="Conector: angular 7">
            <a:extLst>
              <a:ext uri="{FF2B5EF4-FFF2-40B4-BE49-F238E27FC236}">
                <a16:creationId xmlns:a16="http://schemas.microsoft.com/office/drawing/2014/main" id="{CD0EBF32-3866-0AEB-70C9-313A80F50FFA}"/>
              </a:ext>
            </a:extLst>
          </p:cNvPr>
          <p:cNvCxnSpPr>
            <a:cxnSpLocks/>
            <a:endCxn id="2" idx="1"/>
          </p:cNvCxnSpPr>
          <p:nvPr/>
        </p:nvCxnSpPr>
        <p:spPr>
          <a:xfrm rot="16200000" flipH="1">
            <a:off x="2709690" y="5417328"/>
            <a:ext cx="974262" cy="450036"/>
          </a:xfrm>
          <a:prstGeom prst="bentConnector2">
            <a:avLst/>
          </a:prstGeom>
          <a:noFill/>
          <a:ln w="19050" cap="flat" cmpd="sng" algn="ctr">
            <a:solidFill>
              <a:srgbClr val="1B2A5E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" name="Conector: angular 8">
            <a:extLst>
              <a:ext uri="{FF2B5EF4-FFF2-40B4-BE49-F238E27FC236}">
                <a16:creationId xmlns:a16="http://schemas.microsoft.com/office/drawing/2014/main" id="{5299A135-1CB2-550B-85BE-C08A86392BA9}"/>
              </a:ext>
            </a:extLst>
          </p:cNvPr>
          <p:cNvCxnSpPr>
            <a:cxnSpLocks/>
            <a:endCxn id="6" idx="1"/>
          </p:cNvCxnSpPr>
          <p:nvPr/>
        </p:nvCxnSpPr>
        <p:spPr>
          <a:xfrm rot="16200000" flipH="1">
            <a:off x="3879330" y="6890153"/>
            <a:ext cx="996039" cy="630062"/>
          </a:xfrm>
          <a:prstGeom prst="bentConnector2">
            <a:avLst/>
          </a:prstGeom>
          <a:noFill/>
          <a:ln w="19050" cap="flat" cmpd="sng" algn="ctr">
            <a:solidFill>
              <a:srgbClr val="1B2A5E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" name="Conector: angular 9">
            <a:extLst>
              <a:ext uri="{FF2B5EF4-FFF2-40B4-BE49-F238E27FC236}">
                <a16:creationId xmlns:a16="http://schemas.microsoft.com/office/drawing/2014/main" id="{0C6922BE-68B3-5429-EFFD-C899F816E245}"/>
              </a:ext>
            </a:extLst>
          </p:cNvPr>
          <p:cNvCxnSpPr>
            <a:cxnSpLocks/>
            <a:endCxn id="5" idx="1"/>
          </p:cNvCxnSpPr>
          <p:nvPr/>
        </p:nvCxnSpPr>
        <p:spPr>
          <a:xfrm rot="16200000" flipH="1">
            <a:off x="3220213" y="7784365"/>
            <a:ext cx="2314280" cy="630060"/>
          </a:xfrm>
          <a:prstGeom prst="bentConnector2">
            <a:avLst/>
          </a:prstGeom>
          <a:noFill/>
          <a:ln w="19050" cap="flat" cmpd="sng" algn="ctr">
            <a:solidFill>
              <a:srgbClr val="1B2A5E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1D3E2DC-68AA-196A-B844-CAE8653E80B4}"/>
              </a:ext>
            </a:extLst>
          </p:cNvPr>
          <p:cNvSpPr txBox="1"/>
          <p:nvPr/>
        </p:nvSpPr>
        <p:spPr>
          <a:xfrm>
            <a:off x="4132799" y="2720675"/>
            <a:ext cx="12939101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1371600"/>
            <a:r>
              <a:rPr lang="es-419" sz="225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 usa para registrar </a:t>
            </a:r>
            <a:r>
              <a:rPr lang="es-419" sz="2250" b="1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nuestros OKRS </a:t>
            </a:r>
            <a:r>
              <a:rPr lang="es-419" sz="225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 Célula/COE/SMT garantizando que sean visibles para todos miembros de equipo y la alineación con la estrategia de la compañía. 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1D6A203-49A4-6DC7-A7AE-44F55F5AED0E}"/>
              </a:ext>
            </a:extLst>
          </p:cNvPr>
          <p:cNvSpPr txBox="1"/>
          <p:nvPr/>
        </p:nvSpPr>
        <p:spPr>
          <a:xfrm>
            <a:off x="6124916" y="4154541"/>
            <a:ext cx="1163444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1371600"/>
            <a:r>
              <a:rPr lang="es-419" sz="225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 usa para registrar </a:t>
            </a:r>
            <a:r>
              <a:rPr lang="es-419" sz="2250" b="1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las iniciativas </a:t>
            </a:r>
            <a:r>
              <a:rPr lang="es-419" sz="225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que nos proponemos lograr durante el Q. Se incluye una descripción corta para garantizar el entendimiento de todo el equipo.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6AD6413-8D59-08D3-ADC0-C8778A9976CF}"/>
              </a:ext>
            </a:extLst>
          </p:cNvPr>
          <p:cNvSpPr txBox="1"/>
          <p:nvPr/>
        </p:nvSpPr>
        <p:spPr>
          <a:xfrm>
            <a:off x="7169188" y="5540853"/>
            <a:ext cx="10590176" cy="1131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1371600"/>
            <a:r>
              <a:rPr lang="es-419" sz="225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 usa para registrar los </a:t>
            </a:r>
            <a:r>
              <a:rPr lang="es-419" sz="2250" b="1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incrementos de valor, entregables, funcionalidades de nuestra iniciativa. </a:t>
            </a:r>
            <a:r>
              <a:rPr lang="es-419" sz="225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Esto nos permite detallar como estamos abordando la iniciativa y generar un </a:t>
            </a:r>
            <a:r>
              <a:rPr lang="es-419" sz="2250" err="1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roadmap</a:t>
            </a:r>
            <a:r>
              <a:rPr lang="es-419" sz="225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 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5A1A5CE-B832-1B18-9A8A-E5045B8DCAD7}"/>
              </a:ext>
            </a:extLst>
          </p:cNvPr>
          <p:cNvSpPr txBox="1"/>
          <p:nvPr/>
        </p:nvSpPr>
        <p:spPr>
          <a:xfrm>
            <a:off x="7977997" y="7068750"/>
            <a:ext cx="9781367" cy="1131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1371600"/>
            <a:r>
              <a:rPr lang="es-419" sz="225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 usa para demandar las áreas </a:t>
            </a:r>
            <a:r>
              <a:rPr lang="es-419" sz="2250" b="1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habilitadoras. </a:t>
            </a:r>
            <a:r>
              <a:rPr lang="es-419" sz="225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Son actividades que van más allá de una tarea y que por su complejidad demandan un esfuerzo mayor por parte de una Célula/</a:t>
            </a:r>
            <a:r>
              <a:rPr lang="es-419" sz="2250" err="1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CoE</a:t>
            </a:r>
            <a:r>
              <a:rPr lang="es-419" sz="225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/</a:t>
            </a:r>
            <a:r>
              <a:rPr lang="es-419" sz="2250" err="1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SMT</a:t>
            </a:r>
            <a:r>
              <a:rPr lang="es-419" sz="225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 </a:t>
            </a:r>
            <a:endParaRPr lang="es-419" sz="225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E03A4DC-3EA1-5824-EC54-E6FD8FAA560D}"/>
              </a:ext>
            </a:extLst>
          </p:cNvPr>
          <p:cNvSpPr txBox="1"/>
          <p:nvPr/>
        </p:nvSpPr>
        <p:spPr>
          <a:xfrm>
            <a:off x="7977997" y="8667913"/>
            <a:ext cx="9867089" cy="1131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1371600"/>
            <a:r>
              <a:rPr lang="es-419" sz="225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 usa para describir </a:t>
            </a:r>
            <a:r>
              <a:rPr lang="es-419" sz="2250" b="1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las historias de usuario</a:t>
            </a:r>
            <a:r>
              <a:rPr lang="es-419" sz="225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que son  una descripción simple y suficiente de una necesidad, explicada desde la perspectiva del cliente o usuario.</a:t>
            </a:r>
          </a:p>
        </p:txBody>
      </p:sp>
      <p:sp>
        <p:nvSpPr>
          <p:cNvPr id="18" name="Text 0">
            <a:extLst>
              <a:ext uri="{FF2B5EF4-FFF2-40B4-BE49-F238E27FC236}">
                <a16:creationId xmlns:a16="http://schemas.microsoft.com/office/drawing/2014/main" id="{5A8FA009-8957-CA5E-0FDA-9D74A43D8C59}"/>
              </a:ext>
            </a:extLst>
          </p:cNvPr>
          <p:cNvSpPr/>
          <p:nvPr/>
        </p:nvSpPr>
        <p:spPr>
          <a:xfrm>
            <a:off x="469010" y="218480"/>
            <a:ext cx="17376076" cy="8724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371600">
              <a:defRPr/>
            </a:pPr>
            <a:r>
              <a:rPr lang="es-419" sz="4000" b="1">
                <a:solidFill>
                  <a:srgbClr val="1E2761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Consideraciones </a:t>
            </a:r>
          </a:p>
          <a:p>
            <a:pPr defTabSz="1371600">
              <a:defRPr/>
            </a:pPr>
            <a:r>
              <a:rPr lang="es-419" sz="4000" b="1">
                <a:solidFill>
                  <a:srgbClr val="1E2761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Estructura de </a:t>
            </a:r>
            <a:r>
              <a:rPr lang="es-419" sz="4000" b="1" err="1">
                <a:solidFill>
                  <a:srgbClr val="1E2761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planeacion</a:t>
            </a:r>
            <a:r>
              <a:rPr lang="es-419" sz="4000" b="1">
                <a:solidFill>
                  <a:srgbClr val="1E2761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 y ejecución en Azure para las mediciones </a:t>
            </a:r>
            <a:endParaRPr lang="es-419" sz="4000">
              <a:solidFill>
                <a:prstClr val="black"/>
              </a:solidFill>
              <a:latin typeface="Roboto" pitchFamily="2" charset="0"/>
              <a:ea typeface="Roboto" pitchFamily="2" charset="0"/>
            </a:endParaRPr>
          </a:p>
        </p:txBody>
      </p:sp>
      <p:pic>
        <p:nvPicPr>
          <p:cNvPr id="19" name="Gráfico 18">
            <a:extLst>
              <a:ext uri="{FF2B5EF4-FFF2-40B4-BE49-F238E27FC236}">
                <a16:creationId xmlns:a16="http://schemas.microsoft.com/office/drawing/2014/main" id="{336D9F48-60DA-FF74-511D-A53B377E79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03560" y="7363645"/>
            <a:ext cx="1269813" cy="1269813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00639D14-B349-2264-4678-A9BE0BF56DBD}"/>
              </a:ext>
            </a:extLst>
          </p:cNvPr>
          <p:cNvSpPr txBox="1"/>
          <p:nvPr/>
        </p:nvSpPr>
        <p:spPr>
          <a:xfrm>
            <a:off x="633461" y="8702538"/>
            <a:ext cx="261001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371600"/>
            <a:r>
              <a:rPr lang="es-419" sz="2700" b="1">
                <a:solidFill>
                  <a:prstClr val="black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Azure DevOps</a:t>
            </a:r>
            <a:endParaRPr lang="es-419" sz="2700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991653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6803A3-4B0D-DF6A-97A0-21EE9847F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E6697B3-75CA-ECE7-8323-42E44FB6C39F}"/>
              </a:ext>
            </a:extLst>
          </p:cNvPr>
          <p:cNvSpPr/>
          <p:nvPr/>
        </p:nvSpPr>
        <p:spPr>
          <a:xfrm>
            <a:off x="2113211" y="614057"/>
            <a:ext cx="12344400" cy="75438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defTabSz="1371600">
              <a:lnSpc>
                <a:spcPct val="90000"/>
              </a:lnSpc>
            </a:pPr>
            <a:r>
              <a:rPr lang="en-US" sz="4050" b="1" err="1">
                <a:solidFill>
                  <a:srgbClr val="111111"/>
                </a:solidFill>
                <a:latin typeface="Segoe UI" panose="020B0502040204020203" pitchFamily="34" charset="0"/>
              </a:rPr>
              <a:t>Próximos</a:t>
            </a:r>
            <a:r>
              <a:rPr lang="en-US" sz="4050" b="1">
                <a:solidFill>
                  <a:srgbClr val="111111"/>
                </a:solidFill>
                <a:latin typeface="Segoe UI" panose="020B0502040204020203" pitchFamily="34" charset="0"/>
              </a:rPr>
              <a:t> pasos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2894BDE-0CE5-CC4E-48E4-B4E1FCB82093}"/>
              </a:ext>
            </a:extLst>
          </p:cNvPr>
          <p:cNvSpPr/>
          <p:nvPr/>
        </p:nvSpPr>
        <p:spPr>
          <a:xfrm>
            <a:off x="5259014" y="1882652"/>
            <a:ext cx="3134106" cy="0"/>
          </a:xfrm>
          <a:prstGeom prst="line">
            <a:avLst/>
          </a:prstGeom>
          <a:noFill/>
          <a:ln w="31750">
            <a:solidFill>
              <a:srgbClr val="FF0000"/>
            </a:solidFill>
            <a:prstDash val="solid"/>
            <a:tailEnd type="triangle"/>
          </a:ln>
        </p:spPr>
        <p:txBody>
          <a:bodyPr/>
          <a:lstStyle/>
          <a:p>
            <a:endParaRPr lang="es-CO" sz="2700">
              <a:latin typeface="Roboto" pitchFamily="2" charset="0"/>
              <a:ea typeface="Roboto" pitchFamily="2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A9B03AC-EA2E-88AC-CB99-6D303244A3BA}"/>
              </a:ext>
            </a:extLst>
          </p:cNvPr>
          <p:cNvSpPr/>
          <p:nvPr/>
        </p:nvSpPr>
        <p:spPr>
          <a:xfrm>
            <a:off x="9408104" y="1882652"/>
            <a:ext cx="3134106" cy="0"/>
          </a:xfrm>
          <a:prstGeom prst="line">
            <a:avLst/>
          </a:prstGeom>
          <a:noFill/>
          <a:ln w="31750">
            <a:solidFill>
              <a:srgbClr val="FF0000"/>
            </a:solidFill>
            <a:prstDash val="solid"/>
            <a:tailEnd type="triangle"/>
          </a:ln>
        </p:spPr>
        <p:txBody>
          <a:bodyPr/>
          <a:lstStyle/>
          <a:p>
            <a:endParaRPr lang="es-CO" sz="2700">
              <a:latin typeface="Roboto" pitchFamily="2" charset="0"/>
              <a:ea typeface="Roboto" pitchFamily="2" charset="0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E2E3929-A670-ACA6-6276-C0AABCC267EB}"/>
              </a:ext>
            </a:extLst>
          </p:cNvPr>
          <p:cNvSpPr/>
          <p:nvPr/>
        </p:nvSpPr>
        <p:spPr>
          <a:xfrm>
            <a:off x="4326326" y="1457456"/>
            <a:ext cx="850392" cy="850392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254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9AA5B1">
                <a:alpha val="30000"/>
              </a:srgbClr>
            </a:outerShdw>
          </a:effectLst>
        </p:spPr>
        <p:txBody>
          <a:bodyPr/>
          <a:lstStyle/>
          <a:p>
            <a:endParaRPr lang="es-CO" sz="2700">
              <a:latin typeface="Roboto" pitchFamily="2" charset="0"/>
              <a:ea typeface="Roboto" pitchFamily="2" charset="0"/>
            </a:endParaRPr>
          </a:p>
        </p:txBody>
      </p:sp>
      <p:pic>
        <p:nvPicPr>
          <p:cNvPr id="10" name="Image 0" descr="/home/claude/pilot-slide/icon_sprint1.png">
            <a:extLst>
              <a:ext uri="{FF2B5EF4-FFF2-40B4-BE49-F238E27FC236}">
                <a16:creationId xmlns:a16="http://schemas.microsoft.com/office/drawing/2014/main" id="{E9885AC8-8AB5-24FF-6155-E4E23CC9EDE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4601849" y="1663196"/>
            <a:ext cx="438912" cy="438912"/>
          </a:xfrm>
          <a:prstGeom prst="rect">
            <a:avLst/>
          </a:prstGeom>
        </p:spPr>
      </p:pic>
      <p:sp>
        <p:nvSpPr>
          <p:cNvPr id="11" name="Shape 8">
            <a:extLst>
              <a:ext uri="{FF2B5EF4-FFF2-40B4-BE49-F238E27FC236}">
                <a16:creationId xmlns:a16="http://schemas.microsoft.com/office/drawing/2014/main" id="{DA0E8ED2-2A6C-7C2E-70AA-7004CADF0FA8}"/>
              </a:ext>
            </a:extLst>
          </p:cNvPr>
          <p:cNvSpPr/>
          <p:nvPr/>
        </p:nvSpPr>
        <p:spPr>
          <a:xfrm>
            <a:off x="2917007" y="2426400"/>
            <a:ext cx="3669030" cy="850392"/>
          </a:xfrm>
          <a:prstGeom prst="roundRect">
            <a:avLst>
              <a:gd name="adj" fmla="val 8065"/>
            </a:avLst>
          </a:prstGeom>
          <a:solidFill>
            <a:schemeClr val="bg1">
              <a:lumMod val="50000"/>
            </a:schemeClr>
          </a:solidFill>
          <a:ln/>
        </p:spPr>
        <p:txBody>
          <a:bodyPr/>
          <a:lstStyle/>
          <a:p>
            <a:endParaRPr lang="es-CO" sz="2700">
              <a:latin typeface="Roboto" pitchFamily="2" charset="0"/>
              <a:ea typeface="Roboto" pitchFamily="2" charset="0"/>
            </a:endParaRP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4952B217-E885-AB25-3628-28FE0230CB61}"/>
              </a:ext>
            </a:extLst>
          </p:cNvPr>
          <p:cNvSpPr/>
          <p:nvPr/>
        </p:nvSpPr>
        <p:spPr>
          <a:xfrm>
            <a:off x="2917007" y="3523679"/>
            <a:ext cx="3669030" cy="3615981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5875">
            <a:noFill/>
            <a:prstDash val="solid"/>
          </a:ln>
        </p:spPr>
        <p:txBody>
          <a:bodyPr/>
          <a:lstStyle/>
          <a:p>
            <a:endParaRPr lang="es-CO" sz="2000">
              <a:latin typeface="Roboto" pitchFamily="2" charset="0"/>
              <a:ea typeface="Roboto" pitchFamily="2" charset="0"/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30E38184-D57C-BA44-F9DA-CB6AB92F05DF}"/>
              </a:ext>
            </a:extLst>
          </p:cNvPr>
          <p:cNvSpPr/>
          <p:nvPr/>
        </p:nvSpPr>
        <p:spPr>
          <a:xfrm>
            <a:off x="3221756" y="3635657"/>
            <a:ext cx="3339846" cy="3030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7175" indent="-257175">
              <a:lnSpc>
                <a:spcPct val="112000"/>
              </a:lnSpc>
              <a:spcAft>
                <a:spcPts val="1500"/>
              </a:spcAft>
              <a:buSzPct val="100000"/>
              <a:buFont typeface="Wingdings" panose="05000000000000000000" pitchFamily="2" charset="2"/>
              <a:buChar char="§"/>
            </a:pPr>
            <a:endParaRPr lang="en-US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8AF0DC61-261D-4425-FF27-F042227DC077}"/>
              </a:ext>
            </a:extLst>
          </p:cNvPr>
          <p:cNvSpPr/>
          <p:nvPr/>
        </p:nvSpPr>
        <p:spPr>
          <a:xfrm>
            <a:off x="8475416" y="1457456"/>
            <a:ext cx="850392" cy="850392"/>
          </a:xfrm>
          <a:prstGeom prst="ellipse">
            <a:avLst/>
          </a:prstGeom>
          <a:solidFill>
            <a:schemeClr val="bg1">
              <a:lumMod val="50000"/>
            </a:schemeClr>
          </a:solidFill>
          <a:ln w="254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9AA5B1">
                <a:alpha val="30000"/>
              </a:srgbClr>
            </a:outerShdw>
          </a:effectLst>
        </p:spPr>
        <p:txBody>
          <a:bodyPr/>
          <a:lstStyle/>
          <a:p>
            <a:endParaRPr lang="es-CO" sz="2700">
              <a:latin typeface="Roboto" pitchFamily="2" charset="0"/>
              <a:ea typeface="Roboto" pitchFamily="2" charset="0"/>
            </a:endParaRPr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298D0062-CA5A-0DE6-8C26-CF1FA6039BC3}"/>
              </a:ext>
            </a:extLst>
          </p:cNvPr>
          <p:cNvSpPr/>
          <p:nvPr/>
        </p:nvSpPr>
        <p:spPr>
          <a:xfrm>
            <a:off x="7066097" y="2426400"/>
            <a:ext cx="3669030" cy="850392"/>
          </a:xfrm>
          <a:prstGeom prst="roundRect">
            <a:avLst>
              <a:gd name="adj" fmla="val 8065"/>
            </a:avLst>
          </a:prstGeom>
          <a:solidFill>
            <a:schemeClr val="bg1">
              <a:lumMod val="75000"/>
            </a:schemeClr>
          </a:solidFill>
          <a:ln/>
        </p:spPr>
        <p:txBody>
          <a:bodyPr/>
          <a:lstStyle/>
          <a:p>
            <a:endParaRPr lang="es-CO" sz="2700">
              <a:latin typeface="Roboto" pitchFamily="2" charset="0"/>
              <a:ea typeface="Roboto" pitchFamily="2" charset="0"/>
            </a:endParaRP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6B058270-6FB1-F493-002F-11082039B754}"/>
              </a:ext>
            </a:extLst>
          </p:cNvPr>
          <p:cNvSpPr/>
          <p:nvPr/>
        </p:nvSpPr>
        <p:spPr>
          <a:xfrm>
            <a:off x="7066097" y="2673398"/>
            <a:ext cx="36690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50" b="1" kern="0" spc="150">
                <a:latin typeface="Roboto" pitchFamily="2" charset="0"/>
                <a:ea typeface="Roboto" pitchFamily="2" charset="0"/>
                <a:cs typeface="Calibri" pitchFamily="34" charset="-120"/>
              </a:rPr>
              <a:t>DECIDIR Y EXPERIMENTAR </a:t>
            </a:r>
            <a:endParaRPr lang="en-US" sz="1950">
              <a:latin typeface="Roboto" pitchFamily="2" charset="0"/>
              <a:ea typeface="Roboto" pitchFamily="2" charset="0"/>
            </a:endParaRPr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8605C7B4-784F-27FE-1446-4CCC586C7BFF}"/>
              </a:ext>
            </a:extLst>
          </p:cNvPr>
          <p:cNvSpPr/>
          <p:nvPr/>
        </p:nvSpPr>
        <p:spPr>
          <a:xfrm>
            <a:off x="7066097" y="3523679"/>
            <a:ext cx="3669030" cy="3625483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5875">
            <a:noFill/>
            <a:prstDash val="solid"/>
          </a:ln>
        </p:spPr>
        <p:txBody>
          <a:bodyPr/>
          <a:lstStyle/>
          <a:p>
            <a:endParaRPr lang="es-CO" sz="2700" b="1">
              <a:solidFill>
                <a:srgbClr val="002060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BC948E91-8B0C-E487-4288-C6C904E510A7}"/>
              </a:ext>
            </a:extLst>
          </p:cNvPr>
          <p:cNvSpPr/>
          <p:nvPr/>
        </p:nvSpPr>
        <p:spPr>
          <a:xfrm>
            <a:off x="7285553" y="3770567"/>
            <a:ext cx="3230118" cy="3030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2000"/>
              </a:lnSpc>
              <a:spcAft>
                <a:spcPts val="1500"/>
              </a:spcAft>
              <a:buSzPct val="100000"/>
            </a:pPr>
            <a:endParaRPr lang="en-US" sz="1725">
              <a:latin typeface="Roboto" pitchFamily="2" charset="0"/>
              <a:ea typeface="Roboto" pitchFamily="2" charset="0"/>
            </a:endParaRPr>
          </a:p>
        </p:txBody>
      </p:sp>
      <p:sp>
        <p:nvSpPr>
          <p:cNvPr id="23" name="Shape 19">
            <a:extLst>
              <a:ext uri="{FF2B5EF4-FFF2-40B4-BE49-F238E27FC236}">
                <a16:creationId xmlns:a16="http://schemas.microsoft.com/office/drawing/2014/main" id="{D73B909D-37E1-418F-73B8-864C4BBD4BA3}"/>
              </a:ext>
            </a:extLst>
          </p:cNvPr>
          <p:cNvSpPr/>
          <p:nvPr/>
        </p:nvSpPr>
        <p:spPr>
          <a:xfrm>
            <a:off x="12624506" y="1457456"/>
            <a:ext cx="850392" cy="850392"/>
          </a:xfrm>
          <a:prstGeom prst="ellipse">
            <a:avLst/>
          </a:prstGeom>
          <a:solidFill>
            <a:srgbClr val="FF0000"/>
          </a:solidFill>
          <a:ln w="254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9AA5B1">
                <a:alpha val="30000"/>
              </a:srgbClr>
            </a:outerShdw>
          </a:effectLst>
        </p:spPr>
        <p:txBody>
          <a:bodyPr/>
          <a:lstStyle/>
          <a:p>
            <a:endParaRPr lang="es-CO" sz="2700">
              <a:latin typeface="Roboto" pitchFamily="2" charset="0"/>
              <a:ea typeface="Roboto" pitchFamily="2" charset="0"/>
            </a:endParaRPr>
          </a:p>
        </p:txBody>
      </p:sp>
      <p:pic>
        <p:nvPicPr>
          <p:cNvPr id="24" name="Image 2" descr="/home/claude/pilot-slide/icon_sprint3.png">
            <a:extLst>
              <a:ext uri="{FF2B5EF4-FFF2-40B4-BE49-F238E27FC236}">
                <a16:creationId xmlns:a16="http://schemas.microsoft.com/office/drawing/2014/main" id="{C1748D37-7A18-BCA0-1D27-EB503062BF77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12854309" y="1687259"/>
            <a:ext cx="438912" cy="438912"/>
          </a:xfrm>
          <a:prstGeom prst="rect">
            <a:avLst/>
          </a:prstGeom>
        </p:spPr>
      </p:pic>
      <p:sp>
        <p:nvSpPr>
          <p:cNvPr id="25" name="Shape 20">
            <a:extLst>
              <a:ext uri="{FF2B5EF4-FFF2-40B4-BE49-F238E27FC236}">
                <a16:creationId xmlns:a16="http://schemas.microsoft.com/office/drawing/2014/main" id="{0495AB26-C8E1-9111-AB94-1C573D61F985}"/>
              </a:ext>
            </a:extLst>
          </p:cNvPr>
          <p:cNvSpPr/>
          <p:nvPr/>
        </p:nvSpPr>
        <p:spPr>
          <a:xfrm>
            <a:off x="11215187" y="2426400"/>
            <a:ext cx="3669030" cy="850392"/>
          </a:xfrm>
          <a:prstGeom prst="roundRect">
            <a:avLst>
              <a:gd name="adj" fmla="val 8065"/>
            </a:avLst>
          </a:prstGeom>
          <a:solidFill>
            <a:srgbClr val="FF0000"/>
          </a:solidFill>
          <a:ln/>
        </p:spPr>
        <p:txBody>
          <a:bodyPr/>
          <a:lstStyle/>
          <a:p>
            <a:endParaRPr lang="es-CO" sz="2700"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2A91FA67-5832-6380-FFAD-4B27AE7FE340}"/>
              </a:ext>
            </a:extLst>
          </p:cNvPr>
          <p:cNvSpPr/>
          <p:nvPr/>
        </p:nvSpPr>
        <p:spPr>
          <a:xfrm>
            <a:off x="11215187" y="2673398"/>
            <a:ext cx="36690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950">
              <a:latin typeface="Roboto" pitchFamily="2" charset="0"/>
              <a:ea typeface="Roboto" pitchFamily="2" charset="0"/>
            </a:endParaRPr>
          </a:p>
        </p:txBody>
      </p:sp>
      <p:sp>
        <p:nvSpPr>
          <p:cNvPr id="28" name="Shape 23">
            <a:extLst>
              <a:ext uri="{FF2B5EF4-FFF2-40B4-BE49-F238E27FC236}">
                <a16:creationId xmlns:a16="http://schemas.microsoft.com/office/drawing/2014/main" id="{32CDFA3A-D9D2-C9D0-7D04-34D0B5C11DE7}"/>
              </a:ext>
            </a:extLst>
          </p:cNvPr>
          <p:cNvSpPr/>
          <p:nvPr/>
        </p:nvSpPr>
        <p:spPr>
          <a:xfrm>
            <a:off x="11215187" y="3523679"/>
            <a:ext cx="3669030" cy="3625483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5875">
            <a:noFill/>
            <a:prstDash val="solid"/>
          </a:ln>
        </p:spPr>
        <p:txBody>
          <a:bodyPr/>
          <a:lstStyle/>
          <a:p>
            <a:endParaRPr lang="es-CO" sz="2700">
              <a:latin typeface="Roboto" pitchFamily="2" charset="0"/>
              <a:ea typeface="Roboto" pitchFamily="2" charset="0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F66039F9-26D1-3D0C-80AB-6E53AC7F2E95}"/>
              </a:ext>
            </a:extLst>
          </p:cNvPr>
          <p:cNvSpPr/>
          <p:nvPr/>
        </p:nvSpPr>
        <p:spPr>
          <a:xfrm>
            <a:off x="11519936" y="3770567"/>
            <a:ext cx="3230118" cy="3030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7175" indent="-257175">
              <a:lnSpc>
                <a:spcPct val="112000"/>
              </a:lnSpc>
              <a:spcAft>
                <a:spcPts val="1500"/>
              </a:spcAft>
              <a:buSzPct val="100000"/>
              <a:buFont typeface="Wingdings" panose="05000000000000000000" pitchFamily="2" charset="2"/>
              <a:buChar char="§"/>
            </a:pPr>
            <a:endParaRPr lang="en-US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54" name="Text 12">
            <a:extLst>
              <a:ext uri="{FF2B5EF4-FFF2-40B4-BE49-F238E27FC236}">
                <a16:creationId xmlns:a16="http://schemas.microsoft.com/office/drawing/2014/main" id="{BD321E8B-7DC1-6AF8-7F50-A87E3CB66D47}"/>
              </a:ext>
            </a:extLst>
          </p:cNvPr>
          <p:cNvSpPr/>
          <p:nvPr/>
        </p:nvSpPr>
        <p:spPr>
          <a:xfrm>
            <a:off x="7285553" y="3642732"/>
            <a:ext cx="3263659" cy="3506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14350" indent="-514350">
              <a:lnSpc>
                <a:spcPct val="112000"/>
              </a:lnSpc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s-CO" sz="22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Identificar Cuellos de Botella</a:t>
            </a:r>
          </a:p>
          <a:p>
            <a:pPr marL="514350" indent="-514350">
              <a:lnSpc>
                <a:spcPct val="112000"/>
              </a:lnSpc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s-CO" sz="22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Crear hipótesis y accionables</a:t>
            </a:r>
          </a:p>
          <a:p>
            <a:pPr marL="514350" indent="-514350">
              <a:lnSpc>
                <a:spcPct val="112000"/>
              </a:lnSpc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s-CO" sz="22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Ejecutar experimentos  </a:t>
            </a:r>
          </a:p>
          <a:p>
            <a:pPr marL="514350" indent="-514350">
              <a:lnSpc>
                <a:spcPct val="112000"/>
              </a:lnSpc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s-CO" sz="22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Medir si el cambio  produjo el resultado esperado </a:t>
            </a:r>
          </a:p>
        </p:txBody>
      </p:sp>
      <p:sp>
        <p:nvSpPr>
          <p:cNvPr id="47" name="Text 12">
            <a:extLst>
              <a:ext uri="{FF2B5EF4-FFF2-40B4-BE49-F238E27FC236}">
                <a16:creationId xmlns:a16="http://schemas.microsoft.com/office/drawing/2014/main" id="{9E9A9486-CC0F-1909-F8F6-A88758B67545}"/>
              </a:ext>
            </a:extLst>
          </p:cNvPr>
          <p:cNvSpPr/>
          <p:nvPr/>
        </p:nvSpPr>
        <p:spPr>
          <a:xfrm>
            <a:off x="3043737" y="3578594"/>
            <a:ext cx="3501813" cy="3898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14350" indent="-514350">
              <a:lnSpc>
                <a:spcPct val="112000"/>
              </a:lnSpc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s-CO" sz="22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Asegurar calidad y trazabilidad del dato</a:t>
            </a:r>
          </a:p>
          <a:p>
            <a:pPr marL="514350" indent="-514350">
              <a:lnSpc>
                <a:spcPct val="112000"/>
              </a:lnSpc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s-CO" sz="22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Democratizar información </a:t>
            </a:r>
          </a:p>
          <a:p>
            <a:pPr marL="514350" indent="-514350">
              <a:lnSpc>
                <a:spcPct val="112000"/>
              </a:lnSpc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s-CO" sz="22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Mantener actualizado Azure</a:t>
            </a:r>
          </a:p>
          <a:p>
            <a:pPr marL="514350" indent="-514350">
              <a:lnSpc>
                <a:spcPct val="112000"/>
              </a:lnSpc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s-CO" sz="22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Monitorear métricas en ciclos cortos </a:t>
            </a:r>
            <a:endParaRPr lang="en-US" sz="220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53" name="Text 12">
            <a:extLst>
              <a:ext uri="{FF2B5EF4-FFF2-40B4-BE49-F238E27FC236}">
                <a16:creationId xmlns:a16="http://schemas.microsoft.com/office/drawing/2014/main" id="{A09772A8-3638-718C-1CAA-F17CF963C542}"/>
              </a:ext>
            </a:extLst>
          </p:cNvPr>
          <p:cNvSpPr/>
          <p:nvPr/>
        </p:nvSpPr>
        <p:spPr>
          <a:xfrm>
            <a:off x="11418640" y="3749989"/>
            <a:ext cx="3465576" cy="3929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14350" indent="-514350">
              <a:lnSpc>
                <a:spcPct val="112000"/>
              </a:lnSpc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s-CO" sz="22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Evaluar  resultados  </a:t>
            </a:r>
          </a:p>
          <a:p>
            <a:pPr marL="514350" indent="-514350">
              <a:lnSpc>
                <a:spcPct val="112000"/>
              </a:lnSpc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s-CO" sz="22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Identificar qué funcionó y qué no </a:t>
            </a:r>
          </a:p>
          <a:p>
            <a:pPr marL="514350" indent="-514350">
              <a:lnSpc>
                <a:spcPct val="112000"/>
              </a:lnSpc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s-CO" sz="22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Estandarizar prácticas efectivas</a:t>
            </a:r>
          </a:p>
          <a:p>
            <a:pPr marL="514350" indent="-514350">
              <a:lnSpc>
                <a:spcPct val="112000"/>
              </a:lnSpc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s-CO" sz="22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Incorporarlo su modelo operativo  </a:t>
            </a:r>
          </a:p>
        </p:txBody>
      </p:sp>
      <p:pic>
        <p:nvPicPr>
          <p:cNvPr id="100" name="Gráfico 99" descr="Velocímetro bajo con relleno sólido">
            <a:extLst>
              <a:ext uri="{FF2B5EF4-FFF2-40B4-BE49-F238E27FC236}">
                <a16:creationId xmlns:a16="http://schemas.microsoft.com/office/drawing/2014/main" id="{FE963FDB-8053-89FF-33BF-985509628A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76395" y="1435230"/>
            <a:ext cx="696560" cy="723440"/>
          </a:xfrm>
          <a:prstGeom prst="rect">
            <a:avLst/>
          </a:prstGeom>
        </p:spPr>
      </p:pic>
      <p:sp>
        <p:nvSpPr>
          <p:cNvPr id="20" name="Text 15">
            <a:extLst>
              <a:ext uri="{FF2B5EF4-FFF2-40B4-BE49-F238E27FC236}">
                <a16:creationId xmlns:a16="http://schemas.microsoft.com/office/drawing/2014/main" id="{5F24BB5D-4FF3-3CA3-4B76-178E2A567459}"/>
              </a:ext>
            </a:extLst>
          </p:cNvPr>
          <p:cNvSpPr/>
          <p:nvPr/>
        </p:nvSpPr>
        <p:spPr>
          <a:xfrm>
            <a:off x="11327074" y="2697769"/>
            <a:ext cx="36690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50" b="1" kern="0" spc="15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APRENDER Y ESCALAR </a:t>
            </a:r>
            <a:endParaRPr lang="en-US" sz="1950"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C92EAC80-441F-95D7-D0DB-5AEF3680B0C2}"/>
              </a:ext>
            </a:extLst>
          </p:cNvPr>
          <p:cNvSpPr txBox="1"/>
          <p:nvPr/>
        </p:nvSpPr>
        <p:spPr>
          <a:xfrm>
            <a:off x="3061855" y="7313573"/>
            <a:ext cx="3465576" cy="893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1000"/>
              </a:spcAft>
              <a:buSzPct val="100000"/>
            </a:pPr>
            <a:r>
              <a:rPr lang="es-CO" sz="2400" b="1" i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Información confiable y disponible para todos 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E7BDD5A5-2955-ECAF-9C3C-7F75D2632C5B}"/>
              </a:ext>
            </a:extLst>
          </p:cNvPr>
          <p:cNvSpPr txBox="1"/>
          <p:nvPr/>
        </p:nvSpPr>
        <p:spPr>
          <a:xfrm>
            <a:off x="7285553" y="7465971"/>
            <a:ext cx="3465576" cy="479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1000"/>
              </a:spcAft>
              <a:buSzPct val="100000"/>
            </a:pPr>
            <a:r>
              <a:rPr lang="es-CO" sz="2400" b="1" i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Convertir datos en acción 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99FEEBC8-4B6E-CBE1-4FB2-23921EAE7FA2}"/>
              </a:ext>
            </a:extLst>
          </p:cNvPr>
          <p:cNvSpPr txBox="1"/>
          <p:nvPr/>
        </p:nvSpPr>
        <p:spPr>
          <a:xfrm>
            <a:off x="11316914" y="7311515"/>
            <a:ext cx="3465576" cy="893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1000"/>
              </a:spcAft>
              <a:buSzPct val="100000"/>
            </a:pPr>
            <a:r>
              <a:rPr lang="es-CO" sz="2400" b="1" i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Convertir la mejora en forma de trabajo 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172E5BDA-DC42-B184-BDAB-B3A7F797FAE2}"/>
              </a:ext>
            </a:extLst>
          </p:cNvPr>
          <p:cNvSpPr txBox="1"/>
          <p:nvPr/>
        </p:nvSpPr>
        <p:spPr>
          <a:xfrm>
            <a:off x="0" y="9048107"/>
            <a:ext cx="18288000" cy="1026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1000"/>
              </a:spcAft>
              <a:buSzPct val="100000"/>
            </a:pPr>
            <a:r>
              <a:rPr lang="es-CO" sz="2800" i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“Hacer  visible la información e incorporarla de manera sistémica en las sincronizaciones con los lideres permitirá </a:t>
            </a:r>
            <a:r>
              <a:rPr lang="es-CO" sz="2800" i="1">
                <a:solidFill>
                  <a:schemeClr val="bg1"/>
                </a:solidFill>
                <a:highlight>
                  <a:srgbClr val="FF0000"/>
                </a:highlight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generar interés, apropiación y, sobre todo, convertir  datos en decisiones y acciones  concretos “</a:t>
            </a: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52E69143-623B-6C3F-2941-44500B7881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666750"/>
            <a:ext cx="551111" cy="4191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DFD4336D-AA9C-D1BA-358D-50F496EE8FAA}"/>
              </a:ext>
            </a:extLst>
          </p:cNvPr>
          <p:cNvSpPr/>
          <p:nvPr/>
        </p:nvSpPr>
        <p:spPr>
          <a:xfrm>
            <a:off x="1656011" y="685800"/>
            <a:ext cx="9525" cy="381000"/>
          </a:xfrm>
          <a:prstGeom prst="rect">
            <a:avLst/>
          </a:prstGeom>
          <a:solidFill>
            <a:srgbClr val="DEDBD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E3CD42A3-C08A-7582-A4C6-A5C76B9105C1}"/>
              </a:ext>
            </a:extLst>
          </p:cNvPr>
          <p:cNvSpPr/>
          <p:nvPr/>
        </p:nvSpPr>
        <p:spPr>
          <a:xfrm>
            <a:off x="15456843" y="795338"/>
            <a:ext cx="203105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5" b="0" i="0" u="none" strike="noStrike" kern="0" cap="none" spc="135" normalizeH="0" baseline="0" noProof="0">
                <a:ln>
                  <a:noFill/>
                </a:ln>
                <a:solidFill>
                  <a:srgbClr val="867F7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VISTA DE ALTO NIVEL</a:t>
            </a:r>
            <a:endParaRPr kumimoji="0" lang="en-US" sz="112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50AB4D20-8C5E-CA8A-60DA-FEC0CB69DF93}"/>
              </a:ext>
            </a:extLst>
          </p:cNvPr>
          <p:cNvSpPr/>
          <p:nvPr/>
        </p:nvSpPr>
        <p:spPr>
          <a:xfrm>
            <a:off x="2960128" y="2682338"/>
            <a:ext cx="36690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50" b="1" kern="0" spc="15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HACER VISIBLE EL FLUJO</a:t>
            </a:r>
            <a:endParaRPr lang="en-US" sz="1950"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3F744EF2-E8CE-EBF5-EBAC-76F04D14612A}"/>
              </a:ext>
            </a:extLst>
          </p:cNvPr>
          <p:cNvSpPr/>
          <p:nvPr/>
        </p:nvSpPr>
        <p:spPr>
          <a:xfrm>
            <a:off x="2113211" y="685800"/>
            <a:ext cx="9525" cy="381000"/>
          </a:xfrm>
          <a:prstGeom prst="rect">
            <a:avLst/>
          </a:prstGeom>
          <a:solidFill>
            <a:srgbClr val="DEDBD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8711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E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023C45-5221-994E-9121-58FD325D1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A6A66859-AE6F-4BE5-3259-5279D16B6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666750"/>
            <a:ext cx="551111" cy="4191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A071CAA5-9F84-21B6-57EE-B3ACEFF178FC}"/>
              </a:ext>
            </a:extLst>
          </p:cNvPr>
          <p:cNvSpPr/>
          <p:nvPr/>
        </p:nvSpPr>
        <p:spPr>
          <a:xfrm>
            <a:off x="1656011" y="685800"/>
            <a:ext cx="9525" cy="381000"/>
          </a:xfrm>
          <a:prstGeom prst="rect">
            <a:avLst/>
          </a:prstGeom>
          <a:solidFill>
            <a:srgbClr val="DEDBD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F8C4BEA3-4AA5-AB50-9DCE-19431F36408D}"/>
              </a:ext>
            </a:extLst>
          </p:cNvPr>
          <p:cNvSpPr/>
          <p:nvPr/>
        </p:nvSpPr>
        <p:spPr>
          <a:xfrm>
            <a:off x="15456843" y="795338"/>
            <a:ext cx="203105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5" b="0" i="0" u="none" strike="noStrike" kern="0" cap="none" spc="135" normalizeH="0" baseline="0" noProof="0">
                <a:ln>
                  <a:noFill/>
                </a:ln>
                <a:solidFill>
                  <a:srgbClr val="867F7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VISTA DE ALTO NIVEL</a:t>
            </a:r>
            <a:endParaRPr kumimoji="0" lang="en-US" sz="112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F6765703-C55D-C14B-BD12-0F1B06EE4E96}"/>
              </a:ext>
            </a:extLst>
          </p:cNvPr>
          <p:cNvSpPr/>
          <p:nvPr/>
        </p:nvSpPr>
        <p:spPr>
          <a:xfrm>
            <a:off x="876300" y="1371600"/>
            <a:ext cx="514350" cy="85725"/>
          </a:xfrm>
          <a:prstGeom prst="rect">
            <a:avLst/>
          </a:prstGeom>
          <a:solidFill>
            <a:srgbClr val="ED1C2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7AA6F087-F947-B676-A1F7-F9226FD48EBC}"/>
              </a:ext>
            </a:extLst>
          </p:cNvPr>
          <p:cNvSpPr/>
          <p:nvPr/>
        </p:nvSpPr>
        <p:spPr>
          <a:xfrm>
            <a:off x="1876425" y="638175"/>
            <a:ext cx="17031462" cy="47625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defTabSz="1371600">
              <a:lnSpc>
                <a:spcPct val="90000"/>
              </a:lnSpc>
            </a:pPr>
            <a:r>
              <a:rPr lang="en-US" sz="4050" b="1">
                <a:solidFill>
                  <a:srgbClr val="111111"/>
                </a:solidFill>
                <a:latin typeface="Segoe UI" panose="020B0502040204020203" pitchFamily="34" charset="0"/>
              </a:rPr>
              <a:t>Proceso de desarrollo de soluciones</a:t>
            </a: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56492615-6E3F-8A76-6EAA-44C88FF6F7DA}"/>
              </a:ext>
            </a:extLst>
          </p:cNvPr>
          <p:cNvSpPr/>
          <p:nvPr/>
        </p:nvSpPr>
        <p:spPr>
          <a:xfrm>
            <a:off x="876300" y="5710238"/>
            <a:ext cx="16116300" cy="19050"/>
          </a:xfrm>
          <a:prstGeom prst="rect">
            <a:avLst/>
          </a:prstGeom>
          <a:solidFill>
            <a:srgbClr val="1A171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F139059B-3A44-4698-B16A-94EEED08C0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6425" y="3638252"/>
            <a:ext cx="361950" cy="361950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BDD62062-8497-1ECF-D62E-8A99F444ADC7}"/>
              </a:ext>
            </a:extLst>
          </p:cNvPr>
          <p:cNvSpPr/>
          <p:nvPr/>
        </p:nvSpPr>
        <p:spPr>
          <a:xfrm>
            <a:off x="876300" y="4162127"/>
            <a:ext cx="2362200" cy="326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0" cap="none" spc="-31" normalizeH="0" baseline="0" noProof="0">
                <a:ln>
                  <a:noFill/>
                </a:ln>
                <a:solidFill>
                  <a:srgbClr val="1A1714"/>
                </a:solidFill>
                <a:effectLst/>
                <a:uLnTx/>
                <a:uFillTx/>
                <a:latin typeface="Helvetica" pitchFamily="34" charset="0"/>
                <a:ea typeface="Helvetica" pitchFamily="34" charset="-122"/>
                <a:cs typeface="Helvetica" pitchFamily="34" charset="-120"/>
              </a:rPr>
              <a:t>Priorización</a:t>
            </a:r>
            <a:endParaRPr kumimoji="0" lang="en-US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2DC0F29E-2C34-8E39-8E37-E66D1739902B}"/>
              </a:ext>
            </a:extLst>
          </p:cNvPr>
          <p:cNvSpPr/>
          <p:nvPr/>
        </p:nvSpPr>
        <p:spPr>
          <a:xfrm>
            <a:off x="876300" y="4564410"/>
            <a:ext cx="2362200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8" b="0" i="0" u="none" strike="noStrike" kern="0" cap="none" spc="54" normalizeH="0" baseline="0" noProof="0">
                <a:ln>
                  <a:noFill/>
                </a:ln>
                <a:solidFill>
                  <a:srgbClr val="564F4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DIRECCIÓN DE TECNOLOGÍA</a:t>
            </a:r>
            <a:endParaRPr kumimoji="0" lang="en-US" sz="108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EBFC37F4-520C-CC04-9603-D3BFE5E7C0B0}"/>
              </a:ext>
            </a:extLst>
          </p:cNvPr>
          <p:cNvSpPr/>
          <p:nvPr/>
        </p:nvSpPr>
        <p:spPr>
          <a:xfrm>
            <a:off x="2047875" y="4795838"/>
            <a:ext cx="19050" cy="914400"/>
          </a:xfrm>
          <a:prstGeom prst="rect">
            <a:avLst/>
          </a:prstGeom>
          <a:solidFill>
            <a:srgbClr val="DEDBD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C80F296A-8898-DDFF-B8F0-B99AB8299369}"/>
              </a:ext>
            </a:extLst>
          </p:cNvPr>
          <p:cNvSpPr/>
          <p:nvPr/>
        </p:nvSpPr>
        <p:spPr>
          <a:xfrm>
            <a:off x="1714500" y="5367338"/>
            <a:ext cx="685800" cy="685800"/>
          </a:xfrm>
          <a:prstGeom prst="ellipse">
            <a:avLst/>
          </a:prstGeom>
          <a:solidFill>
            <a:srgbClr val="F0EEE9"/>
          </a:solidFill>
          <a:ln w="19050">
            <a:solidFill>
              <a:srgbClr val="1A17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E3F0930F-F517-533B-F451-CE8653FAFCF6}"/>
              </a:ext>
            </a:extLst>
          </p:cNvPr>
          <p:cNvSpPr/>
          <p:nvPr/>
        </p:nvSpPr>
        <p:spPr>
          <a:xfrm>
            <a:off x="1943100" y="5581650"/>
            <a:ext cx="3048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1A171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287D5DB6-1C3B-7D10-F71E-56ED7A20FCEA}"/>
              </a:ext>
            </a:extLst>
          </p:cNvPr>
          <p:cNvSpPr/>
          <p:nvPr/>
        </p:nvSpPr>
        <p:spPr>
          <a:xfrm>
            <a:off x="2009775" y="5338763"/>
            <a:ext cx="95250" cy="95250"/>
          </a:xfrm>
          <a:prstGeom prst="ellipse">
            <a:avLst/>
          </a:prstGeom>
          <a:solidFill>
            <a:srgbClr val="ED1C29"/>
          </a:solidFill>
          <a:ln w="9525">
            <a:solidFill>
              <a:srgbClr val="1A17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05F564CF-9FF6-F789-D47A-5D33FD7C80BB}"/>
              </a:ext>
            </a:extLst>
          </p:cNvPr>
          <p:cNvSpPr/>
          <p:nvPr/>
        </p:nvSpPr>
        <p:spPr>
          <a:xfrm>
            <a:off x="4076700" y="5367338"/>
            <a:ext cx="685800" cy="685800"/>
          </a:xfrm>
          <a:prstGeom prst="ellipse">
            <a:avLst/>
          </a:prstGeom>
          <a:solidFill>
            <a:srgbClr val="F0EEE9"/>
          </a:solidFill>
          <a:ln w="19050">
            <a:solidFill>
              <a:srgbClr val="1A17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192D3A89-FE6C-5467-1257-749B1C8D5C84}"/>
              </a:ext>
            </a:extLst>
          </p:cNvPr>
          <p:cNvSpPr/>
          <p:nvPr/>
        </p:nvSpPr>
        <p:spPr>
          <a:xfrm>
            <a:off x="4305300" y="5581650"/>
            <a:ext cx="3048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1A171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2064C59A-52EE-E1C4-E0F4-765C7D2B6658}"/>
              </a:ext>
            </a:extLst>
          </p:cNvPr>
          <p:cNvSpPr/>
          <p:nvPr/>
        </p:nvSpPr>
        <p:spPr>
          <a:xfrm>
            <a:off x="4371975" y="5338763"/>
            <a:ext cx="95250" cy="95250"/>
          </a:xfrm>
          <a:prstGeom prst="ellipse">
            <a:avLst/>
          </a:prstGeom>
          <a:solidFill>
            <a:srgbClr val="ED1C29"/>
          </a:solidFill>
          <a:ln w="9525">
            <a:solidFill>
              <a:srgbClr val="1A17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37F3A145-B6E6-2343-E339-2122010A3210}"/>
              </a:ext>
            </a:extLst>
          </p:cNvPr>
          <p:cNvSpPr/>
          <p:nvPr/>
        </p:nvSpPr>
        <p:spPr>
          <a:xfrm>
            <a:off x="4370933" y="6100762"/>
            <a:ext cx="58192" cy="523875"/>
          </a:xfrm>
          <a:prstGeom prst="rect">
            <a:avLst/>
          </a:prstGeom>
          <a:solidFill>
            <a:srgbClr val="DEDBD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" name="Image 3" descr="preencoded.png">
            <a:extLst>
              <a:ext uri="{FF2B5EF4-FFF2-40B4-BE49-F238E27FC236}">
                <a16:creationId xmlns:a16="http://schemas.microsoft.com/office/drawing/2014/main" id="{9995CFC8-0958-B8B3-5A10-B8B778084A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8625" y="6672263"/>
            <a:ext cx="361950" cy="361950"/>
          </a:xfrm>
          <a:prstGeom prst="rect">
            <a:avLst/>
          </a:prstGeom>
        </p:spPr>
      </p:pic>
      <p:sp>
        <p:nvSpPr>
          <p:cNvPr id="21" name="Text 15">
            <a:extLst>
              <a:ext uri="{FF2B5EF4-FFF2-40B4-BE49-F238E27FC236}">
                <a16:creationId xmlns:a16="http://schemas.microsoft.com/office/drawing/2014/main" id="{26F4A24E-D619-8FB6-ED63-F63CD842EA7D}"/>
              </a:ext>
            </a:extLst>
          </p:cNvPr>
          <p:cNvSpPr/>
          <p:nvPr/>
        </p:nvSpPr>
        <p:spPr>
          <a:xfrm>
            <a:off x="3238500" y="7196138"/>
            <a:ext cx="2362200" cy="614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0" cap="none" spc="-31" normalizeH="0" baseline="0" noProof="0">
                <a:ln>
                  <a:noFill/>
                </a:ln>
                <a:solidFill>
                  <a:srgbClr val="1A1714"/>
                </a:solidFill>
                <a:effectLst/>
                <a:uLnTx/>
                <a:uFillTx/>
                <a:latin typeface="Helvetica" pitchFamily="34" charset="0"/>
                <a:ea typeface="Helvetica" pitchFamily="34" charset="-122"/>
                <a:cs typeface="Helvetica" pitchFamily="34" charset="-120"/>
              </a:rPr>
              <a:t>Diseño de Arquitectura</a:t>
            </a:r>
            <a:endParaRPr kumimoji="0" lang="en-US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29A03F23-3E76-D9F5-2E9D-6D3918161FA3}"/>
              </a:ext>
            </a:extLst>
          </p:cNvPr>
          <p:cNvSpPr/>
          <p:nvPr/>
        </p:nvSpPr>
        <p:spPr>
          <a:xfrm>
            <a:off x="3238500" y="7886402"/>
            <a:ext cx="2362200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8" b="0" i="0" u="none" strike="noStrike" kern="0" cap="none" spc="54" normalizeH="0" baseline="0" noProof="0">
                <a:ln>
                  <a:noFill/>
                </a:ln>
                <a:solidFill>
                  <a:srgbClr val="564F4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EQUIPO DE ARQUITECTURA</a:t>
            </a:r>
            <a:endParaRPr kumimoji="0" lang="en-US" sz="108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02554862-AE59-6F81-E3CD-73E5FA4C4150}"/>
              </a:ext>
            </a:extLst>
          </p:cNvPr>
          <p:cNvSpPr/>
          <p:nvPr/>
        </p:nvSpPr>
        <p:spPr>
          <a:xfrm>
            <a:off x="4139654" y="8203555"/>
            <a:ext cx="559743" cy="219075"/>
          </a:xfrm>
          <a:prstGeom prst="roundRect">
            <a:avLst>
              <a:gd name="adj" fmla="val 50000"/>
            </a:avLst>
          </a:prstGeom>
          <a:solidFill>
            <a:srgbClr val="ED1C29"/>
          </a:solidFill>
          <a:ln w="9525">
            <a:solidFill>
              <a:srgbClr val="1A17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4" name="Image 4" descr="preencoded.png">
            <a:extLst>
              <a:ext uri="{FF2B5EF4-FFF2-40B4-BE49-F238E27FC236}">
                <a16:creationId xmlns:a16="http://schemas.microsoft.com/office/drawing/2014/main" id="{0B0300BD-702E-6A32-2169-726E1786B2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4904" y="8251180"/>
            <a:ext cx="123825" cy="123825"/>
          </a:xfrm>
          <a:prstGeom prst="rect">
            <a:avLst/>
          </a:prstGeom>
        </p:spPr>
      </p:pic>
      <p:sp>
        <p:nvSpPr>
          <p:cNvPr id="25" name="Text 18">
            <a:extLst>
              <a:ext uri="{FF2B5EF4-FFF2-40B4-BE49-F238E27FC236}">
                <a16:creationId xmlns:a16="http://schemas.microsoft.com/office/drawing/2014/main" id="{774D2099-03DC-4539-DEDA-560D49414261}"/>
              </a:ext>
            </a:extLst>
          </p:cNvPr>
          <p:cNvSpPr/>
          <p:nvPr/>
        </p:nvSpPr>
        <p:spPr>
          <a:xfrm>
            <a:off x="4415879" y="8236893"/>
            <a:ext cx="2454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26" normalizeH="0" baseline="0" noProof="0">
                <a:ln>
                  <a:noFill/>
                </a:ln>
                <a:solidFill>
                  <a:srgbClr val="F0EEE9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" name="Image 5" descr="preencoded.png">
            <a:extLst>
              <a:ext uri="{FF2B5EF4-FFF2-40B4-BE49-F238E27FC236}">
                <a16:creationId xmlns:a16="http://schemas.microsoft.com/office/drawing/2014/main" id="{C850FB54-3C1B-9E7B-393E-8F56F621A5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0825" y="3350270"/>
            <a:ext cx="361950" cy="361950"/>
          </a:xfrm>
          <a:prstGeom prst="rect">
            <a:avLst/>
          </a:prstGeom>
        </p:spPr>
      </p:pic>
      <p:sp>
        <p:nvSpPr>
          <p:cNvPr id="27" name="Text 19">
            <a:extLst>
              <a:ext uri="{FF2B5EF4-FFF2-40B4-BE49-F238E27FC236}">
                <a16:creationId xmlns:a16="http://schemas.microsoft.com/office/drawing/2014/main" id="{2FB942B0-CDC8-A4A9-62D1-B24430E73D41}"/>
              </a:ext>
            </a:extLst>
          </p:cNvPr>
          <p:cNvSpPr/>
          <p:nvPr/>
        </p:nvSpPr>
        <p:spPr>
          <a:xfrm>
            <a:off x="5600700" y="3874145"/>
            <a:ext cx="2362200" cy="614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0" cap="none" spc="-31" normalizeH="0" baseline="0" noProof="0" err="1">
                <a:ln>
                  <a:noFill/>
                </a:ln>
                <a:solidFill>
                  <a:srgbClr val="1A1714"/>
                </a:solidFill>
                <a:effectLst/>
                <a:uLnTx/>
                <a:uFillTx/>
                <a:latin typeface="Helvetica" pitchFamily="34" charset="0"/>
                <a:ea typeface="Helvetica" pitchFamily="34" charset="-122"/>
                <a:cs typeface="Helvetica" pitchFamily="34" charset="-120"/>
              </a:rPr>
              <a:t>Diseño</a:t>
            </a:r>
            <a:r>
              <a:rPr kumimoji="0" lang="en-US" sz="2100" b="1" i="0" u="none" strike="noStrike" kern="0" cap="none" spc="-31" normalizeH="0" baseline="0" noProof="0">
                <a:ln>
                  <a:noFill/>
                </a:ln>
                <a:solidFill>
                  <a:srgbClr val="1A1714"/>
                </a:solidFill>
                <a:effectLst/>
                <a:uLnTx/>
                <a:uFillTx/>
                <a:latin typeface="Helvetica" pitchFamily="34" charset="0"/>
                <a:ea typeface="Helvetica" pitchFamily="34" charset="-122"/>
                <a:cs typeface="Helvetica" pitchFamily="34" charset="-120"/>
              </a:rPr>
              <a:t> de </a:t>
            </a:r>
            <a:r>
              <a:rPr kumimoji="0" lang="en-US" sz="2100" b="1" i="0" u="none" strike="noStrike" kern="0" cap="none" spc="-31" normalizeH="0" baseline="0" noProof="0" err="1">
                <a:ln>
                  <a:noFill/>
                </a:ln>
                <a:solidFill>
                  <a:srgbClr val="1A1714"/>
                </a:solidFill>
                <a:effectLst/>
                <a:uLnTx/>
                <a:uFillTx/>
                <a:latin typeface="Helvetica" pitchFamily="34" charset="0"/>
                <a:ea typeface="Helvetica" pitchFamily="34" charset="-122"/>
                <a:cs typeface="Helvetica" pitchFamily="34" charset="-120"/>
              </a:rPr>
              <a:t>Seguridad</a:t>
            </a:r>
            <a:endParaRPr kumimoji="0" lang="en-US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0">
            <a:extLst>
              <a:ext uri="{FF2B5EF4-FFF2-40B4-BE49-F238E27FC236}">
                <a16:creationId xmlns:a16="http://schemas.microsoft.com/office/drawing/2014/main" id="{F0A68AAF-6BEB-3316-D8F8-46B8F695C820}"/>
              </a:ext>
            </a:extLst>
          </p:cNvPr>
          <p:cNvSpPr/>
          <p:nvPr/>
        </p:nvSpPr>
        <p:spPr>
          <a:xfrm>
            <a:off x="5600700" y="4564410"/>
            <a:ext cx="2362200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8" b="0" i="0" u="none" strike="noStrike" kern="0" cap="none" spc="54" normalizeH="0" baseline="0" noProof="0">
                <a:ln>
                  <a:noFill/>
                </a:ln>
                <a:solidFill>
                  <a:srgbClr val="564F4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EQUIPO DE SEGURIDAD</a:t>
            </a:r>
            <a:endParaRPr kumimoji="0" lang="en-US" sz="108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E8C0DC43-1C82-F028-A923-684660D09BB7}"/>
              </a:ext>
            </a:extLst>
          </p:cNvPr>
          <p:cNvSpPr/>
          <p:nvPr/>
        </p:nvSpPr>
        <p:spPr>
          <a:xfrm>
            <a:off x="6772275" y="4795838"/>
            <a:ext cx="19050" cy="914400"/>
          </a:xfrm>
          <a:prstGeom prst="rect">
            <a:avLst/>
          </a:prstGeom>
          <a:solidFill>
            <a:srgbClr val="DEDBD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2">
            <a:extLst>
              <a:ext uri="{FF2B5EF4-FFF2-40B4-BE49-F238E27FC236}">
                <a16:creationId xmlns:a16="http://schemas.microsoft.com/office/drawing/2014/main" id="{9093E6A6-B335-509D-7622-3A88CD29C535}"/>
              </a:ext>
            </a:extLst>
          </p:cNvPr>
          <p:cNvSpPr/>
          <p:nvPr/>
        </p:nvSpPr>
        <p:spPr>
          <a:xfrm>
            <a:off x="6438900" y="5367338"/>
            <a:ext cx="685800" cy="685800"/>
          </a:xfrm>
          <a:prstGeom prst="ellipse">
            <a:avLst/>
          </a:prstGeom>
          <a:solidFill>
            <a:srgbClr val="F0EEE9"/>
          </a:solidFill>
          <a:ln w="19050">
            <a:solidFill>
              <a:srgbClr val="1A17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3">
            <a:extLst>
              <a:ext uri="{FF2B5EF4-FFF2-40B4-BE49-F238E27FC236}">
                <a16:creationId xmlns:a16="http://schemas.microsoft.com/office/drawing/2014/main" id="{3F395009-F616-05B8-AB20-264B74981AB8}"/>
              </a:ext>
            </a:extLst>
          </p:cNvPr>
          <p:cNvSpPr/>
          <p:nvPr/>
        </p:nvSpPr>
        <p:spPr>
          <a:xfrm>
            <a:off x="6667500" y="5581650"/>
            <a:ext cx="3048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1A171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24">
            <a:extLst>
              <a:ext uri="{FF2B5EF4-FFF2-40B4-BE49-F238E27FC236}">
                <a16:creationId xmlns:a16="http://schemas.microsoft.com/office/drawing/2014/main" id="{2AB0E744-87B7-42EE-9B24-6E6743195732}"/>
              </a:ext>
            </a:extLst>
          </p:cNvPr>
          <p:cNvSpPr/>
          <p:nvPr/>
        </p:nvSpPr>
        <p:spPr>
          <a:xfrm>
            <a:off x="6734175" y="5338763"/>
            <a:ext cx="95250" cy="95250"/>
          </a:xfrm>
          <a:prstGeom prst="ellipse">
            <a:avLst/>
          </a:prstGeom>
          <a:solidFill>
            <a:srgbClr val="ED1C29"/>
          </a:solidFill>
          <a:ln w="9525">
            <a:solidFill>
              <a:srgbClr val="1A17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C9B510B1-DD3E-A74A-098A-EEDAC02B12FB}"/>
              </a:ext>
            </a:extLst>
          </p:cNvPr>
          <p:cNvSpPr/>
          <p:nvPr/>
        </p:nvSpPr>
        <p:spPr>
          <a:xfrm>
            <a:off x="8801100" y="5367338"/>
            <a:ext cx="685800" cy="685800"/>
          </a:xfrm>
          <a:prstGeom prst="ellipse">
            <a:avLst/>
          </a:prstGeom>
          <a:solidFill>
            <a:srgbClr val="F0EEE9"/>
          </a:solidFill>
          <a:ln w="19050">
            <a:solidFill>
              <a:srgbClr val="1A17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26">
            <a:extLst>
              <a:ext uri="{FF2B5EF4-FFF2-40B4-BE49-F238E27FC236}">
                <a16:creationId xmlns:a16="http://schemas.microsoft.com/office/drawing/2014/main" id="{814B0C50-002B-18FA-43E3-52AA6050D24E}"/>
              </a:ext>
            </a:extLst>
          </p:cNvPr>
          <p:cNvSpPr/>
          <p:nvPr/>
        </p:nvSpPr>
        <p:spPr>
          <a:xfrm>
            <a:off x="9029700" y="5581650"/>
            <a:ext cx="3048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1A171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27">
            <a:extLst>
              <a:ext uri="{FF2B5EF4-FFF2-40B4-BE49-F238E27FC236}">
                <a16:creationId xmlns:a16="http://schemas.microsoft.com/office/drawing/2014/main" id="{F7994426-5E2B-0322-A369-46D73311E87B}"/>
              </a:ext>
            </a:extLst>
          </p:cNvPr>
          <p:cNvSpPr/>
          <p:nvPr/>
        </p:nvSpPr>
        <p:spPr>
          <a:xfrm>
            <a:off x="9096375" y="5338763"/>
            <a:ext cx="95250" cy="95250"/>
          </a:xfrm>
          <a:prstGeom prst="ellipse">
            <a:avLst/>
          </a:prstGeom>
          <a:solidFill>
            <a:srgbClr val="ED1C29"/>
          </a:solidFill>
          <a:ln w="9525">
            <a:solidFill>
              <a:srgbClr val="1A17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28">
            <a:extLst>
              <a:ext uri="{FF2B5EF4-FFF2-40B4-BE49-F238E27FC236}">
                <a16:creationId xmlns:a16="http://schemas.microsoft.com/office/drawing/2014/main" id="{8A44842C-4910-7945-D53A-465DC9582CE8}"/>
              </a:ext>
            </a:extLst>
          </p:cNvPr>
          <p:cNvSpPr/>
          <p:nvPr/>
        </p:nvSpPr>
        <p:spPr>
          <a:xfrm flipH="1">
            <a:off x="9153524" y="6072188"/>
            <a:ext cx="45719" cy="552450"/>
          </a:xfrm>
          <a:prstGeom prst="rect">
            <a:avLst/>
          </a:prstGeom>
          <a:solidFill>
            <a:srgbClr val="DEDBD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7" name="Image 6" descr="preencoded.png">
            <a:extLst>
              <a:ext uri="{FF2B5EF4-FFF2-40B4-BE49-F238E27FC236}">
                <a16:creationId xmlns:a16="http://schemas.microsoft.com/office/drawing/2014/main" id="{8D068F2F-94CF-14E4-1B8E-60E1E1BD02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63025" y="6672263"/>
            <a:ext cx="361950" cy="361950"/>
          </a:xfrm>
          <a:prstGeom prst="rect">
            <a:avLst/>
          </a:prstGeom>
        </p:spPr>
      </p:pic>
      <p:sp>
        <p:nvSpPr>
          <p:cNvPr id="38" name="Text 29">
            <a:extLst>
              <a:ext uri="{FF2B5EF4-FFF2-40B4-BE49-F238E27FC236}">
                <a16:creationId xmlns:a16="http://schemas.microsoft.com/office/drawing/2014/main" id="{91391FF0-5581-33FE-7C4F-91D099BB1C9D}"/>
              </a:ext>
            </a:extLst>
          </p:cNvPr>
          <p:cNvSpPr/>
          <p:nvPr/>
        </p:nvSpPr>
        <p:spPr>
          <a:xfrm>
            <a:off x="7962900" y="7196138"/>
            <a:ext cx="2362200" cy="326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0" cap="none" spc="-31" normalizeH="0" baseline="0" noProof="0" err="1">
                <a:ln>
                  <a:noFill/>
                </a:ln>
                <a:solidFill>
                  <a:srgbClr val="1A1714"/>
                </a:solidFill>
                <a:effectLst/>
                <a:uLnTx/>
                <a:uFillTx/>
                <a:latin typeface="Helvetica" pitchFamily="34" charset="0"/>
                <a:ea typeface="Helvetica" pitchFamily="34" charset="-122"/>
                <a:cs typeface="Helvetica" pitchFamily="34" charset="-120"/>
              </a:rPr>
              <a:t>Aprovisionamiento</a:t>
            </a:r>
            <a:endParaRPr kumimoji="0" lang="en-US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0">
            <a:extLst>
              <a:ext uri="{FF2B5EF4-FFF2-40B4-BE49-F238E27FC236}">
                <a16:creationId xmlns:a16="http://schemas.microsoft.com/office/drawing/2014/main" id="{F0FCCFE7-2A8E-E510-627F-BB55310CBA31}"/>
              </a:ext>
            </a:extLst>
          </p:cNvPr>
          <p:cNvSpPr/>
          <p:nvPr/>
        </p:nvSpPr>
        <p:spPr>
          <a:xfrm>
            <a:off x="7962900" y="7598420"/>
            <a:ext cx="2362200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8" b="0" i="0" u="none" strike="noStrike" kern="0" cap="none" spc="54" normalizeH="0" baseline="0" noProof="0">
                <a:ln>
                  <a:noFill/>
                </a:ln>
                <a:solidFill>
                  <a:srgbClr val="564F4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NUBE &amp; DEVOPS</a:t>
            </a:r>
            <a:endParaRPr kumimoji="0" lang="en-US" sz="108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0" name="Image 7" descr="preencoded.png">
            <a:extLst>
              <a:ext uri="{FF2B5EF4-FFF2-40B4-BE49-F238E27FC236}">
                <a16:creationId xmlns:a16="http://schemas.microsoft.com/office/drawing/2014/main" id="{CC10BEAC-7422-46AC-D201-712B72FE5E1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25225" y="3295352"/>
            <a:ext cx="361950" cy="361950"/>
          </a:xfrm>
          <a:prstGeom prst="rect">
            <a:avLst/>
          </a:prstGeom>
        </p:spPr>
      </p:pic>
      <p:sp>
        <p:nvSpPr>
          <p:cNvPr id="41" name="Text 31">
            <a:extLst>
              <a:ext uri="{FF2B5EF4-FFF2-40B4-BE49-F238E27FC236}">
                <a16:creationId xmlns:a16="http://schemas.microsoft.com/office/drawing/2014/main" id="{8F243488-56C9-39D6-EBED-55EAD1BFC44D}"/>
              </a:ext>
            </a:extLst>
          </p:cNvPr>
          <p:cNvSpPr/>
          <p:nvPr/>
        </p:nvSpPr>
        <p:spPr>
          <a:xfrm>
            <a:off x="10325100" y="3819227"/>
            <a:ext cx="2362200" cy="326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0" cap="none" spc="-31" normalizeH="0" baseline="0" noProof="0">
                <a:ln>
                  <a:noFill/>
                </a:ln>
                <a:solidFill>
                  <a:srgbClr val="1A1714"/>
                </a:solidFill>
                <a:effectLst/>
                <a:uLnTx/>
                <a:uFillTx/>
                <a:latin typeface="Helvetica" pitchFamily="34" charset="0"/>
                <a:ea typeface="Helvetica" pitchFamily="34" charset="-122"/>
                <a:cs typeface="Helvetica" pitchFamily="34" charset="-120"/>
              </a:rPr>
              <a:t>Desarrollo</a:t>
            </a:r>
            <a:endParaRPr kumimoji="0" lang="en-US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32">
            <a:extLst>
              <a:ext uri="{FF2B5EF4-FFF2-40B4-BE49-F238E27FC236}">
                <a16:creationId xmlns:a16="http://schemas.microsoft.com/office/drawing/2014/main" id="{66148BFD-A0F0-6FC9-B53C-ABB74BE4DFE8}"/>
              </a:ext>
            </a:extLst>
          </p:cNvPr>
          <p:cNvSpPr/>
          <p:nvPr/>
        </p:nvSpPr>
        <p:spPr>
          <a:xfrm>
            <a:off x="10325100" y="4221510"/>
            <a:ext cx="2362200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8" b="0" i="0" u="none" strike="noStrike" kern="0" cap="none" spc="54" normalizeH="0" baseline="0" noProof="0">
                <a:ln>
                  <a:noFill/>
                </a:ln>
                <a:solidFill>
                  <a:srgbClr val="564F4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EQUIPO DE DESARROLLO</a:t>
            </a:r>
            <a:endParaRPr kumimoji="0" lang="en-US" sz="108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33">
            <a:extLst>
              <a:ext uri="{FF2B5EF4-FFF2-40B4-BE49-F238E27FC236}">
                <a16:creationId xmlns:a16="http://schemas.microsoft.com/office/drawing/2014/main" id="{AA51A3BB-FDA8-F902-825A-EB26CBE9DF3C}"/>
              </a:ext>
            </a:extLst>
          </p:cNvPr>
          <p:cNvSpPr/>
          <p:nvPr/>
        </p:nvSpPr>
        <p:spPr>
          <a:xfrm>
            <a:off x="11226254" y="4538663"/>
            <a:ext cx="559743" cy="219075"/>
          </a:xfrm>
          <a:prstGeom prst="roundRect">
            <a:avLst>
              <a:gd name="adj" fmla="val 50000"/>
            </a:avLst>
          </a:prstGeom>
          <a:solidFill>
            <a:srgbClr val="ED1C29"/>
          </a:solidFill>
          <a:ln w="9525">
            <a:solidFill>
              <a:srgbClr val="1A17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4" name="Image 8" descr="preencoded.png">
            <a:extLst>
              <a:ext uri="{FF2B5EF4-FFF2-40B4-BE49-F238E27FC236}">
                <a16:creationId xmlns:a16="http://schemas.microsoft.com/office/drawing/2014/main" id="{F36B845B-50B8-4957-F26B-EFD5CA5381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21504" y="4586288"/>
            <a:ext cx="123825" cy="123825"/>
          </a:xfrm>
          <a:prstGeom prst="rect">
            <a:avLst/>
          </a:prstGeom>
        </p:spPr>
      </p:pic>
      <p:sp>
        <p:nvSpPr>
          <p:cNvPr id="45" name="Text 34">
            <a:extLst>
              <a:ext uri="{FF2B5EF4-FFF2-40B4-BE49-F238E27FC236}">
                <a16:creationId xmlns:a16="http://schemas.microsoft.com/office/drawing/2014/main" id="{32EDAC48-94C7-4FB7-107F-28C5B39373A8}"/>
              </a:ext>
            </a:extLst>
          </p:cNvPr>
          <p:cNvSpPr/>
          <p:nvPr/>
        </p:nvSpPr>
        <p:spPr>
          <a:xfrm>
            <a:off x="11502479" y="4572000"/>
            <a:ext cx="2454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26" normalizeH="0" baseline="0" noProof="0">
                <a:ln>
                  <a:noFill/>
                </a:ln>
                <a:solidFill>
                  <a:srgbClr val="F0EEE9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35">
            <a:extLst>
              <a:ext uri="{FF2B5EF4-FFF2-40B4-BE49-F238E27FC236}">
                <a16:creationId xmlns:a16="http://schemas.microsoft.com/office/drawing/2014/main" id="{410A603E-019E-0661-2204-39AE894AADEF}"/>
              </a:ext>
            </a:extLst>
          </p:cNvPr>
          <p:cNvSpPr/>
          <p:nvPr/>
        </p:nvSpPr>
        <p:spPr>
          <a:xfrm>
            <a:off x="11496675" y="4795838"/>
            <a:ext cx="19050" cy="914400"/>
          </a:xfrm>
          <a:prstGeom prst="rect">
            <a:avLst/>
          </a:prstGeom>
          <a:solidFill>
            <a:srgbClr val="DEDBD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36">
            <a:extLst>
              <a:ext uri="{FF2B5EF4-FFF2-40B4-BE49-F238E27FC236}">
                <a16:creationId xmlns:a16="http://schemas.microsoft.com/office/drawing/2014/main" id="{BCCCB5E9-EB71-846B-8621-06CB4B47B4D4}"/>
              </a:ext>
            </a:extLst>
          </p:cNvPr>
          <p:cNvSpPr/>
          <p:nvPr/>
        </p:nvSpPr>
        <p:spPr>
          <a:xfrm>
            <a:off x="11163300" y="5367338"/>
            <a:ext cx="685800" cy="685800"/>
          </a:xfrm>
          <a:prstGeom prst="ellipse">
            <a:avLst/>
          </a:prstGeom>
          <a:solidFill>
            <a:srgbClr val="F0EEE9"/>
          </a:solidFill>
          <a:ln w="19050">
            <a:solidFill>
              <a:srgbClr val="1A17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37">
            <a:extLst>
              <a:ext uri="{FF2B5EF4-FFF2-40B4-BE49-F238E27FC236}">
                <a16:creationId xmlns:a16="http://schemas.microsoft.com/office/drawing/2014/main" id="{9B492202-7581-6EBC-53B2-B0EA3CAF73E8}"/>
              </a:ext>
            </a:extLst>
          </p:cNvPr>
          <p:cNvSpPr/>
          <p:nvPr/>
        </p:nvSpPr>
        <p:spPr>
          <a:xfrm>
            <a:off x="11391900" y="5581650"/>
            <a:ext cx="3048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1A171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38">
            <a:extLst>
              <a:ext uri="{FF2B5EF4-FFF2-40B4-BE49-F238E27FC236}">
                <a16:creationId xmlns:a16="http://schemas.microsoft.com/office/drawing/2014/main" id="{D02C1F47-32B4-893D-67D0-08D2D058D50A}"/>
              </a:ext>
            </a:extLst>
          </p:cNvPr>
          <p:cNvSpPr/>
          <p:nvPr/>
        </p:nvSpPr>
        <p:spPr>
          <a:xfrm>
            <a:off x="11458575" y="5338763"/>
            <a:ext cx="95250" cy="95250"/>
          </a:xfrm>
          <a:prstGeom prst="ellipse">
            <a:avLst/>
          </a:prstGeom>
          <a:solidFill>
            <a:srgbClr val="ED1C29"/>
          </a:solidFill>
          <a:ln w="9525">
            <a:solidFill>
              <a:srgbClr val="1A17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Shape 39">
            <a:extLst>
              <a:ext uri="{FF2B5EF4-FFF2-40B4-BE49-F238E27FC236}">
                <a16:creationId xmlns:a16="http://schemas.microsoft.com/office/drawing/2014/main" id="{B6846A8B-B5D8-125B-B780-87A0F7E34F2C}"/>
              </a:ext>
            </a:extLst>
          </p:cNvPr>
          <p:cNvSpPr/>
          <p:nvPr/>
        </p:nvSpPr>
        <p:spPr>
          <a:xfrm>
            <a:off x="13525500" y="5367338"/>
            <a:ext cx="685800" cy="685800"/>
          </a:xfrm>
          <a:prstGeom prst="ellipse">
            <a:avLst/>
          </a:prstGeom>
          <a:solidFill>
            <a:srgbClr val="F0EEE9"/>
          </a:solidFill>
          <a:ln w="19050">
            <a:solidFill>
              <a:srgbClr val="1A17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0">
            <a:extLst>
              <a:ext uri="{FF2B5EF4-FFF2-40B4-BE49-F238E27FC236}">
                <a16:creationId xmlns:a16="http://schemas.microsoft.com/office/drawing/2014/main" id="{E92F489F-5C9A-1F27-AC6D-90EBF8B7C6A0}"/>
              </a:ext>
            </a:extLst>
          </p:cNvPr>
          <p:cNvSpPr/>
          <p:nvPr/>
        </p:nvSpPr>
        <p:spPr>
          <a:xfrm>
            <a:off x="13754100" y="5581650"/>
            <a:ext cx="3048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1A171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Shape 41">
            <a:extLst>
              <a:ext uri="{FF2B5EF4-FFF2-40B4-BE49-F238E27FC236}">
                <a16:creationId xmlns:a16="http://schemas.microsoft.com/office/drawing/2014/main" id="{8AC8D307-130D-792B-B762-BBBB687E1020}"/>
              </a:ext>
            </a:extLst>
          </p:cNvPr>
          <p:cNvSpPr/>
          <p:nvPr/>
        </p:nvSpPr>
        <p:spPr>
          <a:xfrm>
            <a:off x="13820775" y="5338763"/>
            <a:ext cx="95250" cy="95250"/>
          </a:xfrm>
          <a:prstGeom prst="ellipse">
            <a:avLst/>
          </a:prstGeom>
          <a:solidFill>
            <a:srgbClr val="ED1C29"/>
          </a:solidFill>
          <a:ln w="9525">
            <a:solidFill>
              <a:srgbClr val="1A17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Shape 42">
            <a:extLst>
              <a:ext uri="{FF2B5EF4-FFF2-40B4-BE49-F238E27FC236}">
                <a16:creationId xmlns:a16="http://schemas.microsoft.com/office/drawing/2014/main" id="{4E3DE168-B458-37CB-263C-351F62FC0284}"/>
              </a:ext>
            </a:extLst>
          </p:cNvPr>
          <p:cNvSpPr/>
          <p:nvPr/>
        </p:nvSpPr>
        <p:spPr>
          <a:xfrm>
            <a:off x="13829556" y="5977236"/>
            <a:ext cx="48369" cy="647402"/>
          </a:xfrm>
          <a:prstGeom prst="rect">
            <a:avLst/>
          </a:prstGeom>
          <a:solidFill>
            <a:srgbClr val="DEDBD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4" name="Image 9" descr="preencoded.png">
            <a:extLst>
              <a:ext uri="{FF2B5EF4-FFF2-40B4-BE49-F238E27FC236}">
                <a16:creationId xmlns:a16="http://schemas.microsoft.com/office/drawing/2014/main" id="{968DA6EC-C78B-5E73-17D9-F73C942B944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687425" y="6672263"/>
            <a:ext cx="361950" cy="361950"/>
          </a:xfrm>
          <a:prstGeom prst="rect">
            <a:avLst/>
          </a:prstGeom>
        </p:spPr>
      </p:pic>
      <p:sp>
        <p:nvSpPr>
          <p:cNvPr id="55" name="Text 43">
            <a:extLst>
              <a:ext uri="{FF2B5EF4-FFF2-40B4-BE49-F238E27FC236}">
                <a16:creationId xmlns:a16="http://schemas.microsoft.com/office/drawing/2014/main" id="{672DD04E-2032-9A1F-5F30-1FC5B6D002F9}"/>
              </a:ext>
            </a:extLst>
          </p:cNvPr>
          <p:cNvSpPr/>
          <p:nvPr/>
        </p:nvSpPr>
        <p:spPr>
          <a:xfrm>
            <a:off x="12687300" y="7196138"/>
            <a:ext cx="2362200" cy="326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0" cap="none" spc="-31" normalizeH="0" baseline="0" noProof="0">
                <a:ln>
                  <a:noFill/>
                </a:ln>
                <a:solidFill>
                  <a:srgbClr val="1A1714"/>
                </a:solidFill>
                <a:effectLst/>
                <a:uLnTx/>
                <a:uFillTx/>
                <a:latin typeface="Helvetica" pitchFamily="34" charset="0"/>
                <a:ea typeface="Helvetica" pitchFamily="34" charset="-122"/>
                <a:cs typeface="Helvetica" pitchFamily="34" charset="-120"/>
              </a:rPr>
              <a:t>Pruebas</a:t>
            </a:r>
            <a:endParaRPr kumimoji="0" lang="en-US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 44">
            <a:extLst>
              <a:ext uri="{FF2B5EF4-FFF2-40B4-BE49-F238E27FC236}">
                <a16:creationId xmlns:a16="http://schemas.microsoft.com/office/drawing/2014/main" id="{66635501-24D8-30B1-02F9-96CA0FAFA08A}"/>
              </a:ext>
            </a:extLst>
          </p:cNvPr>
          <p:cNvSpPr/>
          <p:nvPr/>
        </p:nvSpPr>
        <p:spPr>
          <a:xfrm>
            <a:off x="12687300" y="7598420"/>
            <a:ext cx="2362200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8" b="0" i="0" u="none" strike="noStrike" kern="0" cap="none" spc="54" normalizeH="0" baseline="0" noProof="0">
                <a:ln>
                  <a:noFill/>
                </a:ln>
                <a:solidFill>
                  <a:srgbClr val="564F4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ASEGURAMIENTO DE CALIDAD</a:t>
            </a:r>
            <a:endParaRPr kumimoji="0" lang="en-US" sz="108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Shape 45">
            <a:extLst>
              <a:ext uri="{FF2B5EF4-FFF2-40B4-BE49-F238E27FC236}">
                <a16:creationId xmlns:a16="http://schemas.microsoft.com/office/drawing/2014/main" id="{600ABAC1-835E-01C8-1B74-31D54DD5E064}"/>
              </a:ext>
            </a:extLst>
          </p:cNvPr>
          <p:cNvSpPr/>
          <p:nvPr/>
        </p:nvSpPr>
        <p:spPr>
          <a:xfrm>
            <a:off x="13588454" y="7915573"/>
            <a:ext cx="559743" cy="219075"/>
          </a:xfrm>
          <a:prstGeom prst="roundRect">
            <a:avLst>
              <a:gd name="adj" fmla="val 50000"/>
            </a:avLst>
          </a:prstGeom>
          <a:solidFill>
            <a:srgbClr val="ED1C29"/>
          </a:solidFill>
          <a:ln w="9525">
            <a:solidFill>
              <a:srgbClr val="1A17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8" name="Image 10" descr="preencoded.png">
            <a:extLst>
              <a:ext uri="{FF2B5EF4-FFF2-40B4-BE49-F238E27FC236}">
                <a16:creationId xmlns:a16="http://schemas.microsoft.com/office/drawing/2014/main" id="{AA9BD5B8-14A0-C289-4949-454E0B5978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83704" y="7963198"/>
            <a:ext cx="123825" cy="123825"/>
          </a:xfrm>
          <a:prstGeom prst="rect">
            <a:avLst/>
          </a:prstGeom>
        </p:spPr>
      </p:pic>
      <p:sp>
        <p:nvSpPr>
          <p:cNvPr id="59" name="Text 46">
            <a:extLst>
              <a:ext uri="{FF2B5EF4-FFF2-40B4-BE49-F238E27FC236}">
                <a16:creationId xmlns:a16="http://schemas.microsoft.com/office/drawing/2014/main" id="{9F8BB03A-4745-6934-1C80-BEDF91E53565}"/>
              </a:ext>
            </a:extLst>
          </p:cNvPr>
          <p:cNvSpPr/>
          <p:nvPr/>
        </p:nvSpPr>
        <p:spPr>
          <a:xfrm>
            <a:off x="13864679" y="7948910"/>
            <a:ext cx="2454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26" normalizeH="0" baseline="0" noProof="0">
                <a:ln>
                  <a:noFill/>
                </a:ln>
                <a:solidFill>
                  <a:srgbClr val="F0EEE9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0" name="Image 11" descr="preencoded.png">
            <a:extLst>
              <a:ext uri="{FF2B5EF4-FFF2-40B4-BE49-F238E27FC236}">
                <a16:creationId xmlns:a16="http://schemas.microsoft.com/office/drawing/2014/main" id="{AFBBB2B6-4C6C-185A-7C66-4410CA05B8B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049625" y="3295352"/>
            <a:ext cx="361950" cy="361950"/>
          </a:xfrm>
          <a:prstGeom prst="rect">
            <a:avLst/>
          </a:prstGeom>
        </p:spPr>
      </p:pic>
      <p:sp>
        <p:nvSpPr>
          <p:cNvPr id="61" name="Text 47">
            <a:extLst>
              <a:ext uri="{FF2B5EF4-FFF2-40B4-BE49-F238E27FC236}">
                <a16:creationId xmlns:a16="http://schemas.microsoft.com/office/drawing/2014/main" id="{2E03F922-D01B-C359-7DB0-918CDB3C314D}"/>
              </a:ext>
            </a:extLst>
          </p:cNvPr>
          <p:cNvSpPr/>
          <p:nvPr/>
        </p:nvSpPr>
        <p:spPr>
          <a:xfrm>
            <a:off x="15049500" y="3819227"/>
            <a:ext cx="2362200" cy="326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0" cap="none" spc="-31" normalizeH="0" baseline="0" noProof="0">
                <a:ln>
                  <a:noFill/>
                </a:ln>
                <a:solidFill>
                  <a:srgbClr val="1A1714"/>
                </a:solidFill>
                <a:effectLst/>
                <a:uLnTx/>
                <a:uFillTx/>
                <a:latin typeface="Helvetica" pitchFamily="34" charset="0"/>
                <a:ea typeface="Helvetica" pitchFamily="34" charset="-122"/>
                <a:cs typeface="Helvetica" pitchFamily="34" charset="-120"/>
              </a:rPr>
              <a:t>Entrega</a:t>
            </a:r>
            <a:endParaRPr kumimoji="0" lang="en-US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Text 48">
            <a:extLst>
              <a:ext uri="{FF2B5EF4-FFF2-40B4-BE49-F238E27FC236}">
                <a16:creationId xmlns:a16="http://schemas.microsoft.com/office/drawing/2014/main" id="{63135C9B-C603-AC22-3A80-9FBF68BE1601}"/>
              </a:ext>
            </a:extLst>
          </p:cNvPr>
          <p:cNvSpPr/>
          <p:nvPr/>
        </p:nvSpPr>
        <p:spPr>
          <a:xfrm>
            <a:off x="15049500" y="4221510"/>
            <a:ext cx="2362200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8" b="0" i="0" u="none" strike="noStrike" kern="0" cap="none" spc="54" normalizeH="0" baseline="0" noProof="0">
                <a:ln>
                  <a:noFill/>
                </a:ln>
                <a:solidFill>
                  <a:srgbClr val="564F4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OPERACIONES · SOPORTE</a:t>
            </a:r>
            <a:endParaRPr kumimoji="0" lang="en-US" sz="108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Shape 49">
            <a:extLst>
              <a:ext uri="{FF2B5EF4-FFF2-40B4-BE49-F238E27FC236}">
                <a16:creationId xmlns:a16="http://schemas.microsoft.com/office/drawing/2014/main" id="{E52E9D0A-2E27-A74E-B072-A3E441097EBC}"/>
              </a:ext>
            </a:extLst>
          </p:cNvPr>
          <p:cNvSpPr/>
          <p:nvPr/>
        </p:nvSpPr>
        <p:spPr>
          <a:xfrm>
            <a:off x="15950654" y="4538663"/>
            <a:ext cx="559743" cy="219075"/>
          </a:xfrm>
          <a:prstGeom prst="roundRect">
            <a:avLst>
              <a:gd name="adj" fmla="val 50000"/>
            </a:avLst>
          </a:prstGeom>
          <a:solidFill>
            <a:srgbClr val="ED1C29"/>
          </a:solidFill>
          <a:ln w="9525">
            <a:solidFill>
              <a:srgbClr val="1A17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4" name="Image 12" descr="preencoded.png">
            <a:extLst>
              <a:ext uri="{FF2B5EF4-FFF2-40B4-BE49-F238E27FC236}">
                <a16:creationId xmlns:a16="http://schemas.microsoft.com/office/drawing/2014/main" id="{CAC1AAA6-C7B3-430F-8CD4-28C8F33150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45904" y="4586288"/>
            <a:ext cx="123825" cy="123825"/>
          </a:xfrm>
          <a:prstGeom prst="rect">
            <a:avLst/>
          </a:prstGeom>
        </p:spPr>
      </p:pic>
      <p:sp>
        <p:nvSpPr>
          <p:cNvPr id="65" name="Text 50">
            <a:extLst>
              <a:ext uri="{FF2B5EF4-FFF2-40B4-BE49-F238E27FC236}">
                <a16:creationId xmlns:a16="http://schemas.microsoft.com/office/drawing/2014/main" id="{9A2B4EED-F9E0-6BF8-C1C3-0AFDBEAF76E9}"/>
              </a:ext>
            </a:extLst>
          </p:cNvPr>
          <p:cNvSpPr/>
          <p:nvPr/>
        </p:nvSpPr>
        <p:spPr>
          <a:xfrm>
            <a:off x="16226879" y="4572000"/>
            <a:ext cx="2454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26" normalizeH="0" baseline="0" noProof="0">
                <a:ln>
                  <a:noFill/>
                </a:ln>
                <a:solidFill>
                  <a:srgbClr val="F0EEE9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Shape 51">
            <a:extLst>
              <a:ext uri="{FF2B5EF4-FFF2-40B4-BE49-F238E27FC236}">
                <a16:creationId xmlns:a16="http://schemas.microsoft.com/office/drawing/2014/main" id="{F3FC84D1-D78F-5838-1DF4-E0C5ED0642EF}"/>
              </a:ext>
            </a:extLst>
          </p:cNvPr>
          <p:cNvSpPr/>
          <p:nvPr/>
        </p:nvSpPr>
        <p:spPr>
          <a:xfrm>
            <a:off x="16221075" y="4795838"/>
            <a:ext cx="19050" cy="914400"/>
          </a:xfrm>
          <a:prstGeom prst="rect">
            <a:avLst/>
          </a:prstGeom>
          <a:solidFill>
            <a:srgbClr val="DEDBD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Shape 52">
            <a:extLst>
              <a:ext uri="{FF2B5EF4-FFF2-40B4-BE49-F238E27FC236}">
                <a16:creationId xmlns:a16="http://schemas.microsoft.com/office/drawing/2014/main" id="{AB5BA8B8-5D9B-AC80-F305-2CAAEDAF4886}"/>
              </a:ext>
            </a:extLst>
          </p:cNvPr>
          <p:cNvSpPr/>
          <p:nvPr/>
        </p:nvSpPr>
        <p:spPr>
          <a:xfrm>
            <a:off x="15887700" y="5367338"/>
            <a:ext cx="685800" cy="685800"/>
          </a:xfrm>
          <a:prstGeom prst="ellipse">
            <a:avLst/>
          </a:prstGeom>
          <a:solidFill>
            <a:srgbClr val="F0EEE9"/>
          </a:solidFill>
          <a:ln w="19050">
            <a:solidFill>
              <a:srgbClr val="1A17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Text 53">
            <a:extLst>
              <a:ext uri="{FF2B5EF4-FFF2-40B4-BE49-F238E27FC236}">
                <a16:creationId xmlns:a16="http://schemas.microsoft.com/office/drawing/2014/main" id="{0E2C1B9C-F329-7DC8-0CAF-EE4182BDDA69}"/>
              </a:ext>
            </a:extLst>
          </p:cNvPr>
          <p:cNvSpPr/>
          <p:nvPr/>
        </p:nvSpPr>
        <p:spPr>
          <a:xfrm>
            <a:off x="16116300" y="5581650"/>
            <a:ext cx="3048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1A171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Shape 54">
            <a:extLst>
              <a:ext uri="{FF2B5EF4-FFF2-40B4-BE49-F238E27FC236}">
                <a16:creationId xmlns:a16="http://schemas.microsoft.com/office/drawing/2014/main" id="{2870C713-B746-DE1E-2015-55583AEBB11E}"/>
              </a:ext>
            </a:extLst>
          </p:cNvPr>
          <p:cNvSpPr/>
          <p:nvPr/>
        </p:nvSpPr>
        <p:spPr>
          <a:xfrm>
            <a:off x="16182975" y="5338763"/>
            <a:ext cx="95250" cy="95250"/>
          </a:xfrm>
          <a:prstGeom prst="ellipse">
            <a:avLst/>
          </a:prstGeom>
          <a:solidFill>
            <a:srgbClr val="ED1C29"/>
          </a:solidFill>
          <a:ln w="9525">
            <a:solidFill>
              <a:srgbClr val="1A17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Shape 55">
            <a:extLst>
              <a:ext uri="{FF2B5EF4-FFF2-40B4-BE49-F238E27FC236}">
                <a16:creationId xmlns:a16="http://schemas.microsoft.com/office/drawing/2014/main" id="{4AFA4DEB-C792-4666-96FC-37056C82B372}"/>
              </a:ext>
            </a:extLst>
          </p:cNvPr>
          <p:cNvSpPr/>
          <p:nvPr/>
        </p:nvSpPr>
        <p:spPr>
          <a:xfrm rot="2700000">
            <a:off x="3142208" y="5614988"/>
            <a:ext cx="190500" cy="190500"/>
          </a:xfrm>
          <a:prstGeom prst="rect">
            <a:avLst/>
          </a:prstGeom>
          <a:solidFill>
            <a:srgbClr val="ED1C29"/>
          </a:solidFill>
          <a:ln w="19050">
            <a:solidFill>
              <a:srgbClr val="1A17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Text 56">
            <a:extLst>
              <a:ext uri="{FF2B5EF4-FFF2-40B4-BE49-F238E27FC236}">
                <a16:creationId xmlns:a16="http://schemas.microsoft.com/office/drawing/2014/main" id="{71620AA9-6A4B-D8EB-AB59-1570BDB42563}"/>
              </a:ext>
            </a:extLst>
          </p:cNvPr>
          <p:cNvSpPr/>
          <p:nvPr/>
        </p:nvSpPr>
        <p:spPr>
          <a:xfrm>
            <a:off x="2437358" y="6091238"/>
            <a:ext cx="16002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42" normalizeH="0" baseline="0" noProof="0">
                <a:ln>
                  <a:noFill/>
                </a:ln>
                <a:solidFill>
                  <a:srgbClr val="1A171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DoR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Shape 57">
            <a:extLst>
              <a:ext uri="{FF2B5EF4-FFF2-40B4-BE49-F238E27FC236}">
                <a16:creationId xmlns:a16="http://schemas.microsoft.com/office/drawing/2014/main" id="{1D982BD0-D4AF-FED5-B253-60C6E9C8F1CB}"/>
              </a:ext>
            </a:extLst>
          </p:cNvPr>
          <p:cNvSpPr/>
          <p:nvPr/>
        </p:nvSpPr>
        <p:spPr>
          <a:xfrm rot="2700000">
            <a:off x="14953506" y="5614988"/>
            <a:ext cx="190500" cy="190500"/>
          </a:xfrm>
          <a:prstGeom prst="rect">
            <a:avLst/>
          </a:prstGeom>
          <a:solidFill>
            <a:srgbClr val="ED1C29"/>
          </a:solidFill>
          <a:ln w="19050">
            <a:solidFill>
              <a:srgbClr val="1A17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Text 58">
            <a:extLst>
              <a:ext uri="{FF2B5EF4-FFF2-40B4-BE49-F238E27FC236}">
                <a16:creationId xmlns:a16="http://schemas.microsoft.com/office/drawing/2014/main" id="{91407050-EFDA-D2E7-B9A6-EC2B1715B1D2}"/>
              </a:ext>
            </a:extLst>
          </p:cNvPr>
          <p:cNvSpPr/>
          <p:nvPr/>
        </p:nvSpPr>
        <p:spPr>
          <a:xfrm>
            <a:off x="14248656" y="6091238"/>
            <a:ext cx="16002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42" normalizeH="0" baseline="0" noProof="0">
                <a:ln>
                  <a:noFill/>
                </a:ln>
                <a:solidFill>
                  <a:srgbClr val="1A171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Producción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Shape 59">
            <a:extLst>
              <a:ext uri="{FF2B5EF4-FFF2-40B4-BE49-F238E27FC236}">
                <a16:creationId xmlns:a16="http://schemas.microsoft.com/office/drawing/2014/main" id="{3AB247C8-37D6-CCCE-7F56-D895FA7B8DCC}"/>
              </a:ext>
            </a:extLst>
          </p:cNvPr>
          <p:cNvSpPr/>
          <p:nvPr/>
        </p:nvSpPr>
        <p:spPr>
          <a:xfrm>
            <a:off x="876300" y="9353550"/>
            <a:ext cx="16535400" cy="9525"/>
          </a:xfrm>
          <a:prstGeom prst="rect">
            <a:avLst/>
          </a:prstGeom>
          <a:solidFill>
            <a:srgbClr val="DEDBD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Shape 60">
            <a:extLst>
              <a:ext uri="{FF2B5EF4-FFF2-40B4-BE49-F238E27FC236}">
                <a16:creationId xmlns:a16="http://schemas.microsoft.com/office/drawing/2014/main" id="{F1A5688B-A27E-1867-F8BB-B7E03E3F90CA}"/>
              </a:ext>
            </a:extLst>
          </p:cNvPr>
          <p:cNvSpPr/>
          <p:nvPr/>
        </p:nvSpPr>
        <p:spPr>
          <a:xfrm>
            <a:off x="5091708" y="9591675"/>
            <a:ext cx="142875" cy="142875"/>
          </a:xfrm>
          <a:prstGeom prst="ellipse">
            <a:avLst/>
          </a:prstGeom>
          <a:ln w="19050">
            <a:solidFill>
              <a:srgbClr val="1A17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Text 61">
            <a:extLst>
              <a:ext uri="{FF2B5EF4-FFF2-40B4-BE49-F238E27FC236}">
                <a16:creationId xmlns:a16="http://schemas.microsoft.com/office/drawing/2014/main" id="{35FB388A-5730-0EBD-A294-05D7A03DF01F}"/>
              </a:ext>
            </a:extLst>
          </p:cNvPr>
          <p:cNvSpPr/>
          <p:nvPr/>
        </p:nvSpPr>
        <p:spPr>
          <a:xfrm>
            <a:off x="5348883" y="9572625"/>
            <a:ext cx="124331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8" b="0" i="0" u="none" strike="noStrike" kern="0" cap="none" spc="54" normalizeH="0" baseline="0" noProof="0">
                <a:ln>
                  <a:noFill/>
                </a:ln>
                <a:solidFill>
                  <a:srgbClr val="564F4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EQUIPO · FASE</a:t>
            </a:r>
            <a:endParaRPr kumimoji="0" lang="en-US" sz="108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Shape 62">
            <a:extLst>
              <a:ext uri="{FF2B5EF4-FFF2-40B4-BE49-F238E27FC236}">
                <a16:creationId xmlns:a16="http://schemas.microsoft.com/office/drawing/2014/main" id="{90270292-598C-44AF-3060-ABD3A13FAFE6}"/>
              </a:ext>
            </a:extLst>
          </p:cNvPr>
          <p:cNvSpPr/>
          <p:nvPr/>
        </p:nvSpPr>
        <p:spPr>
          <a:xfrm>
            <a:off x="6916043" y="9577388"/>
            <a:ext cx="9525" cy="171450"/>
          </a:xfrm>
          <a:prstGeom prst="rect">
            <a:avLst/>
          </a:prstGeom>
          <a:solidFill>
            <a:srgbClr val="DEDBD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Shape 63">
            <a:extLst>
              <a:ext uri="{FF2B5EF4-FFF2-40B4-BE49-F238E27FC236}">
                <a16:creationId xmlns:a16="http://schemas.microsoft.com/office/drawing/2014/main" id="{C186A0D6-7265-B379-B9C4-16F184EE5268}"/>
              </a:ext>
            </a:extLst>
          </p:cNvPr>
          <p:cNvSpPr/>
          <p:nvPr/>
        </p:nvSpPr>
        <p:spPr>
          <a:xfrm rot="2700000">
            <a:off x="7325618" y="9591675"/>
            <a:ext cx="142875" cy="142875"/>
          </a:xfrm>
          <a:prstGeom prst="rect">
            <a:avLst/>
          </a:prstGeom>
          <a:solidFill>
            <a:srgbClr val="ED1C29"/>
          </a:solidFill>
          <a:ln w="19050">
            <a:solidFill>
              <a:srgbClr val="1A17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Text 64">
            <a:extLst>
              <a:ext uri="{FF2B5EF4-FFF2-40B4-BE49-F238E27FC236}">
                <a16:creationId xmlns:a16="http://schemas.microsoft.com/office/drawing/2014/main" id="{AA915F01-2E82-4552-A321-E6C24D5AAB7B}"/>
              </a:ext>
            </a:extLst>
          </p:cNvPr>
          <p:cNvSpPr/>
          <p:nvPr/>
        </p:nvSpPr>
        <p:spPr>
          <a:xfrm>
            <a:off x="7582793" y="9572625"/>
            <a:ext cx="151268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8" b="0" i="0" u="none" strike="noStrike" kern="0" cap="none" spc="54" normalizeH="0" baseline="0" noProof="0">
                <a:ln>
                  <a:noFill/>
                </a:ln>
                <a:solidFill>
                  <a:srgbClr val="564F4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HITO · COMPUERTA</a:t>
            </a:r>
            <a:endParaRPr kumimoji="0" lang="en-US" sz="108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" name="Shape 65">
            <a:extLst>
              <a:ext uri="{FF2B5EF4-FFF2-40B4-BE49-F238E27FC236}">
                <a16:creationId xmlns:a16="http://schemas.microsoft.com/office/drawing/2014/main" id="{33CDAC7A-9097-8F11-06A4-074F415B45E8}"/>
              </a:ext>
            </a:extLst>
          </p:cNvPr>
          <p:cNvSpPr/>
          <p:nvPr/>
        </p:nvSpPr>
        <p:spPr>
          <a:xfrm>
            <a:off x="9419332" y="9577388"/>
            <a:ext cx="9525" cy="171450"/>
          </a:xfrm>
          <a:prstGeom prst="rect">
            <a:avLst/>
          </a:prstGeom>
          <a:solidFill>
            <a:srgbClr val="DEDBD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Shape 66">
            <a:extLst>
              <a:ext uri="{FF2B5EF4-FFF2-40B4-BE49-F238E27FC236}">
                <a16:creationId xmlns:a16="http://schemas.microsoft.com/office/drawing/2014/main" id="{680D5E5C-71E8-A842-07BA-1CCAB7EF2FE9}"/>
              </a:ext>
            </a:extLst>
          </p:cNvPr>
          <p:cNvSpPr/>
          <p:nvPr/>
        </p:nvSpPr>
        <p:spPr>
          <a:xfrm>
            <a:off x="9828907" y="9553575"/>
            <a:ext cx="559743" cy="219075"/>
          </a:xfrm>
          <a:prstGeom prst="roundRect">
            <a:avLst>
              <a:gd name="adj" fmla="val 50000"/>
            </a:avLst>
          </a:prstGeom>
          <a:solidFill>
            <a:srgbClr val="ED1C29"/>
          </a:solidFill>
          <a:ln w="9525">
            <a:solidFill>
              <a:srgbClr val="1A17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2" name="Image 13" descr="preencoded.png">
            <a:extLst>
              <a:ext uri="{FF2B5EF4-FFF2-40B4-BE49-F238E27FC236}">
                <a16:creationId xmlns:a16="http://schemas.microsoft.com/office/drawing/2014/main" id="{AF19C5DA-A0C5-D6BE-1194-0B4A6AACFD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4157" y="9601200"/>
            <a:ext cx="123825" cy="123825"/>
          </a:xfrm>
          <a:prstGeom prst="rect">
            <a:avLst/>
          </a:prstGeom>
        </p:spPr>
      </p:pic>
      <p:sp>
        <p:nvSpPr>
          <p:cNvPr id="83" name="Text 67">
            <a:extLst>
              <a:ext uri="{FF2B5EF4-FFF2-40B4-BE49-F238E27FC236}">
                <a16:creationId xmlns:a16="http://schemas.microsoft.com/office/drawing/2014/main" id="{7FD13764-A467-4285-77FB-C98A1CCE673C}"/>
              </a:ext>
            </a:extLst>
          </p:cNvPr>
          <p:cNvSpPr/>
          <p:nvPr/>
        </p:nvSpPr>
        <p:spPr>
          <a:xfrm>
            <a:off x="10105132" y="9586913"/>
            <a:ext cx="2454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26" normalizeH="0" baseline="0" noProof="0">
                <a:ln>
                  <a:noFill/>
                </a:ln>
                <a:solidFill>
                  <a:srgbClr val="F0EEE9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Text 68">
            <a:extLst>
              <a:ext uri="{FF2B5EF4-FFF2-40B4-BE49-F238E27FC236}">
                <a16:creationId xmlns:a16="http://schemas.microsoft.com/office/drawing/2014/main" id="{FD8965F4-4D8C-5500-595B-312AF6C072F8}"/>
              </a:ext>
            </a:extLst>
          </p:cNvPr>
          <p:cNvSpPr/>
          <p:nvPr/>
        </p:nvSpPr>
        <p:spPr>
          <a:xfrm>
            <a:off x="10502950" y="9572625"/>
            <a:ext cx="277399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8" b="0" i="0" u="none" strike="noStrike" kern="0" cap="none" spc="54" normalizeH="0" baseline="0" noProof="0">
                <a:ln>
                  <a:noFill/>
                </a:ln>
                <a:solidFill>
                  <a:srgbClr val="564F4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EXPLORANDO CASOS DE USO CON IA</a:t>
            </a:r>
            <a:endParaRPr kumimoji="0" lang="en-US" sz="108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7976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E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118D15BF-4AF5-47AD-A170-819AEBBDDF95}"/>
              </a:ext>
            </a:extLst>
          </p:cNvPr>
          <p:cNvCxnSpPr/>
          <p:nvPr/>
        </p:nvCxnSpPr>
        <p:spPr>
          <a:xfrm>
            <a:off x="1755648" y="495300"/>
            <a:ext cx="0" cy="685800"/>
          </a:xfrm>
          <a:prstGeom prst="line">
            <a:avLst/>
          </a:prstGeom>
          <a:ln w="12700">
            <a:solidFill>
              <a:srgbClr val="D8D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4508B66F-57CD-7DF9-F2A7-0C876F342F97}"/>
              </a:ext>
            </a:extLst>
          </p:cNvPr>
          <p:cNvSpPr txBox="1"/>
          <p:nvPr/>
        </p:nvSpPr>
        <p:spPr>
          <a:xfrm>
            <a:off x="2071116" y="627888"/>
            <a:ext cx="10668000" cy="113538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>
            <a:defPPr>
              <a:defRPr lang="es-CO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s-CO" sz="4050" b="1">
                <a:solidFill>
                  <a:srgbClr val="111111"/>
                </a:solidFill>
                <a:latin typeface="Segoe UI" panose="020B0502040204020203" pitchFamily="34" charset="0"/>
              </a:rPr>
              <a:t>IA en el ciclo de desarrollo de soluciones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DD1CF8F-197E-85D4-77FC-0340763C7959}"/>
              </a:ext>
            </a:extLst>
          </p:cNvPr>
          <p:cNvSpPr/>
          <p:nvPr/>
        </p:nvSpPr>
        <p:spPr>
          <a:xfrm>
            <a:off x="2071116" y="1790700"/>
            <a:ext cx="914400" cy="76200"/>
          </a:xfrm>
          <a:prstGeom prst="rect">
            <a:avLst/>
          </a:prstGeom>
          <a:solidFill>
            <a:srgbClr val="EE1C2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405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A5067B6-FD6F-1F10-1E14-8B2290A2896B}"/>
              </a:ext>
            </a:extLst>
          </p:cNvPr>
          <p:cNvSpPr txBox="1"/>
          <p:nvPr/>
        </p:nvSpPr>
        <p:spPr>
          <a:xfrm>
            <a:off x="12192000" y="533401"/>
            <a:ext cx="5219700" cy="4154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>
            <a:defPPr>
              <a:defRPr lang="es-CO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CO" sz="1200" spc="240">
                <a:solidFill>
                  <a:srgbClr val="7A7269"/>
                </a:solidFill>
                <a:latin typeface="Consolas" panose="020B0609020204030204" pitchFamily="49" charset="0"/>
              </a:rPr>
              <a:t>PILOTO CON CÉLULAS · PRÓXIMA ETAPA</a:t>
            </a:r>
          </a:p>
        </p:txBody>
      </p:sp>
      <p:sp>
        <p:nvSpPr>
          <p:cNvPr id="11" name="CuadroTexto 5">
            <a:extLst>
              <a:ext uri="{FF2B5EF4-FFF2-40B4-BE49-F238E27FC236}">
                <a16:creationId xmlns:a16="http://schemas.microsoft.com/office/drawing/2014/main" id="{FA5067B6-FD6F-1F10-1E14-8B2290A2896B}"/>
              </a:ext>
            </a:extLst>
          </p:cNvPr>
          <p:cNvSpPr txBox="1"/>
          <p:nvPr/>
        </p:nvSpPr>
        <p:spPr>
          <a:xfrm>
            <a:off x="877824" y="7296912"/>
            <a:ext cx="9601200" cy="38404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>
            <a:defPPr>
              <a:defRPr lang="es-CO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CO" sz="1200" spc="240">
                <a:solidFill>
                  <a:srgbClr val="7A7269"/>
                </a:solidFill>
                <a:latin typeface="Consolas" panose="020B0609020204030204" pitchFamily="49" charset="0"/>
              </a:rPr>
              <a:t>PRUEBA DE CONCEPTO · RESULTADOS DE REFERENCIA</a:t>
            </a:r>
          </a:p>
        </p:txBody>
      </p:sp>
      <p:sp>
        <p:nvSpPr>
          <p:cNvPr id="13" name="CuadroTexto 5">
            <a:extLst>
              <a:ext uri="{FF2B5EF4-FFF2-40B4-BE49-F238E27FC236}">
                <a16:creationId xmlns:a16="http://schemas.microsoft.com/office/drawing/2014/main" id="{FA5067B6-FD6F-1F10-1E14-8B2290A2896B}"/>
              </a:ext>
            </a:extLst>
          </p:cNvPr>
          <p:cNvSpPr txBox="1"/>
          <p:nvPr/>
        </p:nvSpPr>
        <p:spPr>
          <a:xfrm>
            <a:off x="1604772" y="6089904"/>
            <a:ext cx="6858000" cy="38404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>
            <a:defPPr>
              <a:defRPr lang="es-CO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CO" sz="1275" spc="240">
                <a:solidFill>
                  <a:srgbClr val="7A7269"/>
                </a:solidFill>
                <a:latin typeface="Consolas" panose="020B0609020204030204" pitchFamily="49" charset="0"/>
              </a:rPr>
              <a:t>REDUCCIÓN DE ESFUERZO · DESARROLLO Y CALIDAD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5DEFB25A-4FEB-5FDB-B17A-E59EBABC14EA}"/>
              </a:ext>
            </a:extLst>
          </p:cNvPr>
          <p:cNvCxnSpPr/>
          <p:nvPr/>
        </p:nvCxnSpPr>
        <p:spPr>
          <a:xfrm>
            <a:off x="6377940" y="7680960"/>
            <a:ext cx="0" cy="1851660"/>
          </a:xfrm>
          <a:prstGeom prst="line">
            <a:avLst/>
          </a:prstGeom>
          <a:ln w="12700">
            <a:solidFill>
              <a:srgbClr val="D8D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3E6430D8-D5F4-7F4A-154B-860A49AE3475}"/>
              </a:ext>
            </a:extLst>
          </p:cNvPr>
          <p:cNvCxnSpPr/>
          <p:nvPr/>
        </p:nvCxnSpPr>
        <p:spPr>
          <a:xfrm>
            <a:off x="11891772" y="7680960"/>
            <a:ext cx="0" cy="1851660"/>
          </a:xfrm>
          <a:prstGeom prst="line">
            <a:avLst/>
          </a:prstGeom>
          <a:ln w="12700">
            <a:solidFill>
              <a:srgbClr val="D8D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5A8BD1CA-7A01-4FA7-F376-09EE988FA325}"/>
              </a:ext>
            </a:extLst>
          </p:cNvPr>
          <p:cNvSpPr txBox="1"/>
          <p:nvPr/>
        </p:nvSpPr>
        <p:spPr>
          <a:xfrm>
            <a:off x="2770632" y="7653528"/>
            <a:ext cx="1371600" cy="32918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>
            <a:defPPr>
              <a:defRPr lang="es-CO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950" b="1">
                <a:solidFill>
                  <a:srgbClr val="111111"/>
                </a:solidFill>
                <a:latin typeface="Consolas" panose="020B0609020204030204" pitchFamily="49" charset="0"/>
              </a:rPr>
              <a:t>&lt;/&gt;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CD42ABF-5419-73BC-1D25-0F73519A77A1}"/>
              </a:ext>
            </a:extLst>
          </p:cNvPr>
          <p:cNvSpPr txBox="1"/>
          <p:nvPr/>
        </p:nvSpPr>
        <p:spPr>
          <a:xfrm>
            <a:off x="1165860" y="8023860"/>
            <a:ext cx="4814316" cy="329184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defPPr>
              <a:defRPr lang="es-CO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5000"/>
              </a:lnSpc>
            </a:pPr>
            <a:r>
              <a:rPr lang="es-CO" sz="1800" b="1">
                <a:solidFill>
                  <a:srgbClr val="111111"/>
                </a:solidFill>
                <a:latin typeface="Segoe UI" panose="020B0502040204020203" pitchFamily="34" charset="0"/>
              </a:rPr>
              <a:t>Desarrollo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25E8775-DEF9-7C3E-6A72-5945642D7014}"/>
              </a:ext>
            </a:extLst>
          </p:cNvPr>
          <p:cNvSpPr txBox="1"/>
          <p:nvPr/>
        </p:nvSpPr>
        <p:spPr>
          <a:xfrm>
            <a:off x="781812" y="8366760"/>
            <a:ext cx="5500116" cy="65836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>
            <a:defPPr>
              <a:defRPr lang="es-CO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3900" b="1">
                <a:solidFill>
                  <a:srgbClr val="EE1C25"/>
                </a:solidFill>
                <a:latin typeface="Segoe UI" panose="020B0502040204020203" pitchFamily="34" charset="0"/>
              </a:rPr>
              <a:t>85</a:t>
            </a:r>
            <a:r>
              <a:rPr lang="es-CO" sz="1950" b="1" baseline="28000">
                <a:solidFill>
                  <a:srgbClr val="EE1C25"/>
                </a:solidFill>
                <a:latin typeface="Segoe UI" panose="020B0502040204020203" pitchFamily="34" charset="0"/>
              </a:rPr>
              <a:t>%</a:t>
            </a:r>
          </a:p>
        </p:txBody>
      </p:sp>
      <p:sp>
        <p:nvSpPr>
          <p:cNvPr id="14" name="CuadroTexto 11">
            <a:extLst>
              <a:ext uri="{FF2B5EF4-FFF2-40B4-BE49-F238E27FC236}">
                <a16:creationId xmlns:a16="http://schemas.microsoft.com/office/drawing/2014/main" id="{825E8775-DEF9-7C3E-6A72-5945642D7014}"/>
              </a:ext>
            </a:extLst>
          </p:cNvPr>
          <p:cNvSpPr txBox="1"/>
          <p:nvPr/>
        </p:nvSpPr>
        <p:spPr>
          <a:xfrm>
            <a:off x="1604772" y="3429000"/>
            <a:ext cx="6583680" cy="26746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>
            <a:defPPr>
              <a:defRPr lang="es-CO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CO" sz="21000" b="1">
                <a:solidFill>
                  <a:srgbClr val="EE1C25"/>
                </a:solidFill>
                <a:latin typeface="Segoe UI" panose="020B0502040204020203" pitchFamily="34" charset="0"/>
              </a:rPr>
              <a:t>50</a:t>
            </a:r>
            <a:r>
              <a:rPr lang="es-CO" sz="8400" b="1" baseline="28000">
                <a:solidFill>
                  <a:srgbClr val="EE1C25"/>
                </a:solidFill>
                <a:latin typeface="Segoe UI" panose="020B0502040204020203" pitchFamily="34" charset="0"/>
              </a:rPr>
              <a:t>%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504D72EB-1A3C-7352-C897-2017CC947F4F}"/>
              </a:ext>
            </a:extLst>
          </p:cNvPr>
          <p:cNvSpPr txBox="1"/>
          <p:nvPr/>
        </p:nvSpPr>
        <p:spPr>
          <a:xfrm>
            <a:off x="960120" y="9079992"/>
            <a:ext cx="4937760" cy="41148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>
            <a:defPPr>
              <a:defRPr lang="es-CO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5000"/>
              </a:lnSpc>
            </a:pPr>
            <a:r>
              <a:rPr lang="es-CO" sz="1350">
                <a:solidFill>
                  <a:srgbClr val="111111"/>
                </a:solidFill>
                <a:latin typeface="Segoe UI" panose="020B0502040204020203" pitchFamily="34" charset="0"/>
              </a:rPr>
              <a:t>Desarrollo de componentes de la App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DE30E5C5-4604-0AF6-8A5E-F1A592A58AA0}"/>
              </a:ext>
            </a:extLst>
          </p:cNvPr>
          <p:cNvSpPr/>
          <p:nvPr/>
        </p:nvSpPr>
        <p:spPr>
          <a:xfrm>
            <a:off x="8805672" y="7653528"/>
            <a:ext cx="356616" cy="356616"/>
          </a:xfrm>
          <a:prstGeom prst="ellipse">
            <a:avLst/>
          </a:prstGeom>
          <a:noFill/>
          <a:ln w="22225" cap="flat" cmpd="sng" algn="ctr">
            <a:solidFill>
              <a:srgbClr val="111111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405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4DF1F95-C2A1-307A-0133-A5E79F28158C}"/>
              </a:ext>
            </a:extLst>
          </p:cNvPr>
          <p:cNvSpPr txBox="1"/>
          <p:nvPr/>
        </p:nvSpPr>
        <p:spPr>
          <a:xfrm>
            <a:off x="8805672" y="7680960"/>
            <a:ext cx="356616" cy="30175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>
            <a:defPPr>
              <a:defRPr lang="es-CO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350" b="1">
                <a:solidFill>
                  <a:srgbClr val="111111"/>
                </a:solidFill>
                <a:latin typeface="Segoe UI Symbol" panose="020B0502040204020203" pitchFamily="34" charset="0"/>
              </a:rPr>
              <a:t>✓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02BEF31F-BADB-6CF1-8FC7-0295A738960E}"/>
              </a:ext>
            </a:extLst>
          </p:cNvPr>
          <p:cNvSpPr txBox="1"/>
          <p:nvPr/>
        </p:nvSpPr>
        <p:spPr>
          <a:xfrm>
            <a:off x="6583680" y="8023860"/>
            <a:ext cx="4814316" cy="329184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defPPr>
              <a:defRPr lang="es-CO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5000"/>
              </a:lnSpc>
            </a:pPr>
            <a:r>
              <a:rPr lang="es-CO" sz="1800" b="1">
                <a:solidFill>
                  <a:srgbClr val="111111"/>
                </a:solidFill>
                <a:latin typeface="Segoe UI" panose="020B0502040204020203" pitchFamily="34" charset="0"/>
              </a:rPr>
              <a:t>Calidad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497071B-ACC9-FDFA-8E02-309C53323C87}"/>
              </a:ext>
            </a:extLst>
          </p:cNvPr>
          <p:cNvSpPr txBox="1"/>
          <p:nvPr/>
        </p:nvSpPr>
        <p:spPr>
          <a:xfrm>
            <a:off x="6323076" y="8366760"/>
            <a:ext cx="5500116" cy="65836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>
            <a:defPPr>
              <a:defRPr lang="es-CO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3900" b="1">
                <a:solidFill>
                  <a:srgbClr val="EE1C25"/>
                </a:solidFill>
                <a:latin typeface="Segoe UI" panose="020B0502040204020203" pitchFamily="34" charset="0"/>
              </a:rPr>
              <a:t>66</a:t>
            </a:r>
            <a:r>
              <a:rPr lang="es-CO" sz="1950" b="1" baseline="28000">
                <a:solidFill>
                  <a:srgbClr val="EE1C25"/>
                </a:solidFill>
                <a:latin typeface="Segoe UI" panose="020B0502040204020203" pitchFamily="34" charset="0"/>
              </a:rPr>
              <a:t>%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EBF84BC1-631C-1EAC-5322-1EEEDA2B696A}"/>
              </a:ext>
            </a:extLst>
          </p:cNvPr>
          <p:cNvSpPr txBox="1"/>
          <p:nvPr/>
        </p:nvSpPr>
        <p:spPr>
          <a:xfrm>
            <a:off x="6652260" y="9079992"/>
            <a:ext cx="4937760" cy="41148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>
            <a:defPPr>
              <a:defRPr lang="es-CO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5000"/>
              </a:lnSpc>
            </a:pPr>
            <a:r>
              <a:rPr lang="es-CO" sz="1350">
                <a:solidFill>
                  <a:srgbClr val="111111"/>
                </a:solidFill>
                <a:latin typeface="Segoe UI" panose="020B0502040204020203" pitchFamily="34" charset="0"/>
              </a:rPr>
              <a:t>Diseño y automatización de pruebas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49A6C204-0A48-D20A-9038-9F4D9E7CB005}"/>
              </a:ext>
            </a:extLst>
          </p:cNvPr>
          <p:cNvSpPr txBox="1"/>
          <p:nvPr/>
        </p:nvSpPr>
        <p:spPr>
          <a:xfrm>
            <a:off x="14168628" y="7612380"/>
            <a:ext cx="685800" cy="32918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>
            <a:defPPr>
              <a:defRPr lang="es-CO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2100">
                <a:solidFill>
                  <a:srgbClr val="111111"/>
                </a:solidFill>
                <a:latin typeface="Segoe MDL2 Assets" panose="050A0102010101010101" pitchFamily="18" charset="0"/>
              </a:rPr>
              <a:t>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F7A12883-D445-64B2-93B9-E7E5D89EC542}"/>
              </a:ext>
            </a:extLst>
          </p:cNvPr>
          <p:cNvSpPr txBox="1"/>
          <p:nvPr/>
        </p:nvSpPr>
        <p:spPr>
          <a:xfrm>
            <a:off x="12289536" y="8023860"/>
            <a:ext cx="4841748" cy="329184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defPPr>
              <a:defRPr lang="es-CO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5000"/>
              </a:lnSpc>
            </a:pPr>
            <a:r>
              <a:rPr lang="es-CO" sz="1800" b="1">
                <a:solidFill>
                  <a:srgbClr val="111111"/>
                </a:solidFill>
                <a:latin typeface="Segoe UI" panose="020B0502040204020203" pitchFamily="34" charset="0"/>
              </a:rPr>
              <a:t>Obsolescencia Tecnológica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AC96BA5D-67B5-6DE6-5275-F35F7E31F4C9}"/>
              </a:ext>
            </a:extLst>
          </p:cNvPr>
          <p:cNvSpPr txBox="1"/>
          <p:nvPr/>
        </p:nvSpPr>
        <p:spPr>
          <a:xfrm>
            <a:off x="11891772" y="8366760"/>
            <a:ext cx="5527548" cy="65836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>
            <a:defPPr>
              <a:defRPr lang="es-CO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3900" b="1">
                <a:solidFill>
                  <a:srgbClr val="EE1C25"/>
                </a:solidFill>
                <a:latin typeface="Segoe UI" panose="020B0502040204020203" pitchFamily="34" charset="0"/>
              </a:rPr>
              <a:t>95</a:t>
            </a:r>
            <a:r>
              <a:rPr lang="es-CO" sz="1950" b="1" baseline="28000">
                <a:solidFill>
                  <a:srgbClr val="EE1C25"/>
                </a:solidFill>
                <a:latin typeface="Segoe UI" panose="020B0502040204020203" pitchFamily="34" charset="0"/>
              </a:rPr>
              <a:t>%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820D2B1C-6824-B3BF-ED70-CF5B40327191}"/>
              </a:ext>
            </a:extLst>
          </p:cNvPr>
          <p:cNvSpPr txBox="1"/>
          <p:nvPr/>
        </p:nvSpPr>
        <p:spPr>
          <a:xfrm>
            <a:off x="12111228" y="9079992"/>
            <a:ext cx="4937760" cy="41148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>
            <a:defPPr>
              <a:defRPr lang="es-CO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5000"/>
              </a:lnSpc>
            </a:pPr>
            <a:r>
              <a:rPr lang="es-CO" sz="1350">
                <a:solidFill>
                  <a:srgbClr val="111111"/>
                </a:solidFill>
                <a:latin typeface="Segoe UI" panose="020B0502040204020203" pitchFamily="34" charset="0"/>
              </a:rPr>
              <a:t>Migración de </a:t>
            </a:r>
            <a:r>
              <a:rPr lang="es-CO" sz="1350" err="1">
                <a:solidFill>
                  <a:srgbClr val="111111"/>
                </a:solidFill>
                <a:latin typeface="Segoe UI" panose="020B0502040204020203" pitchFamily="34" charset="0"/>
              </a:rPr>
              <a:t>APIs</a:t>
            </a:r>
            <a:endParaRPr lang="es-CO" sz="1350">
              <a:solidFill>
                <a:srgbClr val="111111"/>
              </a:solidFill>
              <a:latin typeface="Segoe UI" panose="020B0502040204020203" pitchFamily="34" charset="0"/>
            </a:endParaRPr>
          </a:p>
        </p:txBody>
      </p: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EF19E91B-5BFC-61C1-BA22-C8BBA3581A0A}"/>
              </a:ext>
            </a:extLst>
          </p:cNvPr>
          <p:cNvCxnSpPr/>
          <p:nvPr/>
        </p:nvCxnSpPr>
        <p:spPr>
          <a:xfrm>
            <a:off x="877824" y="7104888"/>
            <a:ext cx="16541496" cy="0"/>
          </a:xfrm>
          <a:prstGeom prst="line">
            <a:avLst/>
          </a:prstGeom>
          <a:ln w="12700">
            <a:solidFill>
              <a:srgbClr val="D8D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mbo 40">
            <a:extLst>
              <a:ext uri="{FF2B5EF4-FFF2-40B4-BE49-F238E27FC236}">
                <a16:creationId xmlns:a16="http://schemas.microsoft.com/office/drawing/2014/main" id="{F1EE6ED9-0FB1-D806-7AC7-E75E9751A512}"/>
              </a:ext>
            </a:extLst>
          </p:cNvPr>
          <p:cNvSpPr/>
          <p:nvPr/>
        </p:nvSpPr>
        <p:spPr>
          <a:xfrm>
            <a:off x="877824" y="2578608"/>
            <a:ext cx="301752" cy="301752"/>
          </a:xfrm>
          <a:prstGeom prst="diamond">
            <a:avLst/>
          </a:prstGeom>
          <a:solidFill>
            <a:srgbClr val="EE1C2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405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5B1A6F6B-F28E-4E86-1BC9-F7AAC711C96B}"/>
              </a:ext>
            </a:extLst>
          </p:cNvPr>
          <p:cNvSpPr txBox="1"/>
          <p:nvPr/>
        </p:nvSpPr>
        <p:spPr>
          <a:xfrm>
            <a:off x="1604772" y="2167128"/>
            <a:ext cx="8915400" cy="41148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>
            <a:defPPr>
              <a:defRPr lang="es-CO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350" spc="240">
                <a:solidFill>
                  <a:srgbClr val="7A7269"/>
                </a:solidFill>
                <a:latin typeface="Consolas" panose="020B0609020204030204" pitchFamily="49" charset="0"/>
              </a:rPr>
              <a:t>PRÓXIMO PASO · FOCO DEL PROGRAMA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E5CE4BA6-391F-FB07-E469-903B572D46F0}"/>
              </a:ext>
            </a:extLst>
          </p:cNvPr>
          <p:cNvSpPr txBox="1"/>
          <p:nvPr/>
        </p:nvSpPr>
        <p:spPr>
          <a:xfrm>
            <a:off x="1604772" y="2523744"/>
            <a:ext cx="11658600" cy="85039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>
            <a:defPPr>
              <a:defRPr lang="es-CO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4800" b="1">
                <a:solidFill>
                  <a:srgbClr val="111111"/>
                </a:solidFill>
                <a:latin typeface="Segoe UI" panose="020B0502040204020203" pitchFamily="34" charset="0"/>
              </a:rPr>
              <a:t>Piloto con </a:t>
            </a:r>
            <a:r>
              <a:rPr lang="es-CO" sz="4800" b="1">
                <a:solidFill>
                  <a:srgbClr val="EE1C25"/>
                </a:solidFill>
                <a:latin typeface="Segoe UI" panose="020B0502040204020203" pitchFamily="34" charset="0"/>
              </a:rPr>
              <a:t>Células</a:t>
            </a:r>
          </a:p>
        </p:txBody>
      </p:sp>
      <p:sp>
        <p:nvSpPr>
          <p:cNvPr id="2" name="CuadroTexto 42">
            <a:extLst>
              <a:ext uri="{FF2B5EF4-FFF2-40B4-BE49-F238E27FC236}">
                <a16:creationId xmlns:a16="http://schemas.microsoft.com/office/drawing/2014/main" id="{E5CE4BA6-391F-FB07-E469-903B572D46F0}"/>
              </a:ext>
            </a:extLst>
          </p:cNvPr>
          <p:cNvSpPr txBox="1"/>
          <p:nvPr/>
        </p:nvSpPr>
        <p:spPr>
          <a:xfrm>
            <a:off x="7612380" y="4005072"/>
            <a:ext cx="96012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>
            <a:defPPr>
              <a:defRPr lang="es-CO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CO" sz="3150" b="1">
                <a:solidFill>
                  <a:srgbClr val="111111"/>
                </a:solidFill>
                <a:latin typeface="Segoe UI" panose="020B0502040204020203" pitchFamily="34" charset="0"/>
              </a:rPr>
              <a:t>Lo que queremos </a:t>
            </a:r>
            <a:r>
              <a:rPr lang="es-CO" sz="3150" b="1">
                <a:solidFill>
                  <a:srgbClr val="EE1C25"/>
                </a:solidFill>
                <a:latin typeface="Segoe UI" panose="020B0502040204020203" pitchFamily="34" charset="0"/>
              </a:rPr>
              <a:t>lograr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4357F20A-5E79-FB81-E04D-2AF7E62CFC6A}"/>
              </a:ext>
            </a:extLst>
          </p:cNvPr>
          <p:cNvSpPr txBox="1"/>
          <p:nvPr/>
        </p:nvSpPr>
        <p:spPr>
          <a:xfrm>
            <a:off x="7612380" y="4800600"/>
            <a:ext cx="9464040" cy="178308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>
            <a:defPPr>
              <a:defRPr lang="es-CO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5000"/>
              </a:lnSpc>
            </a:pPr>
            <a:r>
              <a:rPr lang="es-CO" sz="1950">
                <a:solidFill>
                  <a:srgbClr val="3A342E"/>
                </a:solidFill>
                <a:latin typeface="Segoe UI" panose="020B0502040204020203" pitchFamily="34" charset="0"/>
              </a:rPr>
              <a:t>Medir de forma integral los procesos de </a:t>
            </a:r>
            <a:r>
              <a:rPr lang="es-CO" sz="1950" b="1">
                <a:solidFill>
                  <a:srgbClr val="3A342E"/>
                </a:solidFill>
                <a:latin typeface="Segoe UI" panose="020B0502040204020203" pitchFamily="34" charset="0"/>
              </a:rPr>
              <a:t>Desarrollo</a:t>
            </a:r>
            <a:r>
              <a:rPr lang="es-CO" sz="1950">
                <a:solidFill>
                  <a:srgbClr val="3A342E"/>
                </a:solidFill>
                <a:latin typeface="Segoe UI" panose="020B0502040204020203" pitchFamily="34" charset="0"/>
              </a:rPr>
              <a:t> y </a:t>
            </a:r>
            <a:r>
              <a:rPr lang="es-CO" sz="1950" b="1">
                <a:solidFill>
                  <a:srgbClr val="3A342E"/>
                </a:solidFill>
                <a:latin typeface="Segoe UI" panose="020B0502040204020203" pitchFamily="34" charset="0"/>
              </a:rPr>
              <a:t>Calidad</a:t>
            </a:r>
            <a:r>
              <a:rPr lang="es-CO" sz="1950">
                <a:solidFill>
                  <a:srgbClr val="3A342E"/>
                </a:solidFill>
                <a:latin typeface="Segoe UI" panose="020B0502040204020203" pitchFamily="34" charset="0"/>
              </a:rPr>
              <a:t> dentro de las células, más allá de casos de uso puntuales, para dimensionar el impacto real de punta a punta.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F75DEABB-CAD4-5C9C-3E74-912356860362}"/>
              </a:ext>
            </a:extLst>
          </p:cNvPr>
          <p:cNvSpPr txBox="1"/>
          <p:nvPr/>
        </p:nvSpPr>
        <p:spPr>
          <a:xfrm>
            <a:off x="15841980" y="2441448"/>
            <a:ext cx="1371600" cy="8229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>
            <a:defPPr>
              <a:defRPr lang="es-CO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300">
                <a:solidFill>
                  <a:srgbClr val="EE1C25"/>
                </a:solidFill>
                <a:latin typeface="Segoe MDL2 Assets" panose="050A0102010101010101" pitchFamily="18" charset="0"/>
              </a:rPr>
              <a:t>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AE92340A-8492-3240-54F2-1CFDAD275130}"/>
              </a:ext>
            </a:extLst>
          </p:cNvPr>
          <p:cNvSpPr txBox="1"/>
          <p:nvPr/>
        </p:nvSpPr>
        <p:spPr>
          <a:xfrm>
            <a:off x="876300" y="9886951"/>
            <a:ext cx="10668000" cy="4154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>
            <a:defPPr>
              <a:defRPr lang="es-CO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050" spc="210">
                <a:solidFill>
                  <a:srgbClr val="7A7269"/>
                </a:solidFill>
                <a:latin typeface="Consolas" panose="020B0609020204030204" pitchFamily="49" charset="0"/>
              </a:rPr>
              <a:t>LÍNEA BASE · ESFUERZO MANUAL DEL EQUIPO   ·   MEDICIÓN SOBRE CASOS DE USO REALES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0CFB9B94-CCA9-5A5E-13BD-B8AC2452E100}"/>
              </a:ext>
            </a:extLst>
          </p:cNvPr>
          <p:cNvSpPr txBox="1"/>
          <p:nvPr/>
        </p:nvSpPr>
        <p:spPr>
          <a:xfrm>
            <a:off x="11696700" y="9886951"/>
            <a:ext cx="5715000" cy="4154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>
            <a:defPPr>
              <a:defRPr lang="es-CO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CO" sz="1050" spc="210">
                <a:solidFill>
                  <a:srgbClr val="7A7269"/>
                </a:solidFill>
                <a:latin typeface="Consolas" panose="020B0609020204030204" pitchFamily="49" charset="0"/>
              </a:rPr>
              <a:t>CONFIDENCIAL · USO INTERNO</a:t>
            </a:r>
          </a:p>
        </p:txBody>
      </p:sp>
      <p:pic>
        <p:nvPicPr>
          <p:cNvPr id="15" name="Imagen 14" descr="preencoded.png">
            <a:extLst>
              <a:ext uri="{FF2B5EF4-FFF2-40B4-BE49-F238E27FC236}">
                <a16:creationId xmlns:a16="http://schemas.microsoft.com/office/drawing/2014/main" id="{81FF8A4D-C8BC-B7AD-3FF0-5613B34E33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7" y="617078"/>
            <a:ext cx="713229" cy="543068"/>
          </a:xfrm>
          <a:prstGeom prst="rect">
            <a:avLst/>
          </a:prstGeom>
        </p:spPr>
      </p:pic>
      <p:sp>
        <p:nvSpPr>
          <p:cNvPr id="51" name="Rounded Rectangle 50"/>
          <p:cNvSpPr/>
          <p:nvPr/>
        </p:nvSpPr>
        <p:spPr>
          <a:xfrm>
            <a:off x="1604772" y="3346704"/>
            <a:ext cx="1440180" cy="411480"/>
          </a:xfrm>
          <a:prstGeom prst="roundRect">
            <a:avLst>
              <a:gd name="adj" fmla="val 20000"/>
            </a:avLst>
          </a:prstGeom>
          <a:solidFill>
            <a:srgbClr val="EE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>
            <a:defPPr>
              <a:defRPr lang="es-CO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50" b="1">
                <a:solidFill>
                  <a:srgbClr val="FFFFFF"/>
                </a:solidFill>
                <a:latin typeface="Consolas"/>
              </a:rPr>
              <a:t>META</a:t>
            </a:r>
          </a:p>
        </p:txBody>
      </p:sp>
    </p:spTree>
    <p:extLst>
      <p:ext uri="{BB962C8B-B14F-4D97-AF65-F5344CB8AC3E}">
        <p14:creationId xmlns:p14="http://schemas.microsoft.com/office/powerpoint/2010/main" val="34072266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E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084529-7C2F-2870-B383-D2CA3F786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CuadroTexto 45">
            <a:extLst>
              <a:ext uri="{FF2B5EF4-FFF2-40B4-BE49-F238E27FC236}">
                <a16:creationId xmlns:a16="http://schemas.microsoft.com/office/drawing/2014/main" id="{7F5DF470-69FB-9206-DDA3-0FFE3732810A}"/>
              </a:ext>
            </a:extLst>
          </p:cNvPr>
          <p:cNvSpPr txBox="1"/>
          <p:nvPr/>
        </p:nvSpPr>
        <p:spPr>
          <a:xfrm>
            <a:off x="876300" y="9886951"/>
            <a:ext cx="10668000" cy="4154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>
            <a:defPPr>
              <a:defRPr lang="es-CO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050" b="0" i="0" u="none" strike="noStrike" kern="1200" cap="none" spc="210" normalizeH="0" baseline="0" noProof="0">
                <a:ln>
                  <a:noFill/>
                </a:ln>
                <a:solidFill>
                  <a:srgbClr val="7A726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LÍNEA BASE · ESFUERZO MANUAL DEL EQUIPO   ·   MEDICIÓN SOBRE CASOS DE USO REALES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EDA70BC5-BD1D-7144-8A99-A94DA6662470}"/>
              </a:ext>
            </a:extLst>
          </p:cNvPr>
          <p:cNvSpPr txBox="1"/>
          <p:nvPr/>
        </p:nvSpPr>
        <p:spPr>
          <a:xfrm>
            <a:off x="11696700" y="9886951"/>
            <a:ext cx="5715000" cy="4154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>
            <a:defPPr>
              <a:defRPr lang="es-CO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050" b="0" i="0" u="none" strike="noStrike" kern="1200" cap="none" spc="210" normalizeH="0" baseline="0" noProof="0">
                <a:ln>
                  <a:noFill/>
                </a:ln>
                <a:solidFill>
                  <a:srgbClr val="7A726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CONFIDENCIAL · USO INTERNO</a:t>
            </a:r>
          </a:p>
        </p:txBody>
      </p:sp>
      <p:sp>
        <p:nvSpPr>
          <p:cNvPr id="17" name="Shape 58">
            <a:extLst>
              <a:ext uri="{FF2B5EF4-FFF2-40B4-BE49-F238E27FC236}">
                <a16:creationId xmlns:a16="http://schemas.microsoft.com/office/drawing/2014/main" id="{E505EB96-1366-F340-7A29-5389841D05E9}"/>
              </a:ext>
            </a:extLst>
          </p:cNvPr>
          <p:cNvSpPr>
            <a:spLocks noChangeAspect="1"/>
          </p:cNvSpPr>
          <p:nvPr/>
        </p:nvSpPr>
        <p:spPr>
          <a:xfrm>
            <a:off x="1563626" y="1165945"/>
            <a:ext cx="14476474" cy="1044062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 anchor="ctr" anchorCtr="0"/>
          <a:lstStyle/>
          <a:p>
            <a:pPr defTabSz="1828755"/>
            <a:endParaRPr lang="es-419" sz="2400" b="1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859E6579-D009-7252-AE6A-96C24F31DF6F}"/>
              </a:ext>
            </a:extLst>
          </p:cNvPr>
          <p:cNvSpPr txBox="1"/>
          <p:nvPr/>
        </p:nvSpPr>
        <p:spPr>
          <a:xfrm>
            <a:off x="8957232" y="2652205"/>
            <a:ext cx="398897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371600"/>
            <a:r>
              <a:rPr lang="es-419" sz="2200" b="1" kern="0" spc="401">
                <a:solidFill>
                  <a:srgbClr val="FF0000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Meta 2026 </a:t>
            </a:r>
            <a:endParaRPr lang="es-419" sz="2200">
              <a:solidFill>
                <a:srgbClr val="FF0000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04E842CA-945E-7E74-E618-39C54A3FFD04}"/>
              </a:ext>
            </a:extLst>
          </p:cNvPr>
          <p:cNvSpPr txBox="1"/>
          <p:nvPr/>
        </p:nvSpPr>
        <p:spPr>
          <a:xfrm>
            <a:off x="6185996" y="2410030"/>
            <a:ext cx="334370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371600"/>
            <a:r>
              <a:rPr lang="es-419" sz="2200" b="1" kern="0" spc="401">
                <a:solidFill>
                  <a:srgbClr val="FF0000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Hoy TTM </a:t>
            </a:r>
          </a:p>
          <a:p>
            <a:pPr algn="ctr" defTabSz="1371600"/>
            <a:r>
              <a:rPr lang="es-419" sz="2200" b="1" kern="0" spc="401">
                <a:solidFill>
                  <a:srgbClr val="FF0000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Entrega de valor  </a:t>
            </a:r>
            <a:endParaRPr lang="es-419" sz="2200">
              <a:solidFill>
                <a:srgbClr val="FF0000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28" name="Shape 58">
            <a:extLst>
              <a:ext uri="{FF2B5EF4-FFF2-40B4-BE49-F238E27FC236}">
                <a16:creationId xmlns:a16="http://schemas.microsoft.com/office/drawing/2014/main" id="{F0E6434F-A55A-34CA-9BEE-599199C52407}"/>
              </a:ext>
            </a:extLst>
          </p:cNvPr>
          <p:cNvSpPr>
            <a:spLocks noChangeAspect="1"/>
          </p:cNvSpPr>
          <p:nvPr/>
        </p:nvSpPr>
        <p:spPr>
          <a:xfrm>
            <a:off x="7284756" y="3373994"/>
            <a:ext cx="1440098" cy="588356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 anchor="ctr" anchorCtr="0"/>
          <a:lstStyle/>
          <a:p>
            <a:pPr defTabSz="1828755"/>
            <a:r>
              <a:rPr lang="es-419" sz="24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121  Días</a:t>
            </a:r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17693BED-6FA0-F777-BE83-642DEE70B55F}"/>
              </a:ext>
            </a:extLst>
          </p:cNvPr>
          <p:cNvSpPr/>
          <p:nvPr/>
        </p:nvSpPr>
        <p:spPr>
          <a:xfrm>
            <a:off x="9062120" y="3434270"/>
            <a:ext cx="399340" cy="36176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6" name="Shape 58">
            <a:extLst>
              <a:ext uri="{FF2B5EF4-FFF2-40B4-BE49-F238E27FC236}">
                <a16:creationId xmlns:a16="http://schemas.microsoft.com/office/drawing/2014/main" id="{0B20C1E8-E3B6-2704-64BE-136BCB2CCF66}"/>
              </a:ext>
            </a:extLst>
          </p:cNvPr>
          <p:cNvSpPr>
            <a:spLocks noChangeAspect="1"/>
          </p:cNvSpPr>
          <p:nvPr/>
        </p:nvSpPr>
        <p:spPr>
          <a:xfrm>
            <a:off x="10231672" y="3267848"/>
            <a:ext cx="1440098" cy="588356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 anchor="ctr" anchorCtr="0"/>
          <a:lstStyle/>
          <a:p>
            <a:pPr algn="ctr" defTabSz="1828755"/>
            <a:r>
              <a:rPr lang="es-419" sz="24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&lt;41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165AC71C-F6F5-530B-2A85-3163B75F1DD1}"/>
              </a:ext>
            </a:extLst>
          </p:cNvPr>
          <p:cNvSpPr/>
          <p:nvPr/>
        </p:nvSpPr>
        <p:spPr>
          <a:xfrm>
            <a:off x="12007503" y="3359126"/>
            <a:ext cx="399340" cy="361768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9" name="Text 0">
            <a:extLst>
              <a:ext uri="{FF2B5EF4-FFF2-40B4-BE49-F238E27FC236}">
                <a16:creationId xmlns:a16="http://schemas.microsoft.com/office/drawing/2014/main" id="{13D7A7AD-0912-912B-D73C-6B1D03FF6AFD}"/>
              </a:ext>
            </a:extLst>
          </p:cNvPr>
          <p:cNvSpPr/>
          <p:nvPr/>
        </p:nvSpPr>
        <p:spPr>
          <a:xfrm>
            <a:off x="2922932" y="3338345"/>
            <a:ext cx="4026091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828755"/>
            <a:r>
              <a:rPr lang="en-US" sz="2400" b="1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Celula</a:t>
            </a:r>
            <a:r>
              <a:rPr lang="en-US" sz="24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 Credito </a:t>
            </a:r>
            <a:r>
              <a:rPr lang="en-US" sz="2400" b="1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Rotativo</a:t>
            </a:r>
            <a:r>
              <a:rPr lang="en-US" sz="24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F7F26B27-91FE-05D4-5A3E-8FCEDAAF2731}"/>
              </a:ext>
            </a:extLst>
          </p:cNvPr>
          <p:cNvSpPr txBox="1"/>
          <p:nvPr/>
        </p:nvSpPr>
        <p:spPr>
          <a:xfrm>
            <a:off x="474555" y="1320701"/>
            <a:ext cx="827795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1371600"/>
            <a:r>
              <a:rPr lang="es-419" sz="2200" b="1" kern="0" spc="401">
                <a:solidFill>
                  <a:srgbClr val="FF0000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Hoy TTM entrega de valor </a:t>
            </a:r>
          </a:p>
          <a:p>
            <a:pPr algn="r" defTabSz="1371600"/>
            <a:r>
              <a:rPr lang="es-419" sz="2200" b="1" kern="0" spc="401">
                <a:solidFill>
                  <a:srgbClr val="FF0000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Células con Capacidades Técnicas </a:t>
            </a:r>
            <a:endParaRPr lang="es-419" sz="2200">
              <a:solidFill>
                <a:srgbClr val="FF0000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54" name="Shape 58">
            <a:extLst>
              <a:ext uri="{FF2B5EF4-FFF2-40B4-BE49-F238E27FC236}">
                <a16:creationId xmlns:a16="http://schemas.microsoft.com/office/drawing/2014/main" id="{96C5068B-0247-3936-0B0B-CB02E58D22F8}"/>
              </a:ext>
            </a:extLst>
          </p:cNvPr>
          <p:cNvSpPr>
            <a:spLocks noChangeAspect="1"/>
          </p:cNvSpPr>
          <p:nvPr/>
        </p:nvSpPr>
        <p:spPr>
          <a:xfrm>
            <a:off x="13259129" y="1384992"/>
            <a:ext cx="1440098" cy="588356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 anchor="ctr" anchorCtr="0"/>
          <a:lstStyle/>
          <a:p>
            <a:pPr defTabSz="1828755"/>
            <a:r>
              <a:rPr lang="es-419" sz="24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41  Días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BD98B53B-2F45-22C8-8FAE-252D447687D6}"/>
              </a:ext>
            </a:extLst>
          </p:cNvPr>
          <p:cNvSpPr txBox="1"/>
          <p:nvPr/>
        </p:nvSpPr>
        <p:spPr>
          <a:xfrm>
            <a:off x="10517866" y="1494233"/>
            <a:ext cx="342760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371600"/>
            <a:r>
              <a:rPr lang="es-419" sz="2200" b="1" kern="0" spc="401">
                <a:solidFill>
                  <a:srgbClr val="FF0000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Meta 2026 </a:t>
            </a:r>
            <a:endParaRPr lang="es-419" sz="2200">
              <a:solidFill>
                <a:srgbClr val="FF0000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58" name="Shape 58">
            <a:extLst>
              <a:ext uri="{FF2B5EF4-FFF2-40B4-BE49-F238E27FC236}">
                <a16:creationId xmlns:a16="http://schemas.microsoft.com/office/drawing/2014/main" id="{E057ECE7-9C9A-EC57-ACAB-1C2AE4683464}"/>
              </a:ext>
            </a:extLst>
          </p:cNvPr>
          <p:cNvSpPr>
            <a:spLocks noChangeAspect="1"/>
          </p:cNvSpPr>
          <p:nvPr/>
        </p:nvSpPr>
        <p:spPr>
          <a:xfrm>
            <a:off x="8931691" y="1450230"/>
            <a:ext cx="1440098" cy="588356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 anchor="ctr" anchorCtr="0"/>
          <a:lstStyle/>
          <a:p>
            <a:pPr defTabSz="1828755"/>
            <a:r>
              <a:rPr lang="es-419" sz="24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82  Días</a:t>
            </a:r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185B0DCF-6623-B70B-0B51-B5EF8D8FBE30}"/>
              </a:ext>
            </a:extLst>
          </p:cNvPr>
          <p:cNvSpPr>
            <a:spLocks noChangeAspect="1"/>
          </p:cNvSpPr>
          <p:nvPr/>
        </p:nvSpPr>
        <p:spPr>
          <a:xfrm>
            <a:off x="7288394" y="5035183"/>
            <a:ext cx="1440098" cy="588356"/>
          </a:xfrm>
          <a:prstGeom prst="roundRect">
            <a:avLst>
              <a:gd name="adj" fmla="val 5882"/>
            </a:avLst>
          </a:prstGeom>
          <a:solidFill>
            <a:srgbClr val="FF0000">
              <a:alpha val="46000"/>
            </a:srgbClr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 anchor="ctr" anchorCtr="0"/>
          <a:lstStyle/>
          <a:p>
            <a:pPr defTabSz="1828755"/>
            <a:r>
              <a:rPr lang="es-419" sz="24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Sin Info</a:t>
            </a:r>
          </a:p>
        </p:txBody>
      </p:sp>
      <p:sp>
        <p:nvSpPr>
          <p:cNvPr id="62" name="Elipse 61">
            <a:extLst>
              <a:ext uri="{FF2B5EF4-FFF2-40B4-BE49-F238E27FC236}">
                <a16:creationId xmlns:a16="http://schemas.microsoft.com/office/drawing/2014/main" id="{D48D1531-B7D6-4A14-8BB0-534FDDA5FFFE}"/>
              </a:ext>
            </a:extLst>
          </p:cNvPr>
          <p:cNvSpPr/>
          <p:nvPr/>
        </p:nvSpPr>
        <p:spPr>
          <a:xfrm>
            <a:off x="9014629" y="5136403"/>
            <a:ext cx="399340" cy="361768"/>
          </a:xfrm>
          <a:prstGeom prst="ellipse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4" name="Shape 58">
            <a:extLst>
              <a:ext uri="{FF2B5EF4-FFF2-40B4-BE49-F238E27FC236}">
                <a16:creationId xmlns:a16="http://schemas.microsoft.com/office/drawing/2014/main" id="{354C76BB-2D49-F33F-3110-1D1A7C4E740A}"/>
              </a:ext>
            </a:extLst>
          </p:cNvPr>
          <p:cNvSpPr>
            <a:spLocks noChangeAspect="1"/>
          </p:cNvSpPr>
          <p:nvPr/>
        </p:nvSpPr>
        <p:spPr>
          <a:xfrm>
            <a:off x="10258397" y="4956863"/>
            <a:ext cx="1440098" cy="588356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 anchor="ctr" anchorCtr="0"/>
          <a:lstStyle/>
          <a:p>
            <a:pPr algn="ctr" defTabSz="1828755"/>
            <a:r>
              <a:rPr lang="es-419" sz="24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&lt;41</a:t>
            </a:r>
          </a:p>
        </p:txBody>
      </p:sp>
      <p:sp>
        <p:nvSpPr>
          <p:cNvPr id="66" name="Elipse 65">
            <a:extLst>
              <a:ext uri="{FF2B5EF4-FFF2-40B4-BE49-F238E27FC236}">
                <a16:creationId xmlns:a16="http://schemas.microsoft.com/office/drawing/2014/main" id="{30F4AAA0-AD0B-AAF9-FD5D-2A76967251CC}"/>
              </a:ext>
            </a:extLst>
          </p:cNvPr>
          <p:cNvSpPr/>
          <p:nvPr/>
        </p:nvSpPr>
        <p:spPr>
          <a:xfrm>
            <a:off x="12019544" y="4268438"/>
            <a:ext cx="399340" cy="361768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8" name="Text 0">
            <a:extLst>
              <a:ext uri="{FF2B5EF4-FFF2-40B4-BE49-F238E27FC236}">
                <a16:creationId xmlns:a16="http://schemas.microsoft.com/office/drawing/2014/main" id="{121CCFF1-4007-003E-E848-97D05FA4094D}"/>
              </a:ext>
            </a:extLst>
          </p:cNvPr>
          <p:cNvSpPr/>
          <p:nvPr/>
        </p:nvSpPr>
        <p:spPr>
          <a:xfrm>
            <a:off x="2972976" y="4923751"/>
            <a:ext cx="4026091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828755"/>
            <a:r>
              <a:rPr lang="en-US" sz="2400" b="1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Celula</a:t>
            </a:r>
            <a:r>
              <a:rPr lang="en-US" sz="24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 </a:t>
            </a:r>
            <a:r>
              <a:rPr lang="en-US" sz="2400" b="1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Seguros</a:t>
            </a:r>
            <a:r>
              <a:rPr lang="en-US" sz="24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y </a:t>
            </a:r>
            <a:r>
              <a:rPr lang="en-US" sz="2400" b="1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asistencias</a:t>
            </a:r>
            <a:endParaRPr lang="en-US" sz="2400" b="1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70" name="Shape 58">
            <a:extLst>
              <a:ext uri="{FF2B5EF4-FFF2-40B4-BE49-F238E27FC236}">
                <a16:creationId xmlns:a16="http://schemas.microsoft.com/office/drawing/2014/main" id="{66D0EF64-AA47-B839-37C6-AC7F37C5600D}"/>
              </a:ext>
            </a:extLst>
          </p:cNvPr>
          <p:cNvSpPr>
            <a:spLocks noChangeAspect="1"/>
          </p:cNvSpPr>
          <p:nvPr/>
        </p:nvSpPr>
        <p:spPr>
          <a:xfrm>
            <a:off x="7305854" y="4112347"/>
            <a:ext cx="1440098" cy="588356"/>
          </a:xfrm>
          <a:prstGeom prst="roundRect">
            <a:avLst>
              <a:gd name="adj" fmla="val 5882"/>
            </a:avLst>
          </a:prstGeom>
          <a:solidFill>
            <a:srgbClr val="FF0000">
              <a:alpha val="46000"/>
            </a:srgbClr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 anchor="ctr" anchorCtr="0"/>
          <a:lstStyle/>
          <a:p>
            <a:pPr defTabSz="1828755"/>
            <a:r>
              <a:rPr lang="es-419" sz="24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Sin </a:t>
            </a:r>
            <a:r>
              <a:rPr lang="es-419" sz="2400" b="1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Info</a:t>
            </a:r>
            <a:endParaRPr lang="es-419" sz="2400" b="1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72" name="Text 0">
            <a:extLst>
              <a:ext uri="{FF2B5EF4-FFF2-40B4-BE49-F238E27FC236}">
                <a16:creationId xmlns:a16="http://schemas.microsoft.com/office/drawing/2014/main" id="{C3A0D873-A014-86D2-7135-A5A8054791D3}"/>
              </a:ext>
            </a:extLst>
          </p:cNvPr>
          <p:cNvSpPr/>
          <p:nvPr/>
        </p:nvSpPr>
        <p:spPr>
          <a:xfrm>
            <a:off x="2972975" y="4029335"/>
            <a:ext cx="4026091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828755"/>
            <a:r>
              <a:rPr lang="en-US" sz="2400" b="1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Celula</a:t>
            </a:r>
            <a:r>
              <a:rPr lang="en-US" sz="24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 </a:t>
            </a:r>
            <a:r>
              <a:rPr lang="en-US" sz="2400" b="1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Pasivos</a:t>
            </a:r>
            <a:endParaRPr lang="en-US" sz="2400" b="1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74" name="Shape 58">
            <a:extLst>
              <a:ext uri="{FF2B5EF4-FFF2-40B4-BE49-F238E27FC236}">
                <a16:creationId xmlns:a16="http://schemas.microsoft.com/office/drawing/2014/main" id="{854E59FB-499F-4CDF-3492-FCFD77203E18}"/>
              </a:ext>
            </a:extLst>
          </p:cNvPr>
          <p:cNvSpPr>
            <a:spLocks noChangeAspect="1"/>
          </p:cNvSpPr>
          <p:nvPr/>
        </p:nvSpPr>
        <p:spPr>
          <a:xfrm>
            <a:off x="7284756" y="5886740"/>
            <a:ext cx="1440098" cy="588356"/>
          </a:xfrm>
          <a:prstGeom prst="roundRect">
            <a:avLst>
              <a:gd name="adj" fmla="val 5882"/>
            </a:avLst>
          </a:prstGeom>
          <a:solidFill>
            <a:srgbClr val="FF0000">
              <a:alpha val="46000"/>
            </a:srgbClr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 anchor="ctr" anchorCtr="0"/>
          <a:lstStyle/>
          <a:p>
            <a:pPr defTabSz="1828755"/>
            <a:r>
              <a:rPr lang="es-419" sz="24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Sin Info</a:t>
            </a:r>
          </a:p>
        </p:txBody>
      </p:sp>
      <p:sp>
        <p:nvSpPr>
          <p:cNvPr id="76" name="Elipse 75">
            <a:extLst>
              <a:ext uri="{FF2B5EF4-FFF2-40B4-BE49-F238E27FC236}">
                <a16:creationId xmlns:a16="http://schemas.microsoft.com/office/drawing/2014/main" id="{8033A069-11F6-3F6B-877C-223F46B20EC8}"/>
              </a:ext>
            </a:extLst>
          </p:cNvPr>
          <p:cNvSpPr/>
          <p:nvPr/>
        </p:nvSpPr>
        <p:spPr>
          <a:xfrm>
            <a:off x="9067940" y="6052348"/>
            <a:ext cx="399340" cy="361768"/>
          </a:xfrm>
          <a:prstGeom prst="ellipse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8" name="Shape 58">
            <a:extLst>
              <a:ext uri="{FF2B5EF4-FFF2-40B4-BE49-F238E27FC236}">
                <a16:creationId xmlns:a16="http://schemas.microsoft.com/office/drawing/2014/main" id="{E6500E5E-457C-7417-C623-24E17FB4FB31}"/>
              </a:ext>
            </a:extLst>
          </p:cNvPr>
          <p:cNvSpPr>
            <a:spLocks noChangeAspect="1"/>
          </p:cNvSpPr>
          <p:nvPr/>
        </p:nvSpPr>
        <p:spPr>
          <a:xfrm>
            <a:off x="10216731" y="5958050"/>
            <a:ext cx="1440098" cy="588356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 anchor="ctr" anchorCtr="0"/>
          <a:lstStyle/>
          <a:p>
            <a:pPr algn="ctr" defTabSz="1828755"/>
            <a:r>
              <a:rPr lang="es-419" sz="24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&lt;41</a:t>
            </a:r>
          </a:p>
        </p:txBody>
      </p:sp>
      <p:sp>
        <p:nvSpPr>
          <p:cNvPr id="80" name="Elipse 79">
            <a:extLst>
              <a:ext uri="{FF2B5EF4-FFF2-40B4-BE49-F238E27FC236}">
                <a16:creationId xmlns:a16="http://schemas.microsoft.com/office/drawing/2014/main" id="{4B144CBA-44D3-D97F-06C2-C492A89010C3}"/>
              </a:ext>
            </a:extLst>
          </p:cNvPr>
          <p:cNvSpPr/>
          <p:nvPr/>
        </p:nvSpPr>
        <p:spPr>
          <a:xfrm>
            <a:off x="12014396" y="6032594"/>
            <a:ext cx="399340" cy="361768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2" name="Text 0">
            <a:extLst>
              <a:ext uri="{FF2B5EF4-FFF2-40B4-BE49-F238E27FC236}">
                <a16:creationId xmlns:a16="http://schemas.microsoft.com/office/drawing/2014/main" id="{16532E67-5BB5-1E06-995A-A1B13D84A99C}"/>
              </a:ext>
            </a:extLst>
          </p:cNvPr>
          <p:cNvSpPr/>
          <p:nvPr/>
        </p:nvSpPr>
        <p:spPr>
          <a:xfrm>
            <a:off x="2237050" y="5875038"/>
            <a:ext cx="4822495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828755"/>
            <a:r>
              <a:rPr lang="en-US" sz="2400" b="1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Celula</a:t>
            </a:r>
            <a:r>
              <a:rPr lang="en-US" sz="24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 </a:t>
            </a:r>
            <a:r>
              <a:rPr lang="en-US" sz="2400" b="1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Transformación</a:t>
            </a:r>
            <a:r>
              <a:rPr lang="en-US" sz="24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</a:t>
            </a:r>
            <a:r>
              <a:rPr lang="en-US" sz="2400" b="1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Operaciones</a:t>
            </a:r>
            <a:endParaRPr lang="en-US" sz="2400" b="1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84" name="Shape 58">
            <a:extLst>
              <a:ext uri="{FF2B5EF4-FFF2-40B4-BE49-F238E27FC236}">
                <a16:creationId xmlns:a16="http://schemas.microsoft.com/office/drawing/2014/main" id="{C6F23576-B08A-CD8F-8334-A20439D14B7F}"/>
              </a:ext>
            </a:extLst>
          </p:cNvPr>
          <p:cNvSpPr>
            <a:spLocks noChangeAspect="1"/>
          </p:cNvSpPr>
          <p:nvPr/>
        </p:nvSpPr>
        <p:spPr>
          <a:xfrm>
            <a:off x="10231672" y="4144055"/>
            <a:ext cx="1440098" cy="588356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 anchor="ctr" anchorCtr="0"/>
          <a:lstStyle/>
          <a:p>
            <a:pPr algn="ctr" defTabSz="1828755"/>
            <a:r>
              <a:rPr lang="es-419" sz="24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&lt;41</a:t>
            </a:r>
          </a:p>
        </p:txBody>
      </p:sp>
      <p:sp>
        <p:nvSpPr>
          <p:cNvPr id="86" name="Elipse 85">
            <a:extLst>
              <a:ext uri="{FF2B5EF4-FFF2-40B4-BE49-F238E27FC236}">
                <a16:creationId xmlns:a16="http://schemas.microsoft.com/office/drawing/2014/main" id="{A2548C6C-21D5-2C30-DCED-F5D417FF685F}"/>
              </a:ext>
            </a:extLst>
          </p:cNvPr>
          <p:cNvSpPr/>
          <p:nvPr/>
        </p:nvSpPr>
        <p:spPr>
          <a:xfrm>
            <a:off x="9052740" y="4305811"/>
            <a:ext cx="399340" cy="361768"/>
          </a:xfrm>
          <a:prstGeom prst="ellipse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8" name="Elipse 87">
            <a:extLst>
              <a:ext uri="{FF2B5EF4-FFF2-40B4-BE49-F238E27FC236}">
                <a16:creationId xmlns:a16="http://schemas.microsoft.com/office/drawing/2014/main" id="{27E51733-D44C-6E13-D8E6-1B1DFDE7326F}"/>
              </a:ext>
            </a:extLst>
          </p:cNvPr>
          <p:cNvSpPr/>
          <p:nvPr/>
        </p:nvSpPr>
        <p:spPr>
          <a:xfrm>
            <a:off x="12007503" y="5183451"/>
            <a:ext cx="399340" cy="361768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0" name="Shape 58">
            <a:extLst>
              <a:ext uri="{FF2B5EF4-FFF2-40B4-BE49-F238E27FC236}">
                <a16:creationId xmlns:a16="http://schemas.microsoft.com/office/drawing/2014/main" id="{A9CF7D13-C919-B8B9-2C1C-07E631E9326E}"/>
              </a:ext>
            </a:extLst>
          </p:cNvPr>
          <p:cNvSpPr>
            <a:spLocks noChangeAspect="1"/>
          </p:cNvSpPr>
          <p:nvPr/>
        </p:nvSpPr>
        <p:spPr>
          <a:xfrm>
            <a:off x="7218735" y="6671673"/>
            <a:ext cx="1458215" cy="588356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 anchor="ctr" anchorCtr="0"/>
          <a:lstStyle/>
          <a:p>
            <a:pPr defTabSz="1828755"/>
            <a:r>
              <a:rPr lang="es-419" sz="24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19 Días</a:t>
            </a:r>
          </a:p>
        </p:txBody>
      </p:sp>
      <p:sp>
        <p:nvSpPr>
          <p:cNvPr id="92" name="Elipse 91">
            <a:extLst>
              <a:ext uri="{FF2B5EF4-FFF2-40B4-BE49-F238E27FC236}">
                <a16:creationId xmlns:a16="http://schemas.microsoft.com/office/drawing/2014/main" id="{0FC398D9-8470-761F-535A-A963DCA924A5}"/>
              </a:ext>
            </a:extLst>
          </p:cNvPr>
          <p:cNvSpPr/>
          <p:nvPr/>
        </p:nvSpPr>
        <p:spPr>
          <a:xfrm>
            <a:off x="9067940" y="6784967"/>
            <a:ext cx="399340" cy="361768"/>
          </a:xfrm>
          <a:prstGeom prst="ellipse">
            <a:avLst/>
          </a:prstGeom>
          <a:solidFill>
            <a:schemeClr val="accent4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4" name="Shape 58">
            <a:extLst>
              <a:ext uri="{FF2B5EF4-FFF2-40B4-BE49-F238E27FC236}">
                <a16:creationId xmlns:a16="http://schemas.microsoft.com/office/drawing/2014/main" id="{F7DE86BB-8F3C-93D2-4F29-8E4CDE4290D2}"/>
              </a:ext>
            </a:extLst>
          </p:cNvPr>
          <p:cNvSpPr>
            <a:spLocks noChangeAspect="1"/>
          </p:cNvSpPr>
          <p:nvPr/>
        </p:nvSpPr>
        <p:spPr>
          <a:xfrm>
            <a:off x="7285372" y="8201967"/>
            <a:ext cx="1440098" cy="588356"/>
          </a:xfrm>
          <a:prstGeom prst="roundRect">
            <a:avLst>
              <a:gd name="adj" fmla="val 5882"/>
            </a:avLst>
          </a:prstGeom>
          <a:solidFill>
            <a:srgbClr val="FF0000">
              <a:alpha val="46000"/>
            </a:srgbClr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 anchor="ctr" anchorCtr="0"/>
          <a:lstStyle/>
          <a:p>
            <a:pPr defTabSz="1828755"/>
            <a:r>
              <a:rPr lang="es-419" sz="24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Sin </a:t>
            </a:r>
            <a:r>
              <a:rPr lang="es-419" sz="2400" b="1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Info</a:t>
            </a:r>
            <a:endParaRPr lang="es-419" sz="2400" b="1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96" name="Elipse 95">
            <a:extLst>
              <a:ext uri="{FF2B5EF4-FFF2-40B4-BE49-F238E27FC236}">
                <a16:creationId xmlns:a16="http://schemas.microsoft.com/office/drawing/2014/main" id="{E2A1BEAA-FF6E-32F9-C65C-FEA41F72E957}"/>
              </a:ext>
            </a:extLst>
          </p:cNvPr>
          <p:cNvSpPr/>
          <p:nvPr/>
        </p:nvSpPr>
        <p:spPr>
          <a:xfrm>
            <a:off x="9061461" y="8289539"/>
            <a:ext cx="399340" cy="361768"/>
          </a:xfrm>
          <a:prstGeom prst="ellipse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8" name="Text 0">
            <a:extLst>
              <a:ext uri="{FF2B5EF4-FFF2-40B4-BE49-F238E27FC236}">
                <a16:creationId xmlns:a16="http://schemas.microsoft.com/office/drawing/2014/main" id="{F985D080-9FE7-0928-B40B-81038DAE84DB}"/>
              </a:ext>
            </a:extLst>
          </p:cNvPr>
          <p:cNvSpPr/>
          <p:nvPr/>
        </p:nvSpPr>
        <p:spPr>
          <a:xfrm>
            <a:off x="3033454" y="8035943"/>
            <a:ext cx="4026091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828755"/>
            <a:r>
              <a:rPr lang="en-US" sz="2400" b="1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Celula</a:t>
            </a:r>
            <a:r>
              <a:rPr lang="en-US" sz="24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</a:t>
            </a:r>
            <a:r>
              <a:rPr lang="en-US" sz="2400" b="1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Validacion</a:t>
            </a:r>
            <a:r>
              <a:rPr lang="en-US" sz="24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Identidad</a:t>
            </a:r>
          </a:p>
        </p:txBody>
      </p:sp>
      <p:sp>
        <p:nvSpPr>
          <p:cNvPr id="100" name="Shape 58">
            <a:extLst>
              <a:ext uri="{FF2B5EF4-FFF2-40B4-BE49-F238E27FC236}">
                <a16:creationId xmlns:a16="http://schemas.microsoft.com/office/drawing/2014/main" id="{EF3B5CAE-FC92-BB09-DF99-3775685396D4}"/>
              </a:ext>
            </a:extLst>
          </p:cNvPr>
          <p:cNvSpPr>
            <a:spLocks noChangeAspect="1"/>
          </p:cNvSpPr>
          <p:nvPr/>
        </p:nvSpPr>
        <p:spPr>
          <a:xfrm>
            <a:off x="7310772" y="8987755"/>
            <a:ext cx="1440098" cy="588356"/>
          </a:xfrm>
          <a:prstGeom prst="roundRect">
            <a:avLst>
              <a:gd name="adj" fmla="val 5882"/>
            </a:avLst>
          </a:prstGeom>
          <a:solidFill>
            <a:srgbClr val="FF0000">
              <a:alpha val="46000"/>
            </a:srgbClr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 anchor="ctr" anchorCtr="0"/>
          <a:lstStyle/>
          <a:p>
            <a:pPr defTabSz="1828755"/>
            <a:r>
              <a:rPr lang="es-419" sz="24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Sin </a:t>
            </a:r>
            <a:r>
              <a:rPr lang="es-419" sz="2400" b="1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Info</a:t>
            </a:r>
            <a:endParaRPr lang="es-419" sz="2400" b="1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02" name="Elipse 101">
            <a:extLst>
              <a:ext uri="{FF2B5EF4-FFF2-40B4-BE49-F238E27FC236}">
                <a16:creationId xmlns:a16="http://schemas.microsoft.com/office/drawing/2014/main" id="{83EF95A5-6E5C-AC8D-8FAB-93BC7EF3B9A4}"/>
              </a:ext>
            </a:extLst>
          </p:cNvPr>
          <p:cNvSpPr/>
          <p:nvPr/>
        </p:nvSpPr>
        <p:spPr>
          <a:xfrm>
            <a:off x="9047813" y="9075327"/>
            <a:ext cx="399340" cy="361768"/>
          </a:xfrm>
          <a:prstGeom prst="ellipse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4" name="Text 0">
            <a:extLst>
              <a:ext uri="{FF2B5EF4-FFF2-40B4-BE49-F238E27FC236}">
                <a16:creationId xmlns:a16="http://schemas.microsoft.com/office/drawing/2014/main" id="{61EE7BFE-2DBE-E26D-F419-0442DD405C2A}"/>
              </a:ext>
            </a:extLst>
          </p:cNvPr>
          <p:cNvSpPr/>
          <p:nvPr/>
        </p:nvSpPr>
        <p:spPr>
          <a:xfrm>
            <a:off x="3033454" y="8821731"/>
            <a:ext cx="4026091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828755"/>
            <a:r>
              <a:rPr lang="en-US" sz="2400" b="1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Celula</a:t>
            </a:r>
            <a:r>
              <a:rPr lang="en-US" sz="24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 Canales </a:t>
            </a:r>
            <a:r>
              <a:rPr lang="en-US" sz="2400" b="1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Digitales</a:t>
            </a:r>
            <a:r>
              <a:rPr lang="en-US" sz="24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</a:t>
            </a:r>
          </a:p>
        </p:txBody>
      </p:sp>
      <p:sp>
        <p:nvSpPr>
          <p:cNvPr id="106" name="Shape 58">
            <a:extLst>
              <a:ext uri="{FF2B5EF4-FFF2-40B4-BE49-F238E27FC236}">
                <a16:creationId xmlns:a16="http://schemas.microsoft.com/office/drawing/2014/main" id="{223C61E0-54AC-9C72-D998-8FC3C495F18B}"/>
              </a:ext>
            </a:extLst>
          </p:cNvPr>
          <p:cNvSpPr>
            <a:spLocks noChangeAspect="1"/>
          </p:cNvSpPr>
          <p:nvPr/>
        </p:nvSpPr>
        <p:spPr>
          <a:xfrm>
            <a:off x="7277588" y="7456427"/>
            <a:ext cx="1440098" cy="588356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 anchor="ctr" anchorCtr="0"/>
          <a:lstStyle/>
          <a:p>
            <a:pPr defTabSz="1828755"/>
            <a:r>
              <a:rPr lang="es-419" sz="24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43  Días</a:t>
            </a:r>
          </a:p>
        </p:txBody>
      </p:sp>
      <p:sp>
        <p:nvSpPr>
          <p:cNvPr id="108" name="Elipse 107">
            <a:extLst>
              <a:ext uri="{FF2B5EF4-FFF2-40B4-BE49-F238E27FC236}">
                <a16:creationId xmlns:a16="http://schemas.microsoft.com/office/drawing/2014/main" id="{099EFA7F-E290-068D-FEBA-BA6CD1C43144}"/>
              </a:ext>
            </a:extLst>
          </p:cNvPr>
          <p:cNvSpPr/>
          <p:nvPr/>
        </p:nvSpPr>
        <p:spPr>
          <a:xfrm>
            <a:off x="9067940" y="7544882"/>
            <a:ext cx="399340" cy="361768"/>
          </a:xfrm>
          <a:prstGeom prst="ellipse">
            <a:avLst/>
          </a:prstGeom>
          <a:solidFill>
            <a:schemeClr val="accent4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0" name="Text 0">
            <a:extLst>
              <a:ext uri="{FF2B5EF4-FFF2-40B4-BE49-F238E27FC236}">
                <a16:creationId xmlns:a16="http://schemas.microsoft.com/office/drawing/2014/main" id="{194B4BF5-1BF4-8F97-C244-4ABAA844AC3B}"/>
              </a:ext>
            </a:extLst>
          </p:cNvPr>
          <p:cNvSpPr/>
          <p:nvPr/>
        </p:nvSpPr>
        <p:spPr>
          <a:xfrm>
            <a:off x="3000270" y="7290403"/>
            <a:ext cx="4026091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828755"/>
            <a:r>
              <a:rPr lang="en-US" sz="2400" b="1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Celula</a:t>
            </a:r>
            <a:r>
              <a:rPr lang="en-US" sz="24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 Canales </a:t>
            </a:r>
            <a:r>
              <a:rPr lang="en-US" sz="2400" b="1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Asistidos</a:t>
            </a:r>
            <a:r>
              <a:rPr lang="en-US" sz="24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 </a:t>
            </a:r>
          </a:p>
        </p:txBody>
      </p:sp>
      <p:sp>
        <p:nvSpPr>
          <p:cNvPr id="112" name="Text 0">
            <a:extLst>
              <a:ext uri="{FF2B5EF4-FFF2-40B4-BE49-F238E27FC236}">
                <a16:creationId xmlns:a16="http://schemas.microsoft.com/office/drawing/2014/main" id="{CBE8C6AC-1528-5EB7-6BA8-D739E6AFF614}"/>
              </a:ext>
            </a:extLst>
          </p:cNvPr>
          <p:cNvSpPr/>
          <p:nvPr/>
        </p:nvSpPr>
        <p:spPr>
          <a:xfrm>
            <a:off x="2922931" y="6615092"/>
            <a:ext cx="4026091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828755"/>
            <a:r>
              <a:rPr lang="en-US" sz="2400" b="1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Celula</a:t>
            </a:r>
            <a:r>
              <a:rPr lang="en-US" sz="24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Canal de </a:t>
            </a:r>
            <a:r>
              <a:rPr lang="en-US" sz="2400" b="1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originacion</a:t>
            </a:r>
            <a:r>
              <a:rPr lang="en-US" sz="24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</a:t>
            </a:r>
          </a:p>
        </p:txBody>
      </p:sp>
      <p:sp>
        <p:nvSpPr>
          <p:cNvPr id="114" name="Shape 58">
            <a:extLst>
              <a:ext uri="{FF2B5EF4-FFF2-40B4-BE49-F238E27FC236}">
                <a16:creationId xmlns:a16="http://schemas.microsoft.com/office/drawing/2014/main" id="{DC000643-CAAF-46D1-822F-01F2B739EA7D}"/>
              </a:ext>
            </a:extLst>
          </p:cNvPr>
          <p:cNvSpPr>
            <a:spLocks noChangeAspect="1"/>
          </p:cNvSpPr>
          <p:nvPr/>
        </p:nvSpPr>
        <p:spPr>
          <a:xfrm>
            <a:off x="10258274" y="6709277"/>
            <a:ext cx="1440098" cy="588356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 anchor="ctr" anchorCtr="0"/>
          <a:lstStyle/>
          <a:p>
            <a:pPr algn="ctr" defTabSz="1828755"/>
            <a:r>
              <a:rPr lang="es-419" sz="24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&lt;8,5</a:t>
            </a:r>
          </a:p>
        </p:txBody>
      </p:sp>
      <p:sp>
        <p:nvSpPr>
          <p:cNvPr id="116" name="Elipse 115">
            <a:extLst>
              <a:ext uri="{FF2B5EF4-FFF2-40B4-BE49-F238E27FC236}">
                <a16:creationId xmlns:a16="http://schemas.microsoft.com/office/drawing/2014/main" id="{CF3DA434-D596-16AF-1718-809D6FE2CE5E}"/>
              </a:ext>
            </a:extLst>
          </p:cNvPr>
          <p:cNvSpPr/>
          <p:nvPr/>
        </p:nvSpPr>
        <p:spPr>
          <a:xfrm>
            <a:off x="12029070" y="6822571"/>
            <a:ext cx="399340" cy="361768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8" name="Shape 58">
            <a:extLst>
              <a:ext uri="{FF2B5EF4-FFF2-40B4-BE49-F238E27FC236}">
                <a16:creationId xmlns:a16="http://schemas.microsoft.com/office/drawing/2014/main" id="{FEBBF5AA-9031-FB35-7D9D-C183D9239F29}"/>
              </a:ext>
            </a:extLst>
          </p:cNvPr>
          <p:cNvSpPr>
            <a:spLocks noChangeAspect="1"/>
          </p:cNvSpPr>
          <p:nvPr/>
        </p:nvSpPr>
        <p:spPr>
          <a:xfrm>
            <a:off x="10197795" y="8167513"/>
            <a:ext cx="1440098" cy="588356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 anchor="ctr" anchorCtr="0"/>
          <a:lstStyle/>
          <a:p>
            <a:pPr algn="ctr" defTabSz="1828755"/>
            <a:r>
              <a:rPr lang="es-419" sz="24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&lt;41</a:t>
            </a:r>
          </a:p>
        </p:txBody>
      </p:sp>
      <p:sp>
        <p:nvSpPr>
          <p:cNvPr id="120" name="Elipse 119">
            <a:extLst>
              <a:ext uri="{FF2B5EF4-FFF2-40B4-BE49-F238E27FC236}">
                <a16:creationId xmlns:a16="http://schemas.microsoft.com/office/drawing/2014/main" id="{630DEB4B-466E-A172-D9AD-D721BFB83A7C}"/>
              </a:ext>
            </a:extLst>
          </p:cNvPr>
          <p:cNvSpPr/>
          <p:nvPr/>
        </p:nvSpPr>
        <p:spPr>
          <a:xfrm>
            <a:off x="12041866" y="8258791"/>
            <a:ext cx="399340" cy="361768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2" name="Elipse 121">
            <a:extLst>
              <a:ext uri="{FF2B5EF4-FFF2-40B4-BE49-F238E27FC236}">
                <a16:creationId xmlns:a16="http://schemas.microsoft.com/office/drawing/2014/main" id="{1F2B820F-3E4F-39D6-EF75-9A802C799A92}"/>
              </a:ext>
            </a:extLst>
          </p:cNvPr>
          <p:cNvSpPr/>
          <p:nvPr/>
        </p:nvSpPr>
        <p:spPr>
          <a:xfrm>
            <a:off x="12040259" y="9181751"/>
            <a:ext cx="399340" cy="361768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4" name="Shape 58">
            <a:extLst>
              <a:ext uri="{FF2B5EF4-FFF2-40B4-BE49-F238E27FC236}">
                <a16:creationId xmlns:a16="http://schemas.microsoft.com/office/drawing/2014/main" id="{78E7D21B-85D2-51C5-DCD1-883EBD066F7D}"/>
              </a:ext>
            </a:extLst>
          </p:cNvPr>
          <p:cNvSpPr>
            <a:spLocks noChangeAspect="1"/>
          </p:cNvSpPr>
          <p:nvPr/>
        </p:nvSpPr>
        <p:spPr>
          <a:xfrm>
            <a:off x="10197795" y="9043720"/>
            <a:ext cx="1440098" cy="588356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 anchor="ctr" anchorCtr="0"/>
          <a:lstStyle/>
          <a:p>
            <a:pPr algn="ctr" defTabSz="1828755"/>
            <a:r>
              <a:rPr lang="es-419" sz="24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&lt;41</a:t>
            </a:r>
          </a:p>
        </p:txBody>
      </p:sp>
      <p:sp>
        <p:nvSpPr>
          <p:cNvPr id="126" name="Shape 58">
            <a:extLst>
              <a:ext uri="{FF2B5EF4-FFF2-40B4-BE49-F238E27FC236}">
                <a16:creationId xmlns:a16="http://schemas.microsoft.com/office/drawing/2014/main" id="{DD1E145D-7E11-5E6A-2B5D-FE919AD53703}"/>
              </a:ext>
            </a:extLst>
          </p:cNvPr>
          <p:cNvSpPr>
            <a:spLocks noChangeAspect="1"/>
          </p:cNvSpPr>
          <p:nvPr/>
        </p:nvSpPr>
        <p:spPr>
          <a:xfrm>
            <a:off x="10258274" y="7435232"/>
            <a:ext cx="1440098" cy="588356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 anchor="ctr" anchorCtr="0"/>
          <a:lstStyle/>
          <a:p>
            <a:pPr algn="ctr" defTabSz="1828755"/>
            <a:r>
              <a:rPr lang="es-419" sz="24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&lt;21,5</a:t>
            </a:r>
          </a:p>
        </p:txBody>
      </p:sp>
      <p:sp>
        <p:nvSpPr>
          <p:cNvPr id="128" name="Elipse 127">
            <a:extLst>
              <a:ext uri="{FF2B5EF4-FFF2-40B4-BE49-F238E27FC236}">
                <a16:creationId xmlns:a16="http://schemas.microsoft.com/office/drawing/2014/main" id="{4E5DA652-E0BC-402A-1CC6-EA2273DBD878}"/>
              </a:ext>
            </a:extLst>
          </p:cNvPr>
          <p:cNvSpPr/>
          <p:nvPr/>
        </p:nvSpPr>
        <p:spPr>
          <a:xfrm>
            <a:off x="12043121" y="7548526"/>
            <a:ext cx="399340" cy="361768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1" name="Text 0">
            <a:extLst>
              <a:ext uri="{FF2B5EF4-FFF2-40B4-BE49-F238E27FC236}">
                <a16:creationId xmlns:a16="http://schemas.microsoft.com/office/drawing/2014/main" id="{F289D91A-80A1-381F-C401-648E6B7C81E9}"/>
              </a:ext>
            </a:extLst>
          </p:cNvPr>
          <p:cNvSpPr/>
          <p:nvPr/>
        </p:nvSpPr>
        <p:spPr>
          <a:xfrm>
            <a:off x="1947670" y="405678"/>
            <a:ext cx="14934611" cy="75438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defTabSz="1371600">
              <a:lnSpc>
                <a:spcPct val="90000"/>
              </a:lnSpc>
            </a:pPr>
            <a:r>
              <a:rPr lang="en-US" sz="4050" b="1">
                <a:solidFill>
                  <a:srgbClr val="111111"/>
                </a:solidFill>
                <a:latin typeface="Segoe UI" panose="020B0502040204020203" pitchFamily="34" charset="0"/>
              </a:rPr>
              <a:t>TTM </a:t>
            </a:r>
            <a:r>
              <a:rPr lang="en-US" sz="4050" b="1" err="1">
                <a:solidFill>
                  <a:srgbClr val="111111"/>
                </a:solidFill>
                <a:latin typeface="Segoe UI" panose="020B0502040204020203" pitchFamily="34" charset="0"/>
              </a:rPr>
              <a:t>Equipos</a:t>
            </a:r>
            <a:r>
              <a:rPr lang="en-US" sz="4050" b="1">
                <a:solidFill>
                  <a:srgbClr val="111111"/>
                </a:solidFill>
                <a:latin typeface="Segoe UI" panose="020B0502040204020203" pitchFamily="34" charset="0"/>
              </a:rPr>
              <a:t> con </a:t>
            </a:r>
            <a:r>
              <a:rPr lang="en-US" sz="4050" b="1" err="1">
                <a:solidFill>
                  <a:srgbClr val="111111"/>
                </a:solidFill>
                <a:latin typeface="Segoe UI" panose="020B0502040204020203" pitchFamily="34" charset="0"/>
              </a:rPr>
              <a:t>Incorporación</a:t>
            </a:r>
            <a:r>
              <a:rPr lang="en-US" sz="4050" b="1">
                <a:solidFill>
                  <a:srgbClr val="111111"/>
                </a:solidFill>
                <a:latin typeface="Segoe UI" panose="020B0502040204020203" pitchFamily="34" charset="0"/>
              </a:rPr>
              <a:t> de </a:t>
            </a:r>
            <a:r>
              <a:rPr lang="en-US" sz="4050" b="1" err="1">
                <a:solidFill>
                  <a:srgbClr val="111111"/>
                </a:solidFill>
                <a:latin typeface="Segoe UI" panose="020B0502040204020203" pitchFamily="34" charset="0"/>
              </a:rPr>
              <a:t>Github</a:t>
            </a:r>
            <a:r>
              <a:rPr lang="en-US" sz="4050" b="1">
                <a:solidFill>
                  <a:srgbClr val="111111"/>
                </a:solidFill>
                <a:latin typeface="Segoe UI" panose="020B0502040204020203" pitchFamily="34" charset="0"/>
              </a:rPr>
              <a:t> Copilot </a:t>
            </a:r>
          </a:p>
        </p:txBody>
      </p:sp>
      <p:cxnSp>
        <p:nvCxnSpPr>
          <p:cNvPr id="132" name="Conector recto 131">
            <a:extLst>
              <a:ext uri="{FF2B5EF4-FFF2-40B4-BE49-F238E27FC236}">
                <a16:creationId xmlns:a16="http://schemas.microsoft.com/office/drawing/2014/main" id="{1549CEC6-143B-FB8C-9939-EA75901766CF}"/>
              </a:ext>
            </a:extLst>
          </p:cNvPr>
          <p:cNvCxnSpPr/>
          <p:nvPr/>
        </p:nvCxnSpPr>
        <p:spPr>
          <a:xfrm>
            <a:off x="1755648" y="495300"/>
            <a:ext cx="0" cy="685800"/>
          </a:xfrm>
          <a:prstGeom prst="line">
            <a:avLst/>
          </a:prstGeom>
          <a:ln w="12700">
            <a:solidFill>
              <a:srgbClr val="D8D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3" name="Imagen 132" descr="preencoded.png">
            <a:extLst>
              <a:ext uri="{FF2B5EF4-FFF2-40B4-BE49-F238E27FC236}">
                <a16:creationId xmlns:a16="http://schemas.microsoft.com/office/drawing/2014/main" id="{5676A5DB-4B9C-ACC4-6644-89DB5190D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7" y="617078"/>
            <a:ext cx="713229" cy="543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8197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E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B7ED8E-92E6-36EF-EED1-B379C4ECA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CA19AF8F-976F-F552-0E1D-4B52A79EE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666750"/>
            <a:ext cx="551111" cy="4191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68217A13-57AA-2DD7-59E8-6B37CA5915A1}"/>
              </a:ext>
            </a:extLst>
          </p:cNvPr>
          <p:cNvSpPr/>
          <p:nvPr/>
        </p:nvSpPr>
        <p:spPr>
          <a:xfrm>
            <a:off x="1656011" y="685800"/>
            <a:ext cx="9525" cy="381000"/>
          </a:xfrm>
          <a:prstGeom prst="rect">
            <a:avLst/>
          </a:prstGeom>
          <a:solidFill>
            <a:srgbClr val="DEDBD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F2AB67D0-A689-0F28-B96F-00DB57E42A0E}"/>
              </a:ext>
            </a:extLst>
          </p:cNvPr>
          <p:cNvSpPr/>
          <p:nvPr/>
        </p:nvSpPr>
        <p:spPr>
          <a:xfrm>
            <a:off x="15456843" y="795338"/>
            <a:ext cx="203105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5" b="0" i="0" u="none" strike="noStrike" kern="0" cap="none" spc="135" normalizeH="0" baseline="0" noProof="0">
                <a:ln>
                  <a:noFill/>
                </a:ln>
                <a:solidFill>
                  <a:srgbClr val="867F7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VISTA DE ALTO NIVEL</a:t>
            </a:r>
            <a:endParaRPr kumimoji="0" lang="en-US" sz="112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974A0D49-8684-901C-C172-B93C7EE0AB8E}"/>
              </a:ext>
            </a:extLst>
          </p:cNvPr>
          <p:cNvSpPr/>
          <p:nvPr/>
        </p:nvSpPr>
        <p:spPr>
          <a:xfrm>
            <a:off x="876300" y="1371600"/>
            <a:ext cx="514350" cy="85725"/>
          </a:xfrm>
          <a:prstGeom prst="rect">
            <a:avLst/>
          </a:prstGeom>
          <a:solidFill>
            <a:srgbClr val="ED1C2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DC4F79DE-D4CB-30FA-9234-84F303A528DE}"/>
              </a:ext>
            </a:extLst>
          </p:cNvPr>
          <p:cNvSpPr/>
          <p:nvPr/>
        </p:nvSpPr>
        <p:spPr>
          <a:xfrm>
            <a:off x="1876425" y="638175"/>
            <a:ext cx="1703146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50" b="1" i="0" u="none" strike="noStrike" kern="0" cap="none" spc="-69" normalizeH="0" baseline="0" noProof="0" err="1">
                <a:ln>
                  <a:noFill/>
                </a:ln>
                <a:solidFill>
                  <a:srgbClr val="1A1714"/>
                </a:solidFill>
                <a:effectLst/>
                <a:uLnTx/>
                <a:uFillTx/>
                <a:latin typeface="Helvetica" pitchFamily="34" charset="0"/>
                <a:ea typeface="Helvetica" pitchFamily="34" charset="-122"/>
                <a:cs typeface="Helvetica" pitchFamily="34" charset="-120"/>
              </a:rPr>
              <a:t>Proceso</a:t>
            </a:r>
            <a:r>
              <a:rPr kumimoji="0" lang="en-US" sz="3450" b="1" i="0" u="none" strike="noStrike" kern="0" cap="none" spc="-69" normalizeH="0" baseline="0" noProof="0">
                <a:ln>
                  <a:noFill/>
                </a:ln>
                <a:solidFill>
                  <a:srgbClr val="1A1714"/>
                </a:solidFill>
                <a:effectLst/>
                <a:uLnTx/>
                <a:uFillTx/>
                <a:latin typeface="Helvetica" pitchFamily="34" charset="0"/>
                <a:ea typeface="Helvetica" pitchFamily="34" charset="-122"/>
                <a:cs typeface="Helvetica" pitchFamily="34" charset="-120"/>
              </a:rPr>
              <a:t> de </a:t>
            </a:r>
            <a:r>
              <a:rPr kumimoji="0" lang="en-US" sz="3450" b="1" i="0" u="none" strike="noStrike" kern="0" cap="none" spc="-69" normalizeH="0" baseline="0" noProof="0" err="1">
                <a:ln>
                  <a:noFill/>
                </a:ln>
                <a:solidFill>
                  <a:srgbClr val="1A1714"/>
                </a:solidFill>
                <a:effectLst/>
                <a:uLnTx/>
                <a:uFillTx/>
                <a:latin typeface="Helvetica" pitchFamily="34" charset="0"/>
                <a:ea typeface="Helvetica" pitchFamily="34" charset="-122"/>
                <a:cs typeface="Helvetica" pitchFamily="34" charset="-120"/>
              </a:rPr>
              <a:t>desarrollo</a:t>
            </a:r>
            <a:r>
              <a:rPr kumimoji="0" lang="en-US" sz="3450" b="1" i="0" u="none" strike="noStrike" kern="0" cap="none" spc="-69" normalizeH="0" baseline="0" noProof="0">
                <a:ln>
                  <a:noFill/>
                </a:ln>
                <a:solidFill>
                  <a:srgbClr val="1A1714"/>
                </a:solidFill>
                <a:effectLst/>
                <a:uLnTx/>
                <a:uFillTx/>
                <a:latin typeface="Helvetica" pitchFamily="34" charset="0"/>
                <a:ea typeface="Helvetica" pitchFamily="34" charset="-122"/>
                <a:cs typeface="Helvetica" pitchFamily="34" charset="-120"/>
              </a:rPr>
              <a:t> de </a:t>
            </a:r>
            <a:r>
              <a:rPr kumimoji="0" lang="en-US" sz="3450" b="1" i="0" u="none" strike="noStrike" kern="0" cap="none" spc="-69" normalizeH="0" baseline="0" noProof="0" err="1">
                <a:ln>
                  <a:noFill/>
                </a:ln>
                <a:solidFill>
                  <a:srgbClr val="1A1714"/>
                </a:solidFill>
                <a:effectLst/>
                <a:uLnTx/>
                <a:uFillTx/>
                <a:latin typeface="Helvetica" pitchFamily="34" charset="0"/>
                <a:ea typeface="Helvetica" pitchFamily="34" charset="-122"/>
                <a:cs typeface="Helvetica" pitchFamily="34" charset="-120"/>
              </a:rPr>
              <a:t>soluciones</a:t>
            </a:r>
            <a:endParaRPr kumimoji="0" lang="en-US" sz="3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0A71E61A-D310-D287-5B8E-FF4C5FDCFC37}"/>
              </a:ext>
            </a:extLst>
          </p:cNvPr>
          <p:cNvSpPr/>
          <p:nvPr/>
        </p:nvSpPr>
        <p:spPr>
          <a:xfrm>
            <a:off x="876300" y="5710238"/>
            <a:ext cx="16116300" cy="19050"/>
          </a:xfrm>
          <a:prstGeom prst="rect">
            <a:avLst/>
          </a:prstGeom>
          <a:solidFill>
            <a:srgbClr val="1A171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5FA92253-6147-1D73-74C4-E1C34C3C61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6425" y="3638252"/>
            <a:ext cx="361950" cy="361950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D960EF60-B0BA-09CD-2473-CC0A04B7DB16}"/>
              </a:ext>
            </a:extLst>
          </p:cNvPr>
          <p:cNvSpPr/>
          <p:nvPr/>
        </p:nvSpPr>
        <p:spPr>
          <a:xfrm>
            <a:off x="876300" y="4162127"/>
            <a:ext cx="2362200" cy="326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0" cap="none" spc="-31" normalizeH="0" baseline="0" noProof="0">
                <a:ln>
                  <a:noFill/>
                </a:ln>
                <a:solidFill>
                  <a:srgbClr val="1A1714"/>
                </a:solidFill>
                <a:effectLst/>
                <a:uLnTx/>
                <a:uFillTx/>
                <a:latin typeface="Helvetica" pitchFamily="34" charset="0"/>
                <a:ea typeface="Helvetica" pitchFamily="34" charset="-122"/>
                <a:cs typeface="Helvetica" pitchFamily="34" charset="-120"/>
              </a:rPr>
              <a:t>Priorización</a:t>
            </a:r>
            <a:endParaRPr kumimoji="0" lang="en-US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D6DB477E-C6BB-6BF5-2DF3-FBE4B0FBCC8F}"/>
              </a:ext>
            </a:extLst>
          </p:cNvPr>
          <p:cNvSpPr/>
          <p:nvPr/>
        </p:nvSpPr>
        <p:spPr>
          <a:xfrm>
            <a:off x="876300" y="4564410"/>
            <a:ext cx="2362200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8" b="0" i="0" u="none" strike="noStrike" kern="0" cap="none" spc="54" normalizeH="0" baseline="0" noProof="0">
                <a:ln>
                  <a:noFill/>
                </a:ln>
                <a:solidFill>
                  <a:srgbClr val="564F4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DIRECCIÓN DE TECNOLOGÍA</a:t>
            </a:r>
            <a:endParaRPr kumimoji="0" lang="en-US" sz="108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5DE8BD9B-A2E7-3E86-2F65-BC7985A10D27}"/>
              </a:ext>
            </a:extLst>
          </p:cNvPr>
          <p:cNvSpPr/>
          <p:nvPr/>
        </p:nvSpPr>
        <p:spPr>
          <a:xfrm>
            <a:off x="2047875" y="4795838"/>
            <a:ext cx="19050" cy="914400"/>
          </a:xfrm>
          <a:prstGeom prst="rect">
            <a:avLst/>
          </a:prstGeom>
          <a:solidFill>
            <a:srgbClr val="DEDBD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D049364C-9576-56B6-CE47-0A33678134A0}"/>
              </a:ext>
            </a:extLst>
          </p:cNvPr>
          <p:cNvSpPr/>
          <p:nvPr/>
        </p:nvSpPr>
        <p:spPr>
          <a:xfrm>
            <a:off x="1714500" y="5367338"/>
            <a:ext cx="685800" cy="685800"/>
          </a:xfrm>
          <a:prstGeom prst="ellipse">
            <a:avLst/>
          </a:prstGeom>
          <a:solidFill>
            <a:srgbClr val="F0EEE9"/>
          </a:solidFill>
          <a:ln w="19050">
            <a:solidFill>
              <a:srgbClr val="1A17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7595AE30-907C-3135-F8D4-68238A91EBAE}"/>
              </a:ext>
            </a:extLst>
          </p:cNvPr>
          <p:cNvSpPr/>
          <p:nvPr/>
        </p:nvSpPr>
        <p:spPr>
          <a:xfrm>
            <a:off x="1943100" y="5581650"/>
            <a:ext cx="3048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1A171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FEC1793B-1CE0-4365-1F65-AD872BF1CEDA}"/>
              </a:ext>
            </a:extLst>
          </p:cNvPr>
          <p:cNvSpPr/>
          <p:nvPr/>
        </p:nvSpPr>
        <p:spPr>
          <a:xfrm>
            <a:off x="2009775" y="5338763"/>
            <a:ext cx="95250" cy="95250"/>
          </a:xfrm>
          <a:prstGeom prst="ellipse">
            <a:avLst/>
          </a:prstGeom>
          <a:solidFill>
            <a:srgbClr val="ED1C29"/>
          </a:solidFill>
          <a:ln w="9525">
            <a:solidFill>
              <a:srgbClr val="1A17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EE9C8855-BFA6-333C-8C6C-9C6A0F8158FE}"/>
              </a:ext>
            </a:extLst>
          </p:cNvPr>
          <p:cNvSpPr/>
          <p:nvPr/>
        </p:nvSpPr>
        <p:spPr>
          <a:xfrm>
            <a:off x="4076700" y="5367338"/>
            <a:ext cx="685800" cy="685800"/>
          </a:xfrm>
          <a:prstGeom prst="ellipse">
            <a:avLst/>
          </a:prstGeom>
          <a:solidFill>
            <a:srgbClr val="F0EEE9"/>
          </a:solidFill>
          <a:ln w="19050">
            <a:solidFill>
              <a:srgbClr val="1A17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06079BDC-0708-4DAD-3719-518924AAEB74}"/>
              </a:ext>
            </a:extLst>
          </p:cNvPr>
          <p:cNvSpPr/>
          <p:nvPr/>
        </p:nvSpPr>
        <p:spPr>
          <a:xfrm>
            <a:off x="4305300" y="5581650"/>
            <a:ext cx="3048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1A171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0276DEC5-9964-0DBF-F44A-653A398E7E3A}"/>
              </a:ext>
            </a:extLst>
          </p:cNvPr>
          <p:cNvSpPr/>
          <p:nvPr/>
        </p:nvSpPr>
        <p:spPr>
          <a:xfrm>
            <a:off x="4371975" y="5338763"/>
            <a:ext cx="95250" cy="95250"/>
          </a:xfrm>
          <a:prstGeom prst="ellipse">
            <a:avLst/>
          </a:prstGeom>
          <a:solidFill>
            <a:srgbClr val="ED1C29"/>
          </a:solidFill>
          <a:ln w="9525">
            <a:solidFill>
              <a:srgbClr val="1A17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7186899F-4C07-48C2-4C87-CA77006D237F}"/>
              </a:ext>
            </a:extLst>
          </p:cNvPr>
          <p:cNvSpPr/>
          <p:nvPr/>
        </p:nvSpPr>
        <p:spPr>
          <a:xfrm>
            <a:off x="4370933" y="6100762"/>
            <a:ext cx="58192" cy="523875"/>
          </a:xfrm>
          <a:prstGeom prst="rect">
            <a:avLst/>
          </a:prstGeom>
          <a:solidFill>
            <a:srgbClr val="DEDBD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" name="Image 3" descr="preencoded.png">
            <a:extLst>
              <a:ext uri="{FF2B5EF4-FFF2-40B4-BE49-F238E27FC236}">
                <a16:creationId xmlns:a16="http://schemas.microsoft.com/office/drawing/2014/main" id="{C0B698AD-389D-0BE7-A102-17BBA726A1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8625" y="6672263"/>
            <a:ext cx="361950" cy="361950"/>
          </a:xfrm>
          <a:prstGeom prst="rect">
            <a:avLst/>
          </a:prstGeom>
        </p:spPr>
      </p:pic>
      <p:sp>
        <p:nvSpPr>
          <p:cNvPr id="21" name="Text 15">
            <a:extLst>
              <a:ext uri="{FF2B5EF4-FFF2-40B4-BE49-F238E27FC236}">
                <a16:creationId xmlns:a16="http://schemas.microsoft.com/office/drawing/2014/main" id="{80990DF3-A207-14C8-F920-FFB446D27BCE}"/>
              </a:ext>
            </a:extLst>
          </p:cNvPr>
          <p:cNvSpPr/>
          <p:nvPr/>
        </p:nvSpPr>
        <p:spPr>
          <a:xfrm>
            <a:off x="3238500" y="7196138"/>
            <a:ext cx="2362200" cy="614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0" cap="none" spc="-31" normalizeH="0" baseline="0" noProof="0">
                <a:ln>
                  <a:noFill/>
                </a:ln>
                <a:solidFill>
                  <a:srgbClr val="1A1714"/>
                </a:solidFill>
                <a:effectLst/>
                <a:uLnTx/>
                <a:uFillTx/>
                <a:latin typeface="Helvetica" pitchFamily="34" charset="0"/>
                <a:ea typeface="Helvetica" pitchFamily="34" charset="-122"/>
                <a:cs typeface="Helvetica" pitchFamily="34" charset="-120"/>
              </a:rPr>
              <a:t>Diseño de Arquitectura</a:t>
            </a:r>
            <a:endParaRPr kumimoji="0" lang="en-US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40002E56-08AC-D315-7472-B8ADFA4AB474}"/>
              </a:ext>
            </a:extLst>
          </p:cNvPr>
          <p:cNvSpPr/>
          <p:nvPr/>
        </p:nvSpPr>
        <p:spPr>
          <a:xfrm>
            <a:off x="3238500" y="7886402"/>
            <a:ext cx="2362200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8" b="0" i="0" u="none" strike="noStrike" kern="0" cap="none" spc="54" normalizeH="0" baseline="0" noProof="0">
                <a:ln>
                  <a:noFill/>
                </a:ln>
                <a:solidFill>
                  <a:srgbClr val="564F4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EQUIPO DE ARQUITECTURA</a:t>
            </a:r>
            <a:endParaRPr kumimoji="0" lang="en-US" sz="108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267A8609-AC9F-0671-D126-939A72758A8F}"/>
              </a:ext>
            </a:extLst>
          </p:cNvPr>
          <p:cNvSpPr/>
          <p:nvPr/>
        </p:nvSpPr>
        <p:spPr>
          <a:xfrm>
            <a:off x="4139654" y="8203555"/>
            <a:ext cx="559743" cy="219075"/>
          </a:xfrm>
          <a:prstGeom prst="roundRect">
            <a:avLst>
              <a:gd name="adj" fmla="val 50000"/>
            </a:avLst>
          </a:prstGeom>
          <a:solidFill>
            <a:srgbClr val="ED1C29"/>
          </a:solidFill>
          <a:ln w="9525">
            <a:solidFill>
              <a:srgbClr val="1A17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4" name="Image 4" descr="preencoded.png">
            <a:extLst>
              <a:ext uri="{FF2B5EF4-FFF2-40B4-BE49-F238E27FC236}">
                <a16:creationId xmlns:a16="http://schemas.microsoft.com/office/drawing/2014/main" id="{3C26F4C8-9880-6E99-8E39-8C7FBA6786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4904" y="8251180"/>
            <a:ext cx="123825" cy="123825"/>
          </a:xfrm>
          <a:prstGeom prst="rect">
            <a:avLst/>
          </a:prstGeom>
        </p:spPr>
      </p:pic>
      <p:sp>
        <p:nvSpPr>
          <p:cNvPr id="25" name="Text 18">
            <a:extLst>
              <a:ext uri="{FF2B5EF4-FFF2-40B4-BE49-F238E27FC236}">
                <a16:creationId xmlns:a16="http://schemas.microsoft.com/office/drawing/2014/main" id="{70CFBDAF-E49E-1DD7-81EA-A9F2F3D50025}"/>
              </a:ext>
            </a:extLst>
          </p:cNvPr>
          <p:cNvSpPr/>
          <p:nvPr/>
        </p:nvSpPr>
        <p:spPr>
          <a:xfrm>
            <a:off x="4415879" y="8236893"/>
            <a:ext cx="2454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26" normalizeH="0" baseline="0" noProof="0">
                <a:ln>
                  <a:noFill/>
                </a:ln>
                <a:solidFill>
                  <a:srgbClr val="F0EEE9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" name="Image 5" descr="preencoded.png">
            <a:extLst>
              <a:ext uri="{FF2B5EF4-FFF2-40B4-BE49-F238E27FC236}">
                <a16:creationId xmlns:a16="http://schemas.microsoft.com/office/drawing/2014/main" id="{8D5BCE59-53E6-C43C-D087-A8D58C2A4E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0825" y="3350270"/>
            <a:ext cx="361950" cy="361950"/>
          </a:xfrm>
          <a:prstGeom prst="rect">
            <a:avLst/>
          </a:prstGeom>
        </p:spPr>
      </p:pic>
      <p:sp>
        <p:nvSpPr>
          <p:cNvPr id="27" name="Text 19">
            <a:extLst>
              <a:ext uri="{FF2B5EF4-FFF2-40B4-BE49-F238E27FC236}">
                <a16:creationId xmlns:a16="http://schemas.microsoft.com/office/drawing/2014/main" id="{236DACE9-3104-E958-A94A-BC5C2E2D3CD9}"/>
              </a:ext>
            </a:extLst>
          </p:cNvPr>
          <p:cNvSpPr/>
          <p:nvPr/>
        </p:nvSpPr>
        <p:spPr>
          <a:xfrm>
            <a:off x="5600700" y="3874145"/>
            <a:ext cx="2362200" cy="614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0" cap="none" spc="-31" normalizeH="0" baseline="0" noProof="0" err="1">
                <a:ln>
                  <a:noFill/>
                </a:ln>
                <a:solidFill>
                  <a:srgbClr val="1A1714"/>
                </a:solidFill>
                <a:effectLst/>
                <a:uLnTx/>
                <a:uFillTx/>
                <a:latin typeface="Helvetica" pitchFamily="34" charset="0"/>
                <a:ea typeface="Helvetica" pitchFamily="34" charset="-122"/>
                <a:cs typeface="Helvetica" pitchFamily="34" charset="-120"/>
              </a:rPr>
              <a:t>Diseño</a:t>
            </a:r>
            <a:r>
              <a:rPr kumimoji="0" lang="en-US" sz="2100" b="1" i="0" u="none" strike="noStrike" kern="0" cap="none" spc="-31" normalizeH="0" baseline="0" noProof="0">
                <a:ln>
                  <a:noFill/>
                </a:ln>
                <a:solidFill>
                  <a:srgbClr val="1A1714"/>
                </a:solidFill>
                <a:effectLst/>
                <a:uLnTx/>
                <a:uFillTx/>
                <a:latin typeface="Helvetica" pitchFamily="34" charset="0"/>
                <a:ea typeface="Helvetica" pitchFamily="34" charset="-122"/>
                <a:cs typeface="Helvetica" pitchFamily="34" charset="-120"/>
              </a:rPr>
              <a:t> de </a:t>
            </a:r>
            <a:r>
              <a:rPr kumimoji="0" lang="en-US" sz="2100" b="1" i="0" u="none" strike="noStrike" kern="0" cap="none" spc="-31" normalizeH="0" baseline="0" noProof="0" err="1">
                <a:ln>
                  <a:noFill/>
                </a:ln>
                <a:solidFill>
                  <a:srgbClr val="1A1714"/>
                </a:solidFill>
                <a:effectLst/>
                <a:uLnTx/>
                <a:uFillTx/>
                <a:latin typeface="Helvetica" pitchFamily="34" charset="0"/>
                <a:ea typeface="Helvetica" pitchFamily="34" charset="-122"/>
                <a:cs typeface="Helvetica" pitchFamily="34" charset="-120"/>
              </a:rPr>
              <a:t>Seguridad</a:t>
            </a:r>
            <a:endParaRPr kumimoji="0" lang="en-US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0">
            <a:extLst>
              <a:ext uri="{FF2B5EF4-FFF2-40B4-BE49-F238E27FC236}">
                <a16:creationId xmlns:a16="http://schemas.microsoft.com/office/drawing/2014/main" id="{E3A2092B-74A4-41EA-3EE5-15404025165D}"/>
              </a:ext>
            </a:extLst>
          </p:cNvPr>
          <p:cNvSpPr/>
          <p:nvPr/>
        </p:nvSpPr>
        <p:spPr>
          <a:xfrm>
            <a:off x="5600700" y="4564410"/>
            <a:ext cx="2362200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8" b="0" i="0" u="none" strike="noStrike" kern="0" cap="none" spc="54" normalizeH="0" baseline="0" noProof="0">
                <a:ln>
                  <a:noFill/>
                </a:ln>
                <a:solidFill>
                  <a:srgbClr val="564F4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EQUIPO DE SEGURIDAD</a:t>
            </a:r>
            <a:endParaRPr kumimoji="0" lang="en-US" sz="108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DAE911D5-6988-6FF2-9A72-4292A47BA934}"/>
              </a:ext>
            </a:extLst>
          </p:cNvPr>
          <p:cNvSpPr/>
          <p:nvPr/>
        </p:nvSpPr>
        <p:spPr>
          <a:xfrm>
            <a:off x="6772275" y="4795838"/>
            <a:ext cx="19050" cy="914400"/>
          </a:xfrm>
          <a:prstGeom prst="rect">
            <a:avLst/>
          </a:prstGeom>
          <a:solidFill>
            <a:srgbClr val="DEDBD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2">
            <a:extLst>
              <a:ext uri="{FF2B5EF4-FFF2-40B4-BE49-F238E27FC236}">
                <a16:creationId xmlns:a16="http://schemas.microsoft.com/office/drawing/2014/main" id="{593631E3-5676-9367-18E7-A69A10EE6CBD}"/>
              </a:ext>
            </a:extLst>
          </p:cNvPr>
          <p:cNvSpPr/>
          <p:nvPr/>
        </p:nvSpPr>
        <p:spPr>
          <a:xfrm>
            <a:off x="6438900" y="5367338"/>
            <a:ext cx="685800" cy="685800"/>
          </a:xfrm>
          <a:prstGeom prst="ellipse">
            <a:avLst/>
          </a:prstGeom>
          <a:solidFill>
            <a:srgbClr val="F0EEE9"/>
          </a:solidFill>
          <a:ln w="19050">
            <a:solidFill>
              <a:srgbClr val="1A17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3">
            <a:extLst>
              <a:ext uri="{FF2B5EF4-FFF2-40B4-BE49-F238E27FC236}">
                <a16:creationId xmlns:a16="http://schemas.microsoft.com/office/drawing/2014/main" id="{0B5216EA-B36B-3EEC-DED8-BAE5FD15D9C1}"/>
              </a:ext>
            </a:extLst>
          </p:cNvPr>
          <p:cNvSpPr/>
          <p:nvPr/>
        </p:nvSpPr>
        <p:spPr>
          <a:xfrm>
            <a:off x="6667500" y="5581650"/>
            <a:ext cx="3048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1A171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24">
            <a:extLst>
              <a:ext uri="{FF2B5EF4-FFF2-40B4-BE49-F238E27FC236}">
                <a16:creationId xmlns:a16="http://schemas.microsoft.com/office/drawing/2014/main" id="{3F59F82C-28C1-0E92-7AFA-39FD56DD7645}"/>
              </a:ext>
            </a:extLst>
          </p:cNvPr>
          <p:cNvSpPr/>
          <p:nvPr/>
        </p:nvSpPr>
        <p:spPr>
          <a:xfrm>
            <a:off x="6734175" y="5338763"/>
            <a:ext cx="95250" cy="95250"/>
          </a:xfrm>
          <a:prstGeom prst="ellipse">
            <a:avLst/>
          </a:prstGeom>
          <a:solidFill>
            <a:srgbClr val="ED1C29"/>
          </a:solidFill>
          <a:ln w="9525">
            <a:solidFill>
              <a:srgbClr val="1A17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2130DBB7-A4F6-D8C1-6E6F-083B3FF2D5E8}"/>
              </a:ext>
            </a:extLst>
          </p:cNvPr>
          <p:cNvSpPr/>
          <p:nvPr/>
        </p:nvSpPr>
        <p:spPr>
          <a:xfrm>
            <a:off x="8801100" y="5367338"/>
            <a:ext cx="685800" cy="685800"/>
          </a:xfrm>
          <a:prstGeom prst="ellipse">
            <a:avLst/>
          </a:prstGeom>
          <a:solidFill>
            <a:srgbClr val="F0EEE9"/>
          </a:solidFill>
          <a:ln w="19050">
            <a:solidFill>
              <a:srgbClr val="1A17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26">
            <a:extLst>
              <a:ext uri="{FF2B5EF4-FFF2-40B4-BE49-F238E27FC236}">
                <a16:creationId xmlns:a16="http://schemas.microsoft.com/office/drawing/2014/main" id="{BE295875-32DB-4673-6256-A2CEEF31DC64}"/>
              </a:ext>
            </a:extLst>
          </p:cNvPr>
          <p:cNvSpPr/>
          <p:nvPr/>
        </p:nvSpPr>
        <p:spPr>
          <a:xfrm>
            <a:off x="9029700" y="5581650"/>
            <a:ext cx="3048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1A171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27">
            <a:extLst>
              <a:ext uri="{FF2B5EF4-FFF2-40B4-BE49-F238E27FC236}">
                <a16:creationId xmlns:a16="http://schemas.microsoft.com/office/drawing/2014/main" id="{EC876A63-E9CA-6042-3029-AC70CC6833DD}"/>
              </a:ext>
            </a:extLst>
          </p:cNvPr>
          <p:cNvSpPr/>
          <p:nvPr/>
        </p:nvSpPr>
        <p:spPr>
          <a:xfrm>
            <a:off x="9096375" y="5338763"/>
            <a:ext cx="95250" cy="95250"/>
          </a:xfrm>
          <a:prstGeom prst="ellipse">
            <a:avLst/>
          </a:prstGeom>
          <a:solidFill>
            <a:srgbClr val="ED1C29"/>
          </a:solidFill>
          <a:ln w="9525">
            <a:solidFill>
              <a:srgbClr val="1A17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28">
            <a:extLst>
              <a:ext uri="{FF2B5EF4-FFF2-40B4-BE49-F238E27FC236}">
                <a16:creationId xmlns:a16="http://schemas.microsoft.com/office/drawing/2014/main" id="{93C63521-0000-ACD9-A383-C4D0214530FD}"/>
              </a:ext>
            </a:extLst>
          </p:cNvPr>
          <p:cNvSpPr/>
          <p:nvPr/>
        </p:nvSpPr>
        <p:spPr>
          <a:xfrm flipH="1">
            <a:off x="9153524" y="6072188"/>
            <a:ext cx="45719" cy="552450"/>
          </a:xfrm>
          <a:prstGeom prst="rect">
            <a:avLst/>
          </a:prstGeom>
          <a:solidFill>
            <a:srgbClr val="DEDBD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7" name="Image 6" descr="preencoded.png">
            <a:extLst>
              <a:ext uri="{FF2B5EF4-FFF2-40B4-BE49-F238E27FC236}">
                <a16:creationId xmlns:a16="http://schemas.microsoft.com/office/drawing/2014/main" id="{BA2144A1-DED8-9D96-0FEF-28ACE26C75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63025" y="6672263"/>
            <a:ext cx="361950" cy="361950"/>
          </a:xfrm>
          <a:prstGeom prst="rect">
            <a:avLst/>
          </a:prstGeom>
        </p:spPr>
      </p:pic>
      <p:sp>
        <p:nvSpPr>
          <p:cNvPr id="38" name="Text 29">
            <a:extLst>
              <a:ext uri="{FF2B5EF4-FFF2-40B4-BE49-F238E27FC236}">
                <a16:creationId xmlns:a16="http://schemas.microsoft.com/office/drawing/2014/main" id="{8CEFDFB1-60A8-F323-14A4-3EEF52F59AC8}"/>
              </a:ext>
            </a:extLst>
          </p:cNvPr>
          <p:cNvSpPr/>
          <p:nvPr/>
        </p:nvSpPr>
        <p:spPr>
          <a:xfrm>
            <a:off x="7962900" y="7196138"/>
            <a:ext cx="2362200" cy="326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0" cap="none" spc="-31" normalizeH="0" baseline="0" noProof="0" err="1">
                <a:ln>
                  <a:noFill/>
                </a:ln>
                <a:solidFill>
                  <a:srgbClr val="1A1714"/>
                </a:solidFill>
                <a:effectLst/>
                <a:uLnTx/>
                <a:uFillTx/>
                <a:latin typeface="Helvetica" pitchFamily="34" charset="0"/>
                <a:ea typeface="Helvetica" pitchFamily="34" charset="-122"/>
                <a:cs typeface="Helvetica" pitchFamily="34" charset="-120"/>
              </a:rPr>
              <a:t>Aprovisionamiento</a:t>
            </a:r>
            <a:endParaRPr kumimoji="0" lang="en-US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0">
            <a:extLst>
              <a:ext uri="{FF2B5EF4-FFF2-40B4-BE49-F238E27FC236}">
                <a16:creationId xmlns:a16="http://schemas.microsoft.com/office/drawing/2014/main" id="{2188518D-86CC-FF31-CCB7-6B28B70E4FC7}"/>
              </a:ext>
            </a:extLst>
          </p:cNvPr>
          <p:cNvSpPr/>
          <p:nvPr/>
        </p:nvSpPr>
        <p:spPr>
          <a:xfrm>
            <a:off x="7962900" y="7598420"/>
            <a:ext cx="2362200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8" b="0" i="0" u="none" strike="noStrike" kern="0" cap="none" spc="54" normalizeH="0" baseline="0" noProof="0">
                <a:ln>
                  <a:noFill/>
                </a:ln>
                <a:solidFill>
                  <a:srgbClr val="564F4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NUBE &amp; DEVOPS</a:t>
            </a:r>
            <a:endParaRPr kumimoji="0" lang="en-US" sz="108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0" name="Image 7" descr="preencoded.png">
            <a:extLst>
              <a:ext uri="{FF2B5EF4-FFF2-40B4-BE49-F238E27FC236}">
                <a16:creationId xmlns:a16="http://schemas.microsoft.com/office/drawing/2014/main" id="{B1ECA6C3-C63F-5A53-5AE1-B97280FC806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25225" y="3295352"/>
            <a:ext cx="361950" cy="361950"/>
          </a:xfrm>
          <a:prstGeom prst="rect">
            <a:avLst/>
          </a:prstGeom>
        </p:spPr>
      </p:pic>
      <p:sp>
        <p:nvSpPr>
          <p:cNvPr id="41" name="Text 31">
            <a:extLst>
              <a:ext uri="{FF2B5EF4-FFF2-40B4-BE49-F238E27FC236}">
                <a16:creationId xmlns:a16="http://schemas.microsoft.com/office/drawing/2014/main" id="{B0B99A2A-B1E0-A1CA-7B25-AA45E63415BF}"/>
              </a:ext>
            </a:extLst>
          </p:cNvPr>
          <p:cNvSpPr/>
          <p:nvPr/>
        </p:nvSpPr>
        <p:spPr>
          <a:xfrm>
            <a:off x="10325100" y="3819227"/>
            <a:ext cx="2362200" cy="326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0" cap="none" spc="-31" normalizeH="0" baseline="0" noProof="0">
                <a:ln>
                  <a:noFill/>
                </a:ln>
                <a:solidFill>
                  <a:srgbClr val="1A1714"/>
                </a:solidFill>
                <a:effectLst/>
                <a:uLnTx/>
                <a:uFillTx/>
                <a:latin typeface="Helvetica" pitchFamily="34" charset="0"/>
                <a:ea typeface="Helvetica" pitchFamily="34" charset="-122"/>
                <a:cs typeface="Helvetica" pitchFamily="34" charset="-120"/>
              </a:rPr>
              <a:t>Desarrollo</a:t>
            </a:r>
            <a:endParaRPr kumimoji="0" lang="en-US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32">
            <a:extLst>
              <a:ext uri="{FF2B5EF4-FFF2-40B4-BE49-F238E27FC236}">
                <a16:creationId xmlns:a16="http://schemas.microsoft.com/office/drawing/2014/main" id="{CD6EB343-C49B-4DF6-A9BC-F184CD47873E}"/>
              </a:ext>
            </a:extLst>
          </p:cNvPr>
          <p:cNvSpPr/>
          <p:nvPr/>
        </p:nvSpPr>
        <p:spPr>
          <a:xfrm>
            <a:off x="10325100" y="4221510"/>
            <a:ext cx="2362200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8" b="0" i="0" u="none" strike="noStrike" kern="0" cap="none" spc="54" normalizeH="0" baseline="0" noProof="0">
                <a:ln>
                  <a:noFill/>
                </a:ln>
                <a:solidFill>
                  <a:srgbClr val="564F4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EQUIPO DE DESARROLLO</a:t>
            </a:r>
            <a:endParaRPr kumimoji="0" lang="en-US" sz="108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33">
            <a:extLst>
              <a:ext uri="{FF2B5EF4-FFF2-40B4-BE49-F238E27FC236}">
                <a16:creationId xmlns:a16="http://schemas.microsoft.com/office/drawing/2014/main" id="{1408DA49-F291-0F75-E568-3FD7AB83FE35}"/>
              </a:ext>
            </a:extLst>
          </p:cNvPr>
          <p:cNvSpPr/>
          <p:nvPr/>
        </p:nvSpPr>
        <p:spPr>
          <a:xfrm>
            <a:off x="11226254" y="4538663"/>
            <a:ext cx="559743" cy="219075"/>
          </a:xfrm>
          <a:prstGeom prst="roundRect">
            <a:avLst>
              <a:gd name="adj" fmla="val 50000"/>
            </a:avLst>
          </a:prstGeom>
          <a:solidFill>
            <a:srgbClr val="ED1C29"/>
          </a:solidFill>
          <a:ln w="9525">
            <a:solidFill>
              <a:srgbClr val="1A17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4" name="Image 8" descr="preencoded.png">
            <a:extLst>
              <a:ext uri="{FF2B5EF4-FFF2-40B4-BE49-F238E27FC236}">
                <a16:creationId xmlns:a16="http://schemas.microsoft.com/office/drawing/2014/main" id="{EEFC6983-213F-FE15-3FC6-FFF0141AB7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21504" y="4586288"/>
            <a:ext cx="123825" cy="123825"/>
          </a:xfrm>
          <a:prstGeom prst="rect">
            <a:avLst/>
          </a:prstGeom>
        </p:spPr>
      </p:pic>
      <p:sp>
        <p:nvSpPr>
          <p:cNvPr id="45" name="Text 34">
            <a:extLst>
              <a:ext uri="{FF2B5EF4-FFF2-40B4-BE49-F238E27FC236}">
                <a16:creationId xmlns:a16="http://schemas.microsoft.com/office/drawing/2014/main" id="{02500DBE-7600-51A4-650D-BDB862DD675F}"/>
              </a:ext>
            </a:extLst>
          </p:cNvPr>
          <p:cNvSpPr/>
          <p:nvPr/>
        </p:nvSpPr>
        <p:spPr>
          <a:xfrm>
            <a:off x="11502479" y="4572000"/>
            <a:ext cx="2454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26" normalizeH="0" baseline="0" noProof="0">
                <a:ln>
                  <a:noFill/>
                </a:ln>
                <a:solidFill>
                  <a:srgbClr val="F0EEE9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35">
            <a:extLst>
              <a:ext uri="{FF2B5EF4-FFF2-40B4-BE49-F238E27FC236}">
                <a16:creationId xmlns:a16="http://schemas.microsoft.com/office/drawing/2014/main" id="{953008E7-A5C2-2069-3839-D35C0F2CE467}"/>
              </a:ext>
            </a:extLst>
          </p:cNvPr>
          <p:cNvSpPr/>
          <p:nvPr/>
        </p:nvSpPr>
        <p:spPr>
          <a:xfrm>
            <a:off x="11496675" y="4795838"/>
            <a:ext cx="19050" cy="914400"/>
          </a:xfrm>
          <a:prstGeom prst="rect">
            <a:avLst/>
          </a:prstGeom>
          <a:solidFill>
            <a:srgbClr val="DEDBD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36">
            <a:extLst>
              <a:ext uri="{FF2B5EF4-FFF2-40B4-BE49-F238E27FC236}">
                <a16:creationId xmlns:a16="http://schemas.microsoft.com/office/drawing/2014/main" id="{8EF0312F-0710-F58C-CD21-C50461715EAC}"/>
              </a:ext>
            </a:extLst>
          </p:cNvPr>
          <p:cNvSpPr/>
          <p:nvPr/>
        </p:nvSpPr>
        <p:spPr>
          <a:xfrm>
            <a:off x="11163300" y="5367338"/>
            <a:ext cx="685800" cy="685800"/>
          </a:xfrm>
          <a:prstGeom prst="ellipse">
            <a:avLst/>
          </a:prstGeom>
          <a:solidFill>
            <a:srgbClr val="F0EEE9"/>
          </a:solidFill>
          <a:ln w="19050">
            <a:solidFill>
              <a:srgbClr val="1A17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37">
            <a:extLst>
              <a:ext uri="{FF2B5EF4-FFF2-40B4-BE49-F238E27FC236}">
                <a16:creationId xmlns:a16="http://schemas.microsoft.com/office/drawing/2014/main" id="{768B3F37-417A-D83A-9BD2-6AB052F306B7}"/>
              </a:ext>
            </a:extLst>
          </p:cNvPr>
          <p:cNvSpPr/>
          <p:nvPr/>
        </p:nvSpPr>
        <p:spPr>
          <a:xfrm>
            <a:off x="11391900" y="5581650"/>
            <a:ext cx="3048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1A171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38">
            <a:extLst>
              <a:ext uri="{FF2B5EF4-FFF2-40B4-BE49-F238E27FC236}">
                <a16:creationId xmlns:a16="http://schemas.microsoft.com/office/drawing/2014/main" id="{043ACF40-F943-2945-3876-5FC1FCD18787}"/>
              </a:ext>
            </a:extLst>
          </p:cNvPr>
          <p:cNvSpPr/>
          <p:nvPr/>
        </p:nvSpPr>
        <p:spPr>
          <a:xfrm>
            <a:off x="11458575" y="5338763"/>
            <a:ext cx="95250" cy="95250"/>
          </a:xfrm>
          <a:prstGeom prst="ellipse">
            <a:avLst/>
          </a:prstGeom>
          <a:solidFill>
            <a:srgbClr val="ED1C29"/>
          </a:solidFill>
          <a:ln w="9525">
            <a:solidFill>
              <a:srgbClr val="1A17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Shape 39">
            <a:extLst>
              <a:ext uri="{FF2B5EF4-FFF2-40B4-BE49-F238E27FC236}">
                <a16:creationId xmlns:a16="http://schemas.microsoft.com/office/drawing/2014/main" id="{2CFF65F0-416C-567A-6A38-D88889F63242}"/>
              </a:ext>
            </a:extLst>
          </p:cNvPr>
          <p:cNvSpPr/>
          <p:nvPr/>
        </p:nvSpPr>
        <p:spPr>
          <a:xfrm>
            <a:off x="13525500" y="5367338"/>
            <a:ext cx="685800" cy="685800"/>
          </a:xfrm>
          <a:prstGeom prst="ellipse">
            <a:avLst/>
          </a:prstGeom>
          <a:solidFill>
            <a:srgbClr val="F0EEE9"/>
          </a:solidFill>
          <a:ln w="19050">
            <a:solidFill>
              <a:srgbClr val="1A17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0">
            <a:extLst>
              <a:ext uri="{FF2B5EF4-FFF2-40B4-BE49-F238E27FC236}">
                <a16:creationId xmlns:a16="http://schemas.microsoft.com/office/drawing/2014/main" id="{4D96DCDE-9BBA-838C-DAED-2A47F36A52FA}"/>
              </a:ext>
            </a:extLst>
          </p:cNvPr>
          <p:cNvSpPr/>
          <p:nvPr/>
        </p:nvSpPr>
        <p:spPr>
          <a:xfrm>
            <a:off x="13754100" y="5581650"/>
            <a:ext cx="3048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1A171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Shape 41">
            <a:extLst>
              <a:ext uri="{FF2B5EF4-FFF2-40B4-BE49-F238E27FC236}">
                <a16:creationId xmlns:a16="http://schemas.microsoft.com/office/drawing/2014/main" id="{7473376C-3822-1190-DADB-2CABC29D548F}"/>
              </a:ext>
            </a:extLst>
          </p:cNvPr>
          <p:cNvSpPr/>
          <p:nvPr/>
        </p:nvSpPr>
        <p:spPr>
          <a:xfrm>
            <a:off x="13820775" y="5338763"/>
            <a:ext cx="95250" cy="95250"/>
          </a:xfrm>
          <a:prstGeom prst="ellipse">
            <a:avLst/>
          </a:prstGeom>
          <a:solidFill>
            <a:srgbClr val="ED1C29"/>
          </a:solidFill>
          <a:ln w="9525">
            <a:solidFill>
              <a:srgbClr val="1A17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Shape 42">
            <a:extLst>
              <a:ext uri="{FF2B5EF4-FFF2-40B4-BE49-F238E27FC236}">
                <a16:creationId xmlns:a16="http://schemas.microsoft.com/office/drawing/2014/main" id="{0C02A4C1-634C-B285-9613-239B3829B172}"/>
              </a:ext>
            </a:extLst>
          </p:cNvPr>
          <p:cNvSpPr/>
          <p:nvPr/>
        </p:nvSpPr>
        <p:spPr>
          <a:xfrm>
            <a:off x="13829556" y="5977236"/>
            <a:ext cx="48369" cy="647402"/>
          </a:xfrm>
          <a:prstGeom prst="rect">
            <a:avLst/>
          </a:prstGeom>
          <a:solidFill>
            <a:srgbClr val="DEDBD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4" name="Image 9" descr="preencoded.png">
            <a:extLst>
              <a:ext uri="{FF2B5EF4-FFF2-40B4-BE49-F238E27FC236}">
                <a16:creationId xmlns:a16="http://schemas.microsoft.com/office/drawing/2014/main" id="{4379F5E6-BDD8-9FC5-3915-5BD68FD2412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687425" y="6672263"/>
            <a:ext cx="361950" cy="361950"/>
          </a:xfrm>
          <a:prstGeom prst="rect">
            <a:avLst/>
          </a:prstGeom>
        </p:spPr>
      </p:pic>
      <p:sp>
        <p:nvSpPr>
          <p:cNvPr id="55" name="Text 43">
            <a:extLst>
              <a:ext uri="{FF2B5EF4-FFF2-40B4-BE49-F238E27FC236}">
                <a16:creationId xmlns:a16="http://schemas.microsoft.com/office/drawing/2014/main" id="{03E208EE-1B4B-CA5D-DD4B-AEAAF0C5E85B}"/>
              </a:ext>
            </a:extLst>
          </p:cNvPr>
          <p:cNvSpPr/>
          <p:nvPr/>
        </p:nvSpPr>
        <p:spPr>
          <a:xfrm>
            <a:off x="12687300" y="7196138"/>
            <a:ext cx="2362200" cy="326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0" cap="none" spc="-31" normalizeH="0" baseline="0" noProof="0">
                <a:ln>
                  <a:noFill/>
                </a:ln>
                <a:solidFill>
                  <a:srgbClr val="1A1714"/>
                </a:solidFill>
                <a:effectLst/>
                <a:uLnTx/>
                <a:uFillTx/>
                <a:latin typeface="Helvetica" pitchFamily="34" charset="0"/>
                <a:ea typeface="Helvetica" pitchFamily="34" charset="-122"/>
                <a:cs typeface="Helvetica" pitchFamily="34" charset="-120"/>
              </a:rPr>
              <a:t>Pruebas</a:t>
            </a:r>
            <a:endParaRPr kumimoji="0" lang="en-US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 44">
            <a:extLst>
              <a:ext uri="{FF2B5EF4-FFF2-40B4-BE49-F238E27FC236}">
                <a16:creationId xmlns:a16="http://schemas.microsoft.com/office/drawing/2014/main" id="{13A6BE7E-ACBF-78B6-A0F7-A6959B0EA397}"/>
              </a:ext>
            </a:extLst>
          </p:cNvPr>
          <p:cNvSpPr/>
          <p:nvPr/>
        </p:nvSpPr>
        <p:spPr>
          <a:xfrm>
            <a:off x="12687300" y="7598420"/>
            <a:ext cx="2362200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8" b="0" i="0" u="none" strike="noStrike" kern="0" cap="none" spc="54" normalizeH="0" baseline="0" noProof="0">
                <a:ln>
                  <a:noFill/>
                </a:ln>
                <a:solidFill>
                  <a:srgbClr val="564F4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ASEGURAMIENTO DE CALIDAD</a:t>
            </a:r>
            <a:endParaRPr kumimoji="0" lang="en-US" sz="108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Shape 45">
            <a:extLst>
              <a:ext uri="{FF2B5EF4-FFF2-40B4-BE49-F238E27FC236}">
                <a16:creationId xmlns:a16="http://schemas.microsoft.com/office/drawing/2014/main" id="{D256C27C-D110-7C7E-4EA4-B7F1EEE0D144}"/>
              </a:ext>
            </a:extLst>
          </p:cNvPr>
          <p:cNvSpPr/>
          <p:nvPr/>
        </p:nvSpPr>
        <p:spPr>
          <a:xfrm>
            <a:off x="13588454" y="7915573"/>
            <a:ext cx="559743" cy="219075"/>
          </a:xfrm>
          <a:prstGeom prst="roundRect">
            <a:avLst>
              <a:gd name="adj" fmla="val 50000"/>
            </a:avLst>
          </a:prstGeom>
          <a:solidFill>
            <a:srgbClr val="ED1C29"/>
          </a:solidFill>
          <a:ln w="9525">
            <a:solidFill>
              <a:srgbClr val="1A17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8" name="Image 10" descr="preencoded.png">
            <a:extLst>
              <a:ext uri="{FF2B5EF4-FFF2-40B4-BE49-F238E27FC236}">
                <a16:creationId xmlns:a16="http://schemas.microsoft.com/office/drawing/2014/main" id="{0E90921B-03C0-73B4-CE84-37D1D9997A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83704" y="7963198"/>
            <a:ext cx="123825" cy="123825"/>
          </a:xfrm>
          <a:prstGeom prst="rect">
            <a:avLst/>
          </a:prstGeom>
        </p:spPr>
      </p:pic>
      <p:sp>
        <p:nvSpPr>
          <p:cNvPr id="59" name="Text 46">
            <a:extLst>
              <a:ext uri="{FF2B5EF4-FFF2-40B4-BE49-F238E27FC236}">
                <a16:creationId xmlns:a16="http://schemas.microsoft.com/office/drawing/2014/main" id="{42635DB4-D7FA-8CC4-C783-686A43ED6036}"/>
              </a:ext>
            </a:extLst>
          </p:cNvPr>
          <p:cNvSpPr/>
          <p:nvPr/>
        </p:nvSpPr>
        <p:spPr>
          <a:xfrm>
            <a:off x="13864679" y="7948910"/>
            <a:ext cx="2454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26" normalizeH="0" baseline="0" noProof="0">
                <a:ln>
                  <a:noFill/>
                </a:ln>
                <a:solidFill>
                  <a:srgbClr val="F0EEE9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0" name="Image 11" descr="preencoded.png">
            <a:extLst>
              <a:ext uri="{FF2B5EF4-FFF2-40B4-BE49-F238E27FC236}">
                <a16:creationId xmlns:a16="http://schemas.microsoft.com/office/drawing/2014/main" id="{052680AC-A79B-950B-C7DA-749220B1D3D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049625" y="3295352"/>
            <a:ext cx="361950" cy="361950"/>
          </a:xfrm>
          <a:prstGeom prst="rect">
            <a:avLst/>
          </a:prstGeom>
        </p:spPr>
      </p:pic>
      <p:sp>
        <p:nvSpPr>
          <p:cNvPr id="61" name="Text 47">
            <a:extLst>
              <a:ext uri="{FF2B5EF4-FFF2-40B4-BE49-F238E27FC236}">
                <a16:creationId xmlns:a16="http://schemas.microsoft.com/office/drawing/2014/main" id="{45C0E8BA-941C-DB62-0C42-71359283EF94}"/>
              </a:ext>
            </a:extLst>
          </p:cNvPr>
          <p:cNvSpPr/>
          <p:nvPr/>
        </p:nvSpPr>
        <p:spPr>
          <a:xfrm>
            <a:off x="15049500" y="3819227"/>
            <a:ext cx="2362200" cy="326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0" cap="none" spc="-31" normalizeH="0" baseline="0" noProof="0">
                <a:ln>
                  <a:noFill/>
                </a:ln>
                <a:solidFill>
                  <a:srgbClr val="1A1714"/>
                </a:solidFill>
                <a:effectLst/>
                <a:uLnTx/>
                <a:uFillTx/>
                <a:latin typeface="Helvetica" pitchFamily="34" charset="0"/>
                <a:ea typeface="Helvetica" pitchFamily="34" charset="-122"/>
                <a:cs typeface="Helvetica" pitchFamily="34" charset="-120"/>
              </a:rPr>
              <a:t>Entrega</a:t>
            </a:r>
            <a:endParaRPr kumimoji="0" lang="en-US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Text 48">
            <a:extLst>
              <a:ext uri="{FF2B5EF4-FFF2-40B4-BE49-F238E27FC236}">
                <a16:creationId xmlns:a16="http://schemas.microsoft.com/office/drawing/2014/main" id="{07FA65C5-CA92-C141-E4EB-E54F6A76AA2B}"/>
              </a:ext>
            </a:extLst>
          </p:cNvPr>
          <p:cNvSpPr/>
          <p:nvPr/>
        </p:nvSpPr>
        <p:spPr>
          <a:xfrm>
            <a:off x="15049500" y="4221510"/>
            <a:ext cx="2362200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8" b="0" i="0" u="none" strike="noStrike" kern="0" cap="none" spc="54" normalizeH="0" baseline="0" noProof="0">
                <a:ln>
                  <a:noFill/>
                </a:ln>
                <a:solidFill>
                  <a:srgbClr val="564F4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OPERACIONES · SOPORTE</a:t>
            </a:r>
            <a:endParaRPr kumimoji="0" lang="en-US" sz="108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Shape 49">
            <a:extLst>
              <a:ext uri="{FF2B5EF4-FFF2-40B4-BE49-F238E27FC236}">
                <a16:creationId xmlns:a16="http://schemas.microsoft.com/office/drawing/2014/main" id="{1918D518-0638-5BA3-74A3-10A92AF43508}"/>
              </a:ext>
            </a:extLst>
          </p:cNvPr>
          <p:cNvSpPr/>
          <p:nvPr/>
        </p:nvSpPr>
        <p:spPr>
          <a:xfrm>
            <a:off x="15950654" y="4538663"/>
            <a:ext cx="559743" cy="219075"/>
          </a:xfrm>
          <a:prstGeom prst="roundRect">
            <a:avLst>
              <a:gd name="adj" fmla="val 50000"/>
            </a:avLst>
          </a:prstGeom>
          <a:solidFill>
            <a:srgbClr val="ED1C29"/>
          </a:solidFill>
          <a:ln w="9525">
            <a:solidFill>
              <a:srgbClr val="1A17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4" name="Image 12" descr="preencoded.png">
            <a:extLst>
              <a:ext uri="{FF2B5EF4-FFF2-40B4-BE49-F238E27FC236}">
                <a16:creationId xmlns:a16="http://schemas.microsoft.com/office/drawing/2014/main" id="{389CBC98-C629-5663-B514-D23F9AA52C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45904" y="4586288"/>
            <a:ext cx="123825" cy="123825"/>
          </a:xfrm>
          <a:prstGeom prst="rect">
            <a:avLst/>
          </a:prstGeom>
        </p:spPr>
      </p:pic>
      <p:sp>
        <p:nvSpPr>
          <p:cNvPr id="65" name="Text 50">
            <a:extLst>
              <a:ext uri="{FF2B5EF4-FFF2-40B4-BE49-F238E27FC236}">
                <a16:creationId xmlns:a16="http://schemas.microsoft.com/office/drawing/2014/main" id="{97E3F1C6-8396-B08C-54B1-CA51A04A1A4B}"/>
              </a:ext>
            </a:extLst>
          </p:cNvPr>
          <p:cNvSpPr/>
          <p:nvPr/>
        </p:nvSpPr>
        <p:spPr>
          <a:xfrm>
            <a:off x="16226879" y="4572000"/>
            <a:ext cx="2454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26" normalizeH="0" baseline="0" noProof="0">
                <a:ln>
                  <a:noFill/>
                </a:ln>
                <a:solidFill>
                  <a:srgbClr val="F0EEE9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Shape 51">
            <a:extLst>
              <a:ext uri="{FF2B5EF4-FFF2-40B4-BE49-F238E27FC236}">
                <a16:creationId xmlns:a16="http://schemas.microsoft.com/office/drawing/2014/main" id="{F51CABD3-1A1F-6D0F-5CA7-36E145C592D1}"/>
              </a:ext>
            </a:extLst>
          </p:cNvPr>
          <p:cNvSpPr/>
          <p:nvPr/>
        </p:nvSpPr>
        <p:spPr>
          <a:xfrm>
            <a:off x="16221075" y="4795838"/>
            <a:ext cx="19050" cy="914400"/>
          </a:xfrm>
          <a:prstGeom prst="rect">
            <a:avLst/>
          </a:prstGeom>
          <a:solidFill>
            <a:srgbClr val="DEDBD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Shape 52">
            <a:extLst>
              <a:ext uri="{FF2B5EF4-FFF2-40B4-BE49-F238E27FC236}">
                <a16:creationId xmlns:a16="http://schemas.microsoft.com/office/drawing/2014/main" id="{071A06E9-1A86-A505-54F9-809B5F6148D7}"/>
              </a:ext>
            </a:extLst>
          </p:cNvPr>
          <p:cNvSpPr/>
          <p:nvPr/>
        </p:nvSpPr>
        <p:spPr>
          <a:xfrm>
            <a:off x="15887700" y="5367338"/>
            <a:ext cx="685800" cy="685800"/>
          </a:xfrm>
          <a:prstGeom prst="ellipse">
            <a:avLst/>
          </a:prstGeom>
          <a:solidFill>
            <a:srgbClr val="F0EEE9"/>
          </a:solidFill>
          <a:ln w="19050">
            <a:solidFill>
              <a:srgbClr val="1A17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Text 53">
            <a:extLst>
              <a:ext uri="{FF2B5EF4-FFF2-40B4-BE49-F238E27FC236}">
                <a16:creationId xmlns:a16="http://schemas.microsoft.com/office/drawing/2014/main" id="{D9912BDE-E29A-743F-50C1-D35FB09367EE}"/>
              </a:ext>
            </a:extLst>
          </p:cNvPr>
          <p:cNvSpPr/>
          <p:nvPr/>
        </p:nvSpPr>
        <p:spPr>
          <a:xfrm>
            <a:off x="16116300" y="5581650"/>
            <a:ext cx="3048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1A171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Shape 54">
            <a:extLst>
              <a:ext uri="{FF2B5EF4-FFF2-40B4-BE49-F238E27FC236}">
                <a16:creationId xmlns:a16="http://schemas.microsoft.com/office/drawing/2014/main" id="{CF45F377-37B7-52BD-F81D-C0DC81DB02EF}"/>
              </a:ext>
            </a:extLst>
          </p:cNvPr>
          <p:cNvSpPr/>
          <p:nvPr/>
        </p:nvSpPr>
        <p:spPr>
          <a:xfrm>
            <a:off x="16182975" y="5338763"/>
            <a:ext cx="95250" cy="95250"/>
          </a:xfrm>
          <a:prstGeom prst="ellipse">
            <a:avLst/>
          </a:prstGeom>
          <a:solidFill>
            <a:srgbClr val="ED1C29"/>
          </a:solidFill>
          <a:ln w="9525">
            <a:solidFill>
              <a:srgbClr val="1A17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Shape 55">
            <a:extLst>
              <a:ext uri="{FF2B5EF4-FFF2-40B4-BE49-F238E27FC236}">
                <a16:creationId xmlns:a16="http://schemas.microsoft.com/office/drawing/2014/main" id="{44A5ECE5-D08C-4290-2A0B-05F1A3B3E65A}"/>
              </a:ext>
            </a:extLst>
          </p:cNvPr>
          <p:cNvSpPr/>
          <p:nvPr/>
        </p:nvSpPr>
        <p:spPr>
          <a:xfrm rot="2700000">
            <a:off x="3142208" y="5614988"/>
            <a:ext cx="190500" cy="190500"/>
          </a:xfrm>
          <a:prstGeom prst="rect">
            <a:avLst/>
          </a:prstGeom>
          <a:solidFill>
            <a:srgbClr val="ED1C29"/>
          </a:solidFill>
          <a:ln w="19050">
            <a:solidFill>
              <a:srgbClr val="1A17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Text 56">
            <a:extLst>
              <a:ext uri="{FF2B5EF4-FFF2-40B4-BE49-F238E27FC236}">
                <a16:creationId xmlns:a16="http://schemas.microsoft.com/office/drawing/2014/main" id="{5E2BA170-4847-21C8-49B1-280FD79CFF9F}"/>
              </a:ext>
            </a:extLst>
          </p:cNvPr>
          <p:cNvSpPr/>
          <p:nvPr/>
        </p:nvSpPr>
        <p:spPr>
          <a:xfrm>
            <a:off x="2437358" y="6091238"/>
            <a:ext cx="16002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42" normalizeH="0" baseline="0" noProof="0">
                <a:ln>
                  <a:noFill/>
                </a:ln>
                <a:solidFill>
                  <a:srgbClr val="1A171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DoR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Shape 57">
            <a:extLst>
              <a:ext uri="{FF2B5EF4-FFF2-40B4-BE49-F238E27FC236}">
                <a16:creationId xmlns:a16="http://schemas.microsoft.com/office/drawing/2014/main" id="{7D297308-B884-70C1-9CE1-640D65AB5B95}"/>
              </a:ext>
            </a:extLst>
          </p:cNvPr>
          <p:cNvSpPr/>
          <p:nvPr/>
        </p:nvSpPr>
        <p:spPr>
          <a:xfrm rot="2700000">
            <a:off x="14953506" y="5614988"/>
            <a:ext cx="190500" cy="190500"/>
          </a:xfrm>
          <a:prstGeom prst="rect">
            <a:avLst/>
          </a:prstGeom>
          <a:solidFill>
            <a:srgbClr val="ED1C29"/>
          </a:solidFill>
          <a:ln w="19050">
            <a:solidFill>
              <a:srgbClr val="1A17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Text 58">
            <a:extLst>
              <a:ext uri="{FF2B5EF4-FFF2-40B4-BE49-F238E27FC236}">
                <a16:creationId xmlns:a16="http://schemas.microsoft.com/office/drawing/2014/main" id="{8F99B44C-C676-6435-F8CC-44E702581FCB}"/>
              </a:ext>
            </a:extLst>
          </p:cNvPr>
          <p:cNvSpPr/>
          <p:nvPr/>
        </p:nvSpPr>
        <p:spPr>
          <a:xfrm>
            <a:off x="14248656" y="6091238"/>
            <a:ext cx="16002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42" normalizeH="0" baseline="0" noProof="0">
                <a:ln>
                  <a:noFill/>
                </a:ln>
                <a:solidFill>
                  <a:srgbClr val="1A171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Producción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Shape 59">
            <a:extLst>
              <a:ext uri="{FF2B5EF4-FFF2-40B4-BE49-F238E27FC236}">
                <a16:creationId xmlns:a16="http://schemas.microsoft.com/office/drawing/2014/main" id="{49DDB45E-074B-58FB-D84B-9A0860279514}"/>
              </a:ext>
            </a:extLst>
          </p:cNvPr>
          <p:cNvSpPr/>
          <p:nvPr/>
        </p:nvSpPr>
        <p:spPr>
          <a:xfrm>
            <a:off x="876300" y="9353550"/>
            <a:ext cx="16535400" cy="9525"/>
          </a:xfrm>
          <a:prstGeom prst="rect">
            <a:avLst/>
          </a:prstGeom>
          <a:solidFill>
            <a:srgbClr val="DEDBD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Shape 60">
            <a:extLst>
              <a:ext uri="{FF2B5EF4-FFF2-40B4-BE49-F238E27FC236}">
                <a16:creationId xmlns:a16="http://schemas.microsoft.com/office/drawing/2014/main" id="{8382B17C-4DE1-B05C-82BE-28B999585B15}"/>
              </a:ext>
            </a:extLst>
          </p:cNvPr>
          <p:cNvSpPr/>
          <p:nvPr/>
        </p:nvSpPr>
        <p:spPr>
          <a:xfrm>
            <a:off x="5091708" y="9591675"/>
            <a:ext cx="142875" cy="142875"/>
          </a:xfrm>
          <a:prstGeom prst="ellipse">
            <a:avLst/>
          </a:prstGeom>
          <a:ln w="19050">
            <a:solidFill>
              <a:srgbClr val="1A17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Text 61">
            <a:extLst>
              <a:ext uri="{FF2B5EF4-FFF2-40B4-BE49-F238E27FC236}">
                <a16:creationId xmlns:a16="http://schemas.microsoft.com/office/drawing/2014/main" id="{935945BE-23F8-EA99-16A8-05B29B5641E9}"/>
              </a:ext>
            </a:extLst>
          </p:cNvPr>
          <p:cNvSpPr/>
          <p:nvPr/>
        </p:nvSpPr>
        <p:spPr>
          <a:xfrm>
            <a:off x="5348883" y="9572625"/>
            <a:ext cx="124331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8" b="0" i="0" u="none" strike="noStrike" kern="0" cap="none" spc="54" normalizeH="0" baseline="0" noProof="0">
                <a:ln>
                  <a:noFill/>
                </a:ln>
                <a:solidFill>
                  <a:srgbClr val="564F4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EQUIPO · FASE</a:t>
            </a:r>
            <a:endParaRPr kumimoji="0" lang="en-US" sz="108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Shape 62">
            <a:extLst>
              <a:ext uri="{FF2B5EF4-FFF2-40B4-BE49-F238E27FC236}">
                <a16:creationId xmlns:a16="http://schemas.microsoft.com/office/drawing/2014/main" id="{00ADF812-7610-9A3D-9360-1B300D8B0CBD}"/>
              </a:ext>
            </a:extLst>
          </p:cNvPr>
          <p:cNvSpPr/>
          <p:nvPr/>
        </p:nvSpPr>
        <p:spPr>
          <a:xfrm>
            <a:off x="6916043" y="9577388"/>
            <a:ext cx="9525" cy="171450"/>
          </a:xfrm>
          <a:prstGeom prst="rect">
            <a:avLst/>
          </a:prstGeom>
          <a:solidFill>
            <a:srgbClr val="DEDBD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Shape 63">
            <a:extLst>
              <a:ext uri="{FF2B5EF4-FFF2-40B4-BE49-F238E27FC236}">
                <a16:creationId xmlns:a16="http://schemas.microsoft.com/office/drawing/2014/main" id="{85A074A7-A85A-81B7-7CD8-5C4E52D32266}"/>
              </a:ext>
            </a:extLst>
          </p:cNvPr>
          <p:cNvSpPr/>
          <p:nvPr/>
        </p:nvSpPr>
        <p:spPr>
          <a:xfrm rot="2700000">
            <a:off x="7325618" y="9591675"/>
            <a:ext cx="142875" cy="142875"/>
          </a:xfrm>
          <a:prstGeom prst="rect">
            <a:avLst/>
          </a:prstGeom>
          <a:solidFill>
            <a:srgbClr val="ED1C29"/>
          </a:solidFill>
          <a:ln w="19050">
            <a:solidFill>
              <a:srgbClr val="1A17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Text 64">
            <a:extLst>
              <a:ext uri="{FF2B5EF4-FFF2-40B4-BE49-F238E27FC236}">
                <a16:creationId xmlns:a16="http://schemas.microsoft.com/office/drawing/2014/main" id="{FE9D0872-8304-1E72-A1C2-99A891932786}"/>
              </a:ext>
            </a:extLst>
          </p:cNvPr>
          <p:cNvSpPr/>
          <p:nvPr/>
        </p:nvSpPr>
        <p:spPr>
          <a:xfrm>
            <a:off x="7582793" y="9572625"/>
            <a:ext cx="151268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8" b="0" i="0" u="none" strike="noStrike" kern="0" cap="none" spc="54" normalizeH="0" baseline="0" noProof="0">
                <a:ln>
                  <a:noFill/>
                </a:ln>
                <a:solidFill>
                  <a:srgbClr val="564F4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HITO · COMPUERTA</a:t>
            </a:r>
            <a:endParaRPr kumimoji="0" lang="en-US" sz="108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" name="Shape 65">
            <a:extLst>
              <a:ext uri="{FF2B5EF4-FFF2-40B4-BE49-F238E27FC236}">
                <a16:creationId xmlns:a16="http://schemas.microsoft.com/office/drawing/2014/main" id="{24520DB0-38FF-B000-99EE-95A796A7CE50}"/>
              </a:ext>
            </a:extLst>
          </p:cNvPr>
          <p:cNvSpPr/>
          <p:nvPr/>
        </p:nvSpPr>
        <p:spPr>
          <a:xfrm>
            <a:off x="9419332" y="9577388"/>
            <a:ext cx="9525" cy="171450"/>
          </a:xfrm>
          <a:prstGeom prst="rect">
            <a:avLst/>
          </a:prstGeom>
          <a:solidFill>
            <a:srgbClr val="DEDBD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Shape 66">
            <a:extLst>
              <a:ext uri="{FF2B5EF4-FFF2-40B4-BE49-F238E27FC236}">
                <a16:creationId xmlns:a16="http://schemas.microsoft.com/office/drawing/2014/main" id="{AA66C23F-2BBF-D6C1-FB1F-F17ECE6704AA}"/>
              </a:ext>
            </a:extLst>
          </p:cNvPr>
          <p:cNvSpPr/>
          <p:nvPr/>
        </p:nvSpPr>
        <p:spPr>
          <a:xfrm>
            <a:off x="9828907" y="9553575"/>
            <a:ext cx="559743" cy="219075"/>
          </a:xfrm>
          <a:prstGeom prst="roundRect">
            <a:avLst>
              <a:gd name="adj" fmla="val 50000"/>
            </a:avLst>
          </a:prstGeom>
          <a:solidFill>
            <a:srgbClr val="ED1C29"/>
          </a:solidFill>
          <a:ln w="9525">
            <a:solidFill>
              <a:srgbClr val="1A17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2" name="Image 13" descr="preencoded.png">
            <a:extLst>
              <a:ext uri="{FF2B5EF4-FFF2-40B4-BE49-F238E27FC236}">
                <a16:creationId xmlns:a16="http://schemas.microsoft.com/office/drawing/2014/main" id="{830D8579-CF1D-5030-0AF5-6B18E24AA4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4157" y="9601200"/>
            <a:ext cx="123825" cy="123825"/>
          </a:xfrm>
          <a:prstGeom prst="rect">
            <a:avLst/>
          </a:prstGeom>
        </p:spPr>
      </p:pic>
      <p:sp>
        <p:nvSpPr>
          <p:cNvPr id="83" name="Text 67">
            <a:extLst>
              <a:ext uri="{FF2B5EF4-FFF2-40B4-BE49-F238E27FC236}">
                <a16:creationId xmlns:a16="http://schemas.microsoft.com/office/drawing/2014/main" id="{AC80CB48-7304-7026-0D85-A494C69B7A4D}"/>
              </a:ext>
            </a:extLst>
          </p:cNvPr>
          <p:cNvSpPr/>
          <p:nvPr/>
        </p:nvSpPr>
        <p:spPr>
          <a:xfrm>
            <a:off x="10105132" y="9586913"/>
            <a:ext cx="2454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26" normalizeH="0" baseline="0" noProof="0">
                <a:ln>
                  <a:noFill/>
                </a:ln>
                <a:solidFill>
                  <a:srgbClr val="F0EEE9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Text 68">
            <a:extLst>
              <a:ext uri="{FF2B5EF4-FFF2-40B4-BE49-F238E27FC236}">
                <a16:creationId xmlns:a16="http://schemas.microsoft.com/office/drawing/2014/main" id="{2251B4F2-C79B-F4E3-4B7A-4F93FDCB46A7}"/>
              </a:ext>
            </a:extLst>
          </p:cNvPr>
          <p:cNvSpPr/>
          <p:nvPr/>
        </p:nvSpPr>
        <p:spPr>
          <a:xfrm>
            <a:off x="10502950" y="9572625"/>
            <a:ext cx="277399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8" b="0" i="0" u="none" strike="noStrike" kern="0" cap="none" spc="54" normalizeH="0" baseline="0" noProof="0">
                <a:ln>
                  <a:noFill/>
                </a:ln>
                <a:solidFill>
                  <a:srgbClr val="564F4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EXPLORANDO CASOS DE USO CON IA</a:t>
            </a:r>
            <a:endParaRPr kumimoji="0" lang="en-US" sz="108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88668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E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403A8B-921B-2951-8A20-387B98735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CuadroTexto 46">
            <a:extLst>
              <a:ext uri="{FF2B5EF4-FFF2-40B4-BE49-F238E27FC236}">
                <a16:creationId xmlns:a16="http://schemas.microsoft.com/office/drawing/2014/main" id="{285B6861-1850-C09F-AAC3-C3D2D096B5E0}"/>
              </a:ext>
            </a:extLst>
          </p:cNvPr>
          <p:cNvSpPr txBox="1"/>
          <p:nvPr/>
        </p:nvSpPr>
        <p:spPr>
          <a:xfrm>
            <a:off x="11696700" y="9886951"/>
            <a:ext cx="5715000" cy="4154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>
            <a:defPPr>
              <a:defRPr lang="es-CO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050" b="0" i="0" u="none" strike="noStrike" kern="1200" cap="none" spc="210" normalizeH="0" baseline="0" noProof="0">
                <a:ln>
                  <a:noFill/>
                </a:ln>
                <a:solidFill>
                  <a:srgbClr val="7A726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CONFIDENCIAL · USO INTERNO</a:t>
            </a:r>
          </a:p>
        </p:txBody>
      </p:sp>
      <p:pic>
        <p:nvPicPr>
          <p:cNvPr id="133" name="Imagen 132" descr="preencoded.png">
            <a:extLst>
              <a:ext uri="{FF2B5EF4-FFF2-40B4-BE49-F238E27FC236}">
                <a16:creationId xmlns:a16="http://schemas.microsoft.com/office/drawing/2014/main" id="{A2918094-6D77-F332-C9FD-81527B8FF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7" y="617078"/>
            <a:ext cx="713229" cy="543068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416AB45-0E7A-FD48-B9C0-3B897AD191B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23424" y="2052560"/>
            <a:ext cx="16241152" cy="618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0225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850392" y="850392"/>
            <a:ext cx="6172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b="1" kern="0" spc="225">
                <a:solidFill>
                  <a:srgbClr val="B3141F"/>
                </a:solidFill>
              </a:rPr>
              <a:t>LA OPORTUNIDAD</a:t>
            </a:r>
            <a:endParaRPr lang="en-US" sz="1350"/>
          </a:p>
        </p:txBody>
      </p:sp>
      <p:sp>
        <p:nvSpPr>
          <p:cNvPr id="3" name="Text 1"/>
          <p:cNvSpPr/>
          <p:nvPr/>
        </p:nvSpPr>
        <p:spPr>
          <a:xfrm>
            <a:off x="850392" y="1261872"/>
            <a:ext cx="1604772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50" b="1">
                <a:solidFill>
                  <a:srgbClr val="0E2A47"/>
                </a:solidFill>
              </a:rPr>
              <a:t>Ingeniería de Plataforma: convertir capacidad experta en escala</a:t>
            </a:r>
            <a:endParaRPr lang="en-US" sz="4050"/>
          </a:p>
        </p:txBody>
      </p:sp>
      <p:sp>
        <p:nvSpPr>
          <p:cNvPr id="4" name="Text 2"/>
          <p:cNvSpPr/>
          <p:nvPr/>
        </p:nvSpPr>
        <p:spPr>
          <a:xfrm>
            <a:off x="850392" y="2359152"/>
            <a:ext cx="15910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75">
                <a:solidFill>
                  <a:srgbClr val="564F44"/>
                </a:solidFill>
              </a:rPr>
              <a:t>Hoy la capacidad especializada se consume solicitud a solicitud. La evolución consiste en convertir ese conocimiento en soluciones reutilizables para todos los equipos.</a:t>
            </a:r>
            <a:endParaRPr lang="en-US" sz="1875"/>
          </a:p>
        </p:txBody>
      </p:sp>
      <p:sp>
        <p:nvSpPr>
          <p:cNvPr id="5" name="Text 3"/>
          <p:cNvSpPr/>
          <p:nvPr/>
        </p:nvSpPr>
        <p:spPr>
          <a:xfrm>
            <a:off x="987552" y="3319272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25" b="1" kern="0" spc="165">
                <a:solidFill>
                  <a:srgbClr val="B3141F"/>
                </a:solidFill>
              </a:rPr>
              <a:t>MODELO ACTUAL</a:t>
            </a:r>
            <a:endParaRPr lang="en-US" sz="1425"/>
          </a:p>
        </p:txBody>
      </p:sp>
      <p:sp>
        <p:nvSpPr>
          <p:cNvPr id="6" name="Text 4"/>
          <p:cNvSpPr/>
          <p:nvPr/>
        </p:nvSpPr>
        <p:spPr>
          <a:xfrm>
            <a:off x="987552" y="3758184"/>
            <a:ext cx="661111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000" b="1">
                <a:solidFill>
                  <a:srgbClr val="1A1714"/>
                </a:solidFill>
              </a:rPr>
              <a:t>La capacidad crece al ritmo de la atención manual</a:t>
            </a:r>
            <a:endParaRPr lang="en-US" sz="3000"/>
          </a:p>
        </p:txBody>
      </p:sp>
      <p:sp>
        <p:nvSpPr>
          <p:cNvPr id="7" name="Shape 5"/>
          <p:cNvSpPr/>
          <p:nvPr/>
        </p:nvSpPr>
        <p:spPr>
          <a:xfrm>
            <a:off x="987552" y="4855464"/>
            <a:ext cx="6693408" cy="1988820"/>
          </a:xfrm>
          <a:prstGeom prst="roundRect">
            <a:avLst>
              <a:gd name="adj" fmla="val 3448"/>
            </a:avLst>
          </a:prstGeom>
          <a:solidFill>
            <a:srgbClr val="EFECE6"/>
          </a:solidFill>
          <a:ln w="10160">
            <a:solidFill>
              <a:srgbClr val="DDD7C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1344168" y="5266944"/>
            <a:ext cx="521208" cy="521208"/>
          </a:xfrm>
          <a:prstGeom prst="ellipse">
            <a:avLst/>
          </a:prstGeom>
          <a:solidFill>
            <a:srgbClr val="B3141F"/>
          </a:solidFill>
          <a:ln w="12700">
            <a:solidFill>
              <a:srgbClr val="B3141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1344168" y="5417820"/>
            <a:ext cx="5212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25" b="1">
                <a:solidFill>
                  <a:srgbClr val="FFFFFF"/>
                </a:solidFill>
              </a:rPr>
              <a:t>01</a:t>
            </a:r>
            <a:endParaRPr lang="en-US" sz="1125"/>
          </a:p>
        </p:txBody>
      </p:sp>
      <p:sp>
        <p:nvSpPr>
          <p:cNvPr id="10" name="Text 8"/>
          <p:cNvSpPr/>
          <p:nvPr/>
        </p:nvSpPr>
        <p:spPr>
          <a:xfrm>
            <a:off x="1988820" y="5321808"/>
            <a:ext cx="11658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75" b="1">
                <a:solidFill>
                  <a:srgbClr val="1A1714"/>
                </a:solidFill>
              </a:rPr>
              <a:t>Solicitar</a:t>
            </a:r>
            <a:endParaRPr lang="en-US" sz="1575"/>
          </a:p>
        </p:txBody>
      </p:sp>
      <p:sp>
        <p:nvSpPr>
          <p:cNvPr id="11" name="Shape 9"/>
          <p:cNvSpPr/>
          <p:nvPr/>
        </p:nvSpPr>
        <p:spPr>
          <a:xfrm>
            <a:off x="3360420" y="5266944"/>
            <a:ext cx="521208" cy="521208"/>
          </a:xfrm>
          <a:prstGeom prst="ellipse">
            <a:avLst/>
          </a:prstGeom>
          <a:solidFill>
            <a:srgbClr val="B3141F"/>
          </a:solidFill>
          <a:ln w="12700">
            <a:solidFill>
              <a:srgbClr val="B3141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360420" y="5417820"/>
            <a:ext cx="5212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25" b="1">
                <a:solidFill>
                  <a:srgbClr val="FFFFFF"/>
                </a:solidFill>
              </a:rPr>
              <a:t>02</a:t>
            </a:r>
            <a:endParaRPr lang="en-US" sz="1125"/>
          </a:p>
        </p:txBody>
      </p:sp>
      <p:sp>
        <p:nvSpPr>
          <p:cNvPr id="13" name="Text 11"/>
          <p:cNvSpPr/>
          <p:nvPr/>
        </p:nvSpPr>
        <p:spPr>
          <a:xfrm>
            <a:off x="4005072" y="5321808"/>
            <a:ext cx="11658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75" b="1">
                <a:solidFill>
                  <a:srgbClr val="1A1714"/>
                </a:solidFill>
              </a:rPr>
              <a:t>Coordinar</a:t>
            </a:r>
            <a:endParaRPr lang="en-US" sz="1575"/>
          </a:p>
        </p:txBody>
      </p:sp>
      <p:sp>
        <p:nvSpPr>
          <p:cNvPr id="14" name="Shape 12"/>
          <p:cNvSpPr/>
          <p:nvPr/>
        </p:nvSpPr>
        <p:spPr>
          <a:xfrm>
            <a:off x="5376672" y="5266944"/>
            <a:ext cx="521208" cy="521208"/>
          </a:xfrm>
          <a:prstGeom prst="ellipse">
            <a:avLst/>
          </a:prstGeom>
          <a:solidFill>
            <a:srgbClr val="B3141F"/>
          </a:solidFill>
          <a:ln w="12700">
            <a:solidFill>
              <a:srgbClr val="B3141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5376672" y="5417820"/>
            <a:ext cx="5212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25" b="1">
                <a:solidFill>
                  <a:srgbClr val="FFFFFF"/>
                </a:solidFill>
              </a:rPr>
              <a:t>03</a:t>
            </a:r>
            <a:endParaRPr lang="en-US" sz="1125"/>
          </a:p>
        </p:txBody>
      </p:sp>
      <p:sp>
        <p:nvSpPr>
          <p:cNvPr id="16" name="Text 14"/>
          <p:cNvSpPr/>
          <p:nvPr/>
        </p:nvSpPr>
        <p:spPr>
          <a:xfrm>
            <a:off x="6021324" y="5321808"/>
            <a:ext cx="11658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75" b="1">
                <a:solidFill>
                  <a:srgbClr val="1A1714"/>
                </a:solidFill>
              </a:rPr>
              <a:t>Esperar</a:t>
            </a:r>
            <a:endParaRPr lang="en-US" sz="1575"/>
          </a:p>
        </p:txBody>
      </p:sp>
      <p:sp>
        <p:nvSpPr>
          <p:cNvPr id="17" name="Text 15"/>
          <p:cNvSpPr/>
          <p:nvPr/>
        </p:nvSpPr>
        <p:spPr>
          <a:xfrm>
            <a:off x="1344168" y="6117336"/>
            <a:ext cx="58704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75">
                <a:solidFill>
                  <a:srgbClr val="564F44"/>
                </a:solidFill>
              </a:rPr>
              <a:t>Tickets, validaciones y ejecución caso a caso</a:t>
            </a:r>
            <a:endParaRPr lang="en-US" sz="1575"/>
          </a:p>
        </p:txBody>
      </p:sp>
      <p:sp>
        <p:nvSpPr>
          <p:cNvPr id="18" name="Shape 16"/>
          <p:cNvSpPr/>
          <p:nvPr/>
        </p:nvSpPr>
        <p:spPr>
          <a:xfrm>
            <a:off x="8298180" y="4910328"/>
            <a:ext cx="1042416" cy="1728216"/>
          </a:xfrm>
          <a:prstGeom prst="chevron">
            <a:avLst/>
          </a:prstGeom>
          <a:solidFill>
            <a:srgbClr val="B3141F"/>
          </a:solidFill>
          <a:ln w="12700">
            <a:solidFill>
              <a:srgbClr val="B3141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7845552" y="6912864"/>
            <a:ext cx="1947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75" b="1" kern="0" spc="120">
                <a:solidFill>
                  <a:srgbClr val="B3141F"/>
                </a:solidFill>
              </a:rPr>
              <a:t>EVOLUCIÓN</a:t>
            </a:r>
            <a:endParaRPr lang="en-US" sz="1275"/>
          </a:p>
        </p:txBody>
      </p:sp>
      <p:sp>
        <p:nvSpPr>
          <p:cNvPr id="20" name="Text 18"/>
          <p:cNvSpPr/>
          <p:nvPr/>
        </p:nvSpPr>
        <p:spPr>
          <a:xfrm>
            <a:off x="9985248" y="3319272"/>
            <a:ext cx="4526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25" b="1" kern="0" spc="165">
                <a:solidFill>
                  <a:srgbClr val="1B5FA8"/>
                </a:solidFill>
              </a:rPr>
              <a:t>INGENIERÍA DE PLATAFORMA</a:t>
            </a:r>
            <a:endParaRPr lang="en-US" sz="1425"/>
          </a:p>
        </p:txBody>
      </p:sp>
      <p:sp>
        <p:nvSpPr>
          <p:cNvPr id="21" name="Text 19"/>
          <p:cNvSpPr/>
          <p:nvPr/>
        </p:nvSpPr>
        <p:spPr>
          <a:xfrm>
            <a:off x="9985248" y="3758184"/>
            <a:ext cx="710488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000" b="1">
                <a:solidFill>
                  <a:srgbClr val="1A1714"/>
                </a:solidFill>
              </a:rPr>
              <a:t>La capacidad se construye una vez y escala para todos</a:t>
            </a:r>
            <a:endParaRPr lang="en-US" sz="3000"/>
          </a:p>
        </p:txBody>
      </p:sp>
      <p:sp>
        <p:nvSpPr>
          <p:cNvPr id="22" name="Shape 20"/>
          <p:cNvSpPr/>
          <p:nvPr/>
        </p:nvSpPr>
        <p:spPr>
          <a:xfrm>
            <a:off x="9985248" y="4855464"/>
            <a:ext cx="7104888" cy="1988820"/>
          </a:xfrm>
          <a:prstGeom prst="roundRect">
            <a:avLst>
              <a:gd name="adj" fmla="val 3448"/>
            </a:avLst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10383012" y="5266944"/>
            <a:ext cx="521208" cy="521208"/>
          </a:xfrm>
          <a:prstGeom prst="ellipse">
            <a:avLst/>
          </a:prstGeom>
          <a:solidFill>
            <a:srgbClr val="1B5FA8"/>
          </a:solidFill>
          <a:ln w="12700">
            <a:solidFill>
              <a:srgbClr val="1B5FA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10383012" y="5417820"/>
            <a:ext cx="5212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25" b="1">
                <a:solidFill>
                  <a:srgbClr val="FFFFFF"/>
                </a:solidFill>
              </a:rPr>
              <a:t>01</a:t>
            </a:r>
            <a:endParaRPr lang="en-US" sz="1125"/>
          </a:p>
        </p:txBody>
      </p:sp>
      <p:sp>
        <p:nvSpPr>
          <p:cNvPr id="25" name="Text 23"/>
          <p:cNvSpPr/>
          <p:nvPr/>
        </p:nvSpPr>
        <p:spPr>
          <a:xfrm>
            <a:off x="11027664" y="5321808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75" b="1">
                <a:solidFill>
                  <a:srgbClr val="FFFFFF"/>
                </a:solidFill>
              </a:rPr>
              <a:t>Elegir</a:t>
            </a:r>
            <a:endParaRPr lang="en-US" sz="1575"/>
          </a:p>
        </p:txBody>
      </p:sp>
      <p:sp>
        <p:nvSpPr>
          <p:cNvPr id="26" name="Shape 24"/>
          <p:cNvSpPr/>
          <p:nvPr/>
        </p:nvSpPr>
        <p:spPr>
          <a:xfrm>
            <a:off x="12522708" y="5266944"/>
            <a:ext cx="521208" cy="521208"/>
          </a:xfrm>
          <a:prstGeom prst="ellipse">
            <a:avLst/>
          </a:prstGeom>
          <a:solidFill>
            <a:srgbClr val="1B5FA8"/>
          </a:solidFill>
          <a:ln w="12700">
            <a:solidFill>
              <a:srgbClr val="1B5FA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12522708" y="5417820"/>
            <a:ext cx="5212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25" b="1">
                <a:solidFill>
                  <a:srgbClr val="FFFFFF"/>
                </a:solidFill>
              </a:rPr>
              <a:t>02</a:t>
            </a:r>
            <a:endParaRPr lang="en-US" sz="1125"/>
          </a:p>
        </p:txBody>
      </p:sp>
      <p:sp>
        <p:nvSpPr>
          <p:cNvPr id="28" name="Text 26"/>
          <p:cNvSpPr/>
          <p:nvPr/>
        </p:nvSpPr>
        <p:spPr>
          <a:xfrm>
            <a:off x="13167360" y="5321808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75" b="1">
                <a:solidFill>
                  <a:srgbClr val="FFFFFF"/>
                </a:solidFill>
              </a:rPr>
              <a:t>Validar</a:t>
            </a:r>
            <a:endParaRPr lang="en-US" sz="1575"/>
          </a:p>
        </p:txBody>
      </p:sp>
      <p:sp>
        <p:nvSpPr>
          <p:cNvPr id="29" name="Shape 27"/>
          <p:cNvSpPr/>
          <p:nvPr/>
        </p:nvSpPr>
        <p:spPr>
          <a:xfrm>
            <a:off x="14662404" y="5266944"/>
            <a:ext cx="521208" cy="521208"/>
          </a:xfrm>
          <a:prstGeom prst="ellipse">
            <a:avLst/>
          </a:prstGeom>
          <a:solidFill>
            <a:srgbClr val="147A41"/>
          </a:solidFill>
          <a:ln w="12700">
            <a:solidFill>
              <a:srgbClr val="147A4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14662404" y="5417820"/>
            <a:ext cx="5212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25" b="1">
                <a:solidFill>
                  <a:srgbClr val="FFFFFF"/>
                </a:solidFill>
              </a:rPr>
              <a:t>03</a:t>
            </a:r>
            <a:endParaRPr lang="en-US" sz="1125"/>
          </a:p>
        </p:txBody>
      </p:sp>
      <p:sp>
        <p:nvSpPr>
          <p:cNvPr id="31" name="Text 29"/>
          <p:cNvSpPr/>
          <p:nvPr/>
        </p:nvSpPr>
        <p:spPr>
          <a:xfrm>
            <a:off x="15307056" y="5321808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75" b="1">
                <a:solidFill>
                  <a:srgbClr val="FFFFFF"/>
                </a:solidFill>
              </a:rPr>
              <a:t>Avanzar</a:t>
            </a:r>
            <a:endParaRPr lang="en-US" sz="1575"/>
          </a:p>
        </p:txBody>
      </p:sp>
      <p:sp>
        <p:nvSpPr>
          <p:cNvPr id="32" name="Text 30"/>
          <p:cNvSpPr/>
          <p:nvPr/>
        </p:nvSpPr>
        <p:spPr>
          <a:xfrm>
            <a:off x="10465308" y="6117336"/>
            <a:ext cx="6144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75">
                <a:solidFill>
                  <a:srgbClr val="D4DFEA"/>
                </a:solidFill>
              </a:rPr>
              <a:t>Autoservicio con estándares, seguridad y costos integrados</a:t>
            </a:r>
            <a:endParaRPr lang="en-US" sz="1575"/>
          </a:p>
        </p:txBody>
      </p:sp>
      <p:sp>
        <p:nvSpPr>
          <p:cNvPr id="33" name="Shape 31"/>
          <p:cNvSpPr/>
          <p:nvPr/>
        </p:nvSpPr>
        <p:spPr>
          <a:xfrm>
            <a:off x="987552" y="7722109"/>
            <a:ext cx="3497580" cy="2"/>
          </a:xfrm>
          <a:prstGeom prst="line">
            <a:avLst/>
          </a:prstGeom>
          <a:noFill/>
          <a:ln w="38100">
            <a:solidFill>
              <a:srgbClr val="B3141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987552" y="7941564"/>
            <a:ext cx="34975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25" b="1">
                <a:solidFill>
                  <a:srgbClr val="B3141F"/>
                </a:solidFill>
              </a:rPr>
              <a:t>VELOCIDAD</a:t>
            </a:r>
            <a:endParaRPr lang="en-US" sz="1425"/>
          </a:p>
        </p:txBody>
      </p:sp>
      <p:sp>
        <p:nvSpPr>
          <p:cNvPr id="35" name="Text 33"/>
          <p:cNvSpPr/>
          <p:nvPr/>
        </p:nvSpPr>
        <p:spPr>
          <a:xfrm>
            <a:off x="987552" y="8366760"/>
            <a:ext cx="34975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75">
                <a:solidFill>
                  <a:srgbClr val="564F44"/>
                </a:solidFill>
              </a:rPr>
              <a:t>Menos espera y menor TTM</a:t>
            </a:r>
            <a:endParaRPr lang="en-US" sz="1575"/>
          </a:p>
        </p:txBody>
      </p:sp>
      <p:sp>
        <p:nvSpPr>
          <p:cNvPr id="36" name="Shape 34"/>
          <p:cNvSpPr/>
          <p:nvPr/>
        </p:nvSpPr>
        <p:spPr>
          <a:xfrm>
            <a:off x="5102352" y="7722109"/>
            <a:ext cx="3497580" cy="2"/>
          </a:xfrm>
          <a:prstGeom prst="line">
            <a:avLst/>
          </a:prstGeom>
          <a:noFill/>
          <a:ln w="38100">
            <a:solidFill>
              <a:srgbClr val="1B5FA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/>
          <p:nvPr/>
        </p:nvSpPr>
        <p:spPr>
          <a:xfrm>
            <a:off x="5102352" y="7941564"/>
            <a:ext cx="34975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25" b="1">
                <a:solidFill>
                  <a:srgbClr val="1B5FA8"/>
                </a:solidFill>
              </a:rPr>
              <a:t>AUTONOMÍA</a:t>
            </a:r>
            <a:endParaRPr lang="en-US" sz="1425"/>
          </a:p>
        </p:txBody>
      </p:sp>
      <p:sp>
        <p:nvSpPr>
          <p:cNvPr id="38" name="Text 36"/>
          <p:cNvSpPr/>
          <p:nvPr/>
        </p:nvSpPr>
        <p:spPr>
          <a:xfrm>
            <a:off x="5102352" y="8366760"/>
            <a:ext cx="34975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75">
                <a:solidFill>
                  <a:srgbClr val="564F44"/>
                </a:solidFill>
              </a:rPr>
              <a:t>Los equipos avanzan con control</a:t>
            </a:r>
            <a:endParaRPr lang="en-US" sz="1575"/>
          </a:p>
        </p:txBody>
      </p:sp>
      <p:sp>
        <p:nvSpPr>
          <p:cNvPr id="39" name="Shape 37"/>
          <p:cNvSpPr/>
          <p:nvPr/>
        </p:nvSpPr>
        <p:spPr>
          <a:xfrm>
            <a:off x="9217152" y="7722109"/>
            <a:ext cx="3497580" cy="2"/>
          </a:xfrm>
          <a:prstGeom prst="line">
            <a:avLst/>
          </a:prstGeom>
          <a:noFill/>
          <a:ln w="38100">
            <a:solidFill>
              <a:srgbClr val="7B3FB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/>
          <p:nvPr/>
        </p:nvSpPr>
        <p:spPr>
          <a:xfrm>
            <a:off x="9217152" y="7941564"/>
            <a:ext cx="34975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25" b="1">
                <a:solidFill>
                  <a:srgbClr val="7B3FB3"/>
                </a:solidFill>
              </a:rPr>
              <a:t>PRODUCTIVIDAD</a:t>
            </a:r>
            <a:endParaRPr lang="en-US" sz="1425"/>
          </a:p>
        </p:txBody>
      </p:sp>
      <p:sp>
        <p:nvSpPr>
          <p:cNvPr id="41" name="Text 39"/>
          <p:cNvSpPr/>
          <p:nvPr/>
        </p:nvSpPr>
        <p:spPr>
          <a:xfrm>
            <a:off x="9217152" y="8366760"/>
            <a:ext cx="34975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75">
                <a:solidFill>
                  <a:srgbClr val="564F44"/>
                </a:solidFill>
              </a:rPr>
              <a:t>El talento experto deja de repetir</a:t>
            </a:r>
            <a:endParaRPr lang="en-US" sz="1575"/>
          </a:p>
        </p:txBody>
      </p:sp>
      <p:sp>
        <p:nvSpPr>
          <p:cNvPr id="42" name="Shape 40"/>
          <p:cNvSpPr/>
          <p:nvPr/>
        </p:nvSpPr>
        <p:spPr>
          <a:xfrm>
            <a:off x="13331952" y="7722109"/>
            <a:ext cx="3497580" cy="2"/>
          </a:xfrm>
          <a:prstGeom prst="line">
            <a:avLst/>
          </a:prstGeom>
          <a:noFill/>
          <a:ln w="38100">
            <a:solidFill>
              <a:srgbClr val="147A4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/>
          <p:nvPr/>
        </p:nvSpPr>
        <p:spPr>
          <a:xfrm>
            <a:off x="13331952" y="7941564"/>
            <a:ext cx="34975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25" b="1">
                <a:solidFill>
                  <a:srgbClr val="147A41"/>
                </a:solidFill>
              </a:rPr>
              <a:t>ESCALA</a:t>
            </a:r>
            <a:endParaRPr lang="en-US" sz="1425"/>
          </a:p>
        </p:txBody>
      </p:sp>
      <p:sp>
        <p:nvSpPr>
          <p:cNvPr id="44" name="Text 42"/>
          <p:cNvSpPr/>
          <p:nvPr/>
        </p:nvSpPr>
        <p:spPr>
          <a:xfrm>
            <a:off x="13331952" y="8366760"/>
            <a:ext cx="34975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75">
                <a:solidFill>
                  <a:srgbClr val="564F44"/>
                </a:solidFill>
              </a:rPr>
              <a:t>Más entrega sin multiplicar fricción</a:t>
            </a:r>
            <a:endParaRPr lang="en-US" sz="1575"/>
          </a:p>
        </p:txBody>
      </p:sp>
      <p:sp>
        <p:nvSpPr>
          <p:cNvPr id="45" name="Shape 43"/>
          <p:cNvSpPr/>
          <p:nvPr/>
        </p:nvSpPr>
        <p:spPr>
          <a:xfrm>
            <a:off x="987552" y="9162288"/>
            <a:ext cx="16102584" cy="630936"/>
          </a:xfrm>
          <a:prstGeom prst="roundRect">
            <a:avLst>
              <a:gd name="adj" fmla="val 8696"/>
            </a:avLst>
          </a:prstGeom>
          <a:solidFill>
            <a:srgbClr val="E9E5DE"/>
          </a:solidFill>
          <a:ln w="8890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6" name="Text 44"/>
          <p:cNvSpPr/>
          <p:nvPr/>
        </p:nvSpPr>
        <p:spPr>
          <a:xfrm>
            <a:off x="1508760" y="9354312"/>
            <a:ext cx="15060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50" b="1">
                <a:solidFill>
                  <a:srgbClr val="0E2A47"/>
                </a:solidFill>
              </a:rPr>
              <a:t>La apuesta no es sumar personas para atender más solicitudes. Es multiplicar la capacidad de entrega de TI.</a:t>
            </a:r>
            <a:endParaRPr lang="en-US" sz="165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213580" y="9820656"/>
            <a:ext cx="1200000" cy="45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2057400" rtl="0" eaLnBrk="1" latinLnBrk="0" hangingPunct="1">
              <a:defRPr sz="4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algn="l" defTabSz="2057400" rtl="0" eaLnBrk="1" latinLnBrk="0" hangingPunct="1">
              <a:defRPr sz="4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057400" algn="l" defTabSz="2057400" rtl="0" eaLnBrk="1" latinLnBrk="0" hangingPunct="1">
              <a:defRPr sz="4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086100" algn="l" defTabSz="2057400" rtl="0" eaLnBrk="1" latinLnBrk="0" hangingPunct="1">
              <a:defRPr sz="4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algn="l" defTabSz="2057400" rtl="0" eaLnBrk="1" latinLnBrk="0" hangingPunct="1">
              <a:defRPr sz="4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143500" algn="l" defTabSz="2057400" rtl="0" eaLnBrk="1" latinLnBrk="0" hangingPunct="1">
              <a:defRPr sz="4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172200" algn="l" defTabSz="2057400" rtl="0" eaLnBrk="1" latinLnBrk="0" hangingPunct="1">
              <a:defRPr sz="4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200900" algn="l" defTabSz="2057400" rtl="0" eaLnBrk="1" latinLnBrk="0" hangingPunct="1">
              <a:defRPr sz="4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229600" algn="l" defTabSz="2057400" rtl="0" eaLnBrk="1" latinLnBrk="0" hangingPunct="1">
              <a:defRPr sz="4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6235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850392" y="850392"/>
            <a:ext cx="6172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b="1" kern="0" spc="225">
                <a:solidFill>
                  <a:srgbClr val="B3141F"/>
                </a:solidFill>
              </a:rPr>
              <a:t>LA APUESTA DE TUYA</a:t>
            </a:r>
            <a:endParaRPr lang="en-US" sz="1350"/>
          </a:p>
        </p:txBody>
      </p:sp>
      <p:sp>
        <p:nvSpPr>
          <p:cNvPr id="3" name="Text 1"/>
          <p:cNvSpPr/>
          <p:nvPr/>
        </p:nvSpPr>
        <p:spPr>
          <a:xfrm>
            <a:off x="850392" y="1261872"/>
            <a:ext cx="1604772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50" b="1">
                <a:solidFill>
                  <a:srgbClr val="0E2A47"/>
                </a:solidFill>
              </a:rPr>
              <a:t>Atlas: el canal para consumir capacidades de TI</a:t>
            </a:r>
            <a:endParaRPr lang="en-US" sz="4050"/>
          </a:p>
        </p:txBody>
      </p:sp>
      <p:sp>
        <p:nvSpPr>
          <p:cNvPr id="4" name="Text 2"/>
          <p:cNvSpPr/>
          <p:nvPr/>
        </p:nvSpPr>
        <p:spPr>
          <a:xfrm>
            <a:off x="850392" y="2359152"/>
            <a:ext cx="15910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75">
                <a:solidFill>
                  <a:srgbClr val="564F44"/>
                </a:solidFill>
              </a:rPr>
              <a:t>Una plataforma interna que conecta automatización, estándares y controles en una experiencia simple de autoservicio.</a:t>
            </a:r>
            <a:endParaRPr lang="en-US" sz="1875"/>
          </a:p>
        </p:txBody>
      </p:sp>
      <p:sp>
        <p:nvSpPr>
          <p:cNvPr id="5" name="Shape 3"/>
          <p:cNvSpPr/>
          <p:nvPr/>
        </p:nvSpPr>
        <p:spPr>
          <a:xfrm>
            <a:off x="6515100" y="3470148"/>
            <a:ext cx="5239512" cy="4251960"/>
          </a:xfrm>
          <a:prstGeom prst="ellipse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  <a:effectLst>
            <a:outerShdw blurRad="25400" dist="889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7104888" y="4416552"/>
            <a:ext cx="4059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650" b="1" kern="0" spc="300">
                <a:solidFill>
                  <a:srgbClr val="FFFFFF"/>
                </a:solidFill>
              </a:rPr>
              <a:t>ATLAS</a:t>
            </a:r>
            <a:endParaRPr lang="en-US" sz="4650"/>
          </a:p>
        </p:txBody>
      </p:sp>
      <p:sp>
        <p:nvSpPr>
          <p:cNvPr id="7" name="Text 5"/>
          <p:cNvSpPr/>
          <p:nvPr/>
        </p:nvSpPr>
        <p:spPr>
          <a:xfrm>
            <a:off x="7050024" y="5239512"/>
            <a:ext cx="4169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75" b="1">
                <a:solidFill>
                  <a:srgbClr val="D9E7F5"/>
                </a:solidFill>
              </a:rPr>
              <a:t>Catálogo  •  Autoservicio  •  Orquestación</a:t>
            </a:r>
            <a:endParaRPr lang="en-US" sz="1575"/>
          </a:p>
        </p:txBody>
      </p:sp>
      <p:sp>
        <p:nvSpPr>
          <p:cNvPr id="8" name="Text 6"/>
          <p:cNvSpPr/>
          <p:nvPr/>
        </p:nvSpPr>
        <p:spPr>
          <a:xfrm>
            <a:off x="7242048" y="6131052"/>
            <a:ext cx="3785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>
                <a:solidFill>
                  <a:srgbClr val="C7D1DD"/>
                </a:solidFill>
              </a:rPr>
              <a:t>La complejidad queda detrás de la plataforma.</a:t>
            </a:r>
            <a:endParaRPr lang="en-US" sz="1500"/>
          </a:p>
        </p:txBody>
      </p:sp>
      <p:sp>
        <p:nvSpPr>
          <p:cNvPr id="9" name="Shape 7"/>
          <p:cNvSpPr/>
          <p:nvPr/>
        </p:nvSpPr>
        <p:spPr>
          <a:xfrm>
            <a:off x="4800600" y="4224528"/>
            <a:ext cx="1618488" cy="13716"/>
          </a:xfrm>
          <a:prstGeom prst="line">
            <a:avLst/>
          </a:prstGeom>
          <a:noFill/>
          <a:ln w="26670">
            <a:solidFill>
              <a:srgbClr val="1B5FA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987552" y="3497580"/>
            <a:ext cx="3813048" cy="1453896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143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1234440" y="3840480"/>
            <a:ext cx="630936" cy="630936"/>
          </a:xfrm>
          <a:prstGeom prst="ellipse">
            <a:avLst/>
          </a:prstGeom>
          <a:solidFill>
            <a:srgbClr val="1B5FA8"/>
          </a:solidFill>
          <a:ln w="12700">
            <a:solidFill>
              <a:srgbClr val="1B5FA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1234440" y="4005072"/>
            <a:ext cx="630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</a:rPr>
              <a:t>01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2057400" y="3744468"/>
            <a:ext cx="24414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25" b="1">
                <a:solidFill>
                  <a:srgbClr val="1A1714"/>
                </a:solidFill>
              </a:rPr>
              <a:t>Cloud &amp; DevOps</a:t>
            </a:r>
            <a:endParaRPr lang="en-US" sz="1725"/>
          </a:p>
        </p:txBody>
      </p:sp>
      <p:sp>
        <p:nvSpPr>
          <p:cNvPr id="14" name="Text 12"/>
          <p:cNvSpPr/>
          <p:nvPr/>
        </p:nvSpPr>
        <p:spPr>
          <a:xfrm>
            <a:off x="2057400" y="4251960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25">
                <a:solidFill>
                  <a:srgbClr val="564F44"/>
                </a:solidFill>
              </a:rPr>
              <a:t>IaC, GitOps y despliegues</a:t>
            </a:r>
            <a:endParaRPr lang="en-US" sz="1425"/>
          </a:p>
        </p:txBody>
      </p:sp>
      <p:sp>
        <p:nvSpPr>
          <p:cNvPr id="15" name="Shape 13"/>
          <p:cNvSpPr/>
          <p:nvPr/>
        </p:nvSpPr>
        <p:spPr>
          <a:xfrm>
            <a:off x="4800600" y="6693408"/>
            <a:ext cx="1618488" cy="13716"/>
          </a:xfrm>
          <a:prstGeom prst="line">
            <a:avLst/>
          </a:prstGeom>
          <a:noFill/>
          <a:ln w="26670">
            <a:solidFill>
              <a:srgbClr val="B3141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987552" y="5966460"/>
            <a:ext cx="3813048" cy="1453896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143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1234440" y="6309360"/>
            <a:ext cx="630936" cy="630936"/>
          </a:xfrm>
          <a:prstGeom prst="ellipse">
            <a:avLst/>
          </a:prstGeom>
          <a:solidFill>
            <a:srgbClr val="B3141F"/>
          </a:solidFill>
          <a:ln w="12700">
            <a:solidFill>
              <a:srgbClr val="B3141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1234440" y="6473952"/>
            <a:ext cx="630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</a:rPr>
              <a:t>02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2057400" y="6213348"/>
            <a:ext cx="24414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25" b="1">
                <a:solidFill>
                  <a:srgbClr val="1A1714"/>
                </a:solidFill>
              </a:rPr>
              <a:t>Seguridad &amp; Gobierno</a:t>
            </a:r>
            <a:endParaRPr lang="en-US" sz="1725"/>
          </a:p>
        </p:txBody>
      </p:sp>
      <p:sp>
        <p:nvSpPr>
          <p:cNvPr id="20" name="Text 18"/>
          <p:cNvSpPr/>
          <p:nvPr/>
        </p:nvSpPr>
        <p:spPr>
          <a:xfrm>
            <a:off x="2057400" y="6720840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25">
                <a:solidFill>
                  <a:srgbClr val="564F44"/>
                </a:solidFill>
              </a:rPr>
              <a:t>Controles desde el origen</a:t>
            </a:r>
            <a:endParaRPr lang="en-US" sz="1425"/>
          </a:p>
        </p:txBody>
      </p:sp>
      <p:sp>
        <p:nvSpPr>
          <p:cNvPr id="21" name="Shape 19"/>
          <p:cNvSpPr/>
          <p:nvPr/>
        </p:nvSpPr>
        <p:spPr>
          <a:xfrm>
            <a:off x="11754612" y="4224528"/>
            <a:ext cx="1344168" cy="13716"/>
          </a:xfrm>
          <a:prstGeom prst="line">
            <a:avLst/>
          </a:prstGeom>
          <a:noFill/>
          <a:ln w="26670">
            <a:solidFill>
              <a:srgbClr val="1B5FA8"/>
            </a:solidFill>
            <a:prstDash val="solid"/>
            <a:headEnd type="triangle"/>
            <a:tailEnd type="none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13098780" y="3497580"/>
            <a:ext cx="3813048" cy="1453896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143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13345668" y="3840480"/>
            <a:ext cx="630936" cy="630936"/>
          </a:xfrm>
          <a:prstGeom prst="ellipse">
            <a:avLst/>
          </a:prstGeom>
          <a:solidFill>
            <a:srgbClr val="1B5FA8"/>
          </a:solidFill>
          <a:ln w="12700">
            <a:solidFill>
              <a:srgbClr val="1B5FA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13345668" y="4005072"/>
            <a:ext cx="630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</a:rPr>
              <a:t>03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14168628" y="3744468"/>
            <a:ext cx="24414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25" b="1">
                <a:solidFill>
                  <a:srgbClr val="1A1714"/>
                </a:solidFill>
              </a:rPr>
              <a:t>Datos, IA y Arquitectura</a:t>
            </a:r>
            <a:endParaRPr lang="en-US" sz="1725"/>
          </a:p>
        </p:txBody>
      </p:sp>
      <p:sp>
        <p:nvSpPr>
          <p:cNvPr id="26" name="Text 24"/>
          <p:cNvSpPr/>
          <p:nvPr/>
        </p:nvSpPr>
        <p:spPr>
          <a:xfrm>
            <a:off x="14168628" y="4251960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25">
                <a:solidFill>
                  <a:srgbClr val="564F44"/>
                </a:solidFill>
              </a:rPr>
              <a:t>Patrones listos para usar</a:t>
            </a:r>
            <a:endParaRPr lang="en-US" sz="1425"/>
          </a:p>
        </p:txBody>
      </p:sp>
      <p:sp>
        <p:nvSpPr>
          <p:cNvPr id="27" name="Shape 25"/>
          <p:cNvSpPr/>
          <p:nvPr/>
        </p:nvSpPr>
        <p:spPr>
          <a:xfrm>
            <a:off x="11754612" y="6693408"/>
            <a:ext cx="1344168" cy="13716"/>
          </a:xfrm>
          <a:prstGeom prst="line">
            <a:avLst/>
          </a:prstGeom>
          <a:noFill/>
          <a:ln w="26670">
            <a:solidFill>
              <a:srgbClr val="B3141F"/>
            </a:solidFill>
            <a:prstDash val="solid"/>
            <a:headEnd type="triangle"/>
            <a:tailEnd type="none"/>
          </a:ln>
        </p:spPr>
        <p:txBody>
          <a:bodyPr/>
          <a:lstStyle/>
          <a:p>
            <a:endParaRPr lang="es-CO"/>
          </a:p>
        </p:txBody>
      </p:sp>
      <p:sp>
        <p:nvSpPr>
          <p:cNvPr id="28" name="Shape 26"/>
          <p:cNvSpPr/>
          <p:nvPr/>
        </p:nvSpPr>
        <p:spPr>
          <a:xfrm>
            <a:off x="13098780" y="5966460"/>
            <a:ext cx="3813048" cy="1453896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143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Shape 27"/>
          <p:cNvSpPr/>
          <p:nvPr/>
        </p:nvSpPr>
        <p:spPr>
          <a:xfrm>
            <a:off x="13345668" y="6309360"/>
            <a:ext cx="630936" cy="630936"/>
          </a:xfrm>
          <a:prstGeom prst="ellipse">
            <a:avLst/>
          </a:prstGeom>
          <a:solidFill>
            <a:srgbClr val="B3141F"/>
          </a:solidFill>
          <a:ln w="12700">
            <a:solidFill>
              <a:srgbClr val="B3141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13345668" y="6473952"/>
            <a:ext cx="630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</a:rPr>
              <a:t>04</a:t>
            </a:r>
            <a:endParaRPr lang="en-US" sz="1200"/>
          </a:p>
        </p:txBody>
      </p:sp>
      <p:sp>
        <p:nvSpPr>
          <p:cNvPr id="31" name="Text 29"/>
          <p:cNvSpPr/>
          <p:nvPr/>
        </p:nvSpPr>
        <p:spPr>
          <a:xfrm>
            <a:off x="14168628" y="6213348"/>
            <a:ext cx="24414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25" b="1">
                <a:solidFill>
                  <a:srgbClr val="1A1714"/>
                </a:solidFill>
              </a:rPr>
              <a:t>Operación &amp; Observabilidad</a:t>
            </a:r>
            <a:endParaRPr lang="en-US" sz="1725"/>
          </a:p>
        </p:txBody>
      </p:sp>
      <p:sp>
        <p:nvSpPr>
          <p:cNvPr id="32" name="Text 30"/>
          <p:cNvSpPr/>
          <p:nvPr/>
        </p:nvSpPr>
        <p:spPr>
          <a:xfrm>
            <a:off x="14168628" y="6720840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25">
                <a:solidFill>
                  <a:srgbClr val="564F44"/>
                </a:solidFill>
              </a:rPr>
              <a:t>Contexto, confiabilidad y soporte</a:t>
            </a:r>
            <a:endParaRPr lang="en-US" sz="1425"/>
          </a:p>
        </p:txBody>
      </p:sp>
      <p:sp>
        <p:nvSpPr>
          <p:cNvPr id="33" name="Shape 31"/>
          <p:cNvSpPr/>
          <p:nvPr/>
        </p:nvSpPr>
        <p:spPr>
          <a:xfrm>
            <a:off x="960120" y="8476488"/>
            <a:ext cx="16322040" cy="987552"/>
          </a:xfrm>
          <a:prstGeom prst="roundRect">
            <a:avLst>
              <a:gd name="adj" fmla="val 6944"/>
            </a:avLst>
          </a:prstGeom>
          <a:solidFill>
            <a:srgbClr val="ECE8E0"/>
          </a:solidFill>
          <a:ln w="1016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1303020" y="8778240"/>
            <a:ext cx="24003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b="1">
                <a:solidFill>
                  <a:srgbClr val="B3141F"/>
                </a:solidFill>
              </a:rPr>
              <a:t>LO QUE SE NECESITA</a:t>
            </a:r>
            <a:endParaRPr lang="en-US" sz="1350"/>
          </a:p>
        </p:txBody>
      </p:sp>
      <p:sp>
        <p:nvSpPr>
          <p:cNvPr id="35" name="Text 33"/>
          <p:cNvSpPr/>
          <p:nvPr/>
        </p:nvSpPr>
        <p:spPr>
          <a:xfrm>
            <a:off x="3813048" y="8695944"/>
            <a:ext cx="29489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25" b="1">
                <a:solidFill>
                  <a:srgbClr val="1A1714"/>
                </a:solidFill>
              </a:rPr>
              <a:t>Patrocinio sostenido</a:t>
            </a:r>
            <a:endParaRPr lang="en-US" sz="1725"/>
          </a:p>
        </p:txBody>
      </p:sp>
      <p:sp>
        <p:nvSpPr>
          <p:cNvPr id="36" name="Text 34"/>
          <p:cNvSpPr/>
          <p:nvPr/>
        </p:nvSpPr>
        <p:spPr>
          <a:xfrm>
            <a:off x="7159752" y="8695944"/>
            <a:ext cx="29489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25" b="1">
                <a:solidFill>
                  <a:srgbClr val="1A1714"/>
                </a:solidFill>
              </a:rPr>
              <a:t>Equipo núcleo dedicado</a:t>
            </a:r>
            <a:endParaRPr lang="en-US" sz="1725"/>
          </a:p>
        </p:txBody>
      </p:sp>
      <p:sp>
        <p:nvSpPr>
          <p:cNvPr id="37" name="Text 35"/>
          <p:cNvSpPr/>
          <p:nvPr/>
        </p:nvSpPr>
        <p:spPr>
          <a:xfrm>
            <a:off x="10506456" y="8695944"/>
            <a:ext cx="29489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25" b="1">
                <a:solidFill>
                  <a:srgbClr val="1A1714"/>
                </a:solidFill>
              </a:rPr>
              <a:t>Primer journey medible</a:t>
            </a:r>
            <a:endParaRPr lang="en-US" sz="1725"/>
          </a:p>
        </p:txBody>
      </p:sp>
      <p:sp>
        <p:nvSpPr>
          <p:cNvPr id="38" name="Text 36"/>
          <p:cNvSpPr/>
          <p:nvPr/>
        </p:nvSpPr>
        <p:spPr>
          <a:xfrm>
            <a:off x="13853160" y="8695944"/>
            <a:ext cx="29489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25" b="1">
                <a:solidFill>
                  <a:srgbClr val="1A1714"/>
                </a:solidFill>
              </a:rPr>
              <a:t>Escalar por evidencia</a:t>
            </a:r>
            <a:endParaRPr lang="en-US" sz="1725"/>
          </a:p>
        </p:txBody>
      </p:sp>
      <p:sp>
        <p:nvSpPr>
          <p:cNvPr id="39" name="Text 37"/>
          <p:cNvSpPr/>
          <p:nvPr/>
        </p:nvSpPr>
        <p:spPr>
          <a:xfrm>
            <a:off x="1988820" y="9601200"/>
            <a:ext cx="14264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80" b="1">
                <a:solidFill>
                  <a:srgbClr val="0E2A47"/>
                </a:solidFill>
              </a:rPr>
              <a:t>La decisión no es construir un portal. Es crear una capacidad organizacional que reduzca el TTM de forma sostenible.</a:t>
            </a:r>
            <a:endParaRPr lang="en-US" sz="168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213580" y="9820656"/>
            <a:ext cx="1200000" cy="45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2057400" rtl="0" eaLnBrk="1" latinLnBrk="0" hangingPunct="1">
              <a:defRPr sz="4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algn="l" defTabSz="2057400" rtl="0" eaLnBrk="1" latinLnBrk="0" hangingPunct="1">
              <a:defRPr sz="4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057400" algn="l" defTabSz="2057400" rtl="0" eaLnBrk="1" latinLnBrk="0" hangingPunct="1">
              <a:defRPr sz="4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086100" algn="l" defTabSz="2057400" rtl="0" eaLnBrk="1" latinLnBrk="0" hangingPunct="1">
              <a:defRPr sz="4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algn="l" defTabSz="2057400" rtl="0" eaLnBrk="1" latinLnBrk="0" hangingPunct="1">
              <a:defRPr sz="4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143500" algn="l" defTabSz="2057400" rtl="0" eaLnBrk="1" latinLnBrk="0" hangingPunct="1">
              <a:defRPr sz="4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172200" algn="l" defTabSz="2057400" rtl="0" eaLnBrk="1" latinLnBrk="0" hangingPunct="1">
              <a:defRPr sz="4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200900" algn="l" defTabSz="2057400" rtl="0" eaLnBrk="1" latinLnBrk="0" hangingPunct="1">
              <a:defRPr sz="4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229600" algn="l" defTabSz="2057400" rtl="0" eaLnBrk="1" latinLnBrk="0" hangingPunct="1">
              <a:defRPr sz="4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850392" y="850392"/>
            <a:ext cx="6172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b="1" kern="0" spc="225">
                <a:solidFill>
                  <a:srgbClr val="B3141F"/>
                </a:solidFill>
              </a:rPr>
              <a:t>LA CAPACIDAD HABILITADORA</a:t>
            </a:r>
            <a:endParaRPr lang="en-US" sz="1350"/>
          </a:p>
        </p:txBody>
      </p:sp>
      <p:sp>
        <p:nvSpPr>
          <p:cNvPr id="3" name="Text 1"/>
          <p:cNvSpPr/>
          <p:nvPr/>
        </p:nvSpPr>
        <p:spPr>
          <a:xfrm>
            <a:off x="850392" y="1261872"/>
            <a:ext cx="161163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50" b="1">
                <a:solidFill>
                  <a:srgbClr val="0E2A47"/>
                </a:solidFill>
              </a:rPr>
              <a:t>El </a:t>
            </a:r>
            <a:r>
              <a:rPr lang="en-US" sz="4050" b="1" err="1">
                <a:solidFill>
                  <a:srgbClr val="0E2A47"/>
                </a:solidFill>
              </a:rPr>
              <a:t>equipo</a:t>
            </a:r>
            <a:r>
              <a:rPr lang="en-US" sz="4050" b="1">
                <a:solidFill>
                  <a:srgbClr val="0E2A47"/>
                </a:solidFill>
              </a:rPr>
              <a:t> Cloud </a:t>
            </a:r>
            <a:r>
              <a:rPr lang="en-US" sz="4050" b="1" err="1">
                <a:solidFill>
                  <a:srgbClr val="0E2A47"/>
                </a:solidFill>
              </a:rPr>
              <a:t>evoluciona</a:t>
            </a:r>
            <a:r>
              <a:rPr lang="en-US" sz="4050" b="1">
                <a:solidFill>
                  <a:srgbClr val="0E2A47"/>
                </a:solidFill>
              </a:rPr>
              <a:t> para </a:t>
            </a:r>
            <a:r>
              <a:rPr lang="en-US" sz="4050" b="1" err="1">
                <a:solidFill>
                  <a:srgbClr val="0E2A47"/>
                </a:solidFill>
              </a:rPr>
              <a:t>construir</a:t>
            </a:r>
            <a:r>
              <a:rPr lang="en-US" sz="4050" b="1">
                <a:solidFill>
                  <a:srgbClr val="0E2A47"/>
                </a:solidFill>
              </a:rPr>
              <a:t> y </a:t>
            </a:r>
            <a:r>
              <a:rPr lang="en-US" sz="4050" b="1" err="1">
                <a:solidFill>
                  <a:srgbClr val="0E2A47"/>
                </a:solidFill>
              </a:rPr>
              <a:t>operar</a:t>
            </a:r>
            <a:r>
              <a:rPr lang="en-US" sz="4050" b="1">
                <a:solidFill>
                  <a:srgbClr val="0E2A47"/>
                </a:solidFill>
              </a:rPr>
              <a:t> Atlas</a:t>
            </a:r>
            <a:endParaRPr lang="en-US" sz="4050"/>
          </a:p>
        </p:txBody>
      </p:sp>
      <p:sp>
        <p:nvSpPr>
          <p:cNvPr id="4" name="Text 2"/>
          <p:cNvSpPr/>
          <p:nvPr/>
        </p:nvSpPr>
        <p:spPr>
          <a:xfrm>
            <a:off x="850392" y="2359152"/>
            <a:ext cx="158419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75">
                <a:solidFill>
                  <a:srgbClr val="564F44"/>
                </a:solidFill>
              </a:rPr>
              <a:t>La práctica requiere transformar el equipo actual en un equipo de plataforma, combinando producto, automatización, experiencia, seguridad y confiabilidad.</a:t>
            </a:r>
            <a:endParaRPr lang="en-US" sz="1875"/>
          </a:p>
        </p:txBody>
      </p:sp>
      <p:sp>
        <p:nvSpPr>
          <p:cNvPr id="5" name="Text 3"/>
          <p:cNvSpPr/>
          <p:nvPr/>
        </p:nvSpPr>
        <p:spPr>
          <a:xfrm>
            <a:off x="987552" y="3264408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25" b="1" kern="0" spc="165">
                <a:solidFill>
                  <a:srgbClr val="1B5FA8"/>
                </a:solidFill>
              </a:rPr>
              <a:t>MODELO OBJETIVO</a:t>
            </a:r>
            <a:endParaRPr lang="en-US" sz="1425"/>
          </a:p>
        </p:txBody>
      </p:sp>
      <p:sp>
        <p:nvSpPr>
          <p:cNvPr id="6" name="Text 4"/>
          <p:cNvSpPr/>
          <p:nvPr/>
        </p:nvSpPr>
        <p:spPr>
          <a:xfrm>
            <a:off x="987552" y="3703320"/>
            <a:ext cx="27432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350" b="1">
                <a:solidFill>
                  <a:srgbClr val="0E2A47"/>
                </a:solidFill>
              </a:rPr>
              <a:t>15 FTE</a:t>
            </a:r>
            <a:endParaRPr lang="en-US" sz="4350"/>
          </a:p>
        </p:txBody>
      </p:sp>
      <p:sp>
        <p:nvSpPr>
          <p:cNvPr id="7" name="Text 5"/>
          <p:cNvSpPr/>
          <p:nvPr/>
        </p:nvSpPr>
        <p:spPr>
          <a:xfrm>
            <a:off x="3909060" y="3991356"/>
            <a:ext cx="34975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50" b="1">
                <a:solidFill>
                  <a:srgbClr val="B3141F"/>
                </a:solidFill>
              </a:rPr>
              <a:t>10 actuales + 5 perfiles</a:t>
            </a:r>
            <a:endParaRPr lang="en-US" sz="1650"/>
          </a:p>
        </p:txBody>
      </p:sp>
      <p:sp>
        <p:nvSpPr>
          <p:cNvPr id="8" name="Shape 6"/>
          <p:cNvSpPr/>
          <p:nvPr/>
        </p:nvSpPr>
        <p:spPr>
          <a:xfrm>
            <a:off x="987552" y="4690872"/>
            <a:ext cx="4279392" cy="1261872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0160">
            <a:solidFill>
              <a:srgbClr val="D5D0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1234440" y="4965192"/>
            <a:ext cx="658368" cy="658368"/>
          </a:xfrm>
          <a:prstGeom prst="ellipse">
            <a:avLst/>
          </a:prstGeom>
          <a:solidFill>
            <a:srgbClr val="1B5FA8"/>
          </a:solidFill>
          <a:ln w="12700">
            <a:solidFill>
              <a:srgbClr val="1B5FA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234440" y="517093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50" b="1">
                <a:solidFill>
                  <a:srgbClr val="FFFFFF"/>
                </a:solidFill>
              </a:rPr>
              <a:t>1</a:t>
            </a:r>
            <a:endParaRPr lang="en-US" sz="1350"/>
          </a:p>
        </p:txBody>
      </p:sp>
      <p:sp>
        <p:nvSpPr>
          <p:cNvPr id="11" name="Text 9"/>
          <p:cNvSpPr/>
          <p:nvPr/>
        </p:nvSpPr>
        <p:spPr>
          <a:xfrm>
            <a:off x="2112264" y="4882896"/>
            <a:ext cx="2907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95" b="1">
                <a:solidFill>
                  <a:srgbClr val="1A1714"/>
                </a:solidFill>
              </a:rPr>
              <a:t>Platform Lead / PO</a:t>
            </a:r>
            <a:endParaRPr lang="en-US" sz="1695"/>
          </a:p>
        </p:txBody>
      </p:sp>
      <p:sp>
        <p:nvSpPr>
          <p:cNvPr id="12" name="Text 10"/>
          <p:cNvSpPr/>
          <p:nvPr/>
        </p:nvSpPr>
        <p:spPr>
          <a:xfrm>
            <a:off x="2112264" y="537667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10">
                <a:solidFill>
                  <a:srgbClr val="564F44"/>
                </a:solidFill>
              </a:rPr>
              <a:t>Visión, priorización y valor</a:t>
            </a:r>
            <a:endParaRPr lang="en-US" sz="1410"/>
          </a:p>
        </p:txBody>
      </p:sp>
      <p:sp>
        <p:nvSpPr>
          <p:cNvPr id="13" name="Shape 11"/>
          <p:cNvSpPr/>
          <p:nvPr/>
        </p:nvSpPr>
        <p:spPr>
          <a:xfrm>
            <a:off x="5513832" y="4690872"/>
            <a:ext cx="4279392" cy="1261872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0160">
            <a:solidFill>
              <a:srgbClr val="D5D0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5760720" y="4965192"/>
            <a:ext cx="658368" cy="658368"/>
          </a:xfrm>
          <a:prstGeom prst="ellipse">
            <a:avLst/>
          </a:prstGeom>
          <a:solidFill>
            <a:srgbClr val="39A9F9"/>
          </a:solidFill>
          <a:ln w="12700">
            <a:solidFill>
              <a:srgbClr val="39A9F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5760720" y="517093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50" b="1">
                <a:solidFill>
                  <a:srgbClr val="FFFFFF"/>
                </a:solidFill>
              </a:rPr>
              <a:t>6</a:t>
            </a:r>
            <a:endParaRPr lang="en-US" sz="1350"/>
          </a:p>
        </p:txBody>
      </p:sp>
      <p:sp>
        <p:nvSpPr>
          <p:cNvPr id="16" name="Text 14"/>
          <p:cNvSpPr/>
          <p:nvPr/>
        </p:nvSpPr>
        <p:spPr>
          <a:xfrm>
            <a:off x="6638544" y="4882896"/>
            <a:ext cx="2907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95" b="1">
                <a:solidFill>
                  <a:srgbClr val="1A1714"/>
                </a:solidFill>
              </a:rPr>
              <a:t>Platform Engineers</a:t>
            </a:r>
            <a:endParaRPr lang="en-US" sz="1695"/>
          </a:p>
        </p:txBody>
      </p:sp>
      <p:sp>
        <p:nvSpPr>
          <p:cNvPr id="17" name="Text 15"/>
          <p:cNvSpPr/>
          <p:nvPr/>
        </p:nvSpPr>
        <p:spPr>
          <a:xfrm>
            <a:off x="6638544" y="537667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10">
                <a:solidFill>
                  <a:srgbClr val="564F44"/>
                </a:solidFill>
              </a:rPr>
              <a:t>Cloud, DevOps, IaC y GitOps</a:t>
            </a:r>
            <a:endParaRPr lang="en-US" sz="1410"/>
          </a:p>
        </p:txBody>
      </p:sp>
      <p:sp>
        <p:nvSpPr>
          <p:cNvPr id="18" name="Shape 16"/>
          <p:cNvSpPr/>
          <p:nvPr/>
        </p:nvSpPr>
        <p:spPr>
          <a:xfrm>
            <a:off x="987552" y="6295644"/>
            <a:ext cx="4279392" cy="1261872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0160">
            <a:solidFill>
              <a:srgbClr val="D5D0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1234440" y="6569964"/>
            <a:ext cx="658368" cy="658368"/>
          </a:xfrm>
          <a:prstGeom prst="ellipse">
            <a:avLst/>
          </a:prstGeom>
          <a:solidFill>
            <a:srgbClr val="35C979"/>
          </a:solidFill>
          <a:ln w="12700">
            <a:solidFill>
              <a:srgbClr val="35C97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1234440" y="677570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50" b="1">
                <a:solidFill>
                  <a:srgbClr val="FFFFFF"/>
                </a:solidFill>
              </a:rPr>
              <a:t>4</a:t>
            </a:r>
            <a:endParaRPr lang="en-US" sz="1350"/>
          </a:p>
        </p:txBody>
      </p:sp>
      <p:sp>
        <p:nvSpPr>
          <p:cNvPr id="21" name="Text 19"/>
          <p:cNvSpPr/>
          <p:nvPr/>
        </p:nvSpPr>
        <p:spPr>
          <a:xfrm>
            <a:off x="2112264" y="6487668"/>
            <a:ext cx="2907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95" b="1">
                <a:solidFill>
                  <a:srgbClr val="1A1714"/>
                </a:solidFill>
              </a:rPr>
              <a:t>DevEx + QA</a:t>
            </a:r>
            <a:endParaRPr lang="en-US" sz="1695"/>
          </a:p>
        </p:txBody>
      </p:sp>
      <p:sp>
        <p:nvSpPr>
          <p:cNvPr id="22" name="Text 20"/>
          <p:cNvSpPr/>
          <p:nvPr/>
        </p:nvSpPr>
        <p:spPr>
          <a:xfrm>
            <a:off x="2112264" y="6981444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10">
                <a:solidFill>
                  <a:srgbClr val="564F44"/>
                </a:solidFill>
              </a:rPr>
              <a:t>Experiencia, portal y calidad</a:t>
            </a:r>
            <a:endParaRPr lang="en-US" sz="1410"/>
          </a:p>
        </p:txBody>
      </p:sp>
      <p:sp>
        <p:nvSpPr>
          <p:cNvPr id="23" name="Shape 21"/>
          <p:cNvSpPr/>
          <p:nvPr/>
        </p:nvSpPr>
        <p:spPr>
          <a:xfrm>
            <a:off x="5513832" y="6295644"/>
            <a:ext cx="4279392" cy="1261872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0160">
            <a:solidFill>
              <a:srgbClr val="D5D0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5760720" y="6569964"/>
            <a:ext cx="658368" cy="658368"/>
          </a:xfrm>
          <a:prstGeom prst="ellipse">
            <a:avLst/>
          </a:prstGeom>
          <a:solidFill>
            <a:srgbClr val="D99A17"/>
          </a:solidFill>
          <a:ln w="12700">
            <a:solidFill>
              <a:srgbClr val="D99A1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5760720" y="677570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50" b="1">
                <a:solidFill>
                  <a:srgbClr val="1A1714"/>
                </a:solidFill>
              </a:rPr>
              <a:t>1</a:t>
            </a:r>
            <a:endParaRPr lang="en-US" sz="1350"/>
          </a:p>
        </p:txBody>
      </p:sp>
      <p:sp>
        <p:nvSpPr>
          <p:cNvPr id="26" name="Text 24"/>
          <p:cNvSpPr/>
          <p:nvPr/>
        </p:nvSpPr>
        <p:spPr>
          <a:xfrm>
            <a:off x="6638544" y="6487668"/>
            <a:ext cx="2907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95" b="1">
                <a:solidFill>
                  <a:srgbClr val="1A1714"/>
                </a:solidFill>
              </a:rPr>
              <a:t>Platform Security</a:t>
            </a:r>
            <a:endParaRPr lang="en-US" sz="1695"/>
          </a:p>
        </p:txBody>
      </p:sp>
      <p:sp>
        <p:nvSpPr>
          <p:cNvPr id="27" name="Text 25"/>
          <p:cNvSpPr/>
          <p:nvPr/>
        </p:nvSpPr>
        <p:spPr>
          <a:xfrm>
            <a:off x="6638544" y="6981444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10">
                <a:solidFill>
                  <a:srgbClr val="564F44"/>
                </a:solidFill>
              </a:rPr>
              <a:t>Controles integrados</a:t>
            </a:r>
            <a:endParaRPr lang="en-US" sz="1410"/>
          </a:p>
        </p:txBody>
      </p:sp>
      <p:sp>
        <p:nvSpPr>
          <p:cNvPr id="28" name="Shape 26"/>
          <p:cNvSpPr/>
          <p:nvPr/>
        </p:nvSpPr>
        <p:spPr>
          <a:xfrm>
            <a:off x="987552" y="7900416"/>
            <a:ext cx="8805672" cy="1261872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0160">
            <a:solidFill>
              <a:srgbClr val="D5D0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Shape 27"/>
          <p:cNvSpPr/>
          <p:nvPr/>
        </p:nvSpPr>
        <p:spPr>
          <a:xfrm>
            <a:off x="1234440" y="8174736"/>
            <a:ext cx="658368" cy="658368"/>
          </a:xfrm>
          <a:prstGeom prst="ellipse">
            <a:avLst/>
          </a:prstGeom>
          <a:solidFill>
            <a:srgbClr val="D99A17"/>
          </a:solidFill>
          <a:ln w="12700">
            <a:solidFill>
              <a:srgbClr val="D99A1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1234440" y="838047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50" b="1">
                <a:solidFill>
                  <a:srgbClr val="1A1714"/>
                </a:solidFill>
              </a:rPr>
              <a:t>3</a:t>
            </a:r>
            <a:endParaRPr lang="en-US" sz="1350"/>
          </a:p>
        </p:txBody>
      </p:sp>
      <p:sp>
        <p:nvSpPr>
          <p:cNvPr id="31" name="Text 29"/>
          <p:cNvSpPr/>
          <p:nvPr/>
        </p:nvSpPr>
        <p:spPr>
          <a:xfrm>
            <a:off x="2112264" y="8092440"/>
            <a:ext cx="7434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95" b="1">
                <a:solidFill>
                  <a:srgbClr val="1A1714"/>
                </a:solidFill>
              </a:rPr>
              <a:t>Operation Engineers</a:t>
            </a:r>
            <a:endParaRPr lang="en-US" sz="1695"/>
          </a:p>
        </p:txBody>
      </p:sp>
      <p:sp>
        <p:nvSpPr>
          <p:cNvPr id="32" name="Text 30"/>
          <p:cNvSpPr/>
          <p:nvPr/>
        </p:nvSpPr>
        <p:spPr>
          <a:xfrm>
            <a:off x="2112264" y="8586216"/>
            <a:ext cx="7434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10">
                <a:solidFill>
                  <a:srgbClr val="564F44"/>
                </a:solidFill>
              </a:rPr>
              <a:t>SRE, soporte y confiabilidad</a:t>
            </a:r>
            <a:endParaRPr lang="en-US" sz="1410"/>
          </a:p>
        </p:txBody>
      </p:sp>
      <p:sp>
        <p:nvSpPr>
          <p:cNvPr id="33" name="Shape 31"/>
          <p:cNvSpPr/>
          <p:nvPr/>
        </p:nvSpPr>
        <p:spPr>
          <a:xfrm>
            <a:off x="10355580" y="3264408"/>
            <a:ext cx="6858000" cy="5897880"/>
          </a:xfrm>
          <a:prstGeom prst="roundRect">
            <a:avLst>
              <a:gd name="adj" fmla="val 1395"/>
            </a:avLst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10835640" y="3730752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kern="0" spc="165">
                <a:solidFill>
                  <a:srgbClr val="7FC4FF"/>
                </a:solidFill>
              </a:rPr>
              <a:t>SIGUIENTES PASOS</a:t>
            </a:r>
            <a:endParaRPr lang="en-US" sz="1500"/>
          </a:p>
        </p:txBody>
      </p:sp>
      <p:sp>
        <p:nvSpPr>
          <p:cNvPr id="35" name="Shape 33"/>
          <p:cNvSpPr/>
          <p:nvPr/>
        </p:nvSpPr>
        <p:spPr>
          <a:xfrm>
            <a:off x="10835640" y="4361688"/>
            <a:ext cx="576072" cy="576072"/>
          </a:xfrm>
          <a:prstGeom prst="ellipse">
            <a:avLst/>
          </a:prstGeom>
          <a:solidFill>
            <a:srgbClr val="39A9F9"/>
          </a:solidFill>
          <a:ln w="12700">
            <a:solidFill>
              <a:srgbClr val="39A9F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10835640" y="4539996"/>
            <a:ext cx="5760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25" b="1">
                <a:solidFill>
                  <a:srgbClr val="FFFFFF"/>
                </a:solidFill>
              </a:rPr>
              <a:t>01</a:t>
            </a:r>
            <a:endParaRPr lang="en-US" sz="1125"/>
          </a:p>
        </p:txBody>
      </p:sp>
      <p:sp>
        <p:nvSpPr>
          <p:cNvPr id="37" name="Text 35"/>
          <p:cNvSpPr/>
          <p:nvPr/>
        </p:nvSpPr>
        <p:spPr>
          <a:xfrm>
            <a:off x="11699748" y="4347972"/>
            <a:ext cx="48691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</a:rPr>
              <a:t>Alinear el modelo</a:t>
            </a:r>
            <a:endParaRPr lang="en-US" sz="1800"/>
          </a:p>
        </p:txBody>
      </p:sp>
      <p:sp>
        <p:nvSpPr>
          <p:cNvPr id="38" name="Text 36"/>
          <p:cNvSpPr/>
          <p:nvPr/>
        </p:nvSpPr>
        <p:spPr>
          <a:xfrm>
            <a:off x="11699748" y="4786884"/>
            <a:ext cx="48691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10">
                <a:solidFill>
                  <a:srgbClr val="C9D6E4"/>
                </a:solidFill>
              </a:rPr>
              <a:t>Mandato, alcance de Atlas y ownership del producto.</a:t>
            </a:r>
            <a:endParaRPr lang="en-US" sz="1410"/>
          </a:p>
        </p:txBody>
      </p:sp>
      <p:sp>
        <p:nvSpPr>
          <p:cNvPr id="39" name="Shape 37"/>
          <p:cNvSpPr/>
          <p:nvPr/>
        </p:nvSpPr>
        <p:spPr>
          <a:xfrm>
            <a:off x="11123676" y="5006340"/>
            <a:ext cx="13716" cy="397764"/>
          </a:xfrm>
          <a:prstGeom prst="line">
            <a:avLst/>
          </a:prstGeom>
          <a:noFill/>
          <a:ln w="15240">
            <a:solidFill>
              <a:srgbClr val="5D76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Shape 38"/>
          <p:cNvSpPr/>
          <p:nvPr/>
        </p:nvSpPr>
        <p:spPr>
          <a:xfrm>
            <a:off x="10835640" y="5431536"/>
            <a:ext cx="576072" cy="576072"/>
          </a:xfrm>
          <a:prstGeom prst="ellipse">
            <a:avLst/>
          </a:prstGeom>
          <a:solidFill>
            <a:srgbClr val="35C979"/>
          </a:solidFill>
          <a:ln w="12700">
            <a:solidFill>
              <a:srgbClr val="35C97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1" name="Text 39"/>
          <p:cNvSpPr/>
          <p:nvPr/>
        </p:nvSpPr>
        <p:spPr>
          <a:xfrm>
            <a:off x="10835640" y="5609844"/>
            <a:ext cx="5760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25" b="1">
                <a:solidFill>
                  <a:srgbClr val="FFFFFF"/>
                </a:solidFill>
              </a:rPr>
              <a:t>02</a:t>
            </a:r>
            <a:endParaRPr lang="en-US" sz="1125"/>
          </a:p>
        </p:txBody>
      </p:sp>
      <p:sp>
        <p:nvSpPr>
          <p:cNvPr id="42" name="Text 40"/>
          <p:cNvSpPr/>
          <p:nvPr/>
        </p:nvSpPr>
        <p:spPr>
          <a:xfrm>
            <a:off x="11699748" y="5417820"/>
            <a:ext cx="48691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</a:rPr>
              <a:t>Conformar el núcleo</a:t>
            </a:r>
            <a:endParaRPr lang="en-US" sz="1800"/>
          </a:p>
        </p:txBody>
      </p:sp>
      <p:sp>
        <p:nvSpPr>
          <p:cNvPr id="43" name="Text 41"/>
          <p:cNvSpPr/>
          <p:nvPr/>
        </p:nvSpPr>
        <p:spPr>
          <a:xfrm>
            <a:off x="11699748" y="5856732"/>
            <a:ext cx="48691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10">
                <a:solidFill>
                  <a:srgbClr val="C9D6E4"/>
                </a:solidFill>
              </a:rPr>
              <a:t>Asignar los 10 actuales y cerrar progresivamente los 5 perfiles.</a:t>
            </a:r>
            <a:endParaRPr lang="en-US" sz="1410"/>
          </a:p>
        </p:txBody>
      </p:sp>
      <p:sp>
        <p:nvSpPr>
          <p:cNvPr id="44" name="Shape 42"/>
          <p:cNvSpPr/>
          <p:nvPr/>
        </p:nvSpPr>
        <p:spPr>
          <a:xfrm>
            <a:off x="11123676" y="6076188"/>
            <a:ext cx="13716" cy="397764"/>
          </a:xfrm>
          <a:prstGeom prst="line">
            <a:avLst/>
          </a:prstGeom>
          <a:noFill/>
          <a:ln w="15240">
            <a:solidFill>
              <a:srgbClr val="5D76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5" name="Shape 43"/>
          <p:cNvSpPr/>
          <p:nvPr/>
        </p:nvSpPr>
        <p:spPr>
          <a:xfrm>
            <a:off x="10835640" y="6501384"/>
            <a:ext cx="576072" cy="576072"/>
          </a:xfrm>
          <a:prstGeom prst="ellipse">
            <a:avLst/>
          </a:prstGeom>
          <a:solidFill>
            <a:srgbClr val="D99A17"/>
          </a:solidFill>
          <a:ln w="12700">
            <a:solidFill>
              <a:srgbClr val="D99A1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6" name="Text 44"/>
          <p:cNvSpPr/>
          <p:nvPr/>
        </p:nvSpPr>
        <p:spPr>
          <a:xfrm>
            <a:off x="10835640" y="6679692"/>
            <a:ext cx="5760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25" b="1">
                <a:solidFill>
                  <a:srgbClr val="1A1714"/>
                </a:solidFill>
              </a:rPr>
              <a:t>03</a:t>
            </a:r>
            <a:endParaRPr lang="en-US" sz="1125"/>
          </a:p>
        </p:txBody>
      </p:sp>
      <p:sp>
        <p:nvSpPr>
          <p:cNvPr id="47" name="Text 45"/>
          <p:cNvSpPr/>
          <p:nvPr/>
        </p:nvSpPr>
        <p:spPr>
          <a:xfrm>
            <a:off x="11699748" y="6487668"/>
            <a:ext cx="48691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</a:rPr>
              <a:t>Movilizar el primer journey</a:t>
            </a:r>
            <a:endParaRPr lang="en-US" sz="1800"/>
          </a:p>
        </p:txBody>
      </p:sp>
      <p:sp>
        <p:nvSpPr>
          <p:cNvPr id="48" name="Text 46"/>
          <p:cNvSpPr/>
          <p:nvPr/>
        </p:nvSpPr>
        <p:spPr>
          <a:xfrm>
            <a:off x="11699748" y="6926580"/>
            <a:ext cx="48691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10">
                <a:solidFill>
                  <a:srgbClr val="C9D6E4"/>
                </a:solidFill>
              </a:rPr>
              <a:t>Priorizar una capacidad recurrente, automatizarla y publicarla.</a:t>
            </a:r>
            <a:endParaRPr lang="en-US" sz="1410"/>
          </a:p>
        </p:txBody>
      </p:sp>
      <p:sp>
        <p:nvSpPr>
          <p:cNvPr id="49" name="Shape 47"/>
          <p:cNvSpPr/>
          <p:nvPr/>
        </p:nvSpPr>
        <p:spPr>
          <a:xfrm>
            <a:off x="11123676" y="7146036"/>
            <a:ext cx="13716" cy="397764"/>
          </a:xfrm>
          <a:prstGeom prst="line">
            <a:avLst/>
          </a:prstGeom>
          <a:noFill/>
          <a:ln w="15240">
            <a:solidFill>
              <a:srgbClr val="5D76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0" name="Shape 48"/>
          <p:cNvSpPr/>
          <p:nvPr/>
        </p:nvSpPr>
        <p:spPr>
          <a:xfrm>
            <a:off x="10835640" y="7571232"/>
            <a:ext cx="576072" cy="576072"/>
          </a:xfrm>
          <a:prstGeom prst="ellipse">
            <a:avLst/>
          </a:prstGeom>
          <a:solidFill>
            <a:srgbClr val="E87070"/>
          </a:solidFill>
          <a:ln w="12700">
            <a:solidFill>
              <a:srgbClr val="E8707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1" name="Text 49"/>
          <p:cNvSpPr/>
          <p:nvPr/>
        </p:nvSpPr>
        <p:spPr>
          <a:xfrm>
            <a:off x="10835640" y="7749540"/>
            <a:ext cx="5760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25" b="1">
                <a:solidFill>
                  <a:srgbClr val="FFFFFF"/>
                </a:solidFill>
              </a:rPr>
              <a:t>04</a:t>
            </a:r>
            <a:endParaRPr lang="en-US" sz="1125"/>
          </a:p>
        </p:txBody>
      </p:sp>
      <p:sp>
        <p:nvSpPr>
          <p:cNvPr id="52" name="Text 50"/>
          <p:cNvSpPr/>
          <p:nvPr/>
        </p:nvSpPr>
        <p:spPr>
          <a:xfrm>
            <a:off x="11699748" y="7557516"/>
            <a:ext cx="48691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</a:rPr>
              <a:t>Medir para escalar</a:t>
            </a:r>
            <a:endParaRPr lang="en-US" sz="1800"/>
          </a:p>
        </p:txBody>
      </p:sp>
      <p:sp>
        <p:nvSpPr>
          <p:cNvPr id="53" name="Text 51"/>
          <p:cNvSpPr/>
          <p:nvPr/>
        </p:nvSpPr>
        <p:spPr>
          <a:xfrm>
            <a:off x="11699748" y="7996428"/>
            <a:ext cx="48691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10">
                <a:solidFill>
                  <a:srgbClr val="C9D6E4"/>
                </a:solidFill>
              </a:rPr>
              <a:t>TTM, adopción, tickets evitados, confiabilidad y satisfacción.</a:t>
            </a:r>
            <a:endParaRPr lang="en-US" sz="1410"/>
          </a:p>
        </p:txBody>
      </p:sp>
      <p:sp>
        <p:nvSpPr>
          <p:cNvPr id="54" name="Text 52"/>
          <p:cNvSpPr/>
          <p:nvPr/>
        </p:nvSpPr>
        <p:spPr>
          <a:xfrm>
            <a:off x="10835640" y="8805672"/>
            <a:ext cx="57332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80" b="1">
                <a:solidFill>
                  <a:srgbClr val="FFFFFF"/>
                </a:solidFill>
              </a:rPr>
              <a:t>Valor visible desde el primer semestre</a:t>
            </a:r>
            <a:endParaRPr lang="en-US" sz="1680"/>
          </a:p>
        </p:txBody>
      </p:sp>
      <p:sp>
        <p:nvSpPr>
          <p:cNvPr id="55" name="Shape 53"/>
          <p:cNvSpPr/>
          <p:nvPr/>
        </p:nvSpPr>
        <p:spPr>
          <a:xfrm>
            <a:off x="987552" y="9518904"/>
            <a:ext cx="16226028" cy="411480"/>
          </a:xfrm>
          <a:prstGeom prst="roundRect">
            <a:avLst>
              <a:gd name="adj" fmla="val 10000"/>
            </a:avLst>
          </a:prstGeom>
          <a:solidFill>
            <a:srgbClr val="E9E5DE"/>
          </a:solidFill>
          <a:ln w="8890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6" name="Text 54"/>
          <p:cNvSpPr/>
          <p:nvPr/>
        </p:nvSpPr>
        <p:spPr>
          <a:xfrm>
            <a:off x="1371600" y="9628632"/>
            <a:ext cx="154305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75" b="1">
                <a:solidFill>
                  <a:srgbClr val="0E2A47"/>
                </a:solidFill>
              </a:rPr>
              <a:t>La inversión en personas convierte la automatización en una capacidad sostenible, operable y escalable para toda TI.</a:t>
            </a:r>
            <a:endParaRPr lang="en-US" sz="1575"/>
          </a:p>
        </p:txBody>
      </p:sp>
      <p:sp>
        <p:nvSpPr>
          <p:cNvPr id="5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213580" y="9820656"/>
            <a:ext cx="1200000" cy="45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2057400" rtl="0" eaLnBrk="1" latinLnBrk="0" hangingPunct="1">
              <a:defRPr sz="4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algn="l" defTabSz="2057400" rtl="0" eaLnBrk="1" latinLnBrk="0" hangingPunct="1">
              <a:defRPr sz="4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057400" algn="l" defTabSz="2057400" rtl="0" eaLnBrk="1" latinLnBrk="0" hangingPunct="1">
              <a:defRPr sz="4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086100" algn="l" defTabSz="2057400" rtl="0" eaLnBrk="1" latinLnBrk="0" hangingPunct="1">
              <a:defRPr sz="4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algn="l" defTabSz="2057400" rtl="0" eaLnBrk="1" latinLnBrk="0" hangingPunct="1">
              <a:defRPr sz="4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143500" algn="l" defTabSz="2057400" rtl="0" eaLnBrk="1" latinLnBrk="0" hangingPunct="1">
              <a:defRPr sz="4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172200" algn="l" defTabSz="2057400" rtl="0" eaLnBrk="1" latinLnBrk="0" hangingPunct="1">
              <a:defRPr sz="4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200900" algn="l" defTabSz="2057400" rtl="0" eaLnBrk="1" latinLnBrk="0" hangingPunct="1">
              <a:defRPr sz="4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229600" algn="l" defTabSz="2057400" rtl="0" eaLnBrk="1" latinLnBrk="0" hangingPunct="1">
              <a:defRPr sz="4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8113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E499A0-7397-F89F-3540-3C19F350A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CC7B4C95-29F4-C3A7-52B3-F75806DA70FE}"/>
              </a:ext>
            </a:extLst>
          </p:cNvPr>
          <p:cNvSpPr/>
          <p:nvPr/>
        </p:nvSpPr>
        <p:spPr>
          <a:xfrm>
            <a:off x="473790" y="3476388"/>
            <a:ext cx="16952976" cy="2770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0" cap="none" spc="-207" normalizeH="0" baseline="0" noProof="0" dirty="0">
                <a:ln>
                  <a:noFill/>
                </a:ln>
                <a:solidFill>
                  <a:srgbClr val="F0EEE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</a:rPr>
              <a:t>Atlas </a:t>
            </a:r>
          </a:p>
          <a:p>
            <a:pPr marL="0" marR="0" lvl="0" indent="0" algn="ctr" defTabSz="914400" rtl="0" eaLnBrk="1" fontAlgn="auto" latinLnBrk="0" hangingPunct="1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0" b="1" kern="0" spc="-207" dirty="0">
                <a:solidFill>
                  <a:srgbClr val="F0EEE9"/>
                </a:solidFill>
                <a:latin typeface="Roboto Condensed"/>
                <a:ea typeface="Roboto Condensed"/>
                <a:cs typeface="Roboto Condensed"/>
              </a:rPr>
              <a:t>Ingeniería</a:t>
            </a:r>
            <a:r>
              <a:rPr kumimoji="0" lang="en-US" sz="8000" b="1" i="0" u="none" strike="noStrike" kern="0" cap="none" spc="-207" normalizeH="0" baseline="0" noProof="0" dirty="0">
                <a:ln>
                  <a:noFill/>
                </a:ln>
                <a:solidFill>
                  <a:srgbClr val="F0EEE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</a:rPr>
              <a:t> de </a:t>
            </a:r>
            <a:r>
              <a:rPr lang="en-US" sz="8000" b="1" kern="0" spc="-207" dirty="0">
                <a:solidFill>
                  <a:srgbClr val="F0EEE9"/>
                </a:solidFill>
                <a:latin typeface="Roboto Condensed"/>
                <a:ea typeface="Roboto Condensed"/>
                <a:cs typeface="Roboto Condensed"/>
              </a:rPr>
              <a:t>P</a:t>
            </a:r>
            <a:r>
              <a:rPr kumimoji="0" lang="en-US" sz="8000" b="1" i="0" u="none" strike="noStrike" kern="0" cap="none" spc="-207" normalizeH="0" baseline="0" noProof="0" dirty="0" err="1">
                <a:ln>
                  <a:noFill/>
                </a:ln>
                <a:solidFill>
                  <a:srgbClr val="F0EEE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</a:rPr>
              <a:t>lataforma</a:t>
            </a:r>
            <a:endParaRPr kumimoji="0" lang="en-US" sz="8000" b="1" i="0" u="none" strike="noStrike" kern="0" cap="none" spc="-207" normalizeH="0" baseline="0" noProof="0" dirty="0">
              <a:ln>
                <a:noFill/>
              </a:ln>
              <a:solidFill>
                <a:srgbClr val="F0EEE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</a:endParaRPr>
          </a:p>
          <a:p>
            <a:pPr marL="0" marR="0" lvl="0" indent="0" algn="ctr" defTabSz="914400" rtl="0" eaLnBrk="1" fontAlgn="auto" latinLnBrk="0" hangingPunct="1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0" b="1" i="0" u="none" strike="noStrike" kern="0" cap="none" spc="-207" normalizeH="0" baseline="0" noProof="0" dirty="0">
              <a:ln>
                <a:noFill/>
              </a:ln>
              <a:solidFill>
                <a:srgbClr val="F0EEE9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0" cap="none" spc="-207" normalizeH="0" baseline="0" noProof="0" dirty="0">
                <a:ln>
                  <a:noFill/>
                </a:ln>
                <a:solidFill>
                  <a:srgbClr val="F0EEE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</a:rPr>
              <a:t>  </a:t>
            </a:r>
            <a:endParaRPr kumimoji="0" lang="en-US" sz="8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Condensed"/>
              <a:ea typeface="Roboto Condensed"/>
              <a:cs typeface="Roboto Condensed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89EB54EA-86CC-2511-E3AF-BE3A1EF1DA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666750"/>
            <a:ext cx="551111" cy="419100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76D29A8C-5512-A285-B23E-9AC36DBCFA93}"/>
              </a:ext>
            </a:extLst>
          </p:cNvPr>
          <p:cNvSpPr/>
          <p:nvPr/>
        </p:nvSpPr>
        <p:spPr>
          <a:xfrm>
            <a:off x="914400" y="3676650"/>
            <a:ext cx="1695297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25" b="1" i="0" u="none" strike="noStrike" kern="0" cap="none" spc="285" normalizeH="0" baseline="0" noProof="0">
                <a:ln>
                  <a:noFill/>
                </a:ln>
                <a:solidFill>
                  <a:srgbClr val="F0EEE9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DEMO EN VIVO</a:t>
            </a:r>
            <a:endParaRPr kumimoji="0" lang="en-US" sz="142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DD375EB3-772E-FC56-81AD-13B24CBD2A6A}"/>
              </a:ext>
            </a:extLst>
          </p:cNvPr>
          <p:cNvSpPr/>
          <p:nvPr/>
        </p:nvSpPr>
        <p:spPr>
          <a:xfrm>
            <a:off x="914400" y="6362700"/>
            <a:ext cx="1223516" cy="342900"/>
          </a:xfrm>
          <a:prstGeom prst="roundRect">
            <a:avLst>
              <a:gd name="adj" fmla="val 50000"/>
            </a:avLst>
          </a:prstGeom>
          <a:solidFill>
            <a:srgbClr val="F0EEE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26B340A1-9BFE-6152-38AF-A9912931B84A}"/>
              </a:ext>
            </a:extLst>
          </p:cNvPr>
          <p:cNvSpPr/>
          <p:nvPr/>
        </p:nvSpPr>
        <p:spPr>
          <a:xfrm>
            <a:off x="1066800" y="6486525"/>
            <a:ext cx="95250" cy="95250"/>
          </a:xfrm>
          <a:prstGeom prst="ellipse">
            <a:avLst/>
          </a:prstGeom>
          <a:solidFill>
            <a:srgbClr val="C20E1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7280C6B0-4899-3866-603A-E4AE121CFB4F}"/>
              </a:ext>
            </a:extLst>
          </p:cNvPr>
          <p:cNvSpPr/>
          <p:nvPr/>
        </p:nvSpPr>
        <p:spPr>
          <a:xfrm>
            <a:off x="1257300" y="6448425"/>
            <a:ext cx="80441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189" normalizeH="0" baseline="0" noProof="0">
                <a:ln>
                  <a:noFill/>
                </a:ln>
                <a:solidFill>
                  <a:srgbClr val="C20E1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VIVO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45265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E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F6699F-DAB3-CE53-1DB1-57E6E84B5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B6BD47B-2828-7EDA-0231-BD024977C572}"/>
              </a:ext>
            </a:extLst>
          </p:cNvPr>
          <p:cNvSpPr/>
          <p:nvPr/>
        </p:nvSpPr>
        <p:spPr>
          <a:xfrm>
            <a:off x="143590" y="4225688"/>
            <a:ext cx="16952976" cy="2770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0" cap="none" spc="-207" normalizeH="0" baseline="0" noProof="0">
                <a:ln>
                  <a:noFill/>
                </a:ln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A/B Testing - VWO</a:t>
            </a:r>
            <a:r>
              <a:rPr kumimoji="0" lang="en-US" sz="8000" b="1" i="0" u="none" strike="noStrike" kern="0" cap="none" spc="-207" normalizeH="0" baseline="0" noProof="0">
                <a:ln>
                  <a:noFill/>
                </a:ln>
                <a:solidFill>
                  <a:srgbClr val="F0EEE9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 </a:t>
            </a:r>
            <a:endParaRPr kumimoji="0" lang="en-US" sz="8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0CE6E8B4-A969-165A-4218-F25DC7884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666750"/>
            <a:ext cx="551111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4711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73101" y="4265711"/>
            <a:ext cx="15841390" cy="1755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6900" b="1" kern="0" spc="-207" err="1">
                <a:solidFill>
                  <a:srgbClr val="F0EEE9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Desacople</a:t>
            </a:r>
            <a:r>
              <a:rPr lang="en-US" sz="6900" b="1" kern="0" spc="-207">
                <a:solidFill>
                  <a:srgbClr val="F0EEE9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del SIIF</a:t>
            </a:r>
            <a:endParaRPr lang="en-US" sz="690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pic>
        <p:nvPicPr>
          <p:cNvPr id="4" name="Imagen 3" descr="preencoded.png">
            <a:extLst>
              <a:ext uri="{FF2B5EF4-FFF2-40B4-BE49-F238E27FC236}">
                <a16:creationId xmlns:a16="http://schemas.microsoft.com/office/drawing/2014/main" id="{7C02D3AC-C844-0A01-9090-98FA2B2EA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7" y="617078"/>
            <a:ext cx="713229" cy="5430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1683</Words>
  <Application>Microsoft Office PowerPoint</Application>
  <PresentationFormat>Personalizado</PresentationFormat>
  <Paragraphs>403</Paragraphs>
  <Slides>20</Slides>
  <Notes>20</Notes>
  <HiddenSlides>1</HiddenSlides>
  <MMClips>0</MMClips>
  <ScaleCrop>false</ScaleCrop>
  <HeadingPairs>
    <vt:vector size="6" baseType="variant">
      <vt:variant>
        <vt:lpstr>Fuentes usadas</vt:lpstr>
      </vt:variant>
      <vt:variant>
        <vt:i4>13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34" baseType="lpstr">
      <vt:lpstr>Aptos</vt:lpstr>
      <vt:lpstr>Arial</vt:lpstr>
      <vt:lpstr>Calibri</vt:lpstr>
      <vt:lpstr>Consolas</vt:lpstr>
      <vt:lpstr>Courier New</vt:lpstr>
      <vt:lpstr>Helvetica</vt:lpstr>
      <vt:lpstr>Roboto</vt:lpstr>
      <vt:lpstr>Roboto Bk</vt:lpstr>
      <vt:lpstr>Roboto Condensed</vt:lpstr>
      <vt:lpstr>Segoe MDL2 Assets</vt:lpstr>
      <vt:lpstr>Segoe UI</vt:lpstr>
      <vt:lpstr>Segoe UI Symbol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Estiben Alexander Licona Urrego</cp:lastModifiedBy>
  <cp:revision>1</cp:revision>
  <dcterms:created xsi:type="dcterms:W3CDTF">2026-06-02T14:01:02Z</dcterms:created>
  <dcterms:modified xsi:type="dcterms:W3CDTF">2026-09-08T14:05:09Z</dcterms:modified>
</cp:coreProperties>
</file>